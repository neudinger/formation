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07899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400" b="1">
                <a:solidFill>
                  <a:srgbClr val="F5F8FA"/>
                </a:solidFill>
                <a:latin typeface="Aptos"/>
              </a:rPr>
              <a:t>Parallel Programming in Modern C++ with CUDA, Bazel, and Clang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76B900"/>
                </a:solidFill>
                <a:latin typeface="Aptos"/>
              </a:rPr>
              <a:t>Day 1 - Repository foundation and first CUDA feature</a:t>
            </a:r>
          </a:p>
        </p:txBody>
      </p:sp>
      <p:pic>
        <p:nvPicPr>
          <p:cNvPr id="4" name="Picture 3" descr="pipeline_day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543" y="2148840"/>
            <a:ext cx="8968153" cy="310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440680"/>
            <a:ext cx="102412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5F8FA"/>
                </a:solidFill>
              </a:defRPr>
            </a:pPr>
            <a:r>
              <a:t>Core operation: out[i] = alpha * a[i] + b[i]</a:t>
            </a:r>
          </a:p>
          <a:p>
            <a:pPr>
              <a:spcAft>
                <a:spcPts val="600"/>
              </a:spcAft>
              <a:defRPr sz="1600">
                <a:solidFill>
                  <a:srgbClr val="F5F8FA"/>
                </a:solidFill>
              </a:defRPr>
            </a:pPr>
            <a:r>
              <a:t>Project path: projects/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64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99A6B8"/>
                </a:solidFill>
                <a:latin typeface="Aptos"/>
              </a:rPr>
              <a:t>Repository-driven CUDA/Bazel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Why This Course Was Reworked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02/46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From machine-specific IDE setup to reproducible GPU engineering</a:t>
            </a:r>
          </a:p>
        </p:txBody>
      </p:sp>
      <p:sp>
        <p:nvSpPr>
          <p:cNvPr id="10" name="Editable Old Flow Square"/>
          <p:cNvSpPr/>
          <p:nvPr/>
        </p:nvSpPr>
        <p:spPr>
          <a:xfrm>
            <a:off x="877824" y="2249424"/>
            <a:ext cx="2487168" cy="2432304"/>
          </a:xfrm>
          <a:prstGeom prst="rect">
            <a:avLst/>
          </a:prstGeom>
          <a:solidFill>
            <a:srgbClr val="FDEAEA"/>
          </a:solidFill>
          <a:ln w="12700">
            <a:solidFill>
              <a:srgbClr val="D83A34"/>
            </a:solidFill>
          </a:ln>
        </p:spPr>
      </p:sp>
      <p:sp>
        <p:nvSpPr>
          <p:cNvPr id="11" name="Editable New Flow Square"/>
          <p:cNvSpPr/>
          <p:nvPr/>
        </p:nvSpPr>
        <p:spPr>
          <a:xfrm>
            <a:off x="3941064" y="2249424"/>
            <a:ext cx="2487168" cy="2432304"/>
          </a:xfrm>
          <a:prstGeom prst="rect">
            <a:avLst/>
          </a:prstGeom>
          <a:solidFill>
            <a:srgbClr val="EDF9E9"/>
          </a:solidFill>
          <a:ln w="12700">
            <a:solidFill>
              <a:srgbClr val="62B000"/>
            </a:solidFill>
          </a:ln>
        </p:spPr>
      </p:sp>
      <p:sp>
        <p:nvSpPr>
          <p:cNvPr id="12" name="Editable Flow Arrow"/>
          <p:cNvSpPr/>
          <p:nvPr/>
        </p:nvSpPr>
        <p:spPr>
          <a:xfrm>
            <a:off x="3547872" y="3401568"/>
            <a:ext cx="320040" cy="164592"/>
          </a:xfrm>
          <a:prstGeom prst="rightArrow">
            <a:avLst/>
          </a:prstGeom>
          <a:solidFill>
            <a:srgbClr val="63AF00"/>
          </a:solidFill>
          <a:ln w="6350">
            <a:solidFill>
              <a:srgbClr val="63AF00"/>
            </a:solidFill>
          </a:ln>
        </p:spPr>
      </p:sp>
      <p:sp>
        <p:nvSpPr>
          <p:cNvPr id="13" name="Old Flow Label"/>
          <p:cNvSpPr txBox="1"/>
          <p:nvPr/>
        </p:nvSpPr>
        <p:spPr>
          <a:xfrm>
            <a:off x="1188720" y="2496312"/>
            <a:ext cx="1865376" cy="310896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ptos"/>
              </a:rPr>
              <a:t>Old flow</a:t>
            </a:r>
          </a:p>
        </p:txBody>
      </p:sp>
      <p:sp>
        <p:nvSpPr>
          <p:cNvPr id="14" name="New Flow Label"/>
          <p:cNvSpPr txBox="1"/>
          <p:nvPr/>
        </p:nvSpPr>
        <p:spPr>
          <a:xfrm>
            <a:off x="4251960" y="2496312"/>
            <a:ext cx="1865376" cy="310896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ptos"/>
              </a:rPr>
              <a:t>New flow</a:t>
            </a:r>
          </a:p>
        </p:txBody>
      </p:sp>
      <p:sp>
        <p:nvSpPr>
          <p:cNvPr id="15" name="Old Flow Bullets"/>
          <p:cNvSpPr txBox="1"/>
          <p:nvPr/>
        </p:nvSpPr>
        <p:spPr>
          <a:xfrm>
            <a:off x="1261872" y="2962656"/>
            <a:ext cx="1847088" cy="1572768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 marL="171450" indent="-114300">
              <a:spcAft>
                <a:spcPts val="600"/>
              </a:spcAft>
              <a:buFont typeface="Aptos"/>
              <a:buChar char="•"/>
            </a:pPr>
            <a:r>
              <a:rPr sz="1000">
                <a:solidFill>
                  <a:srgbClr val="303030"/>
                </a:solidFill>
                <a:latin typeface="Aptos"/>
              </a:rPr>
              <a:t>Visual Studio project</a:t>
            </a:r>
          </a:p>
          <a:p>
            <a:pPr algn="l" marL="171450" indent="-114300">
              <a:spcAft>
                <a:spcPts val="600"/>
              </a:spcAft>
              <a:buFont typeface="Aptos"/>
              <a:buChar char="•"/>
            </a:pPr>
            <a:r>
              <a:rPr sz="1000">
                <a:solidFill>
                  <a:srgbClr val="303030"/>
                </a:solidFill>
                <a:latin typeface="Aptos"/>
              </a:rPr>
              <a:t>manual CUDA SDK install</a:t>
            </a:r>
          </a:p>
          <a:p>
            <a:pPr algn="l" marL="171450" indent="-114300">
              <a:spcAft>
                <a:spcPts val="600"/>
              </a:spcAft>
              <a:buFont typeface="Aptos"/>
              <a:buChar char="•"/>
            </a:pPr>
            <a:r>
              <a:rPr sz="1000">
                <a:solidFill>
                  <a:srgbClr val="303030"/>
                </a:solidFill>
                <a:latin typeface="Aptos"/>
              </a:rPr>
              <a:t>local machine settings</a:t>
            </a:r>
          </a:p>
          <a:p>
            <a:pPr algn="l" marL="171450" indent="-114300">
              <a:spcAft>
                <a:spcPts val="600"/>
              </a:spcAft>
              <a:buFont typeface="Aptos"/>
              <a:buChar char="•"/>
            </a:pPr>
            <a:r>
              <a:rPr sz="1000">
                <a:solidFill>
                  <a:srgbClr val="303030"/>
                </a:solidFill>
                <a:latin typeface="Aptos"/>
              </a:rPr>
              <a:t>debugger-first flow</a:t>
            </a:r>
          </a:p>
        </p:txBody>
      </p:sp>
      <p:sp>
        <p:nvSpPr>
          <p:cNvPr id="16" name="New Flow Bullets"/>
          <p:cNvSpPr txBox="1"/>
          <p:nvPr/>
        </p:nvSpPr>
        <p:spPr>
          <a:xfrm>
            <a:off x="4325112" y="2962656"/>
            <a:ext cx="1847088" cy="1572768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 marL="171450" indent="-114300">
              <a:spcAft>
                <a:spcPts val="600"/>
              </a:spcAft>
              <a:buFont typeface="Aptos"/>
              <a:buChar char="•"/>
            </a:pPr>
            <a:r>
              <a:rPr sz="1000">
                <a:solidFill>
                  <a:srgbClr val="303030"/>
                </a:solidFill>
                <a:latin typeface="Aptos"/>
              </a:rPr>
              <a:t>Bazel target graph</a:t>
            </a:r>
          </a:p>
          <a:p>
            <a:pPr algn="l" marL="171450" indent="-114300">
              <a:spcAft>
                <a:spcPts val="600"/>
              </a:spcAft>
              <a:buFont typeface="Aptos"/>
              <a:buChar char="•"/>
            </a:pPr>
            <a:r>
              <a:rPr sz="1000">
                <a:solidFill>
                  <a:srgbClr val="303030"/>
                </a:solidFill>
                <a:latin typeface="Aptos"/>
              </a:rPr>
              <a:t>hermetic Clang/CUDA</a:t>
            </a:r>
          </a:p>
          <a:p>
            <a:pPr algn="l" marL="171450" indent="-114300">
              <a:spcAft>
                <a:spcPts val="600"/>
              </a:spcAft>
              <a:buFont typeface="Aptos"/>
              <a:buChar char="•"/>
            </a:pPr>
            <a:r>
              <a:rPr sz="1000">
                <a:solidFill>
                  <a:srgbClr val="303030"/>
                </a:solidFill>
                <a:latin typeface="Aptos"/>
              </a:rPr>
              <a:t>tests + benchmarks</a:t>
            </a:r>
          </a:p>
          <a:p>
            <a:pPr algn="l" marL="171450" indent="-114300">
              <a:spcAft>
                <a:spcPts val="600"/>
              </a:spcAft>
              <a:buFont typeface="Aptos"/>
              <a:buChar char="•"/>
            </a:pPr>
            <a:r>
              <a:rPr sz="1000">
                <a:solidFill>
                  <a:srgbClr val="303030"/>
                </a:solidFill>
                <a:latin typeface="Aptos"/>
              </a:rPr>
              <a:t>artifact packaging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Old course: Visual Studio project files, local CUDA SDK assumptions, debugger-first flow.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New course: Bazel target graph, hermetic Clang/CUDA, tests, benchmarks, deployable artifacts.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Editor choice remains flexible; the repository defines the build.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source.md -&gt; reworked.md   |   Source: Bazel Hermeticity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Two-Day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03/46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Day 1 builds; Day 2 measures, packages, compares</a:t>
            </a:r>
          </a:p>
        </p:txBody>
      </p:sp>
      <p:pic>
        <p:nvPicPr>
          <p:cNvPr id="7" name="Picture 6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Day 1: GPU model, Bazel, Clang/CUDA, CPU oracle, first kernel, launch APIs, tests.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Day 2: runtime measurement, streams, OCI packaging, remote build model, JAX/XLA, MatMul.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Each block reconnects to a runnable Bazel target.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targets: //runtime:device_info, //cpp:vector_cpu_test, //gpu:vector_add_test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Final Repository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04/46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repository is organized by learning responsibility</a:t>
            </a:r>
          </a:p>
        </p:txBody>
      </p:sp>
      <p:pic>
        <p:nvPicPr>
          <p:cNvPr id="7" name="Picture 6" descr="repo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50491"/>
            <a:ext cx="6766560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projects/simple: tiny GPU info + OCI image path.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projects/detailed: full CPU/CUDA/runtime/python/deploy/linear algebra project.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The deck follows the actual files and targets.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Learning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05/46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Correctness first, performance second, packaging third</a:t>
            </a:r>
          </a:p>
        </p:txBody>
      </p:sp>
      <p:pic>
        <p:nvPicPr>
          <p:cNvPr id="7" name="Picture 6" descr="learning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CPU oracle before CUDA.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Test before benchmark.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Build graph before deployment.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Avoid fast wrong code by making verification a target.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bazel test //...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GPU as a Separate Compute Resource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06/46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Host code orchestrates device work across a memory boundary</a:t>
            </a:r>
          </a:p>
        </p:txBody>
      </p:sp>
      <p:pic>
        <p:nvPicPr>
          <p:cNvPr id="7" name="Picture 6" descr="host_de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88819"/>
            <a:ext cx="6766560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CPU code prepares data and launches kernels.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GPU device code runs many threads over device memory.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Data movement is part of the program, not a detail.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runtime/device_info.cc   |   Source: CUDA C++ Programming Guide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CPU vs GPU Work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07/46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GPUs like lots of similar work; CPUs handle mixed latency-sensitive work</a:t>
            </a:r>
          </a:p>
        </p:txBody>
      </p:sp>
      <p:sp>
        <p:nvSpPr>
          <p:cNvPr id="10" name="Work Shape Diagram Title"/>
          <p:cNvSpPr txBox="1"/>
          <p:nvPr/>
        </p:nvSpPr>
        <p:spPr>
          <a:xfrm>
            <a:off x="832104" y="2386584"/>
            <a:ext cx="6126480" cy="292608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sz="1150" b="1">
                <a:solidFill>
                  <a:srgbClr val="121B2A"/>
                </a:solidFill>
                <a:latin typeface="Aptos"/>
              </a:rPr>
              <a:t>Serial CPU vs CPU threads vs GPU grid</a:t>
            </a:r>
          </a:p>
        </p:txBody>
      </p:sp>
      <p:sp>
        <p:nvSpPr>
          <p:cNvPr id="11" name="Editable Serial CPU Square"/>
          <p:cNvSpPr/>
          <p:nvPr/>
        </p:nvSpPr>
        <p:spPr>
          <a:xfrm>
            <a:off x="886968" y="2907792"/>
            <a:ext cx="1691640" cy="1755648"/>
          </a:xfrm>
          <a:prstGeom prst="roundRect">
            <a:avLst/>
          </a:prstGeom>
          <a:solidFill>
            <a:srgbClr val="E7F0FF"/>
          </a:solidFill>
          <a:ln w="10160">
            <a:solidFill>
              <a:srgbClr val="2F6BFF"/>
            </a:solidFill>
          </a:ln>
        </p:spPr>
      </p:sp>
      <p:sp>
        <p:nvSpPr>
          <p:cNvPr id="12" name="Editable CPU Threads Square"/>
          <p:cNvSpPr/>
          <p:nvPr/>
        </p:nvSpPr>
        <p:spPr>
          <a:xfrm>
            <a:off x="3154680" y="2907792"/>
            <a:ext cx="1691640" cy="1755648"/>
          </a:xfrm>
          <a:prstGeom prst="roundRect">
            <a:avLst/>
          </a:prstGeom>
          <a:solidFill>
            <a:srgbClr val="FFF3DD"/>
          </a:solidFill>
          <a:ln w="10160">
            <a:solidFill>
              <a:srgbClr val="F28A2E"/>
            </a:solidFill>
          </a:ln>
        </p:spPr>
      </p:sp>
      <p:sp>
        <p:nvSpPr>
          <p:cNvPr id="13" name="Editable CUDA Grid Square"/>
          <p:cNvSpPr/>
          <p:nvPr/>
        </p:nvSpPr>
        <p:spPr>
          <a:xfrm>
            <a:off x="5431536" y="2907792"/>
            <a:ext cx="1691640" cy="1755648"/>
          </a:xfrm>
          <a:prstGeom prst="roundRect">
            <a:avLst/>
          </a:prstGeom>
          <a:solidFill>
            <a:srgbClr val="EDF9E9"/>
          </a:solidFill>
          <a:ln w="10160">
            <a:solidFill>
              <a:srgbClr val="62B000"/>
            </a:solidFill>
          </a:ln>
        </p:spPr>
      </p:sp>
      <p:sp>
        <p:nvSpPr>
          <p:cNvPr id="14" name="Serial CPU Label"/>
          <p:cNvSpPr txBox="1"/>
          <p:nvPr/>
        </p:nvSpPr>
        <p:spPr>
          <a:xfrm>
            <a:off x="1115568" y="3474720"/>
            <a:ext cx="1234440" cy="566928"/>
          </a:xfrm>
          <a:prstGeom prst="rect">
            <a:avLst/>
          </a:prstGeom>
          <a:noFill/>
          <a:ln/>
        </p:spPr>
        <p:txBody>
          <a:bodyPr wrap="square" anchor="ctr" lIns="0" tIns="0" rIns="0" bIns="0">
            <a:normAutofit/>
          </a:bodyPr>
          <a:lstStyle/>
          <a:p>
            <a:pPr algn="ctr"/>
            <a:r>
              <a:rPr sz="820">
                <a:solidFill>
                  <a:srgbClr val="121B2A"/>
                </a:solidFill>
                <a:latin typeface="Aptos"/>
              </a:rPr>
              <a:t>Serial CPU</a:t>
            </a:r>
          </a:p>
          <a:p>
            <a:pPr algn="ctr"/>
            <a:r>
              <a:rPr sz="820">
                <a:solidFill>
                  <a:srgbClr val="121B2A"/>
                </a:solidFill>
                <a:latin typeface="Aptos"/>
              </a:rPr>
              <a:t>for (i)</a:t>
            </a:r>
          </a:p>
          <a:p>
            <a:pPr algn="ctr"/>
            <a:r>
              <a:rPr sz="820">
                <a:solidFill>
                  <a:srgbClr val="121B2A"/>
                </a:solidFill>
                <a:latin typeface="Aptos"/>
              </a:rPr>
              <a:t>work(i)</a:t>
            </a:r>
          </a:p>
        </p:txBody>
      </p:sp>
      <p:sp>
        <p:nvSpPr>
          <p:cNvPr id="15" name="CPU Threads Label"/>
          <p:cNvSpPr txBox="1"/>
          <p:nvPr/>
        </p:nvSpPr>
        <p:spPr>
          <a:xfrm>
            <a:off x="3355848" y="3218688"/>
            <a:ext cx="1289304" cy="566928"/>
          </a:xfrm>
          <a:prstGeom prst="rect">
            <a:avLst/>
          </a:prstGeom>
          <a:noFill/>
          <a:ln/>
        </p:spPr>
        <p:txBody>
          <a:bodyPr wrap="square" anchor="ctr" lIns="0" tIns="0" rIns="0" bIns="0">
            <a:normAutofit/>
          </a:bodyPr>
          <a:lstStyle/>
          <a:p>
            <a:pPr algn="ctr"/>
            <a:r>
              <a:rPr sz="760">
                <a:solidFill>
                  <a:srgbClr val="121B2A"/>
                </a:solidFill>
                <a:latin typeface="Aptos"/>
              </a:rPr>
              <a:t>CPU threads</a:t>
            </a:r>
          </a:p>
          <a:p>
            <a:pPr algn="ctr"/>
            <a:r>
              <a:rPr sz="760">
                <a:solidFill>
                  <a:srgbClr val="121B2A"/>
                </a:solidFill>
                <a:latin typeface="Aptos"/>
              </a:rPr>
              <a:t>chunks of N</a:t>
            </a:r>
          </a:p>
          <a:p>
            <a:pPr algn="ctr"/>
            <a:r>
              <a:rPr sz="760">
                <a:solidFill>
                  <a:srgbClr val="121B2A"/>
                </a:solidFill>
                <a:latin typeface="Aptos"/>
              </a:rPr>
              <a:t>std::thread</a:t>
            </a:r>
          </a:p>
        </p:txBody>
      </p:sp>
      <p:sp>
        <p:nvSpPr>
          <p:cNvPr id="16" name="CPU Thread Chunk 1"/>
          <p:cNvSpPr/>
          <p:nvPr/>
        </p:nvSpPr>
        <p:spPr>
          <a:xfrm>
            <a:off x="3447288" y="3913632"/>
            <a:ext cx="1106424" cy="50292"/>
          </a:xfrm>
          <a:prstGeom prst="rect">
            <a:avLst/>
          </a:prstGeom>
          <a:solidFill>
            <a:srgbClr val="F28A2E"/>
          </a:solidFill>
          <a:ln w="2540">
            <a:solidFill>
              <a:srgbClr val="F28A2E"/>
            </a:solidFill>
          </a:ln>
        </p:spPr>
      </p:sp>
      <p:sp>
        <p:nvSpPr>
          <p:cNvPr id="17" name="CPU Thread Chunk 2"/>
          <p:cNvSpPr/>
          <p:nvPr/>
        </p:nvSpPr>
        <p:spPr>
          <a:xfrm>
            <a:off x="3447288" y="4050792"/>
            <a:ext cx="1106424" cy="50292"/>
          </a:xfrm>
          <a:prstGeom prst="rect">
            <a:avLst/>
          </a:prstGeom>
          <a:solidFill>
            <a:srgbClr val="F28A2E"/>
          </a:solidFill>
          <a:ln w="2540">
            <a:solidFill>
              <a:srgbClr val="F28A2E"/>
            </a:solidFill>
          </a:ln>
        </p:spPr>
      </p:sp>
      <p:sp>
        <p:nvSpPr>
          <p:cNvPr id="18" name="CPU Thread Chunk 3"/>
          <p:cNvSpPr/>
          <p:nvPr/>
        </p:nvSpPr>
        <p:spPr>
          <a:xfrm>
            <a:off x="3447288" y="4187952"/>
            <a:ext cx="1106424" cy="50292"/>
          </a:xfrm>
          <a:prstGeom prst="rect">
            <a:avLst/>
          </a:prstGeom>
          <a:solidFill>
            <a:srgbClr val="F28A2E"/>
          </a:solidFill>
          <a:ln w="2540">
            <a:solidFill>
              <a:srgbClr val="F28A2E"/>
            </a:solidFill>
          </a:ln>
        </p:spPr>
      </p:sp>
      <p:sp>
        <p:nvSpPr>
          <p:cNvPr id="19" name="CPU Thread Chunk 4"/>
          <p:cNvSpPr/>
          <p:nvPr/>
        </p:nvSpPr>
        <p:spPr>
          <a:xfrm>
            <a:off x="3447288" y="4325112"/>
            <a:ext cx="1106424" cy="50292"/>
          </a:xfrm>
          <a:prstGeom prst="rect">
            <a:avLst/>
          </a:prstGeom>
          <a:solidFill>
            <a:srgbClr val="F28A2E"/>
          </a:solidFill>
          <a:ln w="2540">
            <a:solidFill>
              <a:srgbClr val="F28A2E"/>
            </a:solidFill>
          </a:ln>
        </p:spPr>
      </p:sp>
      <p:sp>
        <p:nvSpPr>
          <p:cNvPr id="20" name="CPU Thread Chunk 5"/>
          <p:cNvSpPr/>
          <p:nvPr/>
        </p:nvSpPr>
        <p:spPr>
          <a:xfrm>
            <a:off x="3447288" y="4462272"/>
            <a:ext cx="1106424" cy="50292"/>
          </a:xfrm>
          <a:prstGeom prst="rect">
            <a:avLst/>
          </a:prstGeom>
          <a:solidFill>
            <a:srgbClr val="F28A2E"/>
          </a:solidFill>
          <a:ln w="2540">
            <a:solidFill>
              <a:srgbClr val="F28A2E"/>
            </a:solidFill>
          </a:ln>
        </p:spPr>
      </p:sp>
      <p:sp>
        <p:nvSpPr>
          <p:cNvPr id="21" name="CPU Thread Chunk 6"/>
          <p:cNvSpPr/>
          <p:nvPr/>
        </p:nvSpPr>
        <p:spPr>
          <a:xfrm>
            <a:off x="3447288" y="4599432"/>
            <a:ext cx="1106424" cy="50292"/>
          </a:xfrm>
          <a:prstGeom prst="rect">
            <a:avLst/>
          </a:prstGeom>
          <a:solidFill>
            <a:srgbClr val="F28A2E"/>
          </a:solidFill>
          <a:ln w="2540">
            <a:solidFill>
              <a:srgbClr val="F28A2E"/>
            </a:solidFill>
          </a:ln>
        </p:spPr>
      </p:sp>
      <p:sp>
        <p:nvSpPr>
          <p:cNvPr id="22" name="CUDA Grid Label"/>
          <p:cNvSpPr txBox="1"/>
          <p:nvPr/>
        </p:nvSpPr>
        <p:spPr>
          <a:xfrm>
            <a:off x="5632704" y="3200400"/>
            <a:ext cx="1289304" cy="384048"/>
          </a:xfrm>
          <a:prstGeom prst="rect">
            <a:avLst/>
          </a:prstGeom>
          <a:noFill/>
          <a:ln/>
        </p:spPr>
        <p:txBody>
          <a:bodyPr wrap="square" anchor="ctr" lIns="0" tIns="0" rIns="0" bIns="0">
            <a:normAutofit/>
          </a:bodyPr>
          <a:lstStyle/>
          <a:p>
            <a:pPr algn="ctr"/>
            <a:r>
              <a:rPr sz="760">
                <a:solidFill>
                  <a:srgbClr val="121B2A"/>
                </a:solidFill>
                <a:latin typeface="Aptos"/>
              </a:rPr>
              <a:t>CUDA grid</a:t>
            </a:r>
          </a:p>
          <a:p>
            <a:pPr algn="ctr"/>
            <a:r>
              <a:rPr sz="760">
                <a:solidFill>
                  <a:srgbClr val="121B2A"/>
                </a:solidFill>
                <a:latin typeface="Aptos"/>
              </a:rPr>
              <a:t>blocks x threads</a:t>
            </a:r>
          </a:p>
        </p:txBody>
      </p:sp>
      <p:sp>
        <p:nvSpPr>
          <p:cNvPr id="23" name="CUDA Thread Cell 1-1"/>
          <p:cNvSpPr/>
          <p:nvPr/>
        </p:nvSpPr>
        <p:spPr>
          <a:xfrm>
            <a:off x="5742432" y="3712464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24" name="CUDA Thread Cell 1-2"/>
          <p:cNvSpPr/>
          <p:nvPr/>
        </p:nvSpPr>
        <p:spPr>
          <a:xfrm>
            <a:off x="5907024" y="3712464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25" name="CUDA Thread Cell 1-3"/>
          <p:cNvSpPr/>
          <p:nvPr/>
        </p:nvSpPr>
        <p:spPr>
          <a:xfrm>
            <a:off x="6071616" y="3712464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26" name="CUDA Thread Cell 1-4"/>
          <p:cNvSpPr/>
          <p:nvPr/>
        </p:nvSpPr>
        <p:spPr>
          <a:xfrm>
            <a:off x="6236208" y="3712464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27" name="CUDA Thread Cell 1-5"/>
          <p:cNvSpPr/>
          <p:nvPr/>
        </p:nvSpPr>
        <p:spPr>
          <a:xfrm>
            <a:off x="6400800" y="3712464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28" name="CUDA Thread Cell 1-6"/>
          <p:cNvSpPr/>
          <p:nvPr/>
        </p:nvSpPr>
        <p:spPr>
          <a:xfrm>
            <a:off x="6565392" y="3712464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29" name="CUDA Thread Cell 1-7"/>
          <p:cNvSpPr/>
          <p:nvPr/>
        </p:nvSpPr>
        <p:spPr>
          <a:xfrm>
            <a:off x="6729984" y="3712464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30" name="CUDA Thread Cell 2-1"/>
          <p:cNvSpPr/>
          <p:nvPr/>
        </p:nvSpPr>
        <p:spPr>
          <a:xfrm>
            <a:off x="5742432" y="3877056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31" name="CUDA Thread Cell 2-2"/>
          <p:cNvSpPr/>
          <p:nvPr/>
        </p:nvSpPr>
        <p:spPr>
          <a:xfrm>
            <a:off x="5907024" y="3877056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32" name="CUDA Thread Cell 2-3"/>
          <p:cNvSpPr/>
          <p:nvPr/>
        </p:nvSpPr>
        <p:spPr>
          <a:xfrm>
            <a:off x="6071616" y="3877056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33" name="CUDA Thread Cell 2-4"/>
          <p:cNvSpPr/>
          <p:nvPr/>
        </p:nvSpPr>
        <p:spPr>
          <a:xfrm>
            <a:off x="6236208" y="3877056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34" name="CUDA Thread Cell 2-5"/>
          <p:cNvSpPr/>
          <p:nvPr/>
        </p:nvSpPr>
        <p:spPr>
          <a:xfrm>
            <a:off x="6400800" y="3877056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35" name="CUDA Thread Cell 2-6"/>
          <p:cNvSpPr/>
          <p:nvPr/>
        </p:nvSpPr>
        <p:spPr>
          <a:xfrm>
            <a:off x="6565392" y="3877056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36" name="CUDA Thread Cell 2-7"/>
          <p:cNvSpPr/>
          <p:nvPr/>
        </p:nvSpPr>
        <p:spPr>
          <a:xfrm>
            <a:off x="6729984" y="3877056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37" name="CUDA Thread Cell 3-1"/>
          <p:cNvSpPr/>
          <p:nvPr/>
        </p:nvSpPr>
        <p:spPr>
          <a:xfrm>
            <a:off x="5742432" y="4041648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38" name="CUDA Thread Cell 3-2"/>
          <p:cNvSpPr/>
          <p:nvPr/>
        </p:nvSpPr>
        <p:spPr>
          <a:xfrm>
            <a:off x="5907024" y="4041648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39" name="CUDA Thread Cell 3-3"/>
          <p:cNvSpPr/>
          <p:nvPr/>
        </p:nvSpPr>
        <p:spPr>
          <a:xfrm>
            <a:off x="6071616" y="4041648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40" name="CUDA Thread Cell 3-4"/>
          <p:cNvSpPr/>
          <p:nvPr/>
        </p:nvSpPr>
        <p:spPr>
          <a:xfrm>
            <a:off x="6236208" y="4041648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41" name="CUDA Thread Cell 3-5"/>
          <p:cNvSpPr/>
          <p:nvPr/>
        </p:nvSpPr>
        <p:spPr>
          <a:xfrm>
            <a:off x="6400800" y="4041648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42" name="CUDA Thread Cell 3-6"/>
          <p:cNvSpPr/>
          <p:nvPr/>
        </p:nvSpPr>
        <p:spPr>
          <a:xfrm>
            <a:off x="6565392" y="4041648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43" name="CUDA Thread Cell 3-7"/>
          <p:cNvSpPr/>
          <p:nvPr/>
        </p:nvSpPr>
        <p:spPr>
          <a:xfrm>
            <a:off x="6729984" y="4041648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44" name="CUDA Thread Cell 4-1"/>
          <p:cNvSpPr/>
          <p:nvPr/>
        </p:nvSpPr>
        <p:spPr>
          <a:xfrm>
            <a:off x="5742432" y="4206240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45" name="CUDA Thread Cell 4-2"/>
          <p:cNvSpPr/>
          <p:nvPr/>
        </p:nvSpPr>
        <p:spPr>
          <a:xfrm>
            <a:off x="5907024" y="4206240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46" name="CUDA Thread Cell 4-3"/>
          <p:cNvSpPr/>
          <p:nvPr/>
        </p:nvSpPr>
        <p:spPr>
          <a:xfrm>
            <a:off x="6071616" y="4206240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47" name="CUDA Thread Cell 4-4"/>
          <p:cNvSpPr/>
          <p:nvPr/>
        </p:nvSpPr>
        <p:spPr>
          <a:xfrm>
            <a:off x="6236208" y="4206240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48" name="CUDA Thread Cell 4-5"/>
          <p:cNvSpPr/>
          <p:nvPr/>
        </p:nvSpPr>
        <p:spPr>
          <a:xfrm>
            <a:off x="6400800" y="4206240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49" name="CUDA Thread Cell 4-6"/>
          <p:cNvSpPr/>
          <p:nvPr/>
        </p:nvSpPr>
        <p:spPr>
          <a:xfrm>
            <a:off x="6565392" y="4206240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50" name="CUDA Thread Cell 4-7"/>
          <p:cNvSpPr/>
          <p:nvPr/>
        </p:nvSpPr>
        <p:spPr>
          <a:xfrm>
            <a:off x="6729984" y="4206240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51" name="CUDA Many Elements Label"/>
          <p:cNvSpPr txBox="1"/>
          <p:nvPr/>
        </p:nvSpPr>
        <p:spPr>
          <a:xfrm>
            <a:off x="5751576" y="4352544"/>
            <a:ext cx="1051560" cy="201168"/>
          </a:xfrm>
          <a:prstGeom prst="rect">
            <a:avLst/>
          </a:prstGeom>
          <a:noFill/>
          <a:ln/>
        </p:spPr>
        <p:txBody>
          <a:bodyPr wrap="square" anchor="ctr" lIns="0" tIns="0" rIns="0" bIns="0">
            <a:normAutofit/>
          </a:bodyPr>
          <a:lstStyle/>
          <a:p>
            <a:pPr algn="ctr"/>
            <a:r>
              <a:rPr sz="650">
                <a:solidFill>
                  <a:srgbClr val="121B2A"/>
                </a:solidFill>
                <a:latin typeface="Aptos"/>
              </a:rPr>
              <a:t>many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Serial CPU: one loop does all work.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CPU threads: a few workers process chunks.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CUDA grid: many threads map naturally to many elements.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cpp/vector_threaded.cc -&gt; gpu/vector_add_device.cu   |   Source: CUDA C++ Programming Guide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The Course Operation: SAXPY-Like Vector Add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08/46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One small operation teaches the complete path</a:t>
            </a:r>
          </a:p>
        </p:txBody>
      </p:sp>
      <p:pic>
        <p:nvPicPr>
          <p:cNvPr id="7" name="Picture 6" descr="saxp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Inputs: a[N], b[N], scalar alpha.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Output: out[i] = alpha * a[i] + b[i].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Same semantics are implemented on CPU, CPU threads, CUDA, and JAX.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cpp/vector_cpu.cc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First Live Demo: Ask the GPU Who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09/46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Before kernels, inspect the CUDA runtime environment</a:t>
            </a:r>
          </a:p>
        </p:txBody>
      </p:sp>
      <p:pic>
        <p:nvPicPr>
          <p:cNvPr id="7" name="Picture 6" descr="code_9_First_Live_Demo_Ask_the_GPU_Who_It_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92271"/>
            <a:ext cx="7040880" cy="39592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Run the smallest CUDA-aware target first.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This confirms runtime access, driver visibility, and device enumeration.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303520"/>
            <a:ext cx="3749039" cy="685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413248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EBEEF2"/>
                </a:solidFill>
                <a:latin typeface="Courier New"/>
              </a:rPr>
              <a:t>cd projects/simple
bazel run //src:gpu_info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projects/simple/src/main.cc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What cudaDeviceProp Teaches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10/46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Device properties connect hardware constraints to code choices</a:t>
            </a:r>
          </a:p>
        </p:txBody>
      </p:sp>
      <p:pic>
        <p:nvPicPr>
          <p:cNvPr id="7" name="Picture 6" descr="code_10_What_cudaDeviceProp_Tea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915" y="1234440"/>
            <a:ext cx="6020889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major/minor: compute capability.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multiProcessorCount: parallel capacity.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warpSize: scheduling granularity.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maxThreadsPerBlock and shared memory guide later launch choices.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projects/simple/src/main.cc   |   Source: CUDA C++ Programming Guide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Why Hermetic Builds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11/46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Works-on-my-machine is not a course architecture</a:t>
            </a:r>
          </a:p>
        </p:txBody>
      </p:sp>
      <p:pic>
        <p:nvPicPr>
          <p:cNvPr id="7" name="Picture 6" descr="herme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Bazel isolates build inputs from host machine drift.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Tool versions and dependencies are declared in the repository.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The same source/config should produce the same artifact.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MODULE.bazel + .bazelrc   |   Source: Bazel Hermeticity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Bazel 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12/46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Four words make the repository readable</a:t>
            </a:r>
          </a:p>
        </p:txBody>
      </p:sp>
      <p:pic>
        <p:nvPicPr>
          <p:cNvPr id="7" name="Picture 6" descr="bazel_voc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MODULE.bazel: external dependencies and toolchain extensions.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BUILD.bazel: package targets.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target: buildable unit.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label: canonical address such as //gpu:vector_add_test.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//cpp:vector_cpu_test, //gpu:vector_add_benchmark   |   Source: Bazel concepts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Module File: Dependencies and Toolchains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13/46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MODULE.bazel declares the external universe</a:t>
            </a:r>
          </a:p>
        </p:txBody>
      </p:sp>
      <p:pic>
        <p:nvPicPr>
          <p:cNvPr id="7" name="Picture 6" descr="code_13_Module_File_Dependencies_and_Toolcha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44404"/>
            <a:ext cx="7040880" cy="50549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rules_cc for C++ targets.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rules_cuda for CUDA targets and hermetic toolkit support.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rules_python for Python hooks.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toolchains_llvm for Clang C++26.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projects/detailed/MODULE.bazel   |   Source: rules_cuda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.bazelrc: Build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14/46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repo chooses compiler and CUDA mode consistently</a:t>
            </a:r>
          </a:p>
        </p:txBody>
      </p:sp>
      <p:pic>
        <p:nvPicPr>
          <p:cNvPr id="7" name="Picture 6" descr="code_14__bazelrc_Build_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27358"/>
            <a:ext cx="7040880" cy="26890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extra_toolchains selects the LLVM toolchain.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rules_cuda compiler is set to clang.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archs selects device code generation target.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Build policy stays outside source files.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projects/detailed/.bazelrc   |   Source: rules_cuda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Clang CUDA Compilation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15/46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Clang compiles host and device sides; ptxas generates device code</a:t>
            </a:r>
          </a:p>
        </p:txBody>
      </p:sp>
      <p:pic>
        <p:nvPicPr>
          <p:cNvPr id="7" name="Picture 6" descr="clan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14372"/>
            <a:ext cx="6766560" cy="2932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Clang parses CUDA and separates host/device compilation.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PTX is the device intermediate form.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ptxas assembles PTX to architecture-specific device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--@rules_cuda//cuda:compiler=clang   |   Source: LLVM: Compiling CUDA with Clang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Lab 1 Checkpoint: Build the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16/46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repository gives a reproducible baseline before changes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Checkpoint / 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Move into the detailed project.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Run the full test set.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Confirm which targets need runtime GPU access.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Record any environment blockers.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cd projects/detailed
bazel test //...</a:t>
            </a:r>
          </a:p>
        </p:txBody>
      </p:sp>
      <p:pic>
        <p:nvPicPr>
          <p:cNvPr id="12" name="Picture 11" descr="target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648456"/>
            <a:ext cx="4251960" cy="19842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CPU Oracle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17/46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CUDA correctness starts with a boring CPU implementation</a:t>
            </a:r>
          </a:p>
        </p:txBody>
      </p:sp>
      <p:pic>
        <p:nvPicPr>
          <p:cNvPr id="7" name="Picture 6" descr="code_17_CPU_Oracle_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94241"/>
            <a:ext cx="7040880" cy="33553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Validate input sizes before work.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Use a simple loop to express the contract.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This result becomes the comparison baseline.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projects/detailed/cpp/vector_cpu.cc   |   Source: CUDA C++ Best Practices Guide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CPU Test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18/46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Tests capture the contract before acceleration</a:t>
            </a:r>
          </a:p>
        </p:txBody>
      </p:sp>
      <p:pic>
        <p:nvPicPr>
          <p:cNvPr id="7" name="Picture 6" descr="code_18_CPU_Test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267" y="1234440"/>
            <a:ext cx="5784185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cc_test makes the CPU oracle executable in the build graph.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The test target depends on CPU libraries, not on CUDA.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This separates semantics from acceleration.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bazel test //cpp:vector_cpu_test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CPU Threaded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19/46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GPU comparison should include CPU parallelism, not only serial CPU</a:t>
            </a:r>
          </a:p>
        </p:txBody>
      </p:sp>
      <p:pic>
        <p:nvPicPr>
          <p:cNvPr id="7" name="Picture 6" descr="code_19_CPU_Threaded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676" y="1234440"/>
            <a:ext cx="5535366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Split N elements into chunks.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Use host threads to show CPU parallel work.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This bridges C++ concurrency and GPU parallelism.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projects/detailed/cpp/vector_threaded.cc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Benchmark Output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20/46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A benchmark teaches only if we know what was measured</a:t>
            </a:r>
          </a:p>
        </p:txBody>
      </p:sp>
      <p:pic>
        <p:nvPicPr>
          <p:cNvPr id="7" name="Picture 6" descr="code_20_Benchmark_Output_Re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643" y="1234440"/>
            <a:ext cx="6013432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Record input size.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Separate serial and threaded paths.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Treat first-run and machine variance carefully.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303520"/>
            <a:ext cx="3749039" cy="685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413248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EBEEF2"/>
                </a:solidFill>
                <a:latin typeface="Courier New"/>
              </a:rPr>
              <a:t>bazel run //cpp:vector_cpu_benchmark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projects/detailed/cpp/vector_cpu_benchmark.cc   |   Source: CUDA C++ Best Practices Guide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CUDA Source Separation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21/46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Keep host orchestration and device kernel code cleanly separated</a:t>
            </a:r>
          </a:p>
        </p:txBody>
      </p:sp>
      <p:pic>
        <p:nvPicPr>
          <p:cNvPr id="7" name="Picture 6" descr="file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Public API: gpu/vector_add.h.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Host wrapper: gpu/vector_add_cuda.cc.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Device launcher + kernel: gpu/vector_add_device.{h,cu}.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This prevents one tangled .cu file.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projects/detailed/gpu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CUDA Target in Bazel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22/46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CUDA source becomes a Bazel target like everything else</a:t>
            </a:r>
          </a:p>
        </p:txBody>
      </p:sp>
      <p:pic>
        <p:nvPicPr>
          <p:cNvPr id="7" name="Picture 6" descr="code_22_CUDA_Target_in_Baz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982" y="1234440"/>
            <a:ext cx="4340754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cuda_library compiles device code.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cc_library wraps host-side logic.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Tests and benchmarks depend on the API target, not raw files.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projects/detailed/gpu/BUILD.bazel   |   Source: rules_cuda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Kernel Code: One Thread, One Element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23/46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Global thread index maps CUDA threads to vector elements</a:t>
            </a:r>
          </a:p>
        </p:txBody>
      </p:sp>
      <p:pic>
        <p:nvPicPr>
          <p:cNvPr id="7" name="Picture 6" descr="code_23_Kernel_Code_One_Thread_One_El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51220"/>
            <a:ext cx="7040880" cy="184135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blockIdx.x identifies the block.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blockDim.x is the block size.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threadIdx.x identifies the thread inside the block.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The bounds check protects the final partial block.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projects/detailed/gpu/vector_add_device.cu   |   Source: CUDA C++ Programming Guide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Thread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24/46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CUDA exposes grid -&gt; block -&gt; thread hierarchy</a:t>
            </a:r>
          </a:p>
        </p:txBody>
      </p:sp>
      <p:pic>
        <p:nvPicPr>
          <p:cNvPr id="7" name="Picture 6" descr="thread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88819"/>
            <a:ext cx="6766560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A kernel launch creates a grid.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A grid contains blocks.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Blocks contain threads.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Threads in a block can cooperate with shared memory.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blockIdx, blockDim, threadIdx   |   Source: CUDA C++ Programming Guide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Choosing Block and Grid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25/46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Launch configuration controls how many threads run</a:t>
            </a:r>
          </a:p>
        </p:txBody>
      </p:sp>
      <p:pic>
        <p:nvPicPr>
          <p:cNvPr id="7" name="Picture 6" descr="vector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472145"/>
            <a:ext cx="6766560" cy="24166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Use a fixed block size for the first kernel.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Round grid size up to cover all N elements.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Keep if (i &lt; n) inside the kernel.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constexpr int block_size = 256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Host Wrapper: Memory and Launch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26/46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Host C++ owns allocation, copies, launch, sync, and result transfer</a:t>
            </a:r>
          </a:p>
        </p:txBody>
      </p:sp>
      <p:pic>
        <p:nvPicPr>
          <p:cNvPr id="7" name="Picture 6" descr="code_26_Host_Wrapper_Memory_and_Launch_Owner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969" y="1234440"/>
            <a:ext cx="3502780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Validate inputs and compute byte counts.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Allocate device buffers.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Copy host-to-device, launch, synchronize, copy back.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Free device buffers.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projects/detailed/gpu/vector_add_cuda.cc   |   Source: CUDA Runtime API - Execution Control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CUDA Runtime API Calls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27/46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CUDA Runtime API is the control surface for device work</a:t>
            </a:r>
          </a:p>
        </p:txBody>
      </p:sp>
      <p:pic>
        <p:nvPicPr>
          <p:cNvPr id="7" name="Picture 6" descr="api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cudaMalloc creates device buffers.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cudaMemcpy moves data.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cudaLaunchKernel launches work explicitly.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cudaDeviceSynchronize waits for completion.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cudaFree releases device memory.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gpu/vector_add_cuda.cc + gpu/vector_add_device.cu   |   Source: CUDA Runtime API - Execution Control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Error Handling Helper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28/46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Every CUDA call should be checked</a:t>
            </a:r>
          </a:p>
        </p:txBody>
      </p:sp>
      <p:pic>
        <p:nvPicPr>
          <p:cNvPr id="7" name="Picture 6" descr="code_28_Error_Handling_Hel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81" y="1234440"/>
            <a:ext cx="6413556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Unchecked CUDA errors make debugging unreliable.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The helper captures file and line context.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Use it around allocation, copies, synchronization, and runtime launches.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projects/detailed/runtime/cuda_errors.h   |   Source: CUDA C++ Best Practices Guide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Stream and Event Helpers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29/46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Small RAII helpers make CUDA runtime objects safer</a:t>
            </a:r>
          </a:p>
        </p:txBody>
      </p:sp>
      <p:pic>
        <p:nvPicPr>
          <p:cNvPr id="7" name="Picture 6" descr="code_29_Stream_and_Event_Help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382" y="1234440"/>
            <a:ext cx="4193955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Stream wrapper owns cudaStreamCreate/cudaStreamDestroy.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Event wrapper owns cudaEventCreate/cudaEventDestroy.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elapsed_ms centralizes CUDA event timing.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projects/detailed/runtime/cuda_launch.h   |   Source: CUDA C++ Programming Guide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Two Launch Styles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30/46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Triple-chevron syntax and cudaLaunchKernel launch the same device function</a:t>
            </a:r>
          </a:p>
        </p:txBody>
      </p:sp>
      <p:pic>
        <p:nvPicPr>
          <p:cNvPr id="7" name="Picture 6" descr="launch_sty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78815"/>
            <a:ext cx="6766560" cy="28032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Triple-chevron is the normal readable CUDA C++ syntax.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cudaLaunchKernel exposes the Runtime API mechanism explicitly.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The project lets both paths be benchmarked and tested.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LaunchApi enum + vector_add_device.cu   |   Source: CUDA Runtime API - Execution Control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Correctness Test: CPU vs CUDA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31/46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GPU result must match the CPU oracle</a:t>
            </a:r>
          </a:p>
        </p:txBody>
      </p:sp>
      <p:pic>
        <p:nvPicPr>
          <p:cNvPr id="7" name="Picture 6" descr="code_31_Correctness_Test_CPU_vs_CU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407" y="1234440"/>
            <a:ext cx="5059905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CPU and CUDA paths share the same inputs.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Outputs are compared element by element.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No performance discussion until this target passes.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303520"/>
            <a:ext cx="3749039" cy="685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413248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EBEEF2"/>
                </a:solidFill>
                <a:latin typeface="Courier New"/>
              </a:rPr>
              <a:t>bazel test //gpu:vector_add_test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projects/detailed/gpu/vector_add_test.cc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Live Demo: Run the CUDA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32/46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first CUDA feature is now real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Checkpoint / 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Run the test target.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If cached, use --nocache_test_results for a live run.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Confirm both launch styles are covered by tests.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cd projects/detailed
bazel test //gpu:vector_add_test
# optional: --nocache_test_results</a:t>
            </a:r>
          </a:p>
        </p:txBody>
      </p:sp>
      <p:pic>
        <p:nvPicPr>
          <p:cNvPr id="12" name="Picture 11" descr="launch_sty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759816"/>
            <a:ext cx="4251960" cy="176152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//gpu:vector_add_test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Aquery: Proving Hermetic Clang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33/46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Trust, then inspect the action graph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Checkpoint / 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aquery reveals the compile actions Bazel will run.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Look for external LLVM toolchain paths.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The goal is to prove the compiler is not an ambient /usr/bin guess.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bazel aquery 'mnemonic("CppCompile", //gpu:vector_add_test)'</a:t>
            </a:r>
          </a:p>
        </p:txBody>
      </p:sp>
      <p:pic>
        <p:nvPicPr>
          <p:cNvPr id="12" name="Picture 11" descr="clan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719322"/>
            <a:ext cx="4251960" cy="18425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Bazel action graph   |   Source: Bazel Hermeticity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Build Graph as a Teaching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34/46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Build dependencies mirror architecture decisions</a:t>
            </a:r>
          </a:p>
        </p:txBody>
      </p:sp>
      <p:sp>
        <p:nvSpPr>
          <p:cNvPr id="10" name="Target Graph Diagram Title"/>
          <p:cNvSpPr txBox="1"/>
          <p:nvPr/>
        </p:nvSpPr>
        <p:spPr>
          <a:xfrm>
            <a:off x="786384" y="2240280"/>
            <a:ext cx="6309360" cy="32004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sz="1200" b="1">
                <a:solidFill>
                  <a:srgbClr val="121B2A"/>
                </a:solidFill>
                <a:latin typeface="Aptos"/>
              </a:rPr>
              <a:t>Bazel target graph mirrors project architecture</a:t>
            </a:r>
          </a:p>
        </p:txBody>
      </p:sp>
      <p:sp>
        <p:nvSpPr>
          <p:cNvPr id="11" name="Benchmark Target Node"/>
          <p:cNvSpPr/>
          <p:nvPr/>
        </p:nvSpPr>
        <p:spPr>
          <a:xfrm>
            <a:off x="960120" y="3200400"/>
            <a:ext cx="1325880" cy="512064"/>
          </a:xfrm>
          <a:prstGeom prst="roundRect">
            <a:avLst/>
          </a:prstGeom>
          <a:solidFill>
            <a:srgbClr val="E6F6F8"/>
          </a:solidFill>
          <a:ln w="10160">
            <a:solidFill>
              <a:srgbClr val="9BA9B8"/>
            </a:solidFill>
          </a:ln>
        </p:spPr>
        <p:txBody>
          <a:bodyPr wrap="square" anchor="ctr" lIns="91440" tIns="36576" rIns="91440" bIns="36576">
            <a:normAutofit/>
          </a:bodyPr>
          <a:lstStyle/>
          <a:p>
            <a:pPr algn="ctr"/>
            <a:r>
              <a:rPr sz="950">
                <a:solidFill>
                  <a:srgbClr val="1C2430"/>
                </a:solidFill>
                <a:latin typeface="Aptos"/>
              </a:rPr>
              <a:t>benchmark</a:t>
            </a:r>
          </a:p>
        </p:txBody>
      </p:sp>
      <p:sp>
        <p:nvSpPr>
          <p:cNvPr id="12" name="Vector CPU Target Node"/>
          <p:cNvSpPr/>
          <p:nvPr/>
        </p:nvSpPr>
        <p:spPr>
          <a:xfrm>
            <a:off x="2606040" y="2816352"/>
            <a:ext cx="1417320" cy="512064"/>
          </a:xfrm>
          <a:prstGeom prst="roundRect">
            <a:avLst/>
          </a:prstGeom>
          <a:solidFill>
            <a:srgbClr val="E4EFFC"/>
          </a:solidFill>
          <a:ln w="10160">
            <a:solidFill>
              <a:srgbClr val="9BA9B8"/>
            </a:solidFill>
          </a:ln>
        </p:spPr>
        <p:txBody>
          <a:bodyPr wrap="square" anchor="ctr" lIns="91440" tIns="36576" rIns="91440" bIns="36576">
            <a:normAutofit/>
          </a:bodyPr>
          <a:lstStyle/>
          <a:p>
            <a:pPr algn="ctr"/>
            <a:r>
              <a:rPr sz="950">
                <a:solidFill>
                  <a:srgbClr val="1C2430"/>
                </a:solidFill>
                <a:latin typeface="Aptos"/>
              </a:rPr>
              <a:t>vector_cpu</a:t>
            </a:r>
          </a:p>
        </p:txBody>
      </p:sp>
      <p:sp>
        <p:nvSpPr>
          <p:cNvPr id="13" name="Vector Add Target Node"/>
          <p:cNvSpPr/>
          <p:nvPr/>
        </p:nvSpPr>
        <p:spPr>
          <a:xfrm>
            <a:off x="2606040" y="3730752"/>
            <a:ext cx="1417320" cy="512064"/>
          </a:xfrm>
          <a:prstGeom prst="roundRect">
            <a:avLst/>
          </a:prstGeom>
          <a:solidFill>
            <a:srgbClr val="EAF8E7"/>
          </a:solidFill>
          <a:ln w="10160">
            <a:solidFill>
              <a:srgbClr val="9BA9B8"/>
            </a:solidFill>
          </a:ln>
        </p:spPr>
        <p:txBody>
          <a:bodyPr wrap="square" anchor="ctr" lIns="91440" tIns="36576" rIns="91440" bIns="36576">
            <a:normAutofit/>
          </a:bodyPr>
          <a:lstStyle/>
          <a:p>
            <a:pPr algn="ctr"/>
            <a:r>
              <a:rPr sz="950">
                <a:solidFill>
                  <a:srgbClr val="1C2430"/>
                </a:solidFill>
                <a:latin typeface="Aptos"/>
              </a:rPr>
              <a:t>vector_add</a:t>
            </a:r>
          </a:p>
        </p:txBody>
      </p:sp>
      <p:sp>
        <p:nvSpPr>
          <p:cNvPr id="14" name="Device Lib Target Node"/>
          <p:cNvSpPr/>
          <p:nvPr/>
        </p:nvSpPr>
        <p:spPr>
          <a:xfrm>
            <a:off x="4343400" y="3730752"/>
            <a:ext cx="1325880" cy="512064"/>
          </a:xfrm>
          <a:prstGeom prst="roundRect">
            <a:avLst/>
          </a:prstGeom>
          <a:solidFill>
            <a:srgbClr val="FFF4DE"/>
          </a:solidFill>
          <a:ln w="10160">
            <a:solidFill>
              <a:srgbClr val="9BA9B8"/>
            </a:solidFill>
          </a:ln>
        </p:spPr>
        <p:txBody>
          <a:bodyPr wrap="square" anchor="ctr" lIns="91440" tIns="36576" rIns="91440" bIns="36576">
            <a:normAutofit/>
          </a:bodyPr>
          <a:lstStyle/>
          <a:p>
            <a:pPr algn="ctr"/>
            <a:r>
              <a:rPr sz="950">
                <a:solidFill>
                  <a:srgbClr val="1C2430"/>
                </a:solidFill>
                <a:latin typeface="Aptos"/>
              </a:rPr>
              <a:t>device_lib</a:t>
            </a:r>
          </a:p>
        </p:txBody>
      </p:sp>
      <p:sp>
        <p:nvSpPr>
          <p:cNvPr id="15" name="Runtime Target Node"/>
          <p:cNvSpPr/>
          <p:nvPr/>
        </p:nvSpPr>
        <p:spPr>
          <a:xfrm>
            <a:off x="5943600" y="3730752"/>
            <a:ext cx="1234440" cy="512064"/>
          </a:xfrm>
          <a:prstGeom prst="roundRect">
            <a:avLst/>
          </a:prstGeom>
          <a:solidFill>
            <a:srgbClr val="EAE5FF"/>
          </a:solidFill>
          <a:ln w="10160">
            <a:solidFill>
              <a:srgbClr val="9BA9B8"/>
            </a:solidFill>
          </a:ln>
        </p:spPr>
        <p:txBody>
          <a:bodyPr wrap="square" anchor="ctr" lIns="91440" tIns="36576" rIns="91440" bIns="36576">
            <a:normAutofit/>
          </a:bodyPr>
          <a:lstStyle/>
          <a:p>
            <a:pPr algn="ctr"/>
            <a:r>
              <a:rPr sz="950">
                <a:solidFill>
                  <a:srgbClr val="1C2430"/>
                </a:solidFill>
                <a:latin typeface="Aptos"/>
              </a:rPr>
              <a:t>runtime</a:t>
            </a:r>
          </a:p>
        </p:txBody>
      </p:sp>
      <p:sp>
        <p:nvSpPr>
          <p:cNvPr id="16" name="Benchmark To Vector CPU Connector"/>
          <p:cNvSpPr/>
          <p:nvPr/>
        </p:nvSpPr>
        <p:spPr>
          <a:xfrm flipV="1">
            <a:off x="2286000" y="3072384"/>
            <a:ext cx="320040" cy="384048"/>
          </a:xfrm>
          <a:prstGeom prst="line">
            <a:avLst/>
          </a:prstGeom>
          <a:noFill/>
          <a:ln w="22860" cap="round">
            <a:solidFill>
              <a:srgbClr val="65B000"/>
            </a:solidFill>
            <a:tailEnd type="triangle" w="med" len="med"/>
          </a:ln>
        </p:spPr>
      </p:sp>
      <p:sp>
        <p:nvSpPr>
          <p:cNvPr id="17" name="Benchmark To Vector Add Connector"/>
          <p:cNvSpPr/>
          <p:nvPr/>
        </p:nvSpPr>
        <p:spPr>
          <a:xfrm>
            <a:off x="2286000" y="3456432"/>
            <a:ext cx="320040" cy="530352"/>
          </a:xfrm>
          <a:prstGeom prst="line">
            <a:avLst/>
          </a:prstGeom>
          <a:noFill/>
          <a:ln w="22860" cap="round">
            <a:solidFill>
              <a:srgbClr val="65B000"/>
            </a:solidFill>
            <a:tailEnd type="triangle" w="med" len="med"/>
          </a:ln>
        </p:spPr>
      </p:sp>
      <p:sp>
        <p:nvSpPr>
          <p:cNvPr id="18" name="Vector Add To Device Lib Connector"/>
          <p:cNvSpPr/>
          <p:nvPr/>
        </p:nvSpPr>
        <p:spPr>
          <a:xfrm>
            <a:off x="4023360" y="3986784"/>
            <a:ext cx="320040" cy="0"/>
          </a:xfrm>
          <a:prstGeom prst="line">
            <a:avLst/>
          </a:prstGeom>
          <a:noFill/>
          <a:ln w="22860" cap="round">
            <a:solidFill>
              <a:srgbClr val="65B000"/>
            </a:solidFill>
            <a:tailEnd type="triangle" w="med" len="med"/>
          </a:ln>
        </p:spPr>
      </p:sp>
      <p:sp>
        <p:nvSpPr>
          <p:cNvPr id="19" name="Device Lib To Runtime Connector"/>
          <p:cNvSpPr/>
          <p:nvPr/>
        </p:nvSpPr>
        <p:spPr>
          <a:xfrm>
            <a:off x="5669280" y="3986784"/>
            <a:ext cx="274320" cy="0"/>
          </a:xfrm>
          <a:prstGeom prst="line">
            <a:avLst/>
          </a:prstGeom>
          <a:noFill/>
          <a:ln w="22860" cap="round">
            <a:solidFill>
              <a:srgbClr val="65B000"/>
            </a:solidFill>
            <a:tailEnd type="triangle" w="med" len="med"/>
          </a:ln>
        </p:spPr>
      </p:sp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Benchmark target depends on CPU and CUDA implementations.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CUDA wrapper depends on device library.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Device library uses runtime helpers.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The target graph is a design diagram.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projects/detailed/gpu/BUILD.bazel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CUDA Architecture Flag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35/46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Device code is compiled for GPU architecture choices</a:t>
            </a:r>
          </a:p>
        </p:txBody>
      </p:sp>
      <p:pic>
        <p:nvPicPr>
          <p:cNvPr id="7" name="Picture 6" descr="arch_fla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Bazel config selects compute/PTX and sm/SASS targets.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PTX path gives compatibility; SASS path is architecture-specific.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Labs may change this for a different GPU fleet.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projects/detailed/.bazelrc   |   Source: rules_cuda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What Can Go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36/46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CUDA failures are usually environment, architecture, memory, or launch bugs</a:t>
            </a:r>
          </a:p>
        </p:txBody>
      </p:sp>
      <p:pic>
        <p:nvPicPr>
          <p:cNvPr id="7" name="Picture 6" descr="diagno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No driver or no GPU access.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Architecture flag mismatch.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Wrong copy size or direction.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Unchecked launch failure.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Use device_info and CUDA_CHECK to localize.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runtime/device_info + runtime/cuda_errors.h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Lab 2: Read and Explain the Kernel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37/46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Be able to narrate the CUDA kernel line by 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Checkpoint / 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Open gpu/vector_add_device.cu.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Identify the index calculation.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Identify the bounds check.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Identify where grid and block sizes are chosen.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code projects/detailed/gpu/vector_add_device.cu</a:t>
            </a:r>
          </a:p>
        </p:txBody>
      </p:sp>
      <p:pic>
        <p:nvPicPr>
          <p:cNvPr id="12" name="Picture 11" descr="thread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577589"/>
            <a:ext cx="4251960" cy="21259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gpu/vector_add_device.cu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Lab 3: Change Vector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38/46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Configuration changes should preserve correctness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Checkpoint / 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Change the benchmark vector size.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Re-run the CUDA test.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Run the benchmark.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Record serial CPU, threaded CPU, runtime API CUDA, and triple-chevron CUDA times.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bazel test //gpu:vector_add_test
bazel run //gpu:vector_add_benchmark</a:t>
            </a:r>
          </a:p>
        </p:txBody>
      </p:sp>
      <p:pic>
        <p:nvPicPr>
          <p:cNvPr id="12" name="Picture 11" descr="saxp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903573"/>
            <a:ext cx="4251960" cy="14740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gpu/vector_add_benchmark.cc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Benchmark Target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39/46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Day 1 ends with the benchmark target ready for deeper analysis</a:t>
            </a:r>
          </a:p>
        </p:txBody>
      </p:sp>
      <p:pic>
        <p:nvPicPr>
          <p:cNvPr id="7" name="Picture 6" descr="code_39_Benchmark_Target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792" y="1234440"/>
            <a:ext cx="4397134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The benchmark invokes CPU serial, CPU threaded, and CUDA variants.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Day 2 will explain timing, memory cost, and interpretation.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303520"/>
            <a:ext cx="3749039" cy="685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413248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EBEEF2"/>
                </a:solidFill>
                <a:latin typeface="Courier New"/>
              </a:rPr>
              <a:t>bazel run //gpu:vector_add_benchmark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projects/detailed/gpu/vector_add_benchmark.cc   |   Source: CUDA C++ Best Practices Guide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From Visual Studio Debugger to Repository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40/46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old debugger-first flow becomes build/test/run first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A"/>
                          </a:solidFill>
                        </a:defRPr>
                      </a:pPr>
                      <a:r>
                        <a:t>Old course step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A"/>
                          </a:solidFill>
                        </a:defRPr>
                      </a:pPr>
                      <a:r>
                        <a:t>Repository-driven replacement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Install CUDA SDK manually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cuda.redist_json + rules_cuda toolchain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Create Visual Studio project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BUILD.bazel targets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Run a sample app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bazel run //runtime:device_info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Compare CPU/GPU manually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bazel test //gpu:vector_add_test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Package by copying files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rules_oci image target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5806440"/>
            <a:ext cx="105156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C2430"/>
                </a:solidFill>
              </a:defRPr>
            </a:pPr>
            <a:r>
              <a:t>Editor choice stays independent from build definition.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source.md -&gt; reworked repository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Day 1 Architecture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41/46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foundation for a real CUDA project is now in place</a:t>
            </a:r>
          </a:p>
        </p:txBody>
      </p:sp>
      <p:sp>
        <p:nvSpPr>
          <p:cNvPr id="10" name="Target Graph Diagram Title"/>
          <p:cNvSpPr txBox="1"/>
          <p:nvPr/>
        </p:nvSpPr>
        <p:spPr>
          <a:xfrm>
            <a:off x="786384" y="2240280"/>
            <a:ext cx="6309360" cy="32004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sz="1200" b="1">
                <a:solidFill>
                  <a:srgbClr val="121B2A"/>
                </a:solidFill>
                <a:latin typeface="Aptos"/>
              </a:rPr>
              <a:t>Bazel target graph mirrors project architecture</a:t>
            </a:r>
          </a:p>
        </p:txBody>
      </p:sp>
      <p:sp>
        <p:nvSpPr>
          <p:cNvPr id="11" name="Benchmark Target Node"/>
          <p:cNvSpPr/>
          <p:nvPr/>
        </p:nvSpPr>
        <p:spPr>
          <a:xfrm>
            <a:off x="960120" y="3200400"/>
            <a:ext cx="1325880" cy="512064"/>
          </a:xfrm>
          <a:prstGeom prst="roundRect">
            <a:avLst/>
          </a:prstGeom>
          <a:solidFill>
            <a:srgbClr val="E6F6F8"/>
          </a:solidFill>
          <a:ln w="10160">
            <a:solidFill>
              <a:srgbClr val="9BA9B8"/>
            </a:solidFill>
          </a:ln>
        </p:spPr>
        <p:txBody>
          <a:bodyPr wrap="square" anchor="ctr" lIns="91440" tIns="36576" rIns="91440" bIns="36576">
            <a:normAutofit/>
          </a:bodyPr>
          <a:lstStyle/>
          <a:p>
            <a:pPr algn="ctr"/>
            <a:r>
              <a:rPr sz="950">
                <a:solidFill>
                  <a:srgbClr val="1C2430"/>
                </a:solidFill>
                <a:latin typeface="Aptos"/>
              </a:rPr>
              <a:t>benchmark</a:t>
            </a:r>
          </a:p>
        </p:txBody>
      </p:sp>
      <p:sp>
        <p:nvSpPr>
          <p:cNvPr id="12" name="Vector CPU Target Node"/>
          <p:cNvSpPr/>
          <p:nvPr/>
        </p:nvSpPr>
        <p:spPr>
          <a:xfrm>
            <a:off x="2606040" y="2816352"/>
            <a:ext cx="1417320" cy="512064"/>
          </a:xfrm>
          <a:prstGeom prst="roundRect">
            <a:avLst/>
          </a:prstGeom>
          <a:solidFill>
            <a:srgbClr val="E4EFFC"/>
          </a:solidFill>
          <a:ln w="10160">
            <a:solidFill>
              <a:srgbClr val="9BA9B8"/>
            </a:solidFill>
          </a:ln>
        </p:spPr>
        <p:txBody>
          <a:bodyPr wrap="square" anchor="ctr" lIns="91440" tIns="36576" rIns="91440" bIns="36576">
            <a:normAutofit/>
          </a:bodyPr>
          <a:lstStyle/>
          <a:p>
            <a:pPr algn="ctr"/>
            <a:r>
              <a:rPr sz="950">
                <a:solidFill>
                  <a:srgbClr val="1C2430"/>
                </a:solidFill>
                <a:latin typeface="Aptos"/>
              </a:rPr>
              <a:t>vector_cpu</a:t>
            </a:r>
          </a:p>
        </p:txBody>
      </p:sp>
      <p:sp>
        <p:nvSpPr>
          <p:cNvPr id="13" name="Vector Add Target Node"/>
          <p:cNvSpPr/>
          <p:nvPr/>
        </p:nvSpPr>
        <p:spPr>
          <a:xfrm>
            <a:off x="2606040" y="3730752"/>
            <a:ext cx="1417320" cy="512064"/>
          </a:xfrm>
          <a:prstGeom prst="roundRect">
            <a:avLst/>
          </a:prstGeom>
          <a:solidFill>
            <a:srgbClr val="EAF8E7"/>
          </a:solidFill>
          <a:ln w="10160">
            <a:solidFill>
              <a:srgbClr val="9BA9B8"/>
            </a:solidFill>
          </a:ln>
        </p:spPr>
        <p:txBody>
          <a:bodyPr wrap="square" anchor="ctr" lIns="91440" tIns="36576" rIns="91440" bIns="36576">
            <a:normAutofit/>
          </a:bodyPr>
          <a:lstStyle/>
          <a:p>
            <a:pPr algn="ctr"/>
            <a:r>
              <a:rPr sz="950">
                <a:solidFill>
                  <a:srgbClr val="1C2430"/>
                </a:solidFill>
                <a:latin typeface="Aptos"/>
              </a:rPr>
              <a:t>vector_add</a:t>
            </a:r>
          </a:p>
        </p:txBody>
      </p:sp>
      <p:sp>
        <p:nvSpPr>
          <p:cNvPr id="14" name="Device Lib Target Node"/>
          <p:cNvSpPr/>
          <p:nvPr/>
        </p:nvSpPr>
        <p:spPr>
          <a:xfrm>
            <a:off x="4343400" y="3730752"/>
            <a:ext cx="1325880" cy="512064"/>
          </a:xfrm>
          <a:prstGeom prst="roundRect">
            <a:avLst/>
          </a:prstGeom>
          <a:solidFill>
            <a:srgbClr val="FFF4DE"/>
          </a:solidFill>
          <a:ln w="10160">
            <a:solidFill>
              <a:srgbClr val="9BA9B8"/>
            </a:solidFill>
          </a:ln>
        </p:spPr>
        <p:txBody>
          <a:bodyPr wrap="square" anchor="ctr" lIns="91440" tIns="36576" rIns="91440" bIns="36576">
            <a:normAutofit/>
          </a:bodyPr>
          <a:lstStyle/>
          <a:p>
            <a:pPr algn="ctr"/>
            <a:r>
              <a:rPr sz="950">
                <a:solidFill>
                  <a:srgbClr val="1C2430"/>
                </a:solidFill>
                <a:latin typeface="Aptos"/>
              </a:rPr>
              <a:t>device_lib</a:t>
            </a:r>
          </a:p>
        </p:txBody>
      </p:sp>
      <p:sp>
        <p:nvSpPr>
          <p:cNvPr id="15" name="Runtime Target Node"/>
          <p:cNvSpPr/>
          <p:nvPr/>
        </p:nvSpPr>
        <p:spPr>
          <a:xfrm>
            <a:off x="5943600" y="3730752"/>
            <a:ext cx="1234440" cy="512064"/>
          </a:xfrm>
          <a:prstGeom prst="roundRect">
            <a:avLst/>
          </a:prstGeom>
          <a:solidFill>
            <a:srgbClr val="EAE5FF"/>
          </a:solidFill>
          <a:ln w="10160">
            <a:solidFill>
              <a:srgbClr val="9BA9B8"/>
            </a:solidFill>
          </a:ln>
        </p:spPr>
        <p:txBody>
          <a:bodyPr wrap="square" anchor="ctr" lIns="91440" tIns="36576" rIns="91440" bIns="36576">
            <a:normAutofit/>
          </a:bodyPr>
          <a:lstStyle/>
          <a:p>
            <a:pPr algn="ctr"/>
            <a:r>
              <a:rPr sz="950">
                <a:solidFill>
                  <a:srgbClr val="1C2430"/>
                </a:solidFill>
                <a:latin typeface="Aptos"/>
              </a:rPr>
              <a:t>runtime</a:t>
            </a:r>
          </a:p>
        </p:txBody>
      </p:sp>
      <p:sp>
        <p:nvSpPr>
          <p:cNvPr id="16" name="Benchmark To Vector CPU Connector"/>
          <p:cNvSpPr/>
          <p:nvPr/>
        </p:nvSpPr>
        <p:spPr>
          <a:xfrm flipV="1">
            <a:off x="2286000" y="3072384"/>
            <a:ext cx="320040" cy="384048"/>
          </a:xfrm>
          <a:prstGeom prst="line">
            <a:avLst/>
          </a:prstGeom>
          <a:noFill/>
          <a:ln w="22860" cap="round">
            <a:solidFill>
              <a:srgbClr val="65B000"/>
            </a:solidFill>
            <a:tailEnd type="triangle" w="med" len="med"/>
          </a:ln>
        </p:spPr>
      </p:sp>
      <p:sp>
        <p:nvSpPr>
          <p:cNvPr id="17" name="Benchmark To Vector Add Connector"/>
          <p:cNvSpPr/>
          <p:nvPr/>
        </p:nvSpPr>
        <p:spPr>
          <a:xfrm>
            <a:off x="2286000" y="3456432"/>
            <a:ext cx="320040" cy="530352"/>
          </a:xfrm>
          <a:prstGeom prst="line">
            <a:avLst/>
          </a:prstGeom>
          <a:noFill/>
          <a:ln w="22860" cap="round">
            <a:solidFill>
              <a:srgbClr val="65B000"/>
            </a:solidFill>
            <a:tailEnd type="triangle" w="med" len="med"/>
          </a:ln>
        </p:spPr>
      </p:sp>
      <p:sp>
        <p:nvSpPr>
          <p:cNvPr id="18" name="Vector Add To Device Lib Connector"/>
          <p:cNvSpPr/>
          <p:nvPr/>
        </p:nvSpPr>
        <p:spPr>
          <a:xfrm>
            <a:off x="4023360" y="3986784"/>
            <a:ext cx="320040" cy="0"/>
          </a:xfrm>
          <a:prstGeom prst="line">
            <a:avLst/>
          </a:prstGeom>
          <a:noFill/>
          <a:ln w="22860" cap="round">
            <a:solidFill>
              <a:srgbClr val="65B000"/>
            </a:solidFill>
            <a:tailEnd type="triangle" w="med" len="med"/>
          </a:ln>
        </p:spPr>
      </p:sp>
      <p:sp>
        <p:nvSpPr>
          <p:cNvPr id="19" name="Device Lib To Runtime Connector"/>
          <p:cNvSpPr/>
          <p:nvPr/>
        </p:nvSpPr>
        <p:spPr>
          <a:xfrm>
            <a:off x="5669280" y="3986784"/>
            <a:ext cx="274320" cy="0"/>
          </a:xfrm>
          <a:prstGeom prst="line">
            <a:avLst/>
          </a:prstGeom>
          <a:noFill/>
          <a:ln w="22860" cap="round">
            <a:solidFill>
              <a:srgbClr val="65B000"/>
            </a:solidFill>
            <a:tailEnd type="triangle" w="med" len="med"/>
          </a:ln>
        </p:spPr>
      </p:sp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Hermetic C++ compiler.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Hermetic CUDA toolkit.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CPU oracle and threaded baseline.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CUDA device kernel and host wrapper.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Error helper and runtime launch path.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Tests and benchmark target.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Documentation Anchors for 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42/46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Use official docs to support the repository decisions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A"/>
                          </a:solidFill>
                        </a:defRPr>
                      </a:pPr>
                      <a:r>
                        <a:t>Topic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A"/>
                          </a:solidFill>
                        </a:defRPr>
                      </a:pPr>
                      <a:r>
                        <a:t>Primary source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A"/>
                          </a:solidFill>
                        </a:defRPr>
                      </a:pPr>
                      <a:r>
                        <a:t>Repository anchor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CUDA programming model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CUDA C++ Programming Guide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gpu/vector_add_device.cu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Runtime launch API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CUDA Runtime API execution control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cudaLaunchKernel path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Clang CUDA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LLVM Clang CUDA docs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.bazelrc + rules_cuda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Hermetic build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Bazel hermeticity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MODULE.bazel + toolchains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CUDA Bazel rules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rules_cuda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gpu/BUILD.bazel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docs-to-code mapping   |   Source: CUDA / LLVM / Bazel official docs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Day 1 Integration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43/46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Run the end-to-end Day 1 path in four commands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Checkpoint / 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Inspect the device.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Run the CPU test.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Run the CUDA test.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Run the vector-add benchmark preview.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cd projects/detailed
bazel run //runtime:device_info
bazel test //cpp:vector_cpu_test
bazel test //gpu:vector_add_test
bazel run //gpu:vector_add_benchmark</a:t>
            </a:r>
          </a:p>
        </p:txBody>
      </p:sp>
      <p:pic>
        <p:nvPicPr>
          <p:cNvPr id="12" name="Picture 11" descr="fina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903573"/>
            <a:ext cx="4251960" cy="14740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Prepare for 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44/46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Day 2 asks what the GPU work costs and how we deploy it</a:t>
            </a:r>
          </a:p>
        </p:txBody>
      </p:sp>
      <p:pic>
        <p:nvPicPr>
          <p:cNvPr id="7" name="Picture 6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How much time is launch vs transfer vs compute?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How do streams overlap work?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What belongs in a container?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How does JAX/XLA compare?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Why is MatMul different from vector add?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Day 2 targets: benchmark, deploy, JAX, MatMul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Day 1 Exercise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45/46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Concrete practice tasks that extend the repository without changing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Checkpoint / 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Re-run //runtime:device_info and identify three hardware fields.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Add one new assertion to vector_add_test.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Change benchmark size and record timings.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Inspect the compiler path with aquery.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bazel run //runtime:device_info
bazel test //gpu:vector_add_test
bazel aquery 'mnemonic("CppCompile", //gpu:vector_add_test)'</a:t>
            </a:r>
          </a:p>
        </p:txBody>
      </p:sp>
      <p:pic>
        <p:nvPicPr>
          <p:cNvPr id="12" name="Picture 11" descr="diagno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903573"/>
            <a:ext cx="4251960" cy="14740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Day 1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46/46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Foundation complete: code, build, test, and first GPU feature</a:t>
            </a:r>
          </a:p>
        </p:txBody>
      </p:sp>
      <p:pic>
        <p:nvPicPr>
          <p:cNvPr id="7" name="Picture 6" descr="fina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The repository declares the build.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The CPU verifies CUDA.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Clang compiles host and CUDA code.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ptxas is part of device code generation.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Day 2 measures, overlaps, packages, and compares.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bazel test //...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