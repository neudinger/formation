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07899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F5F8FA"/>
                </a:solidFill>
                <a:latin typeface="Aptos"/>
              </a:rPr>
              <a:t>Day 2 - Measure, Package, Compare, and Scale the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76B900"/>
                </a:solidFill>
                <a:latin typeface="Aptos"/>
              </a:rPr>
              <a:t>Runtime, performance, deployment, JAX/XLA, and MatMul</a:t>
            </a:r>
          </a:p>
        </p:txBody>
      </p:sp>
      <p:pic>
        <p:nvPicPr>
          <p:cNvPr id="4" name="Picture 3" descr="fina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543" y="2148840"/>
            <a:ext cx="8968153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40680"/>
            <a:ext cx="102412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8FA"/>
                </a:solidFill>
              </a:defRPr>
            </a:pPr>
            <a:r>
              <a:t>Today: measure -&gt; overlap -&gt; package -&gt; compare -&gt; extend to MatMul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64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99A6B8"/>
                </a:solidFill>
                <a:latin typeface="Aptos"/>
              </a:rPr>
              <a:t>Repository-driven CUDA/Bazel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Day 1 Recap in One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02/48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repo now has CPU, threaded CPU, and CUDA implementations</a:t>
            </a:r>
          </a:p>
        </p:txBody>
      </p:sp>
      <p:sp>
        <p:nvSpPr>
          <p:cNvPr id="10" name="Target Graph Diagram Title"/>
          <p:cNvSpPr txBox="1"/>
          <p:nvPr/>
        </p:nvSpPr>
        <p:spPr>
          <a:xfrm>
            <a:off x="786384" y="2240280"/>
            <a:ext cx="6309360" cy="32004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sz="1200" b="1">
                <a:solidFill>
                  <a:srgbClr val="121B2A"/>
                </a:solidFill>
                <a:latin typeface="Aptos"/>
              </a:rPr>
              <a:t>Bazel target graph mirrors project architecture</a:t>
            </a:r>
          </a:p>
        </p:txBody>
      </p:sp>
      <p:sp>
        <p:nvSpPr>
          <p:cNvPr id="11" name="Benchmark Target Node"/>
          <p:cNvSpPr/>
          <p:nvPr/>
        </p:nvSpPr>
        <p:spPr>
          <a:xfrm>
            <a:off x="960120" y="3200400"/>
            <a:ext cx="1325880" cy="512064"/>
          </a:xfrm>
          <a:prstGeom prst="roundRect">
            <a:avLst/>
          </a:prstGeom>
          <a:solidFill>
            <a:srgbClr val="E6F6F8"/>
          </a:solidFill>
          <a:ln w="10160">
            <a:solidFill>
              <a:srgbClr val="9BA9B8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benchmark</a:t>
            </a:r>
          </a:p>
        </p:txBody>
      </p:sp>
      <p:sp>
        <p:nvSpPr>
          <p:cNvPr id="12" name="Vector CPU Target Node"/>
          <p:cNvSpPr/>
          <p:nvPr/>
        </p:nvSpPr>
        <p:spPr>
          <a:xfrm>
            <a:off x="2606040" y="2816352"/>
            <a:ext cx="1417320" cy="512064"/>
          </a:xfrm>
          <a:prstGeom prst="roundRect">
            <a:avLst/>
          </a:prstGeom>
          <a:solidFill>
            <a:srgbClr val="E4EFFC"/>
          </a:solidFill>
          <a:ln w="10160">
            <a:solidFill>
              <a:srgbClr val="9BA9B8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vector_cpu</a:t>
            </a:r>
          </a:p>
        </p:txBody>
      </p:sp>
      <p:sp>
        <p:nvSpPr>
          <p:cNvPr id="13" name="Vector Add Target Node"/>
          <p:cNvSpPr/>
          <p:nvPr/>
        </p:nvSpPr>
        <p:spPr>
          <a:xfrm>
            <a:off x="2606040" y="3730752"/>
            <a:ext cx="1417320" cy="512064"/>
          </a:xfrm>
          <a:prstGeom prst="roundRect">
            <a:avLst/>
          </a:prstGeom>
          <a:solidFill>
            <a:srgbClr val="EAF8E7"/>
          </a:solidFill>
          <a:ln w="10160">
            <a:solidFill>
              <a:srgbClr val="9BA9B8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vector_add</a:t>
            </a:r>
          </a:p>
        </p:txBody>
      </p:sp>
      <p:sp>
        <p:nvSpPr>
          <p:cNvPr id="14" name="Device Lib Target Node"/>
          <p:cNvSpPr/>
          <p:nvPr/>
        </p:nvSpPr>
        <p:spPr>
          <a:xfrm>
            <a:off x="4343400" y="3730752"/>
            <a:ext cx="1325880" cy="512064"/>
          </a:xfrm>
          <a:prstGeom prst="roundRect">
            <a:avLst/>
          </a:prstGeom>
          <a:solidFill>
            <a:srgbClr val="FFF4DE"/>
          </a:solidFill>
          <a:ln w="10160">
            <a:solidFill>
              <a:srgbClr val="9BA9B8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device_lib</a:t>
            </a:r>
          </a:p>
        </p:txBody>
      </p:sp>
      <p:sp>
        <p:nvSpPr>
          <p:cNvPr id="15" name="Runtime Target Node"/>
          <p:cNvSpPr/>
          <p:nvPr/>
        </p:nvSpPr>
        <p:spPr>
          <a:xfrm>
            <a:off x="5943600" y="3730752"/>
            <a:ext cx="1234440" cy="512064"/>
          </a:xfrm>
          <a:prstGeom prst="roundRect">
            <a:avLst/>
          </a:prstGeom>
          <a:solidFill>
            <a:srgbClr val="EAE5FF"/>
          </a:solidFill>
          <a:ln w="10160">
            <a:solidFill>
              <a:srgbClr val="9BA9B8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runtime</a:t>
            </a:r>
          </a:p>
        </p:txBody>
      </p:sp>
      <p:sp>
        <p:nvSpPr>
          <p:cNvPr id="16" name="Benchmark To Vector CPU Connector"/>
          <p:cNvSpPr/>
          <p:nvPr/>
        </p:nvSpPr>
        <p:spPr>
          <a:xfrm flipV="1">
            <a:off x="2286000" y="3072384"/>
            <a:ext cx="320040" cy="384048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17" name="Benchmark To Vector Add Connector"/>
          <p:cNvSpPr/>
          <p:nvPr/>
        </p:nvSpPr>
        <p:spPr>
          <a:xfrm>
            <a:off x="2286000" y="3456432"/>
            <a:ext cx="320040" cy="530352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18" name="Vector Add To Device Lib Connector"/>
          <p:cNvSpPr/>
          <p:nvPr/>
        </p:nvSpPr>
        <p:spPr>
          <a:xfrm>
            <a:off x="4023360" y="3986784"/>
            <a:ext cx="320040" cy="0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19" name="Device Lib To Runtime Connector"/>
          <p:cNvSpPr/>
          <p:nvPr/>
        </p:nvSpPr>
        <p:spPr>
          <a:xfrm>
            <a:off x="5669280" y="3986784"/>
            <a:ext cx="274320" cy="0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vector_add_benchmark depends on CPU and CUDA implementations.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CUDA path is split into host wrapper, device library, and runtime helpers.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This is the graph we now measure and package.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//gpu:vector_add_benchmark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Day 2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03/48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Reason about runtime cost and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C2430"/>
                </a:solidFill>
              </a:defRPr>
            </a:pPr>
            <a:r>
              <a:t>Read benchmark output responsibly.</a:t>
            </a:r>
          </a:p>
          <a:p>
            <a:pPr>
              <a:spcAft>
                <a:spcPts val="600"/>
              </a:spcAft>
              <a:defRPr sz="2200">
                <a:solidFill>
                  <a:srgbClr val="1C2430"/>
                </a:solidFill>
              </a:defRPr>
            </a:pPr>
            <a:r>
              <a:t>Explain host/device memory movement.</a:t>
            </a:r>
          </a:p>
          <a:p>
            <a:pPr>
              <a:spcAft>
                <a:spcPts val="600"/>
              </a:spcAft>
              <a:defRPr sz="2200">
                <a:solidFill>
                  <a:srgbClr val="1C2430"/>
                </a:solidFill>
              </a:defRPr>
            </a:pPr>
            <a:r>
              <a:t>Use timing and synchronization correctly.</a:t>
            </a:r>
          </a:p>
          <a:p>
            <a:pPr>
              <a:spcAft>
                <a:spcPts val="600"/>
              </a:spcAft>
              <a:defRPr sz="2200">
                <a:solidFill>
                  <a:srgbClr val="1C2430"/>
                </a:solidFill>
              </a:defRPr>
            </a:pPr>
            <a:r>
              <a:t>Build/load a tiny GPU container.</a:t>
            </a:r>
          </a:p>
          <a:p>
            <a:pPr>
              <a:spcAft>
                <a:spcPts val="600"/>
              </a:spcAft>
              <a:defRPr sz="2200">
                <a:solidFill>
                  <a:srgbClr val="1C2430"/>
                </a:solidFill>
              </a:defRPr>
            </a:pPr>
            <a:r>
              <a:t>Explain JAX/XLA compiler path.</a:t>
            </a:r>
          </a:p>
          <a:p>
            <a:pPr>
              <a:spcAft>
                <a:spcPts val="600"/>
              </a:spcAft>
              <a:defRPr sz="2200">
                <a:solidFill>
                  <a:srgbClr val="1C2430"/>
                </a:solidFill>
              </a:defRPr>
            </a:pPr>
            <a:r>
              <a:t>Use MatMul as a separate performance ladder.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 + projects/simple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Start with Device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04/48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Runtime facts decide what experiments mean</a:t>
            </a:r>
          </a:p>
        </p:txBody>
      </p:sp>
      <p:pic>
        <p:nvPicPr>
          <p:cNvPr id="7" name="Picture 6" descr="code_4_Start_with_Device_Re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896" y="1234440"/>
            <a:ext cx="4748926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Run device_info before drawing conclusions.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Capture CUDA runtime, driver, device count, SM count, and warp size.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cd projects/detailed
bazel run //runtime:device_info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projects/detailed/runtime/device_info.cc   |   Source: CUDA C++ Programming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Hardware Fields That Matter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05/48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Not every device property matters equally for beginner kernels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Why it matters today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multiProcessorCount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Parallel capacity for kernels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warpSize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Scheduling granularity and MatMul discussion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sharedMemPerBlock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Tiled MatMul and shared-memory limits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asyncEngineCount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Potential copy/compute overlap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maxThreadsPerBlock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Launch constraints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cudaDeviceProp   |   Source: CUDA C++ Programming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Measurement Before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06/48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You need a timing model before changing code</a:t>
            </a:r>
          </a:p>
        </p:txBody>
      </p:sp>
      <p:pic>
        <p:nvPicPr>
          <p:cNvPr id="7" name="Picture 6" descr="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27148"/>
            <a:ext cx="6766560" cy="2706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Warm up before measuring.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Know the sync point.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Know whether copies/allocation are included.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Avoid comparing first-run cache effects.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Keep sample correctness visible.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gpu/vector_add_benchmark.cc   |   Source: CUDA C++ Best Practices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CUDA Timing Gotcha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07/48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GPU work is asynchronous from the host point of view</a:t>
            </a:r>
          </a:p>
        </p:txBody>
      </p:sp>
      <p:pic>
        <p:nvPicPr>
          <p:cNvPr id="7" name="Picture 6" descr="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27148"/>
            <a:ext cx="6766560" cy="2706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 host timer can stop before GPU work is complete.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Synchronize intentionally or use events.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Measure the same scope for every implementation.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runtime/cuda_launch.h   |   Source: CUDA C++ Programming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Vector Add Benchmark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08/48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benchmark compares four paths in one executable</a:t>
            </a:r>
          </a:p>
        </p:txBody>
      </p:sp>
      <p:pic>
        <p:nvPicPr>
          <p:cNvPr id="7" name="Picture 6" descr="code_8_Vector_Add_Benchmark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792" y="1234440"/>
            <a:ext cx="4397134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CPU serial.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CPU threaded.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CUDA Runtime API launch.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CUDA triple-chevron launch.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run //gpu:vector_add_benchmark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projects/detailed/gpu/vector_add_benchmark.cc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Reading the Benchmark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09/48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Interpret vector add as memory-bound and transfer-sensitive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8778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A"/>
                          </a:solidFill>
                        </a:defRPr>
                      </a:pPr>
                      <a:r>
                        <a:t>Path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A"/>
                          </a:solidFill>
                        </a:defRPr>
                      </a:pPr>
                      <a:r>
                        <a:t>What the time includes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A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CPU serial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single-loop host work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baseline semantics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CPU threaded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thread startup + chunk work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CPU parallelism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CUDA runtime API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allocation + copies + launch + sync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full GPU call cost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CUDA chevron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same work, different launch syntax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API comparison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benchmark_results.md   |   Source: CUDA C++ Best Practices Guide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Host/Device Memory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10/48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CUDA performance often begins with data movement</a:t>
            </a:r>
          </a:p>
        </p:txBody>
      </p:sp>
      <p:pic>
        <p:nvPicPr>
          <p:cNvPr id="7" name="Picture 6" descr="memor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14372"/>
            <a:ext cx="6766560" cy="2932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 and b move host-to-device.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kernel writes d_out.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out moves device-to-host.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For vector add, bytes moved can dominate arithmetic.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gpu/vector_add_cuda.cc   |   Source: CUDA C++ Programming Guide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Lab 1: Estimate Bytes Moved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11/48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Performance reasoning starts on paper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For size = 1 &lt;&lt; 24 and sizeof(float) = 4: estimate H2D for a and b.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Estimate D2H for out.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Compute total bytes moved.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Compare that with benchmark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N = 1 &lt;&lt; 24
bytes = 3 * N * sizeof(float)</a:t>
            </a:r>
          </a:p>
        </p:txBody>
      </p:sp>
      <p:pic>
        <p:nvPicPr>
          <p:cNvPr id="12" name="Picture 11" descr="memor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719322"/>
            <a:ext cx="4251960" cy="18425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docs/benchmark_results.md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cudaMalloc and Allocation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12/48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Allocation is not free and should not be hidden in a kernel-only story</a:t>
            </a:r>
          </a:p>
        </p:txBody>
      </p:sp>
      <p:pic>
        <p:nvPicPr>
          <p:cNvPr id="7" name="Picture 6" descr="code_12_cudaMalloc_and_Allocation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422" y="1234440"/>
            <a:ext cx="5453874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Full-function timing includes allocation and free.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Real applications often reuse buffers.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Separate allocation cost when investigating 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gpu/vector_add_cuda.cc   |   Source: CUDA Runtime API - Execution Control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cudaMemcpy Direction and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13/48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Direction flags make host/device ownership explicit</a:t>
            </a:r>
          </a:p>
        </p:txBody>
      </p:sp>
      <p:pic>
        <p:nvPicPr>
          <p:cNvPr id="7" name="Picture 6" descr="code_13_cudaMemcpy_Direction_and_I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62" y="1234440"/>
            <a:ext cx="6511794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HostToDevice for input arrays.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DeviceToHost for output arrays.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Wrong direction can fail or silently invalidate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cudaMemcpy in vector_add_cuda.cc   |   Source: CUDA Runtime API - Execution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Kernel Launch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14/48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Launch overhead means tiny work can lose to CPU</a:t>
            </a:r>
          </a:p>
        </p:txBody>
      </p:sp>
      <p:pic>
        <p:nvPicPr>
          <p:cNvPr id="7" name="Picture 6" descr="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27148"/>
            <a:ext cx="6766560" cy="2706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Host enqueues work.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GPU dispatches the kernel.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Synchronization brings errors and completion back to host.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Batching and larger work sizes amortize launch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gpu/vector_add_benchmark.cc   |   Source: CUDA C++ Best Practices Guide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Default Stream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15/48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baseline code is intentionally serialized for correctness</a:t>
            </a:r>
          </a:p>
        </p:txBody>
      </p:sp>
      <p:pic>
        <p:nvPicPr>
          <p:cNvPr id="7" name="Picture 6" descr="memor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14372"/>
            <a:ext cx="6766560" cy="2932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Synchronous copies and simple launch form a clear baseline.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default stream makes first correctness easier.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Overlap is a second step, not the first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gpu/vector_add_cuda.cc   |   Source: CUDA C++ Programming Guide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Streams: Why We Need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16/48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Streams allow independent queues of work</a:t>
            </a:r>
          </a:p>
        </p:txBody>
      </p:sp>
      <p:pic>
        <p:nvPicPr>
          <p:cNvPr id="7" name="Picture 6" descr="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14372"/>
            <a:ext cx="6766560" cy="2932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Split data into chunks.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Enqueue H2D, kernel, and D2H per stream.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Overlap requires hardware and memory prerequisites.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runtime/cuda_launch.h   |   Source: CUDA C++ Programming Guide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Async Copy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17/48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cudaMemcpyAsync is not magic by itself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Pinned host memory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enables efficient async transfer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Non-default streams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allows independent queues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Independent chunks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prevents data dependency serialization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copy engines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hardware support for overlap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explicit synchronization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makes results reliable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device_info asyncEngineCount   |   Source: CUDA C++ Programming Guide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Lab 2 Design: Chunked Vector Add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18/48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Design stream overlap before implementing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Split the vector into chunks.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Allocate or reuse device buffers per stream.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Enqueue H2D -&gt; kernel -&gt; D2H per chunk.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Synchronize streams and compare with CPU oracle.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for stream in streams:
  cudaMemcpyAsync(..., stream)
  kernel&lt;&lt;&lt;grid, block, 0, stream&gt;&gt;&gt;(...)
  cudaMemcpyAsync(..., stream)</a:t>
            </a:r>
          </a:p>
        </p:txBody>
      </p:sp>
      <p:pic>
        <p:nvPicPr>
          <p:cNvPr id="12" name="Picture 11" descr="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719322"/>
            <a:ext cx="4251960" cy="18425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future extension of gpu/vector_add_cuda.cc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Error Handling Under Asynchrony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19/48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Launch-time and execution-time errors surface at different points</a:t>
            </a:r>
          </a:p>
        </p:txBody>
      </p:sp>
      <p:pic>
        <p:nvPicPr>
          <p:cNvPr id="7" name="Picture 6" descr="diagno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cudaGetLastError catches launch configuration issues.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Synchronization catches many execution errors.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 later CUDA call may report an earlier asynchronous failure.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runtime/cuda_errors.h   |   Source: CUDA Runtime API - Execution Control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Debugging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20/48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Use a repeatable diagnosis order</a:t>
            </a:r>
          </a:p>
        </p:txBody>
      </p:sp>
      <p:pic>
        <p:nvPicPr>
          <p:cNvPr id="7" name="Picture 6" descr="diagno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Run //runtime:device_info.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Run the smallest correctness test.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Check CUDA_CHECK failure location.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Reduce input size.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Inspect architecture flags.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Use compute-sanitizer or Nsight when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runtime + gpu tests   |   Source: Nsight / CUDA runtime docs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Packaging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21/48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Deployment should preserve the build contract</a:t>
            </a:r>
          </a:p>
        </p:txBody>
      </p:sp>
      <p:pic>
        <p:nvPicPr>
          <p:cNvPr id="7" name="Picture 6" descr="o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 working local binary is not a deployment artifact.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runtime image should contain only what is needed to run.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Bazel can build the binary and assemble the image.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projects/simple/src/BUILD.bazel   |   Source: rules_oci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Simple Project as Deployment Specimen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22/48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projects/simple is the minimal hermetic CUDA image project</a:t>
            </a:r>
          </a:p>
        </p:txBody>
      </p:sp>
      <p:pic>
        <p:nvPicPr>
          <p:cNvPr id="7" name="Picture 6" descr="code_22_Simple_Project_as_Deployment_Speci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41" y="1234440"/>
            <a:ext cx="6181437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Small GPU info binary.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CUDA runtime dependency.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OCI target is easy to inspect.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cd projects/simple
bazel run //src:gpu_info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projects/simple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Container Target in Bazel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23/48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image is a Bazel target, not a hand-written Dockerfile</a:t>
            </a:r>
          </a:p>
        </p:txBody>
      </p:sp>
      <p:pic>
        <p:nvPicPr>
          <p:cNvPr id="7" name="Picture 6" descr="code_23_Container_Target_in_Baz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336" y="1234440"/>
            <a:ext cx="3596046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cc_binary builds the app.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pkg_tar packages binary/runfiles.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oci_image creates the image.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oci_load loads it into Docker.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projects/simple/src/BUILD.bazel   |   Source: rules_oci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Packaging Runtime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24/48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Bazel runfiles make runtime shared libraries explicit</a:t>
            </a:r>
          </a:p>
        </p:txBody>
      </p:sp>
      <p:pic>
        <p:nvPicPr>
          <p:cNvPr id="7" name="Picture 6" descr="code_24_Packaging_Runtime_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00006"/>
            <a:ext cx="7040880" cy="49437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include_runfiles brings runtime dependencies into the layer.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The executable lands under /app.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The container entrypoint points to the packaged binary.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pkg_tar + oci_image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Digest-Pinned Base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25/48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Container reproducibility includes the base image</a:t>
            </a:r>
          </a:p>
        </p:txBody>
      </p:sp>
      <p:pic>
        <p:nvPicPr>
          <p:cNvPr id="7" name="Picture 6" descr="code_25_Digest_Pinned_Bas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14105"/>
            <a:ext cx="7040880" cy="31155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Pin the base image by digest, not only by tag.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This keeps the image input stable over time.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rules_oci pulls the OCI base as a declared repository input.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projects/simple/MODULE.bazel   |   Source: rules_oci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Live Demo: Load and Run the Tiny GPU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26/48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GPU info tool runs inside a small container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Build and load the OCI image.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the image with GPU access.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Confirm the host runtime provides the NVIDIA driver/GPU.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cd projects/simple
bazel run //src:load_gpu_info_image
docker run --rm --gpus all simple-gpu-info:latest</a:t>
            </a:r>
          </a:p>
        </p:txBody>
      </p:sp>
      <p:pic>
        <p:nvPicPr>
          <p:cNvPr id="12" name="Picture 11" descr="o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//src:load_gpu_info_image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Image Size and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27/48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deployable image is a build artifact and a loaded Docker image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Build the tarball output group.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Inspect the Docker image list.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Distinguish Bazel artifact from Docker daemon image.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bazel build //src:gpu_info_image_tar
docker image ls simple-gpu-info:latest</a:t>
            </a:r>
          </a:p>
        </p:txBody>
      </p:sp>
      <p:pic>
        <p:nvPicPr>
          <p:cNvPr id="12" name="Picture 11" descr="o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bazel-bin/src/load_gpu_info_image/tarball.tar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Detailed Deploy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28/48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Deployment starts by deciding which runtime files belong together</a:t>
            </a:r>
          </a:p>
        </p:txBody>
      </p:sp>
      <p:pic>
        <p:nvPicPr>
          <p:cNvPr id="7" name="Picture 6" descr="code_28_Detailed_Deploy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73352"/>
            <a:ext cx="7040880" cy="23970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The detailed project collects benchmark and device-info runtime files.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This can evolve into a full detailed project image target.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Keep deployment explicit.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projects/detailed/deploy/BUILD.bazel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Remote Build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29/48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Hermetic targets are the prerequisite for remote build confidence</a:t>
            </a:r>
          </a:p>
        </p:txBody>
      </p:sp>
      <p:pic>
        <p:nvPicPr>
          <p:cNvPr id="7" name="Picture 6" descr="rem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Local developer invokes Bazel.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Remote executor runs declared actions.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Remote cache stores reusable outputs.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GPU runtime host remains a separate concern.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remote execution concept   |   Source: Bazel Remote Execution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What Remote Build Does Not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30/48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A remote build machine is not automatically a GPU runtime machine</a:t>
            </a:r>
          </a:p>
        </p:txBody>
      </p:sp>
      <p:pic>
        <p:nvPicPr>
          <p:cNvPr id="7" name="Picture 6" descr="rem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Build-time CUDA headers/toolchains can be hermetic.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Runtime GPU driver and device access are environment-specific.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Validate GPU execution on compatible runtime hosts.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build machine vs runtime machine   |   Source: Bazel Remote Execution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Python Hook: Benchmark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31/48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Python can orchestrate without owning the heavy compute path</a:t>
            </a:r>
          </a:p>
        </p:txBody>
      </p:sp>
      <p:pic>
        <p:nvPicPr>
          <p:cNvPr id="7" name="Picture 6" descr="code_31_Python_Hook_Benchmark_Orche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57835"/>
            <a:ext cx="7040880" cy="32281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Python runs Bazel-built binaries.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The compute path stays in C++/CUDA.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This keeps measurement automation lightweight.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run //python:benchmark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projects/detailed/python/benchmark.py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JAX/XLA Comparison 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32/48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JAX expresses computation and lets the compiler lower it</a:t>
            </a:r>
          </a:p>
        </p:txBody>
      </p:sp>
      <p:pic>
        <p:nvPicPr>
          <p:cNvPr id="7" name="Picture 6" descr="code_32_JAX_XLA_Comparison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5297"/>
            <a:ext cx="7040880" cy="50732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jax.jit traces a Python function.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lower() exposes the lowered form.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compile() produces an executable for a target backend.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run //python:jax_xla_demo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projects/detailed/python/jax_xla_demo.py   |   Source: JAX AOT lowering and compilation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Manual CUDA vs JAX/XLA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33/48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Manual CUDA exposes control; JAX exposes compiler-managed array programs</a:t>
            </a:r>
          </a:p>
        </p:txBody>
      </p:sp>
      <p:pic>
        <p:nvPicPr>
          <p:cNvPr id="7" name="Picture 6" descr="j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Manual CUDA: explicit memory, launch geometry, and runtime calls.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JAX/XLA: array semantics, tracing, lowering, and compilation.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This is a layer comparison, not a winner-take-all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gpu/vector_add_device.cu vs python/jax_xla_demo.py   |   Source: JAX AOT lowering and compilation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Transition to MatMul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34/48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Vector add teaches mechanics; MatMul teaches reuse and hierarchy</a:t>
            </a:r>
          </a:p>
        </p:txBody>
      </p:sp>
      <p:pic>
        <p:nvPicPr>
          <p:cNvPr id="7" name="Picture 6" descr="matm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14372"/>
            <a:ext cx="6766560" cy="2932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Vector add is memory-bound and simple.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MatMul reuses rows and columns.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linear algebra module is separate by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projects/detailed/linear_algebra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Linear Algebra Module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35/48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MatMul has a CPU oracle and two CUDA implementations</a:t>
            </a:r>
          </a:p>
        </p:txBody>
      </p:sp>
      <p:pic>
        <p:nvPicPr>
          <p:cNvPr id="7" name="Picture 6" descr="code_35_Linear_Algebra_Modul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665" y="1234440"/>
            <a:ext cx="3111389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CPU MatMul oracle.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Basic CUDA one-thread-per-output kernel.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Tiled CUDA shared-memory kernel.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Test and benchmark targets.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projects/detailed/linear_algebra/BUILD.bazel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CPU MatMul Oracle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36/48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Even MatMul starts with CPU correctness</a:t>
            </a:r>
          </a:p>
        </p:txBody>
      </p:sp>
      <p:pic>
        <p:nvPicPr>
          <p:cNvPr id="7" name="Picture 6" descr="code_36_CPU_MatMul_Or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18" y="1234440"/>
            <a:ext cx="6676882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Nested loops over M, N, and K.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Defines exact semantics for small test sizes.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Used by matmul_test before benchmark interpretation.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test //linear_algebra:matmul_test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linear_algebra/matmul_cpu.cc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Basic CUDA MatMul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37/48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One thread computes one output element</a:t>
            </a:r>
          </a:p>
        </p:txBody>
      </p:sp>
      <p:pic>
        <p:nvPicPr>
          <p:cNvPr id="7" name="Picture 6" descr="code_37_Basic_CUDA_MatM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94" y="1234440"/>
            <a:ext cx="5994130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Map 2D thread coordinates to row and column.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Each thread loops over K.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Correct and parallel, but global-memory reuse is poor.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linear_algebra/matmul_basic_device.cu   |   Source: CUDA C++ Programming Guide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Why Basic MatMul Leaves Performance Behind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38/48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Re-reading global memory wastes bandwidth</a:t>
            </a:r>
          </a:p>
        </p:txBody>
      </p:sp>
      <p:pic>
        <p:nvPicPr>
          <p:cNvPr id="7" name="Picture 6" descr="matmul_re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09651"/>
            <a:ext cx="6766560" cy="31416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Neighboring threads repeatedly read overlapping A/B data.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Memory bandwidth becomes the limit.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This motivates shared-memory tiling.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matmul_basic_device.cu   |   Source: CUDA C++ Best Practices Guide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Tiled MatMul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39/48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Shared memory lets a block reuse tiles of A and B</a:t>
            </a:r>
          </a:p>
        </p:txBody>
      </p:sp>
      <p:pic>
        <p:nvPicPr>
          <p:cNvPr id="7" name="Picture 6" descr="code_39_Tiled_MatM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026" y="1234440"/>
            <a:ext cx="4136667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Threads cooperatively load A and B tiles.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__syncthreads() creates a block barrier.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Each tile is reused across multiple multiply-adds.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linear_algebra/matmul_tiled_device.cu   |   Source: CUDA C++ Best Practices Guide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Shared Memory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40/48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Shared memory is per-block scratchpad with explicit cooperation</a:t>
            </a:r>
          </a:p>
        </p:txBody>
      </p:sp>
      <p:pic>
        <p:nvPicPr>
          <p:cNvPr id="7" name="Picture 6" descr="tiled_matm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01595"/>
            <a:ext cx="6766560" cy="3157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Scope: one thread block.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Lifetime: one kernel block execution.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Use: cooperative data reuse.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Cost: limited capacity and synchronization constraints.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__shared__ + __syncthreads   |   Source: CUDA C++ Programming Guide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MatMul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41/48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benchmark shows the ladder: CPU, basic CUDA, tiled CUDA</a:t>
            </a:r>
          </a:p>
        </p:txBody>
      </p:sp>
      <p:pic>
        <p:nvPicPr>
          <p:cNvPr id="7" name="Picture 6" descr="code_41_MatMul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46" y="1234440"/>
            <a:ext cx="5070026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Use small enough sizes for lab turnaround.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Record correctness and timing.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Interpret tiled performance through reuse, not just thread 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run //linear_algebra:matmul_benchmark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linear_algebra/matmul_benchmark.cc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Lab 3: Fill the Benchmark Results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42/48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Runs become a small performance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Open docs/benchmark_results.md.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vector-add benchmark.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MatMul benchmark.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Record CPU serial, CPU threaded, CUDA vector add, MatMul CPU, MatMul basic, MatMul tiled.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bazel run //gpu:vector_add_benchmark
bazel run //linear_algebra:matmul_benchmark</a:t>
            </a:r>
          </a:p>
        </p:txBody>
      </p:sp>
      <p:pic>
        <p:nvPicPr>
          <p:cNvPr id="12" name="Picture 11" descr="gemm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projects/detailed/docs/benchmark_results.md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Production GEMM: Why Libraries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43/48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Real GEMM performance is a library engineering problem</a:t>
            </a:r>
          </a:p>
        </p:txBody>
      </p:sp>
      <p:pic>
        <p:nvPicPr>
          <p:cNvPr id="7" name="Picture 6" descr="gemm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Basic kernels teach the machine.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Tiled kernels teach data reuse.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cuBLAS/cuBLASLt define production baselines.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CUTLASS/CuTe show production-style customizable GEMM.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linear_algebra/matmul_cublas.cc hook   |   Source: cuBLAS/cuBLASLt + CUTLASS docs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Choosing the Right Level of CUDA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44/48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Use the lowest level only when the control is worth it</a:t>
            </a:r>
          </a:p>
        </p:txBody>
      </p:sp>
      <p:sp>
        <p:nvSpPr>
          <p:cNvPr id="10" name="Editable More Control Square"/>
          <p:cNvSpPr/>
          <p:nvPr/>
        </p:nvSpPr>
        <p:spPr>
          <a:xfrm>
            <a:off x="877824" y="2249424"/>
            <a:ext cx="2487168" cy="2432304"/>
          </a:xfrm>
          <a:prstGeom prst="rect">
            <a:avLst/>
          </a:prstGeom>
          <a:solidFill>
            <a:srgbClr val="FDEAEA"/>
          </a:solidFill>
          <a:ln w="12700">
            <a:solidFill>
              <a:srgbClr val="D83A34"/>
            </a:solidFill>
          </a:ln>
        </p:spPr>
      </p:sp>
      <p:sp>
        <p:nvSpPr>
          <p:cNvPr id="11" name="Editable More Productivity Square"/>
          <p:cNvSpPr/>
          <p:nvPr/>
        </p:nvSpPr>
        <p:spPr>
          <a:xfrm>
            <a:off x="3941064" y="2249424"/>
            <a:ext cx="2487168" cy="2432304"/>
          </a:xfrm>
          <a:prstGeom prst="rect">
            <a:avLst/>
          </a:prstGeom>
          <a:solidFill>
            <a:srgbClr val="EDF9E9"/>
          </a:solidFill>
          <a:ln w="12700">
            <a:solidFill>
              <a:srgbClr val="62B000"/>
            </a:solidFill>
          </a:ln>
        </p:spPr>
      </p:sp>
      <p:sp>
        <p:nvSpPr>
          <p:cNvPr id="12" name="Editable Control Productivity Arrow"/>
          <p:cNvSpPr/>
          <p:nvPr/>
        </p:nvSpPr>
        <p:spPr>
          <a:xfrm>
            <a:off x="3547872" y="3401568"/>
            <a:ext cx="320040" cy="164592"/>
          </a:xfrm>
          <a:prstGeom prst="rightArrow">
            <a:avLst/>
          </a:prstGeom>
          <a:solidFill>
            <a:srgbClr val="63AF00"/>
          </a:solidFill>
          <a:ln w="6350">
            <a:solidFill>
              <a:srgbClr val="63AF00"/>
            </a:solidFill>
          </a:ln>
        </p:spPr>
      </p:sp>
      <p:sp>
        <p:nvSpPr>
          <p:cNvPr id="13" name="More Control Label"/>
          <p:cNvSpPr txBox="1"/>
          <p:nvPr/>
        </p:nvSpPr>
        <p:spPr>
          <a:xfrm>
            <a:off x="1188720" y="2542032"/>
            <a:ext cx="1865376" cy="32004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ptos"/>
              </a:rPr>
              <a:t>More control</a:t>
            </a:r>
          </a:p>
        </p:txBody>
      </p:sp>
      <p:sp>
        <p:nvSpPr>
          <p:cNvPr id="14" name="More Productivity Label"/>
          <p:cNvSpPr txBox="1"/>
          <p:nvPr/>
        </p:nvSpPr>
        <p:spPr>
          <a:xfrm>
            <a:off x="4251960" y="2542032"/>
            <a:ext cx="1865376" cy="32004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ptos"/>
              </a:rPr>
              <a:t>More productivity</a:t>
            </a:r>
          </a:p>
        </p:txBody>
      </p:sp>
      <p:sp>
        <p:nvSpPr>
          <p:cNvPr id="15" name="More Control Bullets"/>
          <p:cNvSpPr txBox="1"/>
          <p:nvPr/>
        </p:nvSpPr>
        <p:spPr>
          <a:xfrm>
            <a:off x="1261872" y="3054096"/>
            <a:ext cx="1847088" cy="150876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rmAutofit/>
          </a:bodyPr>
          <a:lstStyle/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980">
                <a:solidFill>
                  <a:srgbClr val="303030"/>
                </a:solidFill>
                <a:latin typeface="Aptos"/>
              </a:rPr>
              <a:t>custom CUDA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980">
                <a:solidFill>
                  <a:srgbClr val="303030"/>
                </a:solidFill>
                <a:latin typeface="Aptos"/>
              </a:rPr>
              <a:t>explicit memory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980">
                <a:solidFill>
                  <a:srgbClr val="303030"/>
                </a:solidFill>
                <a:latin typeface="Aptos"/>
              </a:rPr>
              <a:t>kernel launch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980">
                <a:solidFill>
                  <a:srgbClr val="303030"/>
                </a:solidFill>
                <a:latin typeface="Aptos"/>
              </a:rPr>
              <a:t>debug lower level</a:t>
            </a:r>
          </a:p>
        </p:txBody>
      </p:sp>
      <p:sp>
        <p:nvSpPr>
          <p:cNvPr id="16" name="More Productivity Bullets"/>
          <p:cNvSpPr txBox="1"/>
          <p:nvPr/>
        </p:nvSpPr>
        <p:spPr>
          <a:xfrm>
            <a:off x="4325112" y="3054096"/>
            <a:ext cx="1847088" cy="150876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rmAutofit/>
          </a:bodyPr>
          <a:lstStyle/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980">
                <a:solidFill>
                  <a:srgbClr val="303030"/>
                </a:solidFill>
                <a:latin typeface="Aptos"/>
              </a:rPr>
              <a:t>Thrust/CUB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980">
                <a:solidFill>
                  <a:srgbClr val="303030"/>
                </a:solidFill>
                <a:latin typeface="Aptos"/>
              </a:rPr>
              <a:t>cuBLAS/cuDNN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980">
                <a:solidFill>
                  <a:srgbClr val="303030"/>
                </a:solidFill>
                <a:latin typeface="Aptos"/>
              </a:rPr>
              <a:t>JAX/XLA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980">
                <a:solidFill>
                  <a:srgbClr val="303030"/>
                </a:solidFill>
                <a:latin typeface="Aptos"/>
              </a:rPr>
              <a:t>PyTorch / TF / MLIR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Custom CUDA C++ kernel: maximum control.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Thrust/CUB: reusable parallel primitives.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cuBLAS/cuDNN: production libraries.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JAX/XLA and frameworks: high-level compiler-managed math.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alternatives and complements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Final End-to-End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45/48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complete project can build, test, benchmark, and package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all tests.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vector-add and MatMul benchmarks.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Load the simple GPU info image.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the image with GPU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cd projects/detailed
bazel test //...
bazel run //gpu:vector_add_benchmark
bazel run //linear_algebra:matmul_benchmark
cd ../simple
bazel run //src:load_gpu_info_image
docker run --rm --gpus all simple-gpu-info:latest</a:t>
            </a:r>
          </a:p>
        </p:txBody>
      </p:sp>
      <p:pic>
        <p:nvPicPr>
          <p:cNvPr id="12" name="Picture 11" descr="fina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 + projects/simple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What to Reuse in Your Own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46/48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reusable assets are patterns, not only files</a:t>
            </a:r>
          </a:p>
        </p:txBody>
      </p:sp>
      <p:pic>
        <p:nvPicPr>
          <p:cNvPr id="7" name="Picture 6" descr="repo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50491"/>
            <a:ext cx="6766560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Hermetic toolchain declaration.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CPU oracle + test.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 host/device split.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Error checking helpers.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Benchmark target.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Container target.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Results worksheet.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copy patterns, not only source files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Capstone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47/48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Extend the repository without changing its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Option 1: add a scalar multiply CUDA operation.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Option 2: add stream design notes to vector add.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Option 3: add an OCI image target for detailed benchmark files.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Option 4: add a benchmark row and explain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bazel test //...
bazel run //gpu:vector_add_benchmark</a:t>
            </a:r>
          </a:p>
        </p:txBody>
      </p:sp>
      <p:sp>
        <p:nvSpPr>
          <p:cNvPr id="20" name="Compact Target Graph Title"/>
          <p:cNvSpPr txBox="1"/>
          <p:nvPr/>
        </p:nvSpPr>
        <p:spPr>
          <a:xfrm>
            <a:off x="7607808" y="3767328"/>
            <a:ext cx="3840480" cy="256032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sz="760" b="1">
                <a:solidFill>
                  <a:srgbClr val="121B2A"/>
                </a:solidFill>
                <a:latin typeface="Aptos"/>
              </a:rPr>
              <a:t>Bazel target graph</a:t>
            </a:r>
          </a:p>
        </p:txBody>
      </p:sp>
      <p:sp>
        <p:nvSpPr>
          <p:cNvPr id="21" name="Compact Benchmark Node"/>
          <p:cNvSpPr/>
          <p:nvPr/>
        </p:nvSpPr>
        <p:spPr>
          <a:xfrm>
            <a:off x="7818120" y="4370832"/>
            <a:ext cx="640080" cy="274320"/>
          </a:xfrm>
          <a:prstGeom prst="roundRect">
            <a:avLst/>
          </a:prstGeom>
          <a:solidFill>
            <a:srgbClr val="E6F6F8"/>
          </a:solidFill>
          <a:ln w="10160">
            <a:solidFill>
              <a:srgbClr val="9BA9B8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460">
                <a:solidFill>
                  <a:srgbClr val="1C2430"/>
                </a:solidFill>
                <a:latin typeface="Aptos"/>
              </a:rPr>
              <a:t>benchmark</a:t>
            </a:r>
          </a:p>
        </p:txBody>
      </p:sp>
      <p:sp>
        <p:nvSpPr>
          <p:cNvPr id="22" name="Compact Vector CPU Node"/>
          <p:cNvSpPr/>
          <p:nvPr/>
        </p:nvSpPr>
        <p:spPr>
          <a:xfrm>
            <a:off x="8668512" y="4142232"/>
            <a:ext cx="731520" cy="274320"/>
          </a:xfrm>
          <a:prstGeom prst="roundRect">
            <a:avLst/>
          </a:prstGeom>
          <a:solidFill>
            <a:srgbClr val="E4EFFC"/>
          </a:solidFill>
          <a:ln w="10160">
            <a:solidFill>
              <a:srgbClr val="9BA9B8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460">
                <a:solidFill>
                  <a:srgbClr val="1C2430"/>
                </a:solidFill>
                <a:latin typeface="Aptos"/>
              </a:rPr>
              <a:t>vector_cpu</a:t>
            </a:r>
          </a:p>
        </p:txBody>
      </p:sp>
      <p:sp>
        <p:nvSpPr>
          <p:cNvPr id="23" name="Compact Vector Add Node"/>
          <p:cNvSpPr/>
          <p:nvPr/>
        </p:nvSpPr>
        <p:spPr>
          <a:xfrm>
            <a:off x="8668512" y="4617720"/>
            <a:ext cx="731520" cy="274320"/>
          </a:xfrm>
          <a:prstGeom prst="roundRect">
            <a:avLst/>
          </a:prstGeom>
          <a:solidFill>
            <a:srgbClr val="EAF8E7"/>
          </a:solidFill>
          <a:ln w="10160">
            <a:solidFill>
              <a:srgbClr val="9BA9B8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460">
                <a:solidFill>
                  <a:srgbClr val="1C2430"/>
                </a:solidFill>
                <a:latin typeface="Aptos"/>
              </a:rPr>
              <a:t>vector_add</a:t>
            </a:r>
          </a:p>
        </p:txBody>
      </p:sp>
      <p:sp>
        <p:nvSpPr>
          <p:cNvPr id="24" name="Compact Device Lib Node"/>
          <p:cNvSpPr/>
          <p:nvPr/>
        </p:nvSpPr>
        <p:spPr>
          <a:xfrm>
            <a:off x="9619488" y="4617720"/>
            <a:ext cx="749808" cy="274320"/>
          </a:xfrm>
          <a:prstGeom prst="roundRect">
            <a:avLst/>
          </a:prstGeom>
          <a:solidFill>
            <a:srgbClr val="FFF4DE"/>
          </a:solidFill>
          <a:ln w="10160">
            <a:solidFill>
              <a:srgbClr val="9BA9B8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460">
                <a:solidFill>
                  <a:srgbClr val="1C2430"/>
                </a:solidFill>
                <a:latin typeface="Aptos"/>
              </a:rPr>
              <a:t>device_lib</a:t>
            </a:r>
          </a:p>
        </p:txBody>
      </p:sp>
      <p:sp>
        <p:nvSpPr>
          <p:cNvPr id="25" name="Compact Runtime Node"/>
          <p:cNvSpPr/>
          <p:nvPr/>
        </p:nvSpPr>
        <p:spPr>
          <a:xfrm>
            <a:off x="10625328" y="4617720"/>
            <a:ext cx="694944" cy="274320"/>
          </a:xfrm>
          <a:prstGeom prst="roundRect">
            <a:avLst/>
          </a:prstGeom>
          <a:solidFill>
            <a:srgbClr val="EAE5FF"/>
          </a:solidFill>
          <a:ln w="10160">
            <a:solidFill>
              <a:srgbClr val="9BA9B8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460">
                <a:solidFill>
                  <a:srgbClr val="1C2430"/>
                </a:solidFill>
                <a:latin typeface="Aptos"/>
              </a:rPr>
              <a:t>runtime</a:t>
            </a:r>
          </a:p>
        </p:txBody>
      </p:sp>
      <p:sp>
        <p:nvSpPr>
          <p:cNvPr id="26" name="Compact Benchmark To Vector CPU Connector"/>
          <p:cNvSpPr/>
          <p:nvPr/>
        </p:nvSpPr>
        <p:spPr>
          <a:xfrm flipV="1">
            <a:off x="8458200" y="4279392"/>
            <a:ext cx="210312" cy="228600"/>
          </a:xfrm>
          <a:prstGeom prst="line">
            <a:avLst/>
          </a:prstGeom>
          <a:noFill/>
          <a:ln w="13970" cap="round">
            <a:solidFill>
              <a:srgbClr val="65B000"/>
            </a:solidFill>
            <a:tailEnd type="triangle" w="med" len="med"/>
          </a:ln>
        </p:spPr>
      </p:sp>
      <p:sp>
        <p:nvSpPr>
          <p:cNvPr id="27" name="Compact Benchmark To Vector Add Connector"/>
          <p:cNvSpPr/>
          <p:nvPr/>
        </p:nvSpPr>
        <p:spPr>
          <a:xfrm>
            <a:off x="8458200" y="4507992"/>
            <a:ext cx="210312" cy="246888"/>
          </a:xfrm>
          <a:prstGeom prst="line">
            <a:avLst/>
          </a:prstGeom>
          <a:noFill/>
          <a:ln w="13970" cap="round">
            <a:solidFill>
              <a:srgbClr val="65B000"/>
            </a:solidFill>
            <a:tailEnd type="triangle" w="med" len="med"/>
          </a:ln>
        </p:spPr>
      </p:sp>
      <p:sp>
        <p:nvSpPr>
          <p:cNvPr id="28" name="Compact Vector Add To Device Lib Connector"/>
          <p:cNvSpPr/>
          <p:nvPr/>
        </p:nvSpPr>
        <p:spPr>
          <a:xfrm>
            <a:off x="9400032" y="4754880"/>
            <a:ext cx="219456" cy="0"/>
          </a:xfrm>
          <a:prstGeom prst="line">
            <a:avLst/>
          </a:prstGeom>
          <a:noFill/>
          <a:ln w="13970" cap="round">
            <a:solidFill>
              <a:srgbClr val="65B000"/>
            </a:solidFill>
            <a:tailEnd type="triangle" w="med" len="med"/>
          </a:ln>
        </p:spPr>
      </p:sp>
      <p:sp>
        <p:nvSpPr>
          <p:cNvPr id="29" name="Compact Device Lib To Runtime Connector"/>
          <p:cNvSpPr/>
          <p:nvPr/>
        </p:nvSpPr>
        <p:spPr>
          <a:xfrm>
            <a:off x="10369296" y="4754880"/>
            <a:ext cx="256032" cy="0"/>
          </a:xfrm>
          <a:prstGeom prst="line">
            <a:avLst/>
          </a:prstGeom>
          <a:noFill/>
          <a:ln w="13970" cap="round">
            <a:solidFill>
              <a:srgbClr val="65B000"/>
            </a:solidFill>
            <a:tailEnd type="triangle" w="med" len="med"/>
          </a:ln>
        </p:spPr>
      </p:sp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capstone extension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Closing: From Installed SDK to Reproducible GPU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48/48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course goal is a reproducible GPU engineering workflow</a:t>
            </a:r>
          </a:p>
        </p:txBody>
      </p:sp>
      <p:pic>
        <p:nvPicPr>
          <p:cNvPr id="7" name="Picture 6" descr="fina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Repository declares the build.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CPU verifies CUDA.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Benchmarks explain tradeoffs.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Containers package runtime.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JAX/XLA and libraries provide higher-level options.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//runtime:device_info, //gpu:vector_add_test, //gpu:vector_add_benchmark, //linear_algebra:matmul_benchmark, //src:load_gpu_info_image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