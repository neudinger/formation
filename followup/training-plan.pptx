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5C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93776" y="320040"/>
            <a:ext cx="10972" cy="6053328"/>
          </a:xfrm>
          <a:prstGeom prst="rect">
            <a:avLst/>
          </a:prstGeom>
          <a:solidFill>
            <a:srgbClr val="2A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86032" y="320040"/>
            <a:ext cx="10972" cy="6053328"/>
          </a:xfrm>
          <a:prstGeom prst="rect">
            <a:avLst/>
          </a:prstGeom>
          <a:solidFill>
            <a:srgbClr val="2A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46888"/>
            <a:ext cx="2834640" cy="2011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l">
              <a:defRPr sz="850" b="1">
                <a:solidFill>
                  <a:srgbClr val="35C8E8"/>
                </a:solidFill>
                <a:latin typeface="Arial"/>
              </a:defRPr>
            </a:pPr>
            <a:r>
              <a:t>TRAINING PLAN /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30352"/>
            <a:ext cx="10287000" cy="438912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l">
              <a:defRPr sz="2350" b="1">
                <a:solidFill>
                  <a:srgbClr val="F4F8FC"/>
                </a:solidFill>
                <a:latin typeface="Arial"/>
              </a:defRPr>
            </a:pPr>
            <a:r>
              <a:t>Day 1: Repository Foundation And First CUDA 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33271"/>
            <a:ext cx="8046720" cy="2286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l">
              <a:defRPr sz="1040" b="0">
                <a:solidFill>
                  <a:srgbClr val="C1CFDD"/>
                </a:solidFill>
                <a:latin typeface="Arial"/>
              </a:defRPr>
            </a:pPr>
            <a:r>
              <a:t>Build the repo model, prove correctness on CPU, then land the first CUDA implementation.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978408"/>
            <a:ext cx="1993392" cy="347472"/>
          </a:xfrm>
          <a:prstGeom prst="roundRect">
            <a:avLst/>
          </a:prstGeom>
          <a:solidFill>
            <a:srgbClr val="0B1624"/>
          </a:solidFill>
          <a:ln w="10160">
            <a:solidFill>
              <a:srgbClr val="2A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46920" y="1033271"/>
            <a:ext cx="1810512" cy="1645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ctr">
              <a:defRPr sz="840" b="1">
                <a:solidFill>
                  <a:srgbClr val="F4F8FC"/>
                </a:solidFill>
                <a:latin typeface="Arial"/>
              </a:defRPr>
            </a:pPr>
            <a:r>
              <a:t>Correctness 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536192"/>
            <a:ext cx="1600200" cy="1645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l">
              <a:defRPr sz="819" b="1">
                <a:solidFill>
                  <a:srgbClr val="8FA4BA"/>
                </a:solidFill>
                <a:latin typeface="Arial"/>
              </a:defRPr>
            </a:pPr>
            <a:r>
              <a:t>Block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536192"/>
            <a:ext cx="2468880" cy="1645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l">
              <a:defRPr sz="819" b="1">
                <a:solidFill>
                  <a:srgbClr val="8FA4BA"/>
                </a:solidFill>
                <a:latin typeface="Arial"/>
              </a:defRPr>
            </a:pPr>
            <a:r>
              <a:t>Focus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93792" y="1536192"/>
            <a:ext cx="749808" cy="1645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ctr">
              <a:defRPr sz="819" b="1">
                <a:solidFill>
                  <a:srgbClr val="8FA4BA"/>
                </a:solidFill>
                <a:latin typeface="Arial"/>
              </a:defRPr>
            </a:pPr>
            <a:r>
              <a:t>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1344" y="1536192"/>
            <a:ext cx="411480" cy="1645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ctr">
              <a:defRPr sz="740" b="0">
                <a:solidFill>
                  <a:srgbClr val="8FA4BA"/>
                </a:solidFill>
                <a:latin typeface="Arial"/>
              </a:defRPr>
            </a:pPr>
            <a:r>
              <a:t>09:00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2592" y="1536192"/>
            <a:ext cx="411480" cy="1645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ctr">
              <a:defRPr sz="740" b="0">
                <a:solidFill>
                  <a:srgbClr val="8FA4BA"/>
                </a:solidFill>
                <a:latin typeface="Arial"/>
              </a:defRPr>
            </a:pPr>
            <a:r>
              <a:t>10:30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1536192"/>
            <a:ext cx="411480" cy="1645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ctr">
              <a:defRPr sz="740" b="0">
                <a:solidFill>
                  <a:srgbClr val="8FA4BA"/>
                </a:solidFill>
                <a:latin typeface="Arial"/>
              </a:defRPr>
            </a:pPr>
            <a:r>
              <a:t>12:00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1536192"/>
            <a:ext cx="411480" cy="1645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ctr">
              <a:defRPr sz="740" b="0">
                <a:solidFill>
                  <a:srgbClr val="8FA4BA"/>
                </a:solidFill>
                <a:latin typeface="Arial"/>
              </a:defRPr>
            </a:pPr>
            <a:r>
              <a:t>13:30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46336" y="1536192"/>
            <a:ext cx="411480" cy="1645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ctr">
              <a:defRPr sz="740" b="0">
                <a:solidFill>
                  <a:srgbClr val="8FA4BA"/>
                </a:solidFill>
                <a:latin typeface="Arial"/>
              </a:defRPr>
            </a:pPr>
            <a:r>
              <a:t>15:00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536192"/>
            <a:ext cx="411480" cy="1645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ctr">
              <a:defRPr sz="740" b="0">
                <a:solidFill>
                  <a:srgbClr val="8FA4BA"/>
                </a:solidFill>
                <a:latin typeface="Arial"/>
              </a:defRPr>
            </a:pPr>
            <a:r>
              <a:t>16:30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1536192"/>
            <a:ext cx="411480" cy="1645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ctr">
              <a:defRPr sz="740" b="0">
                <a:solidFill>
                  <a:srgbClr val="8FA4BA"/>
                </a:solidFill>
                <a:latin typeface="Arial"/>
              </a:defRPr>
            </a:pPr>
            <a:r>
              <a:t>17:30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1719072"/>
            <a:ext cx="5486" cy="4224528"/>
          </a:xfrm>
          <a:prstGeom prst="rect">
            <a:avLst/>
          </a:prstGeom>
          <a:solidFill>
            <a:srgbClr val="2A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24205" y="1719072"/>
            <a:ext cx="5486" cy="4224528"/>
          </a:xfrm>
          <a:prstGeom prst="rect">
            <a:avLst/>
          </a:prstGeom>
          <a:solidFill>
            <a:srgbClr val="2A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3643" y="1719072"/>
            <a:ext cx="5486" cy="4224528"/>
          </a:xfrm>
          <a:prstGeom prst="rect">
            <a:avLst/>
          </a:prstGeom>
          <a:solidFill>
            <a:srgbClr val="2A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3080" y="1719072"/>
            <a:ext cx="5486" cy="4224528"/>
          </a:xfrm>
          <a:prstGeom prst="rect">
            <a:avLst/>
          </a:prstGeom>
          <a:solidFill>
            <a:srgbClr val="2A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62518" y="1719072"/>
            <a:ext cx="5486" cy="4224528"/>
          </a:xfrm>
          <a:prstGeom prst="rect">
            <a:avLst/>
          </a:prstGeom>
          <a:solidFill>
            <a:srgbClr val="2A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541956" y="1719072"/>
            <a:ext cx="5486" cy="4224528"/>
          </a:xfrm>
          <a:prstGeom prst="rect">
            <a:avLst/>
          </a:prstGeom>
          <a:solidFill>
            <a:srgbClr val="2A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128248" y="1719072"/>
            <a:ext cx="5486" cy="4224528"/>
          </a:xfrm>
          <a:prstGeom prst="rect">
            <a:avLst/>
          </a:prstGeom>
          <a:solidFill>
            <a:srgbClr val="2A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1810512"/>
            <a:ext cx="10881360" cy="713232"/>
          </a:xfrm>
          <a:prstGeom prst="roundRect">
            <a:avLst/>
          </a:prstGeom>
          <a:solidFill>
            <a:srgbClr val="0B1624"/>
          </a:solidFill>
          <a:ln w="10160">
            <a:solidFill>
              <a:srgbClr val="2A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1901952"/>
            <a:ext cx="1719072" cy="2377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l">
              <a:defRPr sz="1060" b="1">
                <a:solidFill>
                  <a:srgbClr val="F4F8FC"/>
                </a:solidFill>
                <a:latin typeface="Arial"/>
              </a:defRPr>
            </a:pPr>
            <a:r>
              <a:t>Framing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2176272"/>
            <a:ext cx="1783080" cy="1828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l">
              <a:defRPr sz="760" b="0">
                <a:solidFill>
                  <a:srgbClr val="C1CFDD"/>
                </a:solidFill>
                <a:latin typeface="Arial"/>
              </a:defRPr>
            </a:pPr>
            <a:r>
              <a:t>Repo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1947672"/>
            <a:ext cx="2331720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l">
              <a:defRPr sz="819" b="0">
                <a:solidFill>
                  <a:srgbClr val="C1CFDD"/>
                </a:solidFill>
                <a:latin typeface="Arial"/>
              </a:defRPr>
            </a:pPr>
            <a:r>
              <a:t>Roadmap, repository shape, host/device model, SAXPY operation.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38928" y="2020824"/>
            <a:ext cx="896112" cy="256032"/>
          </a:xfrm>
          <a:prstGeom prst="roundRect">
            <a:avLst/>
          </a:prstGeom>
          <a:solidFill>
            <a:srgbClr val="35C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75504" y="2039112"/>
            <a:ext cx="822960" cy="219456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ctr">
              <a:defRPr sz="770" b="1">
                <a:solidFill>
                  <a:srgbClr val="071019"/>
                </a:solidFill>
                <a:latin typeface="Arial"/>
              </a:defRPr>
            </a:pPr>
            <a:r>
              <a:t>S 1-8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44768" y="2075688"/>
            <a:ext cx="381089" cy="210312"/>
          </a:xfrm>
          <a:prstGeom prst="roundRect">
            <a:avLst/>
          </a:prstGeom>
          <a:solidFill>
            <a:srgbClr val="35C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8368" y="2660904"/>
            <a:ext cx="10881360" cy="713232"/>
          </a:xfrm>
          <a:prstGeom prst="roundRect">
            <a:avLst/>
          </a:prstGeom>
          <a:solidFill>
            <a:srgbClr val="0B1624"/>
          </a:solidFill>
          <a:ln w="10160">
            <a:solidFill>
              <a:srgbClr val="2A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2752344"/>
            <a:ext cx="1719072" cy="2377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l">
              <a:defRPr sz="1060" b="1">
                <a:solidFill>
                  <a:srgbClr val="F4F8FC"/>
                </a:solidFill>
                <a:latin typeface="Arial"/>
              </a:defRPr>
            </a:pPr>
            <a:r>
              <a:t>Foundation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3026664"/>
            <a:ext cx="1783080" cy="1828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l">
              <a:defRPr sz="760" b="0">
                <a:solidFill>
                  <a:srgbClr val="C1CFDD"/>
                </a:solidFill>
                <a:latin typeface="Arial"/>
              </a:defRPr>
            </a:pPr>
            <a:r>
              <a:t>GPU + Bazel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51760" y="2798064"/>
            <a:ext cx="2331720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l">
              <a:defRPr sz="819" b="0">
                <a:solidFill>
                  <a:srgbClr val="C1CFDD"/>
                </a:solidFill>
                <a:latin typeface="Arial"/>
              </a:defRPr>
            </a:pPr>
            <a:r>
              <a:t>gpu_info, device properties, MODULE.bazel, .bazelrc, Clang/CUDA.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38928" y="2871216"/>
            <a:ext cx="896112" cy="256032"/>
          </a:xfrm>
          <a:prstGeom prst="roundRect">
            <a:avLst/>
          </a:prstGeom>
          <a:solidFill>
            <a:srgbClr val="4A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75504" y="2889504"/>
            <a:ext cx="822960" cy="219456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ctr">
              <a:defRPr sz="770" b="1">
                <a:solidFill>
                  <a:srgbClr val="071019"/>
                </a:solidFill>
                <a:latin typeface="Arial"/>
              </a:defRPr>
            </a:pPr>
            <a:r>
              <a:t>S 9-16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55172" y="2926080"/>
            <a:ext cx="732864" cy="210312"/>
          </a:xfrm>
          <a:prstGeom prst="roundRect">
            <a:avLst/>
          </a:prstGeom>
          <a:solidFill>
            <a:srgbClr val="4A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58368" y="3511296"/>
            <a:ext cx="10881360" cy="713232"/>
          </a:xfrm>
          <a:prstGeom prst="roundRect">
            <a:avLst/>
          </a:prstGeom>
          <a:solidFill>
            <a:srgbClr val="0B1624"/>
          </a:solidFill>
          <a:ln w="10160">
            <a:solidFill>
              <a:srgbClr val="2A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3602736"/>
            <a:ext cx="1719072" cy="2377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l">
              <a:defRPr sz="1060" b="1">
                <a:solidFill>
                  <a:srgbClr val="F4F8FC"/>
                </a:solidFill>
                <a:latin typeface="Arial"/>
              </a:defRPr>
            </a:pPr>
            <a:r>
              <a:t>CPU baseline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3877056"/>
            <a:ext cx="1783080" cy="1828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l">
              <a:defRPr sz="760" b="0">
                <a:solidFill>
                  <a:srgbClr val="C1CFDD"/>
                </a:solidFill>
                <a:latin typeface="Arial"/>
              </a:defRPr>
            </a:pPr>
            <a:r>
              <a:t>Correctness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51760" y="3648456"/>
            <a:ext cx="2331720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l">
              <a:defRPr sz="819" b="0">
                <a:solidFill>
                  <a:srgbClr val="C1CFDD"/>
                </a:solidFill>
                <a:latin typeface="Arial"/>
              </a:defRPr>
            </a:pPr>
            <a:r>
              <a:t>CPU oracle, tests, threaded CPU implementation, CPU benchmark.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3721608"/>
            <a:ext cx="896112" cy="256032"/>
          </a:xfrm>
          <a:prstGeom prst="roundRect">
            <a:avLst/>
          </a:prstGeom>
          <a:solidFill>
            <a:srgbClr val="55D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9896"/>
            <a:ext cx="822960" cy="219456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ctr">
              <a:defRPr sz="770" b="1">
                <a:solidFill>
                  <a:srgbClr val="071019"/>
                </a:solidFill>
                <a:latin typeface="Arial"/>
              </a:defRPr>
            </a:pPr>
            <a:r>
              <a:t>S 17-20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75980" y="3776472"/>
            <a:ext cx="791493" cy="210312"/>
          </a:xfrm>
          <a:prstGeom prst="roundRect">
            <a:avLst/>
          </a:prstGeom>
          <a:solidFill>
            <a:srgbClr val="55D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58368" y="4361688"/>
            <a:ext cx="10881360" cy="713232"/>
          </a:xfrm>
          <a:prstGeom prst="roundRect">
            <a:avLst/>
          </a:prstGeom>
          <a:solidFill>
            <a:srgbClr val="0B1624"/>
          </a:solidFill>
          <a:ln w="10160">
            <a:solidFill>
              <a:srgbClr val="2A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4453127"/>
            <a:ext cx="1719072" cy="2377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l">
              <a:defRPr sz="1060" b="1">
                <a:solidFill>
                  <a:srgbClr val="F4F8FC"/>
                </a:solidFill>
                <a:latin typeface="Arial"/>
              </a:defRPr>
            </a:pPr>
            <a:r>
              <a:t>CUDA feature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4727448"/>
            <a:ext cx="1783080" cy="1828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l">
              <a:defRPr sz="760" b="0">
                <a:solidFill>
                  <a:srgbClr val="C1CFDD"/>
                </a:solidFill>
                <a:latin typeface="Arial"/>
              </a:defRPr>
            </a:pPr>
            <a:r>
              <a:t>First kernel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51760" y="4498848"/>
            <a:ext cx="2331720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l">
              <a:defRPr sz="819" b="0">
                <a:solidFill>
                  <a:srgbClr val="C1CFDD"/>
                </a:solidFill>
                <a:latin typeface="Arial"/>
              </a:defRPr>
            </a:pPr>
            <a:r>
              <a:t>Source split, grid/block sizing, memory copies, runtime API, errors.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138928" y="4572000"/>
            <a:ext cx="896112" cy="256032"/>
          </a:xfrm>
          <a:prstGeom prst="roundRect">
            <a:avLst/>
          </a:prstGeom>
          <a:solidFill>
            <a:srgbClr val="F3B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75504" y="4590288"/>
            <a:ext cx="822960" cy="219456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ctr">
              <a:defRPr sz="770" b="1">
                <a:solidFill>
                  <a:srgbClr val="071019"/>
                </a:solidFill>
                <a:latin typeface="Arial"/>
              </a:defRPr>
            </a:pPr>
            <a:r>
              <a:t>S 21-32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636508" y="4626864"/>
            <a:ext cx="1231212" cy="210312"/>
          </a:xfrm>
          <a:prstGeom prst="roundRect">
            <a:avLst/>
          </a:prstGeom>
          <a:solidFill>
            <a:srgbClr val="F3B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58368" y="5212080"/>
            <a:ext cx="10881360" cy="713232"/>
          </a:xfrm>
          <a:prstGeom prst="roundRect">
            <a:avLst/>
          </a:prstGeom>
          <a:solidFill>
            <a:srgbClr val="0B1624"/>
          </a:solidFill>
          <a:ln w="10160">
            <a:solidFill>
              <a:srgbClr val="2A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960" y="5303520"/>
            <a:ext cx="1719072" cy="2377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l">
              <a:defRPr sz="1060" b="1">
                <a:solidFill>
                  <a:srgbClr val="F4F8FC"/>
                </a:solidFill>
                <a:latin typeface="Arial"/>
              </a:defRPr>
            </a:pPr>
            <a:r>
              <a:t>Integration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" y="5577840"/>
            <a:ext cx="1783080" cy="1828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l">
              <a:defRPr sz="760" b="0">
                <a:solidFill>
                  <a:srgbClr val="C1CFDD"/>
                </a:solidFill>
                <a:latin typeface="Arial"/>
              </a:defRPr>
            </a:pPr>
            <a:r>
              <a:t>Demo + bench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51760" y="5349240"/>
            <a:ext cx="2331720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l">
              <a:defRPr sz="819" b="0">
                <a:solidFill>
                  <a:srgbClr val="C1CFDD"/>
                </a:solidFill>
                <a:latin typeface="Arial"/>
              </a:defRPr>
            </a:pPr>
            <a:r>
              <a:t>CUDA test, aquery, architecture flags, troubleshooting, benchmark preview.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138928" y="5422392"/>
            <a:ext cx="896112" cy="256032"/>
          </a:xfrm>
          <a:prstGeom prst="roundRect">
            <a:avLst/>
          </a:prstGeom>
          <a:solidFill>
            <a:srgbClr val="F2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175504" y="5440680"/>
            <a:ext cx="822960" cy="219456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ctr">
              <a:defRPr sz="770" b="1">
                <a:solidFill>
                  <a:srgbClr val="071019"/>
                </a:solidFill>
                <a:latin typeface="Arial"/>
              </a:defRPr>
            </a:pPr>
            <a:r>
              <a:t>S 33-46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984979" y="5477256"/>
            <a:ext cx="938066" cy="210312"/>
          </a:xfrm>
          <a:prstGeom prst="roundRect">
            <a:avLst/>
          </a:prstGeom>
          <a:solidFill>
            <a:srgbClr val="F2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58368" y="6108192"/>
            <a:ext cx="10881360" cy="347472"/>
          </a:xfrm>
          <a:prstGeom prst="roundRect">
            <a:avLst/>
          </a:prstGeom>
          <a:solidFill>
            <a:srgbClr val="0B1624"/>
          </a:solidFill>
          <a:ln w="10160">
            <a:solidFill>
              <a:srgbClr val="2A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1248" y="6181344"/>
            <a:ext cx="7269480" cy="128016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l">
              <a:defRPr sz="790" b="0">
                <a:solidFill>
                  <a:srgbClr val="C1CFDD"/>
                </a:solidFill>
                <a:latin typeface="Arial"/>
              </a:defRPr>
            </a:pPr>
            <a:r>
              <a:t>Anchors: device_info | vector_cpu_test | vector_add_test | vector_add_benchmark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94192" y="6181344"/>
            <a:ext cx="2788920" cy="128016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l">
              <a:defRPr sz="790" b="1">
                <a:solidFill>
                  <a:srgbClr val="55D187"/>
                </a:solidFill>
                <a:latin typeface="Arial"/>
              </a:defRPr>
            </a:pPr>
            <a:r>
              <a:t>Output: runnable vector-add feature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8368" y="6565392"/>
            <a:ext cx="2926080" cy="128016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l">
              <a:defRPr sz="770" b="0">
                <a:solidFill>
                  <a:srgbClr val="8FA4BA"/>
                </a:solidFill>
                <a:latin typeface="Arial"/>
              </a:defRPr>
            </a:pPr>
            <a:r>
              <a:t>Repository-driven CUDA/Bazel course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972800" y="6565392"/>
            <a:ext cx="530352" cy="128016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r">
              <a:defRPr sz="770" b="0">
                <a:solidFill>
                  <a:srgbClr val="8FA4BA"/>
                </a:solidFill>
                <a:latin typeface="Arial"/>
              </a:defRPr>
            </a:pPr>
            <a:r>
              <a:t>01/02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5C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93776" y="320040"/>
            <a:ext cx="10972" cy="6053328"/>
          </a:xfrm>
          <a:prstGeom prst="rect">
            <a:avLst/>
          </a:prstGeom>
          <a:solidFill>
            <a:srgbClr val="2A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86032" y="320040"/>
            <a:ext cx="10972" cy="6053328"/>
          </a:xfrm>
          <a:prstGeom prst="rect">
            <a:avLst/>
          </a:prstGeom>
          <a:solidFill>
            <a:srgbClr val="2A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46888"/>
            <a:ext cx="2834640" cy="2011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l">
              <a:defRPr sz="850" b="1">
                <a:solidFill>
                  <a:srgbClr val="35C8E8"/>
                </a:solidFill>
                <a:latin typeface="Arial"/>
              </a:defRPr>
            </a:pPr>
            <a:r>
              <a:t>TRAINING PLAN / DAY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30352"/>
            <a:ext cx="10287000" cy="438912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l">
              <a:defRPr sz="2220" b="1">
                <a:solidFill>
                  <a:srgbClr val="F4F8FC"/>
                </a:solidFill>
                <a:latin typeface="Arial"/>
              </a:defRPr>
            </a:pPr>
            <a:r>
              <a:t>Day 2: Runtime, Performance, Deployment, JAX/XLA, And MatMul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33271"/>
            <a:ext cx="8046720" cy="2286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l">
              <a:defRPr sz="1040" b="0">
                <a:solidFill>
                  <a:srgbClr val="C1CFDD"/>
                </a:solidFill>
                <a:latin typeface="Arial"/>
              </a:defRPr>
            </a:pPr>
            <a:r>
              <a:t>Measure runtime costs, package the binary, compare abstractions, and move to MatMul.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978408"/>
            <a:ext cx="1993392" cy="347472"/>
          </a:xfrm>
          <a:prstGeom prst="roundRect">
            <a:avLst/>
          </a:prstGeom>
          <a:solidFill>
            <a:srgbClr val="0B1624"/>
          </a:solidFill>
          <a:ln w="10160">
            <a:solidFill>
              <a:srgbClr val="2A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46920" y="1033271"/>
            <a:ext cx="1810512" cy="1645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ctr">
              <a:defRPr sz="840" b="1">
                <a:solidFill>
                  <a:srgbClr val="F4F8FC"/>
                </a:solidFill>
                <a:latin typeface="Arial"/>
              </a:defRPr>
            </a:pPr>
            <a:r>
              <a:t>Measure and package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536192"/>
            <a:ext cx="1600200" cy="1645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l">
              <a:defRPr sz="819" b="1">
                <a:solidFill>
                  <a:srgbClr val="8FA4BA"/>
                </a:solidFill>
                <a:latin typeface="Arial"/>
              </a:defRPr>
            </a:pPr>
            <a:r>
              <a:t>Block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536192"/>
            <a:ext cx="2468880" cy="1645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l">
              <a:defRPr sz="819" b="1">
                <a:solidFill>
                  <a:srgbClr val="8FA4BA"/>
                </a:solidFill>
                <a:latin typeface="Arial"/>
              </a:defRPr>
            </a:pPr>
            <a:r>
              <a:t>Focus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93792" y="1536192"/>
            <a:ext cx="749808" cy="1645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ctr">
              <a:defRPr sz="819" b="1">
                <a:solidFill>
                  <a:srgbClr val="8FA4BA"/>
                </a:solidFill>
                <a:latin typeface="Arial"/>
              </a:defRPr>
            </a:pPr>
            <a:r>
              <a:t>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1344" y="1536192"/>
            <a:ext cx="411480" cy="1645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ctr">
              <a:defRPr sz="740" b="0">
                <a:solidFill>
                  <a:srgbClr val="8FA4BA"/>
                </a:solidFill>
                <a:latin typeface="Arial"/>
              </a:defRPr>
            </a:pPr>
            <a:r>
              <a:t>09:00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2592" y="1536192"/>
            <a:ext cx="411480" cy="1645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ctr">
              <a:defRPr sz="740" b="0">
                <a:solidFill>
                  <a:srgbClr val="8FA4BA"/>
                </a:solidFill>
                <a:latin typeface="Arial"/>
              </a:defRPr>
            </a:pPr>
            <a:r>
              <a:t>10:30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1536192"/>
            <a:ext cx="411480" cy="1645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ctr">
              <a:defRPr sz="740" b="0">
                <a:solidFill>
                  <a:srgbClr val="8FA4BA"/>
                </a:solidFill>
                <a:latin typeface="Arial"/>
              </a:defRPr>
            </a:pPr>
            <a:r>
              <a:t>12:00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1536192"/>
            <a:ext cx="411480" cy="1645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ctr">
              <a:defRPr sz="740" b="0">
                <a:solidFill>
                  <a:srgbClr val="8FA4BA"/>
                </a:solidFill>
                <a:latin typeface="Arial"/>
              </a:defRPr>
            </a:pPr>
            <a:r>
              <a:t>13:30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46336" y="1536192"/>
            <a:ext cx="411480" cy="1645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ctr">
              <a:defRPr sz="740" b="0">
                <a:solidFill>
                  <a:srgbClr val="8FA4BA"/>
                </a:solidFill>
                <a:latin typeface="Arial"/>
              </a:defRPr>
            </a:pPr>
            <a:r>
              <a:t>15:00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536192"/>
            <a:ext cx="411480" cy="1645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ctr">
              <a:defRPr sz="740" b="0">
                <a:solidFill>
                  <a:srgbClr val="8FA4BA"/>
                </a:solidFill>
                <a:latin typeface="Arial"/>
              </a:defRPr>
            </a:pPr>
            <a:r>
              <a:t>16:30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1536192"/>
            <a:ext cx="411480" cy="1645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ctr">
              <a:defRPr sz="740" b="0">
                <a:solidFill>
                  <a:srgbClr val="8FA4BA"/>
                </a:solidFill>
                <a:latin typeface="Arial"/>
              </a:defRPr>
            </a:pPr>
            <a:r>
              <a:t>17:30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1719072"/>
            <a:ext cx="5486" cy="4224528"/>
          </a:xfrm>
          <a:prstGeom prst="rect">
            <a:avLst/>
          </a:prstGeom>
          <a:solidFill>
            <a:srgbClr val="2A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24205" y="1719072"/>
            <a:ext cx="5486" cy="4224528"/>
          </a:xfrm>
          <a:prstGeom prst="rect">
            <a:avLst/>
          </a:prstGeom>
          <a:solidFill>
            <a:srgbClr val="2A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3643" y="1719072"/>
            <a:ext cx="5486" cy="4224528"/>
          </a:xfrm>
          <a:prstGeom prst="rect">
            <a:avLst/>
          </a:prstGeom>
          <a:solidFill>
            <a:srgbClr val="2A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83080" y="1719072"/>
            <a:ext cx="5486" cy="4224528"/>
          </a:xfrm>
          <a:prstGeom prst="rect">
            <a:avLst/>
          </a:prstGeom>
          <a:solidFill>
            <a:srgbClr val="2A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62518" y="1719072"/>
            <a:ext cx="5486" cy="4224528"/>
          </a:xfrm>
          <a:prstGeom prst="rect">
            <a:avLst/>
          </a:prstGeom>
          <a:solidFill>
            <a:srgbClr val="2A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541956" y="1719072"/>
            <a:ext cx="5486" cy="4224528"/>
          </a:xfrm>
          <a:prstGeom prst="rect">
            <a:avLst/>
          </a:prstGeom>
          <a:solidFill>
            <a:srgbClr val="2A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128248" y="1719072"/>
            <a:ext cx="5486" cy="4224528"/>
          </a:xfrm>
          <a:prstGeom prst="rect">
            <a:avLst/>
          </a:prstGeom>
          <a:solidFill>
            <a:srgbClr val="2A4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1810512"/>
            <a:ext cx="10881360" cy="713232"/>
          </a:xfrm>
          <a:prstGeom prst="roundRect">
            <a:avLst/>
          </a:prstGeom>
          <a:solidFill>
            <a:srgbClr val="0B1624"/>
          </a:solidFill>
          <a:ln w="10160">
            <a:solidFill>
              <a:srgbClr val="2A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1901952"/>
            <a:ext cx="1719072" cy="2377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l">
              <a:defRPr sz="1060" b="1">
                <a:solidFill>
                  <a:srgbClr val="F4F8FC"/>
                </a:solidFill>
                <a:latin typeface="Arial"/>
              </a:defRPr>
            </a:pPr>
            <a:r>
              <a:t>Runtime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2176272"/>
            <a:ext cx="1783080" cy="1828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l">
              <a:defRPr sz="760" b="0">
                <a:solidFill>
                  <a:srgbClr val="C1CFDD"/>
                </a:solidFill>
                <a:latin typeface="Arial"/>
              </a:defRPr>
            </a:pPr>
            <a:r>
              <a:t>Measurement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1947672"/>
            <a:ext cx="2331720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l">
              <a:defRPr sz="819" b="0">
                <a:solidFill>
                  <a:srgbClr val="C1CFDD"/>
                </a:solidFill>
                <a:latin typeface="Arial"/>
              </a:defRPr>
            </a:pPr>
            <a:r>
              <a:t>Device facts, warmup, sync points, benchmark scope, memory flow.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38928" y="2020824"/>
            <a:ext cx="896112" cy="256032"/>
          </a:xfrm>
          <a:prstGeom prst="roundRect">
            <a:avLst/>
          </a:prstGeom>
          <a:solidFill>
            <a:srgbClr val="35C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75504" y="2039112"/>
            <a:ext cx="822960" cy="219456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ctr">
              <a:defRPr sz="770" b="1">
                <a:solidFill>
                  <a:srgbClr val="071019"/>
                </a:solidFill>
                <a:latin typeface="Arial"/>
              </a:defRPr>
            </a:pPr>
            <a:r>
              <a:t>S 1-14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44768" y="2075688"/>
            <a:ext cx="850123" cy="210312"/>
          </a:xfrm>
          <a:prstGeom prst="roundRect">
            <a:avLst/>
          </a:prstGeom>
          <a:solidFill>
            <a:srgbClr val="35C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8368" y="2660904"/>
            <a:ext cx="10881360" cy="713232"/>
          </a:xfrm>
          <a:prstGeom prst="roundRect">
            <a:avLst/>
          </a:prstGeom>
          <a:solidFill>
            <a:srgbClr val="0B1624"/>
          </a:solidFill>
          <a:ln w="10160">
            <a:solidFill>
              <a:srgbClr val="2A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2752344"/>
            <a:ext cx="1719072" cy="2377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l">
              <a:defRPr sz="1060" b="1">
                <a:solidFill>
                  <a:srgbClr val="F4F8FC"/>
                </a:solidFill>
                <a:latin typeface="Arial"/>
              </a:defRPr>
            </a:pPr>
            <a:r>
              <a:t>Streams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3026664"/>
            <a:ext cx="1783080" cy="1828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l">
              <a:defRPr sz="760" b="0">
                <a:solidFill>
                  <a:srgbClr val="C1CFDD"/>
                </a:solidFill>
                <a:latin typeface="Arial"/>
              </a:defRPr>
            </a:pPr>
            <a:r>
              <a:t>Robustness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51760" y="2798064"/>
            <a:ext cx="2331720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l">
              <a:defRPr sz="819" b="0">
                <a:solidFill>
                  <a:srgbClr val="C1CFDD"/>
                </a:solidFill>
                <a:latin typeface="Arial"/>
              </a:defRPr>
            </a:pPr>
            <a:r>
              <a:t>Async copies, overlap design, error handling, debugging workflow.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38928" y="2871216"/>
            <a:ext cx="896112" cy="256032"/>
          </a:xfrm>
          <a:prstGeom prst="roundRect">
            <a:avLst/>
          </a:prstGeom>
          <a:solidFill>
            <a:srgbClr val="4A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75504" y="2889504"/>
            <a:ext cx="822960" cy="219456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ctr">
              <a:defRPr sz="770" b="1">
                <a:solidFill>
                  <a:srgbClr val="071019"/>
                </a:solidFill>
                <a:latin typeface="Arial"/>
              </a:defRPr>
            </a:pPr>
            <a:r>
              <a:t>S 15-20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12149" y="2926080"/>
            <a:ext cx="644920" cy="210312"/>
          </a:xfrm>
          <a:prstGeom prst="roundRect">
            <a:avLst/>
          </a:prstGeom>
          <a:solidFill>
            <a:srgbClr val="4A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58368" y="3511296"/>
            <a:ext cx="10881360" cy="713232"/>
          </a:xfrm>
          <a:prstGeom prst="roundRect">
            <a:avLst/>
          </a:prstGeom>
          <a:solidFill>
            <a:srgbClr val="0B1624"/>
          </a:solidFill>
          <a:ln w="10160">
            <a:solidFill>
              <a:srgbClr val="2A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3602736"/>
            <a:ext cx="1719072" cy="2377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l">
              <a:defRPr sz="1060" b="1">
                <a:solidFill>
                  <a:srgbClr val="F4F8FC"/>
                </a:solidFill>
                <a:latin typeface="Arial"/>
              </a:defRPr>
            </a:pPr>
            <a:r>
              <a:t>Deployment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3877056"/>
            <a:ext cx="1783080" cy="1828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l">
              <a:defRPr sz="760" b="0">
                <a:solidFill>
                  <a:srgbClr val="C1CFDD"/>
                </a:solidFill>
                <a:latin typeface="Arial"/>
              </a:defRPr>
            </a:pPr>
            <a:r>
              <a:t>OCI image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51760" y="3648456"/>
            <a:ext cx="2331720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l">
              <a:defRPr sz="819" b="0">
                <a:solidFill>
                  <a:srgbClr val="C1CFDD"/>
                </a:solidFill>
                <a:latin typeface="Arial"/>
              </a:defRPr>
            </a:pPr>
            <a:r>
              <a:t>Bazel image target, runtime files, pinned base image, GPU container run.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3721608"/>
            <a:ext cx="896112" cy="256032"/>
          </a:xfrm>
          <a:prstGeom prst="roundRect">
            <a:avLst/>
          </a:prstGeom>
          <a:solidFill>
            <a:srgbClr val="55D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9896"/>
            <a:ext cx="822960" cy="219456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ctr">
              <a:defRPr sz="770" b="1">
                <a:solidFill>
                  <a:srgbClr val="071019"/>
                </a:solidFill>
                <a:latin typeface="Arial"/>
              </a:defRPr>
            </a:pPr>
            <a:r>
              <a:t>S 21-30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43362" y="3776472"/>
            <a:ext cx="644920" cy="210312"/>
          </a:xfrm>
          <a:prstGeom prst="roundRect">
            <a:avLst/>
          </a:prstGeom>
          <a:solidFill>
            <a:srgbClr val="55D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58368" y="4361688"/>
            <a:ext cx="10881360" cy="713232"/>
          </a:xfrm>
          <a:prstGeom prst="roundRect">
            <a:avLst/>
          </a:prstGeom>
          <a:solidFill>
            <a:srgbClr val="0B1624"/>
          </a:solidFill>
          <a:ln w="10160">
            <a:solidFill>
              <a:srgbClr val="2A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4453127"/>
            <a:ext cx="1719072" cy="2377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l">
              <a:defRPr sz="1060" b="1">
                <a:solidFill>
                  <a:srgbClr val="F4F8FC"/>
                </a:solidFill>
                <a:latin typeface="Arial"/>
              </a:defRPr>
            </a:pPr>
            <a:r>
              <a:t>Python/JAX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4727448"/>
            <a:ext cx="1783080" cy="1828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l">
              <a:defRPr sz="760" b="0">
                <a:solidFill>
                  <a:srgbClr val="C1CFDD"/>
                </a:solidFill>
                <a:latin typeface="Arial"/>
              </a:defRPr>
            </a:pPr>
            <a:r>
              <a:t>XLA hook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51760" y="4498848"/>
            <a:ext cx="2331720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l">
              <a:defRPr sz="819" b="0">
                <a:solidFill>
                  <a:srgbClr val="C1CFDD"/>
                </a:solidFill>
                <a:latin typeface="Arial"/>
              </a:defRPr>
            </a:pPr>
            <a:r>
              <a:t>Python orchestration, JAX fallback, compiler-managed array programs.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138928" y="4572000"/>
            <a:ext cx="896112" cy="256032"/>
          </a:xfrm>
          <a:prstGeom prst="roundRect">
            <a:avLst/>
          </a:prstGeom>
          <a:solidFill>
            <a:srgbClr val="F3B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75504" y="4590288"/>
            <a:ext cx="822960" cy="219456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ctr">
              <a:defRPr sz="770" b="1">
                <a:solidFill>
                  <a:srgbClr val="071019"/>
                </a:solidFill>
                <a:latin typeface="Arial"/>
              </a:defRPr>
            </a:pPr>
            <a:r>
              <a:t>S 31-33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05541" y="4626864"/>
            <a:ext cx="469033" cy="210312"/>
          </a:xfrm>
          <a:prstGeom prst="roundRect">
            <a:avLst/>
          </a:prstGeom>
          <a:solidFill>
            <a:srgbClr val="F3B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58368" y="5212080"/>
            <a:ext cx="10881360" cy="713232"/>
          </a:xfrm>
          <a:prstGeom prst="roundRect">
            <a:avLst/>
          </a:prstGeom>
          <a:solidFill>
            <a:srgbClr val="0B1624"/>
          </a:solidFill>
          <a:ln w="10160">
            <a:solidFill>
              <a:srgbClr val="2A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960" y="5303520"/>
            <a:ext cx="1719072" cy="2377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l">
              <a:defRPr sz="1060" b="1">
                <a:solidFill>
                  <a:srgbClr val="F4F8FC"/>
                </a:solidFill>
                <a:latin typeface="Arial"/>
              </a:defRPr>
            </a:pPr>
            <a:r>
              <a:t>MatMul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" y="5577840"/>
            <a:ext cx="1783080" cy="1828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l">
              <a:defRPr sz="760" b="0">
                <a:solidFill>
                  <a:srgbClr val="C1CFDD"/>
                </a:solidFill>
                <a:latin typeface="Arial"/>
              </a:defRPr>
            </a:pPr>
            <a:r>
              <a:t>Profiling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51760" y="5349240"/>
            <a:ext cx="2331720" cy="338328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l">
              <a:defRPr sz="819" b="0">
                <a:solidFill>
                  <a:srgbClr val="C1CFDD"/>
                </a:solidFill>
                <a:latin typeface="Arial"/>
              </a:defRPr>
            </a:pPr>
            <a:r>
              <a:t>CPU/basic/tiled MatMul, cuBLAS hook, benchmark table, Nsight evidence.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138928" y="5422392"/>
            <a:ext cx="896112" cy="256032"/>
          </a:xfrm>
          <a:prstGeom prst="roundRect">
            <a:avLst/>
          </a:prstGeom>
          <a:solidFill>
            <a:srgbClr val="F2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175504" y="5440680"/>
            <a:ext cx="822960" cy="219456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ctr">
              <a:defRPr sz="770" b="1">
                <a:solidFill>
                  <a:srgbClr val="071019"/>
                </a:solidFill>
                <a:latin typeface="Arial"/>
              </a:defRPr>
            </a:pPr>
            <a:r>
              <a:t>S 34-48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691833" y="5477256"/>
            <a:ext cx="1289841" cy="210312"/>
          </a:xfrm>
          <a:prstGeom prst="roundRect">
            <a:avLst/>
          </a:prstGeom>
          <a:solidFill>
            <a:srgbClr val="F27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58368" y="6108192"/>
            <a:ext cx="10881360" cy="347472"/>
          </a:xfrm>
          <a:prstGeom prst="roundRect">
            <a:avLst/>
          </a:prstGeom>
          <a:solidFill>
            <a:srgbClr val="0B1624"/>
          </a:solidFill>
          <a:ln w="10160">
            <a:solidFill>
              <a:srgbClr val="2A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1248" y="6181344"/>
            <a:ext cx="7269480" cy="128016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l">
              <a:defRPr sz="790" b="0">
                <a:solidFill>
                  <a:srgbClr val="C1CFDD"/>
                </a:solidFill>
                <a:latin typeface="Arial"/>
              </a:defRPr>
            </a:pPr>
            <a:r>
              <a:t>Anchors: launch_benchmark | gpu_image | jax_xla_demo | matmul_benchmark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94192" y="6181344"/>
            <a:ext cx="2788920" cy="128016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l">
              <a:defRPr sz="790" b="1">
                <a:solidFill>
                  <a:srgbClr val="55D187"/>
                </a:solidFill>
                <a:latin typeface="Arial"/>
              </a:defRPr>
            </a:pPr>
            <a:r>
              <a:t>Output: benchmarked and packaged CUDA project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8368" y="6565392"/>
            <a:ext cx="2926080" cy="128016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l">
              <a:defRPr sz="770" b="0">
                <a:solidFill>
                  <a:srgbClr val="8FA4BA"/>
                </a:solidFill>
                <a:latin typeface="Arial"/>
              </a:defRPr>
            </a:pPr>
            <a:r>
              <a:t>Repository-driven CUDA/Bazel course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972800" y="6565392"/>
            <a:ext cx="530352" cy="128016"/>
          </a:xfrm>
          <a:prstGeom prst="rect">
            <a:avLst/>
          </a:prstGeom>
          <a:noFill/>
        </p:spPr>
        <p:txBody>
          <a:bodyPr wrap="square" anchor="ctr" lIns="27432" rIns="27432" tIns="9144" bIns="9144">
            <a:normAutofit/>
          </a:bodyPr>
          <a:lstStyle/>
          <a:p>
            <a:pPr algn="r">
              <a:defRPr sz="770" b="0">
                <a:solidFill>
                  <a:srgbClr val="8FA4BA"/>
                </a:solidFill>
                <a:latin typeface="Arial"/>
              </a:defRPr>
            </a:pPr>
            <a:r>
              <a:t>02/02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