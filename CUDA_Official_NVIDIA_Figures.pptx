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Welcome. This revision retains the original Day 1 learning path, code examples and labs, but replaces the original deck's redrawn technical diagrams and analytical chart with original NVIDIA figures extracted from the uploaded guide. The guide is Release 13.4.2, dated 10 September 2026. The teaching deck is independently authored and is not an official NVIDIA course. No source artwork is redrawn, recolored or generated.</a:t>
            </a:r>
          </a:p>
          <a:p/>
          <a:p>
            <a:r>
              <a:t>SOURCE AND ATTRIBUTION</a:t>
            </a:r>
          </a:p>
          <a:p>
            <a:r>
              <a:t>NVIDIA source edition: CUDA Programming Guide, Release 13.4.2, NVIDIA Corporation, 10 September 2026. Source of figure pixels: user-supplied cuda-programming-guide.pdf.</a:t>
            </a:r>
          </a:p>
          <a:p>
            <a:r>
              <a:t>Original CUDA cover artwork · supplied NVIDIA Programming Guide, PDF p. 1</a:t>
            </a:r>
          </a:p>
          <a:p>
            <a:r>
              <a:t>Cover artwork: printed page cover; PDF page 1; embedded image xref 9; 948×317 pixels.</a:t>
            </a:r>
          </a:p>
          <a:p>
            <a:r>
              <a:t>Image SHA-256: 8525c91f9095219325160e8e7d53cf9a5529ecf10ed3f8c3ada8d3c11260a5a0</a:t>
            </a:r>
          </a:p>
          <a:p>
            <a:r>
              <a:t>Embedded image with PDF transparency mask restored; no redraw or recoloring.</a:t>
            </a:r>
          </a:p>
          <a:p/>
          <a:p>
            <a:r>
              <a:t>COURSE / TOOLING REFERENCES (distinct from the PDF artwork)</a:t>
            </a:r>
          </a:p>
          <a:p>
            <a:r>
              <a:t>https://github.com/neudinger/formation</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17:00, explain the kernel—not just the command</a:t>
            </a:r>
          </a:p>
          <a:p/>
          <a:p>
            <a:r>
              <a:t>Preserve the three outcome groups from the first deck. These are course objectives, not quotations from NVIDIA. Students should give an ownership explanation, a host/device data-path explanation, and a test-based correctness argument. Memory-access statements should be identified as predictions unless supported by measurements.</a:t>
            </a:r>
          </a:p>
          <a:p/>
          <a:p>
            <a:r>
              <a:t>SOURCE AND ATTRIBUTION</a:t>
            </a:r>
          </a:p>
          <a:p>
            <a:r>
              <a:t>NVIDIA source edition: CUDA Programming Guide, Release 13.4.2, NVIDIA Corporation, 10 September 2026. Source of figure pixels: user-supplied cuda-programming-guide.pdf.</a:t>
            </a:r>
          </a:p>
          <a:p>
            <a:r>
              <a:t>Course learning objectives; guide alignment: §§1.2, 2.1 and 2.3</a:t>
            </a:r>
          </a:p>
          <a:p>
            <a:r>
              <a:t>No illustration on this slide: editable explanatory text/code only.</a:t>
            </a:r>
          </a:p>
          <a:p/>
          <a:p>
            <a:r>
              <a:t>COURSE / TOOLING REFERENCES (distinct from the PDF artwork)</a:t>
            </a:r>
          </a:p>
          <a:p>
            <a:r>
              <a:t>https://github.com/neudinger/formation</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day. Four connected learning blocks.</a:t>
            </a:r>
          </a:p>
          <a:p/>
          <a:p>
            <a:r>
              <a:t>The existing four labs and pacing are retained. Allocate 25 minutes to Lab 1, 55 minutes to Lab 2, 40 minutes to Lab 3, and 35 minutes to Lab 4. Protect debrief time. Slides 49–54 are reference material, not an additional required teaching block.</a:t>
            </a:r>
          </a:p>
          <a:p/>
          <a:p>
            <a:r>
              <a:t>SOURCE AND ATTRIBUTION</a:t>
            </a:r>
          </a:p>
          <a:p>
            <a:r>
              <a:t>NVIDIA source edition: CUDA Programming Guide, Release 13.4.2, NVIDIA Corporation, 10 September 2026. Source of figure pixels: user-supplied cuda-programming-guide.pdf.</a:t>
            </a:r>
          </a:p>
          <a:p>
            <a:r>
              <a:t>Workshop schedule; the underlying concepts are mapped to the guide in the speaker notes.</a:t>
            </a:r>
          </a:p>
          <a:p>
            <a:r>
              <a:t>No illustration on this slide: editable explanatory text/code only.</a:t>
            </a:r>
          </a:p>
          <a:p/>
          <a:p>
            <a:r>
              <a:t>COURSE / TOOLING REFERENCES (distinct from the PDF artwork)</a:t>
            </a:r>
          </a:p>
          <a:p>
            <a:r>
              <a:t>https://github.com/neudinger/formation/blob/main/followup/presentation-1-followup.md</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Prepare the machine once; focus on CUDA today</a:t>
            </a:r>
          </a:p>
          <a:p/>
          <a:p>
            <a:r>
              <a:t>The previous course baseline was projects/detailed with CUDA 12.8.0 and Clang 20.1.8 on its documented Linux path. The newer source-guide edition does not upgrade that project. Preserve the original lab pack and its limitations. It still requires a real-GPU preflight. The present revision validates slide composition and original-figure provenance only; no new CUDA compilation or GPU execution is claimed.</a:t>
            </a:r>
          </a:p>
          <a:p/>
          <a:p>
            <a:r>
              <a:t>SOURCE AND ATTRIBUTION</a:t>
            </a:r>
          </a:p>
          <a:p>
            <a:r>
              <a:t>NVIDIA source edition: CUDA Programming Guide, Release 13.4.2, NVIDIA Corporation, 10 September 2026. Source of figure pixels: user-supplied cuda-programming-guide.pdf.</a:t>
            </a:r>
          </a:p>
          <a:p>
            <a:r>
              <a:t>Existing Day 1 course setup; uploaded guide is Release 13.4.2, not a change to the lab toolchain.</a:t>
            </a:r>
          </a:p>
          <a:p>
            <a:r>
              <a:t>No illustration on this slide: editable explanatory text/code only.</a:t>
            </a:r>
          </a:p>
          <a:p/>
          <a:p>
            <a:r>
              <a:t>COURSE / TOOLING REFERENCES (distinct from the PDF artwork)</a:t>
            </a:r>
          </a:p>
          <a:p>
            <a:r>
              <a:t>https://github.com/neudinger/formation/blob/main/projects/detailed/MODULE.bazel</a:t>
            </a:r>
          </a:p>
          <a:p>
            <a:r>
              <a:t>https://github.com/neudinger/formation/blob/main/projects/detailed/.bazelrc</a:t>
            </a:r>
          </a:p>
          <a:p>
            <a:r>
              <a:t>https://github.com/neudinger/formation/blob/main/.devcontainer/README.md</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in parallel</a:t>
            </a:r>
          </a:p>
          <a:p/>
          <a:p>
            <a:r>
              <a:t>Use NVIDIA Figure 1 as a conceptual comparison of resource distribution, not as a die photograph or a numerical performance comparison. The text in §1.1.2 contrasts fast serial execution with much greater aggregate throughput from many GPU threads. No universal application speedup follows from the figure.</a:t>
            </a:r>
          </a:p>
          <a:p/>
          <a:p>
            <a:r>
              <a:t>SOURCE AND ATTRIBUTION</a:t>
            </a:r>
          </a:p>
          <a:p>
            <a:r>
              <a:t>NVIDIA source edition: CUDA Programming Guide, Release 13.4.2, NVIDIA Corporation, 10 September 2026. Source of figure pixels: user-supplied cuda-programming-guide.pdf.</a:t>
            </a:r>
          </a:p>
          <a:p>
            <a:r>
              <a:t>NVIDIA Figure 1 · Guide §1.1.2, p. 4 / PDF p. 22</a:t>
            </a:r>
          </a:p>
          <a:p>
            <a:r>
              <a:t>Figure 1: printed page 4; PDF page 22; embedded image xref 840; 1612×796 pixels.</a:t>
            </a:r>
          </a:p>
          <a:p>
            <a:r>
              <a:t>Image SHA-256: 8701a6d804899af083e57dcb6c3afda46e79bb67a4273954c72ce92de7421719</a:t>
            </a:r>
          </a:p>
          <a:p>
            <a:r>
              <a:t>Embedded image with PDF transparency mask restored; no redraw or recoloring.</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host orchestrates. The device executes kernels.</a:t>
            </a:r>
          </a:p>
          <a:p/>
          <a:p>
            <a:r>
              <a:t>Read the original figure from the CPU and system DRAM across the PCIe or NVLINK interconnect to the GPU and GPU DRAM. The guide names the CPU side the host and the GPU side the device. Applications start on the CPU; the host can launch kernels, move data and wait for completion. The drawing is the guide's conceptual model; do not present it as a photograph of the training GPU.</a:t>
            </a:r>
          </a:p>
          <a:p/>
          <a:p>
            <a:r>
              <a:t>SOURCE AND ATTRIBUTION</a:t>
            </a:r>
          </a:p>
          <a:p>
            <a:r>
              <a:t>NVIDIA source edition: CUDA Programming Guide, Release 13.4.2, NVIDIA Corporation, 10 September 2026. Source of figure pixels: user-supplied cuda-programming-guide.pdf.</a:t>
            </a:r>
          </a:p>
          <a:p>
            <a:r>
              <a:t>NVIDIA Figure 2 · §1.2.1–1.2.2, pp. 5–6 / PDF pp. 23–24</a:t>
            </a:r>
          </a:p>
          <a:p>
            <a:r>
              <a:t>Figure 2: printed page 6; PDF page 24; embedded image xref 851; 5360×5435 pixels.</a:t>
            </a:r>
          </a:p>
          <a:p>
            <a:r>
              <a:t>Image SHA-256: aa9c3f35405463c71f034218aece33d4fe0f28e4c4c3807e1a8ed86745418d0a</a:t>
            </a:r>
          </a:p>
          <a:p>
            <a:r>
              <a:t>Embedded image with PDF transparency mask restored; no redraw or recoloring.</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confuse software groups with hardware</a:t>
            </a:r>
          </a:p>
          <a:p/>
          <a:p>
            <a:r>
              <a:t>The grid diagram below is NVIDIA Figure 3, unchanged. The programmer describes threads, thread blocks and the grid. All threads of an ordinary block execute on a single SM. Multiple blocks may reside on an SM when the required resources fit. Neither the number of blocks nor this schematic guarantees which SM will run a particular block.</a:t>
            </a:r>
          </a:p>
          <a:p/>
          <a:p>
            <a:r>
              <a:t>SOURCE AND ATTRIBUTION</a:t>
            </a:r>
          </a:p>
          <a:p>
            <a:r>
              <a:t>NVIDIA source edition: CUDA Programming Guide, Release 13.4.2, NVIDIA Corporation, 10 September 2026. Source of figure pixels: user-supplied cuda-programming-guide.pdf.</a:t>
            </a:r>
          </a:p>
          <a:p>
            <a:r>
              <a:t>NVIDIA Figures 2–3 · §1.2.2, pp. 5–7 / PDF pp. 23–25</a:t>
            </a:r>
          </a:p>
          <a:p>
            <a:r>
              <a:t>Figure 3: printed page 6; PDF page 24; embedded image xref 853; 3620×1720 pixels.</a:t>
            </a:r>
          </a:p>
          <a:p>
            <a:r>
              <a:t>Image SHA-256: 3d12755cf2edf428ae367c0ae1b5eba3c4d8618271ce54e628504fc1efe8b00f</a:t>
            </a:r>
          </a:p>
          <a:p>
            <a:r>
              <a:t>Embedded image with PDF transparency mask restored; no redraw or recoloring.</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Independent blocks let the same program scale</a:t>
            </a:r>
          </a:p>
          <a:p/>
          <a:p>
            <a:r>
              <a:t>Use NVIDIA's actual scheduling figure rather than the previous two-SM/four-SM redraw. The colored blocks show assignments in one illustrative scheduling state. The source says each SM can have one or more active blocks and makes no promise about assignment order. An ordinary block cannot spin waiting for another block whose scheduling is not guaranteed.</a:t>
            </a:r>
          </a:p>
          <a:p/>
          <a:p>
            <a:r>
              <a:t>SOURCE AND ATTRIBUTION</a:t>
            </a:r>
          </a:p>
          <a:p>
            <a:r>
              <a:t>NVIDIA source edition: CUDA Programming Guide, Release 13.4.2, NVIDIA Corporation, 10 September 2026. Source of figure pixels: user-supplied cuda-programming-guide.pdf.</a:t>
            </a:r>
          </a:p>
          <a:p>
            <a:r>
              <a:t>NVIDIA Figure 4 · §1.2.2.1, pp. 7–8 / PDF pp. 25–26</a:t>
            </a:r>
          </a:p>
          <a:p>
            <a:r>
              <a:t>Figure 4: printed page 8; PDF page 26; embedded image xref 870; 807×1173 pixels.</a:t>
            </a:r>
          </a:p>
          <a:p>
            <a:r>
              <a:t>Image SHA-256: 05d96c154f594f659ed245eb94a8b5a16c15fb92f57ea09f21692fdcbeea88db</a:t>
            </a:r>
          </a:p>
          <a:p>
            <a:r>
              <a:t>Embedded image with PDF transparency mask restored; no redraw or recoloring.</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Grid, block and thread form a coordinate system</a:t>
            </a:r>
          </a:p>
          <a:p/>
          <a:p>
            <a:r>
              <a:t>The original grid illustration does not encode a particular launch size: the arrows are explicitly illustrative. Explain the four intrinsics using the text below, not by interpreting the number of arrows. Grid and block dimensions may be one, two or three dimensional. In the later 2D example, x is the fastest-changing thread coordinate, as described in §2.3.2.</a:t>
            </a:r>
          </a:p>
          <a:p/>
          <a:p>
            <a:r>
              <a:t>SOURCE AND ATTRIBUTION</a:t>
            </a:r>
          </a:p>
          <a:p>
            <a:r>
              <a:t>NVIDIA source edition: CUDA Programming Guide, Release 13.4.2, NVIDIA Corporation, 10 September 2026. Source of figure pixels: user-supplied cuda-programming-guide.pdf.</a:t>
            </a:r>
          </a:p>
          <a:p>
            <a:r>
              <a:t>NVIDIA Figure 3 · §1.2.2.1; index intrinsics: §2.1.2.3, pp. 23–24 / PDF pp. 41–42</a:t>
            </a:r>
          </a:p>
          <a:p>
            <a:r>
              <a:t>Figure 3: printed page 6; PDF page 24; embedded image xref 853; 3620×1720 pixels.</a:t>
            </a:r>
          </a:p>
          <a:p>
            <a:r>
              <a:t>Image SHA-256: 3d12755cf2edf428ae367c0ae1b5eba3c4d8618271ce54e628504fc1efe8b00f</a:t>
            </a:r>
          </a:p>
          <a:p>
            <a:r>
              <a:t>Embedded image with PDF transparency mask restored; no redraw or recoloring.</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warp has 32 lanes; branches change active lanes</a:t>
            </a:r>
          </a:p>
          <a:p/>
          <a:p>
            <a:r>
              <a:t>Walk through the unmodified NVIDIA illustration. Even-indexed lanes execute one branch while the other lanes are masked; the opposite lanes execute the other path. The guide calls this warp divergence. The figure does not establish synchronization between producers and consumers. Keep block synchronization explicit in later shared-memory examples, and do not infer hardware timing from a conceptual SIMT diagram.</a:t>
            </a:r>
          </a:p>
          <a:p/>
          <a:p>
            <a:r>
              <a:t>SOURCE AND ATTRIBUTION</a:t>
            </a:r>
          </a:p>
          <a:p>
            <a:r>
              <a:t>NVIDIA source edition: CUDA Programming Guide, Release 13.4.2, NVIDIA Corporation, 10 September 2026. Source of figure pixels: user-supplied cuda-programming-guide.pdf.</a:t>
            </a:r>
          </a:p>
          <a:p>
            <a:r>
              <a:t>NVIDIA Figure 7 · §1.2.2.2, pp. 9–11 / PDF pp. 27–29</a:t>
            </a:r>
          </a:p>
          <a:p>
            <a:r>
              <a:t>Figure 7: printed page 11; PDF page 29; embedded image xref 894; 5299×2475 pixels.</a:t>
            </a:r>
          </a:p>
          <a:p>
            <a:r>
              <a:t>Image SHA-256: d786513da6bd0fecbf55e859d2cab2cdcceda8e7fd71c3ca9a58eee700234486</a:t>
            </a:r>
          </a:p>
          <a:p>
            <a:r>
              <a:t>Embedded image with PDF transparency mask restored; no redraw or recoloring.</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1,000 elements do not fit exactly into 256-thread blocks</a:t>
            </a:r>
          </a:p>
          <a:p/>
          <a:p>
            <a:r>
              <a:t>This is editable calculation text, not a substituted diagram. Four blocks launch 1,024 threads. Indices 0 through 999 are valid; 1,000 through 1,023 must not access the arrays. Ask students to explain why i &lt; n is necessary. The companion implementation handles N = 0 without launching a zero-sized grid.</a:t>
            </a:r>
          </a:p>
          <a:p/>
          <a:p>
            <a:r>
              <a:t>SOURCE AND ATTRIBUTION</a:t>
            </a:r>
          </a:p>
          <a:p>
            <a:r>
              <a:t>NVIDIA source edition: CUDA Programming Guide, Release 13.4.2, NVIDIA Corporation, 10 September 2026. Source of figure pixels: user-supplied cuda-programming-guide.pdf.</a:t>
            </a:r>
          </a:p>
          <a:p>
            <a:r>
              <a:t>Course arithmetic derived from the index and ceiling-division pattern in §2.1.2.3, p. 24 / PDF p. 42</a:t>
            </a:r>
          </a:p>
          <a:p>
            <a:r>
              <a:t>No illustration on this slide: editable explanatory text/code only.</a:t>
            </a:r>
          </a:p>
          <a:p/>
          <a:p>
            <a:r>
              <a:t>COURSE / TOOLING REFERENCES (distinct from the PDF artwork)</a:t>
            </a:r>
          </a:p>
          <a:p>
            <a:r>
              <a:t>https://github.com/neudinger/formation/blob/main/projects/detailed/gpu/vector_add_device.cu</a:t>
            </a:r>
          </a:p>
          <a:p>
            <a:r>
              <a:t>https://github.com/neudinger/formation/blob/main/projects/detailed/gpu/vector_add_cuda.cc</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both the scope and the location of memory</a:t>
            </a:r>
          </a:p>
          <a:p/>
          <a:p>
            <a:r>
              <a:t>Summarize the source's memory categories using text, rather than recreating a hierarchy diagram. The guide's Table 1 distinguishes scope, lifetime and location. Shared memory is block-scoped for today's non-cluster labs; cluster-wide distributed shared memory is an explicitly separate feature. Local memory is thread-local by scope but resides in device memory. Register allocation and spilling are compiler-managed.</a:t>
            </a:r>
          </a:p>
          <a:p/>
          <a:p>
            <a:r>
              <a:t>SOURCE AND ATTRIBUTION</a:t>
            </a:r>
          </a:p>
          <a:p>
            <a:r>
              <a:t>NVIDIA source edition: CUDA Programming Guide, Release 13.4.2, NVIDIA Corporation, 10 September 2026. Source of figure pixels: user-supplied cuda-programming-guide.pdf.</a:t>
            </a:r>
          </a:p>
          <a:p>
            <a:r>
              <a:t>Guide §1.2.3 and §2.3.3, pp. 13–15 and 49–55 / PDF pp. 31–33 and 67–73</a:t>
            </a:r>
          </a:p>
          <a:p>
            <a:r>
              <a:t>No illustration on this slide: editable explanatory text/code only.</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 · Prove the environment and the reference</a:t>
            </a:r>
          </a:p>
          <a:p/>
          <a:p>
            <a:r>
              <a:t>These are the existing course commands, retained from the earlier deck. Do not claim the supplied NVIDIA PDF contains Bazel commands. Ask students to note their actual GPU and compiler/toolkit environment. Build and driver failures are environment problems, not intended exercise TODO failures.</a:t>
            </a:r>
          </a:p>
          <a:p/>
          <a:p>
            <a:r>
              <a:t>SOURCE AND ATTRIBUTION</a:t>
            </a:r>
          </a:p>
          <a:p>
            <a:r>
              <a:t>NVIDIA source edition: CUDA Programming Guide, Release 13.4.2, NVIDIA Corporation, 10 September 2026. Source of figure pixels: user-supplied cuda-programming-guide.pdf.</a:t>
            </a:r>
          </a:p>
          <a:p>
            <a:r>
              <a:t>Existing course targets · projects/detailed/runtime and cpp; guide §§1.2–1.3</a:t>
            </a:r>
          </a:p>
          <a:p>
            <a:r>
              <a:t>No illustration on this slide: editable explanatory text/code only.</a:t>
            </a:r>
          </a:p>
          <a:p/>
          <a:p>
            <a:r>
              <a:t>COURSE / TOOLING REFERENCES (distinct from the PDF artwork)</a:t>
            </a:r>
          </a:p>
          <a:p>
            <a:r>
              <a:t>https://github.com/neudinger/formation/blob/main/projects/detailed/README.md</a:t>
            </a:r>
          </a:p>
          <a:p>
            <a:r>
              <a:t>https://github.com/neudinger/formation/blob/main/tp/README.md</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a first CUDA feature</a:t>
            </a:r>
          </a:p>
          <a:p/>
          <a:p>
            <a:r>
              <a:t>Section transition: A CPU oracle, a small kernel,</a:t>
            </a:r>
          </a:p>
          <a:p>
            <a:r>
              <a:t>and an explicit host workflow.</a:t>
            </a:r>
          </a:p>
          <a:p/>
          <a:p>
            <a:r>
              <a:t>SOURCE AND ATTRIBUTION</a:t>
            </a:r>
          </a:p>
          <a:p>
            <a:r>
              <a:t>NVIDIA source edition: CUDA Programming Guide, Release 13.4.2, NVIDIA Corporation, 10 September 2026. Source of figure pixels: user-supplied cuda-programming-guide.pdf.</a:t>
            </a:r>
          </a:p>
          <a:p>
            <a:r>
              <a:t>NVIDIA Figure 3 · §1.2.2.1, p. 6 / PDF p. 24; C++ implementation concepts: §2.1</a:t>
            </a:r>
          </a:p>
          <a:p>
            <a:r>
              <a:t>Figure 3: printed page 6; PDF page 24; embedded image xref 853; 3620×1720 pixels.</a:t>
            </a:r>
          </a:p>
          <a:p>
            <a:r>
              <a:t>Image SHA-256: 3d12755cf2edf428ae367c0ae1b5eba3c4d8618271ce54e628504fc1efe8b00f</a:t>
            </a:r>
          </a:p>
          <a:p>
            <a:r>
              <a:t>Embedded image with PDF transparency mask restored; no redraw or recoloring.</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a contract that can be checked by hand</a:t>
            </a:r>
          </a:p>
          <a:p/>
          <a:p>
            <a:r>
              <a:t>The course operation is SAXPY-style scaled addition, not the guide's plain vector addition except when alpha = 1. Keep that distinction explicit. This excerpt and the numerical example are retained course material, not a quote from NVIDIA. The reference function should validate sizes and produce an output used to check the full GPU result.</a:t>
            </a:r>
          </a:p>
          <a:p/>
          <a:p>
            <a:r>
              <a:t>SOURCE AND ATTRIBUTION</a:t>
            </a:r>
          </a:p>
          <a:p>
            <a:r>
              <a:t>NVIDIA source edition: CUDA Programming Guide, Release 13.4.2, NVIDIA Corporation, 10 September 2026. Source of figure pixels: user-supplied cuda-programming-guide.pdf.</a:t>
            </a:r>
          </a:p>
          <a:p>
            <a:r>
              <a:t>Course SAXPY implementation; guide §2.1.5 illustrates the CPU/GPU comparison pattern.</a:t>
            </a:r>
          </a:p>
          <a:p>
            <a:r>
              <a:t>No illustration on this slide: editable explanatory text/code only.</a:t>
            </a:r>
          </a:p>
          <a:p/>
          <a:p>
            <a:r>
              <a:t>COURSE / TOOLING REFERENCES (distinct from the PDF artwork)</a:t>
            </a:r>
          </a:p>
          <a:p>
            <a:r>
              <a:t>https://github.com/neudinger/formation/blob/main/projects/detailed/cpp/vector_cpu.cc</a:t>
            </a:r>
          </a:p>
          <a:p>
            <a:r>
              <a:t>https://github.com/neudinger/formation/blob/main/projects/detailed/gpu/vector_add_device.cu</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device kernel assigns one result to one thread</a:t>
            </a:r>
          </a:p>
          <a:p/>
          <a:p>
            <a:r>
              <a:t>This is the original repository kernel with presentation formatting. The __global__ declaration marks a kernel entry point; the launch executes that body for each thread. The expression selects an output element, and the bounds check protects the tail. No block barrier is needed for this kernel because valid threads write distinct elements. Pointer validity and sufficient allocation remain host-side responsibilities.</a:t>
            </a:r>
          </a:p>
          <a:p/>
          <a:p>
            <a:r>
              <a:t>SOURCE AND ATTRIBUTION</a:t>
            </a:r>
          </a:p>
          <a:p>
            <a:r>
              <a:t>NVIDIA source edition: CUDA Programming Guide, Release 13.4.2, NVIDIA Corporation, 10 September 2026. Source of figure pixels: user-supplied cuda-programming-guide.pdf.</a:t>
            </a:r>
          </a:p>
          <a:p>
            <a:r>
              <a:t>Course repository: gpu/vector_add_device.cu; guide §2.1.2, pp. 21–25 / PDF pp. 39–43</a:t>
            </a:r>
          </a:p>
          <a:p>
            <a:r>
              <a:t>No illustration on this slide: editable explanatory text/code only.</a:t>
            </a:r>
          </a:p>
          <a:p/>
          <a:p>
            <a:r>
              <a:t>COURSE / TOOLING REFERENCES (distinct from the PDF artwork)</a:t>
            </a:r>
          </a:p>
          <a:p>
            <a:r>
              <a:t>https://github.com/neudinger/formation/blob/main/projects/detailed/gpu/vector_add_device.cu</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index as “block offset + local offset”</a:t>
            </a:r>
          </a:p>
          <a:p/>
          <a:p>
            <a:r>
              <a:t>Ask students to calculate the global index before displaying the result. For blockIdx.x = 2, blockDim.x = 256 and threadIdx.x = 13 the index is 525. For block 3 and local thread 231 it is 999, the last valid index when N = 1000. NVIDIA Figure 3 remains an illustrative grid; its arrows are not the number of threads used in this arithmetic.</a:t>
            </a:r>
          </a:p>
          <a:p/>
          <a:p>
            <a:r>
              <a:t>SOURCE AND ATTRIBUTION</a:t>
            </a:r>
          </a:p>
          <a:p>
            <a:r>
              <a:t>NVIDIA source edition: CUDA Programming Guide, Release 13.4.2, NVIDIA Corporation, 10 September 2026. Source of figure pixels: user-supplied cuda-programming-guide.pdf.</a:t>
            </a:r>
          </a:p>
          <a:p>
            <a:r>
              <a:t>Worked course example derived from §2.1.2.3, pp. 23–24 / PDF pp. 41–42</a:t>
            </a:r>
          </a:p>
          <a:p>
            <a:r>
              <a:t>Figure 3: printed page 6; PDF page 24; embedded image xref 853; 3620×1720 pixels.</a:t>
            </a:r>
          </a:p>
          <a:p>
            <a:r>
              <a:t>Image SHA-256: 3d12755cf2edf428ae367c0ae1b5eba3c4d8618271ce54e628504fc1efe8b00f</a:t>
            </a:r>
          </a:p>
          <a:p>
            <a:r>
              <a:t>Embedded image with PDF transparency mask restored; no redraw or recoloring.</a:t>
            </a:r>
          </a:p>
          <a:p/>
          <a:p>
            <a:r>
              <a:t>COURSE / TOOLING REFERENCES (distinct from the PDF artwork)</a:t>
            </a:r>
          </a:p>
          <a:p>
            <a:r>
              <a:t>https://github.com/neudinger/formation/blob/main/projects/detailed/gpu/vector_add_device.cu</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launch specifies the grid, the block and the stream</a:t>
            </a:r>
          </a:p>
          <a:p/>
          <a:p>
            <a:r>
              <a:t>The first argument is grid shape and the second is block shape. The third is the number of dynamic shared-memory bytes per block; the value 0 does not mean static shared memory is impossible. The fourth identifies the stream. The repository uses 256 threads per block. For positive sizes, ceiling division selects enough blocks; do not generalize the illustrative arithmetic to unchecked integer extremes.</a:t>
            </a:r>
          </a:p>
          <a:p/>
          <a:p>
            <a:r>
              <a:t>SOURCE AND ATTRIBUTION</a:t>
            </a:r>
          </a:p>
          <a:p>
            <a:r>
              <a:t>NVIDIA source edition: CUDA Programming Guide, Release 13.4.2, NVIDIA Corporation, 10 September 2026. Source of figure pixels: user-supplied cuda-programming-guide.pdf.</a:t>
            </a:r>
          </a:p>
          <a:p>
            <a:r>
              <a:t>Guide §2.1.2.2, §2.3.3.2.2 and §2.5.2.2; course launch expression</a:t>
            </a:r>
          </a:p>
          <a:p>
            <a:r>
              <a:t>No illustration on this slide: editable explanatory text/code only.</a:t>
            </a:r>
          </a:p>
          <a:p/>
          <a:p>
            <a:r>
              <a:t>COURSE / TOOLING REFERENCES (distinct from the PDF artwork)</a:t>
            </a:r>
          </a:p>
          <a:p>
            <a:r>
              <a:t>https://github.com/neudinger/formation/blob/main/projects/detailed/gpu/vector_add_device.cu</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kernel is one step in a complete operation</a:t>
            </a:r>
          </a:p>
          <a:p/>
          <a:p>
            <a:r>
              <a:t>Keep the source diagram unchanged and describe the wrapper with text. The repository validates inputs, allocates three device buffers, copies the inputs, launches the kernel, copies the result, and synchronizes before returning. Creating the stream and device buffers happens on each call. End-to-end timing therefore measures more than device computation.</a:t>
            </a:r>
          </a:p>
          <a:p/>
          <a:p>
            <a:r>
              <a:t>SOURCE AND ATTRIBUTION</a:t>
            </a:r>
          </a:p>
          <a:p>
            <a:r>
              <a:t>NVIDIA source edition: CUDA Programming Guide, Release 13.4.2, NVIDIA Corporation, 10 September 2026. Source of figure pixels: user-supplied cuda-programming-guide.pdf.</a:t>
            </a:r>
          </a:p>
          <a:p>
            <a:r>
              <a:t>Course host wrapper: gpu/vector_add_cuda.cc; NVIDIA Figure 2, p. 6 / PDF p. 24</a:t>
            </a:r>
          </a:p>
          <a:p>
            <a:r>
              <a:t>Figure 2: printed page 6; PDF page 24; embedded image xref 851; 5360×5435 pixels.</a:t>
            </a:r>
          </a:p>
          <a:p>
            <a:r>
              <a:t>Image SHA-256: aa9c3f35405463c71f034218aece33d4fe0f28e4c4c3807e1a8ed86745418d0a</a:t>
            </a:r>
          </a:p>
          <a:p>
            <a:r>
              <a:t>Embedded image with PDF transparency mask restored; no redraw or recoloring.</a:t>
            </a:r>
          </a:p>
          <a:p/>
          <a:p>
            <a:r>
              <a:t>COURSE / TOOLING REFERENCES (distinct from the PDF artwork)</a:t>
            </a:r>
          </a:p>
          <a:p>
            <a:r>
              <a:t>https://github.com/neudinger/formation/blob/main/projects/detailed/gpu/vector_add_cuda.cc</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explicit stream gives an ordered baseline</a:t>
            </a:r>
          </a:p>
          <a:p/>
          <a:p>
            <a:r>
              <a:t>All operations shown are submitted in one stream. The host waits for that stream before consuming the result. The course wrapper uses ordinary vector-backed host storage, so its use of cudaMemcpyAsync alone is not an overlap demonstration. Day 2 adds explicit discussion of pinned host buffers, independent chunks and timeline evidence. This slide intentionally uses text and code rather than a redrawn stream timeline.</a:t>
            </a:r>
          </a:p>
          <a:p/>
          <a:p>
            <a:r>
              <a:t>SOURCE AND ATTRIBUTION</a:t>
            </a:r>
          </a:p>
          <a:p>
            <a:r>
              <a:t>NVIDIA source edition: CUDA Programming Guide, Release 13.4.2, NVIDIA Corporation, 10 September 2026. Source of figure pixels: user-supplied cuda-programming-guide.pdf.</a:t>
            </a:r>
          </a:p>
          <a:p>
            <a:r>
              <a:t>Course wrapper; guide §2.5.2 and §2.5.5, pp. 105–106 and 114 / PDF pp. 123–124 and 132</a:t>
            </a:r>
          </a:p>
          <a:p>
            <a:r>
              <a:t>No illustration on this slide: editable explanatory text/code only.</a:t>
            </a:r>
          </a:p>
          <a:p/>
          <a:p>
            <a:r>
              <a:t>COURSE / TOOLING REFERENCES (distinct from the PDF artwork)</a:t>
            </a:r>
          </a:p>
          <a:p>
            <a:r>
              <a:t>https://github.com/neudinger/formation/blob/main/projects/detailed/gpu/vector_add_cuda.cc</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Resource lifetime is part of correctness</a:t>
            </a:r>
          </a:p>
          <a:p/>
          <a:p>
            <a:r>
              <a:t>RAII is part of the course engineering implementation, not an illustration copied from the NVIDIA guide. Retain the simple synchronous-return contract for this first feature. In the repository code, resource-owning wrappers clean up streams and device allocations. Later asynchronous APIs need an explicit lifetime contract: callers must not recycle storage still needed by submitted work.</a:t>
            </a:r>
          </a:p>
          <a:p/>
          <a:p>
            <a:r>
              <a:t>SOURCE AND ATTRIBUTION</a:t>
            </a:r>
          </a:p>
          <a:p>
            <a:r>
              <a:t>NVIDIA source edition: CUDA Programming Guide, Release 13.4.2, NVIDIA Corporation, 10 September 2026. Source of figure pixels: user-supplied cuda-programming-guide.pdf.</a:t>
            </a:r>
          </a:p>
          <a:p>
            <a:r>
              <a:t>Course DeviceBuffer and Stream wrappers; guide §2.1.3–2.1.4</a:t>
            </a:r>
          </a:p>
          <a:p>
            <a:r>
              <a:t>No illustration on this slide: editable explanatory text/code only.</a:t>
            </a:r>
          </a:p>
          <a:p/>
          <a:p>
            <a:r>
              <a:t>COURSE / TOOLING REFERENCES (distinct from the PDF artwork)</a:t>
            </a:r>
          </a:p>
          <a:p>
            <a:r>
              <a:t>https://github.com/neudinger/formation/blob/main/projects/detailed/gpu/vector_add_cuda.cc</a:t>
            </a:r>
          </a:p>
          <a:p>
            <a:r>
              <a:t>https://github.com/neudinger/formation/blob/main/projects/detailed/runtime/cuda_launch.h</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layers keep the feature understandable</a:t>
            </a:r>
          </a:p>
          <a:p/>
          <a:p>
            <a:r>
              <a:t>This native text table preserves the original repository navigation. It is course-specific, not part of the Programming Guide. Public API, host workflow, device computation and evidence are separate responsibilities. Open BUILD.bazel only after students can explain that separation. The build graph controls compilation dependencies, not the scheduling of CUDA thread blocks.</a:t>
            </a:r>
          </a:p>
          <a:p/>
          <a:p>
            <a:r>
              <a:t>SOURCE AND ATTRIBUTION</a:t>
            </a:r>
          </a:p>
          <a:p>
            <a:r>
              <a:t>NVIDIA source edition: CUDA Programming Guide, Release 13.4.2, NVIDIA Corporation, 10 September 2026. Source of figure pixels: user-supplied cuda-programming-guide.pdf.</a:t>
            </a:r>
          </a:p>
          <a:p>
            <a:r>
              <a:t>Existing Day 1 course map: projects/detailed/gpu; not an NVIDIA repository diagram.</a:t>
            </a:r>
          </a:p>
          <a:p>
            <a:r>
              <a:t>No illustration on this slide: editable explanatory text/code only.</a:t>
            </a:r>
          </a:p>
          <a:p/>
          <a:p>
            <a:r>
              <a:t>COURSE / TOOLING REFERENCES (distinct from the PDF artwork)</a:t>
            </a:r>
          </a:p>
          <a:p>
            <a:r>
              <a:t>https://github.com/neudinger/formation/blob/main/projects/detailed/gpu/BUILD.bazel</a:t>
            </a:r>
          </a:p>
          <a:p>
            <a:r>
              <a:t>https://github.com/neudinger/formation/blob/main/followup/presentation-1-followup.md</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the boundaries—not only a convenient power of two</a:t>
            </a:r>
          </a:p>
          <a:p/>
          <a:p>
            <a:r>
              <a:t>These are workshop additions, not a claim that the existing upstream test suite already contains them. Include empty input, near-block-boundary sizes and a non-aligned larger size. Check size mismatch handling and use signed/non-integer data. Select the numerical tolerance based on the operation and data; do not present one fixed tolerance as universal.</a:t>
            </a:r>
          </a:p>
          <a:p/>
          <a:p>
            <a:r>
              <a:t>SOURCE AND ATTRIBUTION</a:t>
            </a:r>
          </a:p>
          <a:p>
            <a:r>
              <a:t>NVIDIA source edition: CUDA Programming Guide, Release 13.4.2, NVIDIA Corporation, 10 September 2026. Source of figure pixels: user-supplied cuda-programming-guide.pdf.</a:t>
            </a:r>
          </a:p>
          <a:p>
            <a:r>
              <a:t>Course test additions; guide bounds checking §2.1.2.3.1 and CPU comparison §2.1.5</a:t>
            </a:r>
          </a:p>
          <a:p>
            <a:r>
              <a:t>No illustration on this slide: editable explanatory text/code only.</a:t>
            </a:r>
          </a:p>
          <a:p/>
          <a:p>
            <a:r>
              <a:t>COURSE / TOOLING REFERENCES (distinct from the PDF artwork)</a:t>
            </a:r>
          </a:p>
          <a:p>
            <a:r>
              <a:t>https://github.com/neudinger/formation/blob/main/projects/detailed/gpu/vector_add_test.cc</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launch submission and execution separately</a:t>
            </a:r>
          </a:p>
          <a:p/>
          <a:p>
            <a:r>
              <a:t>The guide distinguishes launch-error state checks from completion checks. A successful cudaGetLastError immediately after launch does not show that execution has completed. The sanitizer commands below are retained course tooling material, not commands reproduced from this PDF. Run diagnostics separately from performance collection and check tool availability in the trainer preflight.</a:t>
            </a:r>
          </a:p>
          <a:p/>
          <a:p>
            <a:r>
              <a:t>SOURCE AND ATTRIBUTION</a:t>
            </a:r>
          </a:p>
          <a:p>
            <a:r>
              <a:t>NVIDIA source edition: CUDA Programming Guide, Release 13.4.2, NVIDIA Corporation, 10 September 2026. Source of figure pixels: user-supplied cuda-programming-guide.pdf.</a:t>
            </a:r>
          </a:p>
          <a:p>
            <a:r>
              <a:t>Guide §2.1.7.1–2.1.7.2, pp. 35–36 / PDF pp. 53–54; existing diagnostic commands retained.</a:t>
            </a:r>
          </a:p>
          <a:p>
            <a:r>
              <a:t>No illustration on this slide: editable explanatory text/code only.</a:t>
            </a:r>
          </a:p>
          <a:p/>
          <a:p>
            <a:r>
              <a:t>COURSE / TOOLING REFERENCES (distinct from the PDF artwork)</a:t>
            </a:r>
          </a:p>
          <a:p>
            <a:r>
              <a:t>https://docs.nvidia.com/compute-sanitizer/ComputeSanitizer/index.html</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2 · Implement, test, then explain the first kernel</a:t>
            </a:r>
          </a:p>
          <a:p/>
          <a:p>
            <a:r>
              <a:t>This starter is a separate Bazel module. The intended failures are the exercise TODOs, not missing device or build-tool failures. Require students to connect input preparation, the kernel index, the output write and host completion. The reference solution should be opened during debrief, not before the implementation attempt.</a:t>
            </a:r>
          </a:p>
          <a:p/>
          <a:p>
            <a:r>
              <a:t>SOURCE AND ATTRIBUTION</a:t>
            </a:r>
          </a:p>
          <a:p>
            <a:r>
              <a:t>NVIDIA source edition: CUDA Programming Guide, Release 13.4.2, NVIDIA Corporation, 10 September 2026. Source of figure pixels: user-supplied cuda-programming-guide.pdf.</a:t>
            </a:r>
          </a:p>
          <a:p>
            <a:r>
              <a:t>Existing exercise module; guide §2.1 supplies the CUDA concepts, not the Bazel target names.</a:t>
            </a:r>
          </a:p>
          <a:p>
            <a:r>
              <a:t>No illustration on this slide: editable explanatory text/code only.</a:t>
            </a:r>
          </a:p>
          <a:p/>
          <a:p>
            <a:r>
              <a:t>COURSE / TOOLING REFERENCES (distinct from the PDF artwork)</a:t>
            </a:r>
          </a:p>
          <a:p>
            <a:r>
              <a:t>https://github.com/neudinger/formation/blob/main/tp/README.md</a:t>
            </a:r>
          </a:p>
          <a:p>
            <a:r>
              <a:t>https://github.com/neudinger/formation/blob/main/tp/day1/ex04_cuda_vector_add/README.md</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launch styles. One algorithm.</a:t>
            </a:r>
          </a:p>
          <a:p/>
          <a:p>
            <a:r>
              <a:t>The two expressions select the same repository kernel. cudaLaunchKernel is a Runtime API function, not the similarly named Driver API function. This is a repository-specific comparison: the supplied guide introduces triple-chevron syntax and the newer cudaLaunchKernelEx path in its teaching sequence. Retain this slide as a short demonstration, not a claim that syntax alone determines performance.</a:t>
            </a:r>
          </a:p>
          <a:p/>
          <a:p>
            <a:r>
              <a:t>SOURCE AND ATTRIBUTION</a:t>
            </a:r>
          </a:p>
          <a:p>
            <a:r>
              <a:t>NVIDIA source edition: CUDA Programming Guide, Release 13.4.2, NVIDIA Corporation, 10 September 2026. Source of figure pixels: user-supplied cuda-programming-guide.pdf.</a:t>
            </a:r>
          </a:p>
          <a:p>
            <a:r>
              <a:t>Course: gpu/vector_add_device.cu and vector_launch_benchmark.cc</a:t>
            </a:r>
          </a:p>
          <a:p>
            <a:r>
              <a:t>No illustration on this slide: editable explanatory text/code only.</a:t>
            </a:r>
          </a:p>
          <a:p/>
          <a:p>
            <a:r>
              <a:t>COURSE / TOOLING REFERENCES (distinct from the PDF artwork)</a:t>
            </a:r>
          </a:p>
          <a:p>
            <a:r>
              <a:t>https://github.com/neudinger/formation/blob/main/projects/detailed/gpu/vector_add_device.cu</a:t>
            </a:r>
          </a:p>
          <a:p>
            <a:r>
              <a:t>https://github.com/neudinger/formation/blob/main/projects/detailed/gpu/vector_launch_benchmark.cc</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memory access visible</a:t>
            </a:r>
          </a:p>
          <a:p/>
          <a:p>
            <a:r>
              <a:t>Transition from independent correctness to the access pattern of a whole warp. This section uses only the guide's original coalescing, transpose and shared-memory-bank figures. Their numerical examples are explanations of access patterns, not new benchmark results. These figures come from the SIMT chapter rather than Part 1 because the retained Day 1 memory labs require those topics.</a:t>
            </a:r>
          </a:p>
          <a:p/>
          <a:p>
            <a:r>
              <a:t>SOURCE AND ATTRIBUTION</a:t>
            </a:r>
          </a:p>
          <a:p>
            <a:r>
              <a:t>NVIDIA source edition: CUDA Programming Guide, Release 13.4.2, NVIDIA Corporation, 10 September 2026. Source of figure pixels: user-supplied cuda-programming-guide.pdf.</a:t>
            </a:r>
          </a:p>
          <a:p>
            <a:r>
              <a:t>NVIDIA Figure 12 · §2.3.4.1, p. 59 / PDF p. 77</a:t>
            </a:r>
          </a:p>
          <a:p>
            <a:r>
              <a:t>Figure 12: printed page 59; PDF page 77; embedded image xref 1199; 2028×414 pixels.</a:t>
            </a:r>
          </a:p>
          <a:p>
            <a:r>
              <a:t>Image SHA-256: d0fee1460b32304c3713bf111477c23f88691d01097626374c4fd2f882bc8694</a:t>
            </a:r>
          </a:p>
          <a:p>
            <a:r>
              <a:t>Embedded image with PDF transparency mask restored; no redraw or recoloring.</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row-major matrices, x follows the column index</a:t>
            </a:r>
          </a:p>
          <a:p/>
          <a:p>
            <a:r>
              <a:t>The code is the retained rectangular course mapping. In the guide's naive transpose example, x changes the column and adjacent threadIdx.x values read neighboring row-major elements. The source figure uses a square matrix; the course lab extends the contract to rectangular shapes. The layout expression, rather than the fact that a launch is 2D, establishes the access pattern.</a:t>
            </a:r>
          </a:p>
          <a:p/>
          <a:p>
            <a:r>
              <a:t>SOURCE AND ATTRIBUTION</a:t>
            </a:r>
          </a:p>
          <a:p>
            <a:r>
              <a:t>NVIDIA source edition: CUDA Programming Guide, Release 13.4.2, NVIDIA Corporation, 10 September 2026. Source of figure pixels: user-supplied cuda-programming-guide.pdf.</a:t>
            </a:r>
          </a:p>
          <a:p>
            <a:r>
              <a:t>Guide §2.3.2 and §2.3.4.1.1, pp. 48 and 60–62 / PDF pp. 66 and 78–80</a:t>
            </a:r>
          </a:p>
          <a:p>
            <a:r>
              <a:t>Figure 14: printed page 61; PDF page 79; embedded image xref 1211; 1228×523 pixels.</a:t>
            </a:r>
          </a:p>
          <a:p>
            <a:r>
              <a:t>Image SHA-256: 225a5ad91f0892ba7e0cab87b6f745513a9b12eefc4ca9b9373109c3311e8399</a:t>
            </a:r>
          </a:p>
          <a:p>
            <a:r>
              <a:t>Embedded image with PDF transparency mask restored; no redraw or recoloring.</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Coalescing combines addresses requested by a warp</a:t>
            </a:r>
          </a:p>
          <a:p/>
          <a:p>
            <a:r>
              <a:t>Use the guide's original coalesced-memory image unchanged. In its aligned example, 32 threads each request one four-byte word. The 128 useful bytes fit into four 32-byte transactions. Emphasize the stated example conditions and distinguish the transaction accounting from measured DRAM traffic or elapsed application time.</a:t>
            </a:r>
          </a:p>
          <a:p/>
          <a:p>
            <a:r>
              <a:t>SOURCE AND ATTRIBUTION</a:t>
            </a:r>
          </a:p>
          <a:p>
            <a:r>
              <a:t>NVIDIA source edition: CUDA Programming Guide, Release 13.4.2, NVIDIA Corporation, 10 September 2026. Source of figure pixels: user-supplied cuda-programming-guide.pdf.</a:t>
            </a:r>
          </a:p>
          <a:p>
            <a:r>
              <a:t>NVIDIA Figure 12 · §2.3.4.1, p. 59 / PDF p. 77</a:t>
            </a:r>
          </a:p>
          <a:p>
            <a:r>
              <a:t>Figure 12: printed page 59; PDF page 77; embedded image xref 1199; 2028×414 pixels.</a:t>
            </a:r>
          </a:p>
          <a:p>
            <a:r>
              <a:t>Image SHA-256: d0fee1460b32304c3713bf111477c23f88691d01097626374c4fd2f882bc8694</a:t>
            </a:r>
          </a:p>
          <a:p>
            <a:r>
              <a:t>Embedded image with PDF transparency mask restored; no redraw or recoloring.</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Scattered addresses can waste most transferred bytes</a:t>
            </a:r>
          </a:p>
          <a:p/>
          <a:p>
            <a:r>
              <a:t>This replaces the previous authored stride bar chart with NVIDIA Figure 13, extracted from the PDF. The guide's worst-case example has 32 threads requesting four-byte values whose addresses lie in separate 32-byte segments. The accounting is 32 × 32 = 1024 transaction bytes for 128 useful bytes, giving 12.5% utilization in the example. It is not a measured performance percentage, nor a claimed 8× application slowdown.</a:t>
            </a:r>
          </a:p>
          <a:p/>
          <a:p>
            <a:r>
              <a:t>SOURCE AND ATTRIBUTION</a:t>
            </a:r>
          </a:p>
          <a:p>
            <a:r>
              <a:t>NVIDIA source edition: CUDA Programming Guide, Release 13.4.2, NVIDIA Corporation, 10 September 2026. Source of figure pixels: user-supplied cuda-programming-guide.pdf.</a:t>
            </a:r>
          </a:p>
          <a:p>
            <a:r>
              <a:t>NVIDIA Figure 13 · §2.3.4.1, p. 59 / PDF p. 77; original custom chart removed.</a:t>
            </a:r>
          </a:p>
          <a:p>
            <a:r>
              <a:t>Figure 13: printed page 59; PDF page 77; embedded image xref 1202; 2028×390 pixels.</a:t>
            </a:r>
          </a:p>
          <a:p>
            <a:r>
              <a:t>Image SHA-256: 4d849e39b6a73ab24370d19d7ce8b35303c02730298ecb6429049d30bee277e3</a:t>
            </a:r>
          </a:p>
          <a:p>
            <a:r>
              <a:t>Embedded image with PDF transparency mask restored; no redraw or recoloring.</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Transpose moves values to different coordinates</a:t>
            </a:r>
          </a:p>
          <a:p/>
          <a:p>
            <a:r>
              <a:t>The square-matrix picture is the original Figure 14. Do not replace its matrices with the old handcrafted 4×6 example. Explain the mapping A[row, col] to B[col, row]. In the rectangular companion lab, the output has cols rows and rows columns, so its leading dimension changes. The visible guide picture remains explicitly a square example.</a:t>
            </a:r>
          </a:p>
          <a:p/>
          <a:p>
            <a:r>
              <a:t>SOURCE AND ATTRIBUTION</a:t>
            </a:r>
          </a:p>
          <a:p>
            <a:r>
              <a:t>NVIDIA source edition: CUDA Programming Guide, Release 13.4.2, NVIDIA Corporation, 10 September 2026. Source of figure pixels: user-supplied cuda-programming-guide.pdf.</a:t>
            </a:r>
          </a:p>
          <a:p>
            <a:r>
              <a:t>NVIDIA Figure 14 · §2.3.4.1.1, pp. 60–61 / PDF pp. 78–79</a:t>
            </a:r>
          </a:p>
          <a:p>
            <a:r>
              <a:t>Figure 14: printed page 61; PDF page 79; embedded image xref 1211; 1228×523 pixels.</a:t>
            </a:r>
          </a:p>
          <a:p>
            <a:r>
              <a:t>Image SHA-256: 225a5ad91f0892ba7e0cab87b6f745513a9b12eefc4ca9b9373109c3311e8399</a:t>
            </a:r>
          </a:p>
          <a:p>
            <a:r>
              <a:t>Embedded image with PDF transparency mask restored; no redraw or recoloring.</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naive transpose has easy loads and strided stores</a:t>
            </a:r>
          </a:p>
          <a:p/>
          <a:p>
            <a:r>
              <a:t>This is the existing companion kernel excerpt, not a verbatim transcription of the guide's square-matrix code. It retains row-major storage on both sides and protects arbitrary positive rectangular extents. Neighboring x values load adjacent input elements but write output addresses rows elements apart. Learners should verify indexing first and measure separately; no speedup is assumed.</a:t>
            </a:r>
          </a:p>
          <a:p/>
          <a:p>
            <a:r>
              <a:t>SOURCE AND ATTRIBUTION</a:t>
            </a:r>
          </a:p>
          <a:p>
            <a:r>
              <a:t>NVIDIA source edition: CUDA Programming Guide, Release 13.4.2, NVIDIA Corporation, 10 September 2026. Source of figure pixels: user-supplied cuda-programming-guide.pdf.</a:t>
            </a:r>
          </a:p>
          <a:p>
            <a:r>
              <a:t>Course rectangular extension; concept: guide §2.3.4.1.1, pp. 60–62 / PDF pp. 78–80</a:t>
            </a:r>
          </a:p>
          <a:p>
            <a:r>
              <a:t>No illustration on this slide: editable explanatory text/code only.</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Shared memory lets threads exchange staged data</a:t>
            </a:r>
          </a:p>
          <a:p/>
          <a:p>
            <a:r>
              <a:t>The prior hand-drawn tile-transfer diagram is replaced with explicit code and explanation, not a new illustration. These three statements are a conceptual course excerpt; ellipses intentionally omit coordinate calculations and boundary guards. The actual rectangular implementation is in slide 50 and the existing lab pack. Its 32×8 thread block processes a 32×32 tile, unlike the guide's 32×32-thread square example. The source example changes indexing convention across listings, so do not mix pieces from it without reviewing the full layout contract.</a:t>
            </a:r>
          </a:p>
          <a:p/>
          <a:p>
            <a:r>
              <a:t>SOURCE AND ATTRIBUTION</a:t>
            </a:r>
          </a:p>
          <a:p>
            <a:r>
              <a:t>NVIDIA source edition: CUDA Programming Guide, Release 13.4.2, NVIDIA Corporation, 10 September 2026. Source of figure pixels: user-supplied cuda-programming-guide.pdf.</a:t>
            </a:r>
          </a:p>
          <a:p>
            <a:r>
              <a:t>Concept: guide §2.3.4.2.1, pp. 65–67 / PDF pp. 83–85; course pattern below.</a:t>
            </a:r>
          </a:p>
          <a:p>
            <a:r>
              <a:t>No illustration on this slide: editable explanatory text/code only.</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Guard the data access, not a block-wide barrier</a:t>
            </a:r>
          </a:p>
          <a:p/>
          <a:p>
            <a:r>
              <a:t>These are simplified course patterns retained from the first deck. The unsafe example places the barrier under a condition that differs among participating threads of a partial block. The safe pattern supplies the additive identity for missing elements, reaches the barrier uniformly, and guards the output. Students must reason about which threads are participating and which values peers can read. This lesson is about the structure of the lab kernel, not a comprehensive account of every synchronization primitive.</a:t>
            </a:r>
          </a:p>
          <a:p/>
          <a:p>
            <a:r>
              <a:t>SOURCE AND ATTRIBUTION</a:t>
            </a:r>
          </a:p>
          <a:p>
            <a:r>
              <a:t>NVIDIA source edition: CUDA Programming Guide, Release 13.4.2, NVIDIA Corporation, 10 September 2026. Source of figure pixels: user-supplied cuda-programming-guide.pdf.</a:t>
            </a:r>
          </a:p>
          <a:p>
            <a:r>
              <a:t>Guide block synchronization: §§2.1.5 and 2.3.3.2; course patterns shown.</a:t>
            </a:r>
          </a:p>
          <a:p>
            <a:r>
              <a:t>No illustration on this slide: editable explanatory text/code only.</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padding column changes the bank mapping</a:t>
            </a:r>
          </a:p>
          <a:p/>
          <a:p>
            <a:r>
              <a:t>Both panels are original NVIDIA figures, not reconstructed arrays. Figure 17 shows the bank mapping for a 32×32 shared array; Figure 18 shows 32×33. The figures color the banks and label warp indices. Under the guide's 32-bit-word and 32-bank assumptions, padding removes the column-access bank conflict in this pattern. Padding is internal storage, not another input or output column. The companion uses a 32×8 block and loops over the tile, so its thread-to-value mapping is an explicit course extension.</a:t>
            </a:r>
          </a:p>
          <a:p/>
          <a:p>
            <a:r>
              <a:t>SOURCE AND ATTRIBUTION</a:t>
            </a:r>
          </a:p>
          <a:p>
            <a:r>
              <a:t>NVIDIA source edition: CUDA Programming Guide, Release 13.4.2, NVIDIA Corporation, 10 September 2026. Source of figure pixels: user-supplied cuda-programming-guide.pdf.</a:t>
            </a:r>
          </a:p>
          <a:p>
            <a:r>
              <a:t>NVIDIA Figures 17–18 · §2.3.4.2.2, pp. 68–70 / PDF pp. 86–88</a:t>
            </a:r>
          </a:p>
          <a:p>
            <a:r>
              <a:t>Figure 17: printed page 68; PDF page 86; embedded image xref 1246; 923×453 pixels.</a:t>
            </a:r>
          </a:p>
          <a:p>
            <a:r>
              <a:t>Image SHA-256: 340047c1776e5889ce3315d3abcfba24e33bf5a20352bfbc96ced6e9b40e6ae1</a:t>
            </a:r>
          </a:p>
          <a:p>
            <a:r>
              <a:t>Embedded image with PDF transparency mask restored; no redraw or recoloring.</a:t>
            </a:r>
          </a:p>
          <a:p>
            <a:r>
              <a:t>Figure 18: printed page 70; PDF page 88; embedded image xref 1260; 1061×454 pixels.</a:t>
            </a:r>
          </a:p>
          <a:p>
            <a:r>
              <a:t>Image SHA-256: 052595148967cecb839716d8b9b46778ac60333fc0c37924e170ca4e6680639b</a:t>
            </a:r>
          </a:p>
          <a:p>
            <a:r>
              <a:t>Embedded image with PDF transparency mask restored; no redraw or recoloring.</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Resource use limits the number of active warps</a:t>
            </a:r>
          </a:p>
          <a:p/>
          <a:p>
            <a:r>
              <a:t>Occupancy is the ratio of active warps to the SM's supported maximum. The guide explains limits from threads, blocks, registers and shared memory. It also notes that reducing register use can cause spilling and change performance characteristics. Use the source scheduling figure without inferring that exactly three blocks will reside for this kernel. Ask learners to measure the actual time rather than equate a theoretical occupancy calculation with performance.</a:t>
            </a:r>
          </a:p>
          <a:p/>
          <a:p>
            <a:r>
              <a:t>SOURCE AND ATTRIBUTION</a:t>
            </a:r>
          </a:p>
          <a:p>
            <a:r>
              <a:t>NVIDIA source edition: CUDA Programming Guide, Release 13.4.2, NVIDIA Corporation, 10 September 2026. Source of figure pixels: user-supplied cuda-programming-guide.pdf.</a:t>
            </a:r>
          </a:p>
          <a:p>
            <a:r>
              <a:t>NVIDIA Figure 4; guide §2.3.7 and register discussion §2.3.3.3, pp. 53 and 72–74.</a:t>
            </a:r>
          </a:p>
          <a:p>
            <a:r>
              <a:t>Figure 4: printed page 8; PDF page 26; embedded image xref 870; 807×1173 pixels.</a:t>
            </a:r>
          </a:p>
          <a:p>
            <a:r>
              <a:t>Image SHA-256: 05d96c154f594f659ed245eb94a8b5a16c15fb92f57ea09f21692fdcbeea88db</a:t>
            </a:r>
          </a:p>
          <a:p>
            <a:r>
              <a:t>Embedded image with PDF transparency mask restored; no redraw or recoloring.</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3 · Predict, implement and verify a transpose</a:t>
            </a:r>
          </a:p>
          <a:p/>
          <a:p>
            <a:r>
              <a:t>The existing Day 1 lab pack remains unchanged. These targets exist only after installing day1_extensions in the detailed module. Explain explicitly that the lab uses dim3(32,8) to process a 32×32 data tile, whereas the guide's square illustration uses a different thread-block shape. Do not confuse a teaching adaptation with an exact source listing. Require correctness before timing and accept an outcome with no speedup when it is honestly explained.</a:t>
            </a:r>
          </a:p>
          <a:p/>
          <a:p>
            <a:r>
              <a:t>SOURCE AND ATTRIBUTION</a:t>
            </a:r>
          </a:p>
          <a:p>
            <a:r>
              <a:t>NVIDIA source edition: CUDA Programming Guide, Release 13.4.2, NVIDIA Corporation, 10 September 2026. Source of figure pixels: user-supplied cuda-programming-guide.pdf.</a:t>
            </a:r>
          </a:p>
          <a:p>
            <a:r>
              <a:t>Existing companion pack: starter/day1_extensions; source concepts: guide §2.3.4.</a:t>
            </a:r>
          </a:p>
          <a:p>
            <a:r>
              <a:t>No illustration on this slide: editable explanatory text/code only.</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useful traffic before interpreting the timing</a:t>
            </a:r>
          </a:p>
          <a:p/>
          <a:p>
            <a:r>
              <a:t>This is a course-derived count, not a NVIDIA benchmark chart. An out-of-place float32 transpose must account for one useful four-byte input read and one useful four-byte output write per matrix element. For M×N elements that is 8MN useful bytes. Effective bandwidth based on this count is not necessarily physical DRAM traffic, and repeat runs may access data from cache. State the measured interval and units explicitly.</a:t>
            </a:r>
          </a:p>
          <a:p/>
          <a:p>
            <a:r>
              <a:t>SOURCE AND ATTRIBUTION</a:t>
            </a:r>
          </a:p>
          <a:p>
            <a:r>
              <a:t>NVIDIA source edition: CUDA Programming Guide, Release 13.4.2, NVIDIA Corporation, 10 September 2026. Source of figure pixels: user-supplied cuda-programming-guide.pdf.</a:t>
            </a:r>
          </a:p>
          <a:p>
            <a:r>
              <a:t>Course arithmetic for the retained float32 transpose lab; guide §2.3.4 motivates access efficiency.</a:t>
            </a:r>
          </a:p>
          <a:p>
            <a:r>
              <a:t>No illustration on this slide: editable explanatory text/code only.</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Cooperate safely</a:t>
            </a:r>
          </a:p>
          <a:p/>
          <a:p>
            <a:r>
              <a:t>Section transition: When many inputs produce fewer outputs,</a:t>
            </a:r>
          </a:p>
          <a:p>
            <a:r>
              <a:t>independent writes are not enough.</a:t>
            </a:r>
          </a:p>
          <a:p/>
          <a:p>
            <a:r>
              <a:t>SOURCE AND ATTRIBUTION</a:t>
            </a:r>
          </a:p>
          <a:p>
            <a:r>
              <a:t>NVIDIA source edition: CUDA Programming Guide, Release 13.4.2, NVIDIA Corporation, 10 September 2026. Source of figure pixels: user-supplied cuda-programming-guide.pdf.</a:t>
            </a:r>
          </a:p>
          <a:p>
            <a:r>
              <a:t>NVIDIA Figure 3 · cooperative work: guide §§2.3.3.2 and 2.3.5</a:t>
            </a:r>
          </a:p>
          <a:p>
            <a:r>
              <a:t>Figure 3: printed page 6; PDF page 24; embedded image xref 853; 3620×1720 pixels.</a:t>
            </a:r>
          </a:p>
          <a:p>
            <a:r>
              <a:t>Image SHA-256: 3d12755cf2edf428ae367c0ae1b5eba3c4d8618271ce54e628504fc1efe8b00f</a:t>
            </a:r>
          </a:p>
          <a:p>
            <a:r>
              <a:t>Embedded image with PDF transparency mask restored; no redraw or recoloring.</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reduction changes ownership of the result</a:t>
            </a:r>
          </a:p>
          <a:p/>
          <a:p>
            <a:r>
              <a:t>The old original reduction tree is removed. Use the guide's grid figure to emphasize the grouping of work and use text arithmetic for the simple sum. The course exercise first computes block partials and then combines them on the host. This is a teaching strategy, not the peak-performance reduction implementation recommended by the guide, which points readers toward optimized library primitives.</a:t>
            </a:r>
          </a:p>
          <a:p/>
          <a:p>
            <a:r>
              <a:t>SOURCE AND ATTRIBUTION</a:t>
            </a:r>
          </a:p>
          <a:p>
            <a:r>
              <a:t>NVIDIA source edition: CUDA Programming Guide, Release 13.4.2, NVIDIA Corporation, 10 September 2026. Source of figure pixels: user-supplied cuda-programming-guide.pdf.</a:t>
            </a:r>
          </a:p>
          <a:p>
            <a:r>
              <a:t>NVIDIA Figure 3; reduction and shared-memory concepts: §§2.3.3.2 and 2.3.5.</a:t>
            </a:r>
          </a:p>
          <a:p>
            <a:r>
              <a:t>Figure 3: printed page 6; PDF page 24; embedded image xref 853; 3620×1720 pixels.</a:t>
            </a:r>
          </a:p>
          <a:p>
            <a:r>
              <a:t>Image SHA-256: 3d12755cf2edf428ae367c0ae1b5eba3c4d8618271ce54e628504fc1efe8b00f</a:t>
            </a:r>
          </a:p>
          <a:p>
            <a:r>
              <a:t>Embedded image with PDF transparency mask restored; no redraw or recoloring.</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atomic update protects one read–modify–write</a:t>
            </a:r>
          </a:p>
          <a:p/>
          <a:p>
            <a:r>
              <a:t>The course baseline uses the legacy atomicAdd interface and is retained for continuity with the supplied code. The supplied guide prefers std::atomic-like CUDA C++ interfaces for new code; the retained snippet is not presented as that newer example. The output must be initialized before each invocation. An atomic addition does not create a grid-wide barrier. Floating-point update order may change the final rounding result. The purpose is a simple correctness baseline, not a production-optimal reduction.</a:t>
            </a:r>
          </a:p>
          <a:p/>
          <a:p>
            <a:r>
              <a:t>SOURCE AND ATTRIBUTION</a:t>
            </a:r>
          </a:p>
          <a:p>
            <a:r>
              <a:t>NVIDIA source edition: CUDA Programming Guide, Release 13.4.2, NVIDIA Corporation, 10 September 2026. Source of figure pixels: user-supplied cuda-programming-guide.pdf.</a:t>
            </a:r>
          </a:p>
          <a:p>
            <a:r>
              <a:t>Course atomicAdd baseline; guide §§2.3.5 and 5.4.5.1. Floating-point ordering: §5.5.1.4.</a:t>
            </a:r>
          </a:p>
          <a:p>
            <a:r>
              <a:t>No illustration on this slide: editable explanatory text/code only.</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Reduce in a block, then emit one partial result</a:t>
            </a:r>
          </a:p>
          <a:p/>
          <a:p>
            <a:r>
              <a:t>This is the original companion tree-reduction kernel body, not a figure or verbatim listing from NVIDIA. It requires exactly 256 threads per block. Each valid lane loads one input; other lanes load zero. All participating threads reach the same barriers. Only thread zero stores the partial. The companion harness copies these partials to the host and finishes there; timing only the GPU stage therefore does not time the complete strategy.</a:t>
            </a:r>
          </a:p>
          <a:p/>
          <a:p>
            <a:r>
              <a:t>SOURCE AND ATTRIBUTION</a:t>
            </a:r>
          </a:p>
          <a:p>
            <a:r>
              <a:t>NVIDIA source edition: CUDA Programming Guide, Release 13.4.2, NVIDIA Corporation, 10 September 2026. Source of figure pixels: user-supplied cuda-programming-guide.pdf.</a:t>
            </a:r>
          </a:p>
          <a:p>
            <a:r>
              <a:t>Retained companion implementation; source concepts: guide §§2.3.3.2 and 2.3.5.</a:t>
            </a:r>
          </a:p>
          <a:p>
            <a:r>
              <a:t>No illustration on this slide: editable explanatory text/code only.</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stage boundary to consume other blocks’ results</a:t>
            </a:r>
          </a:p>
          <a:p/>
          <a:p>
            <a:r>
              <a:t>Replace the original three-box pipeline drawing with NVIDIA's scheduling figure and explicit text. Ordinary blocks must not depend on a particular scheduling order. In the retained lab, one GPU kernel writes per-block partials; a completion and copy boundary makes them available to host reduction. Another valid design can launch a second GPU kernel with an appropriate stream dependency. __syncthreads remains block-scoped; special cooperative/cluster mechanisms are outside this ordinary-launch example.</a:t>
            </a:r>
          </a:p>
          <a:p/>
          <a:p>
            <a:r>
              <a:t>SOURCE AND ATTRIBUTION</a:t>
            </a:r>
          </a:p>
          <a:p>
            <a:r>
              <a:t>NVIDIA source edition: CUDA Programming Guide, Release 13.4.2, NVIDIA Corporation, 10 September 2026. Source of figure pixels: user-supplied cuda-programming-guide.pdf.</a:t>
            </a:r>
          </a:p>
          <a:p>
            <a:r>
              <a:t>NVIDIA Figure 4; ordinary block independence §1.2.2.1; completion and streams §§2.1.4, 2.5.</a:t>
            </a:r>
          </a:p>
          <a:p>
            <a:r>
              <a:t>Figure 4: printed page 8; PDF page 26; embedded image xref 870; 807×1173 pixels.</a:t>
            </a:r>
          </a:p>
          <a:p>
            <a:r>
              <a:t>Image SHA-256: 05d96c154f594f659ed245eb94a8b5a16c15fb92f57ea09f21692fdcbeea88db</a:t>
            </a:r>
          </a:p>
          <a:p>
            <a:r>
              <a:t>Embedded image with PDF transparency mask restored; no redraw or recoloring.</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4 · Compare atomic and block-partial reductions</a:t>
            </a:r>
          </a:p>
          <a:p/>
          <a:p>
            <a:r>
              <a:t>Retain the existing lab. Do not compare the atomic and block-partial strategies using only a GPU-stage time when one strategy still needs host finalization. Initialize the atomic destination for every trial. The source guide explicitly states that its simple reduction examples are instructional and points to CCCL for tuned implementations; the same limitation applies to these course kernels.</a:t>
            </a:r>
          </a:p>
          <a:p/>
          <a:p>
            <a:r>
              <a:t>SOURCE AND ATTRIBUTION</a:t>
            </a:r>
          </a:p>
          <a:p>
            <a:r>
              <a:t>NVIDIA source edition: CUDA Programming Guide, Release 13.4.2, NVIDIA Corporation, 10 September 2026. Source of figure pixels: user-supplied cuda-programming-guide.pdf.</a:t>
            </a:r>
          </a:p>
          <a:p>
            <a:r>
              <a:t>Existing companion pack: starter/day1_extensions and solution/day1_extensions.</a:t>
            </a:r>
          </a:p>
          <a:p>
            <a:r>
              <a:t>No illustration on this slide: editable explanatory text/code only.</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result before the next optimization</a:t>
            </a:r>
          </a:p>
          <a:p/>
          <a:p>
            <a:r>
              <a:t>Use this as a debrief rather than a new concept slide. Each learner should answer all four questions for either transpose or reduction. Encourage them to distinguish an address-based prediction from a measured observation. A test failure is not explained away by a fast time. This is a course assessment, not an official NVIDIA certification requirement.</a:t>
            </a:r>
          </a:p>
          <a:p/>
          <a:p>
            <a:r>
              <a:t>SOURCE AND ATTRIBUTION</a:t>
            </a:r>
          </a:p>
          <a:p>
            <a:r>
              <a:t>NVIDIA source edition: CUDA Programming Guide, Release 13.4.2, NVIDIA Corporation, 10 September 2026. Source of figure pixels: user-supplied cuda-programming-guide.pdf.</a:t>
            </a:r>
          </a:p>
          <a:p>
            <a:r>
              <a:t>Course assessment framework; guide concepts: ownership, synchronization, bounds and memory access.</a:t>
            </a:r>
          </a:p>
          <a:p>
            <a:r>
              <a:t>No illustration on this slide: editable explanatory text/code only.</a:t>
            </a:r>
          </a:p>
          <a:p/>
          <a:p>
            <a:r>
              <a:t>COURSE / TOOLING REFERENCES (distinct from the PDF artwork)</a:t>
            </a:r>
          </a:p>
          <a:p>
            <a:r>
              <a:t>https://github.com/neudinger/formation</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ideas to carry into every CUDA feature</a:t>
            </a:r>
          </a:p>
          <a:p/>
          <a:p>
            <a:r>
              <a:t>Invite a learner to explain each phrase using one of today's examples. Map work: vector index. Own data: valid allocations. Respect scope: shared-memory synchronization. Test edges: partial tiles and blocks. Seek evidence: a prediction and its measurement. Do not introduce another optimization before these ideas are clear.</a:t>
            </a:r>
          </a:p>
          <a:p/>
          <a:p>
            <a:r>
              <a:t>SOURCE AND ATTRIBUTION</a:t>
            </a:r>
          </a:p>
          <a:p>
            <a:r>
              <a:t>NVIDIA source edition: CUDA Programming Guide, Release 13.4.2, NVIDIA Corporation, 10 September 2026. Source of figure pixels: user-supplied cuda-programming-guide.pdf.</a:t>
            </a:r>
          </a:p>
          <a:p>
            <a:r>
              <a:t>Course recap of guide §§1.2, 2.1 and 2.3.</a:t>
            </a:r>
          </a:p>
          <a:p>
            <a:r>
              <a:t>No illustration on this slide: editable explanatory text/code only.</a:t>
            </a:r>
          </a:p>
          <a:p/>
          <a:p>
            <a:r>
              <a:t>COURSE / TOOLING REFERENCES (distinct from the PDF artwork)</a:t>
            </a:r>
          </a:p>
          <a:p>
            <a:r>
              <a:t>https://github.com/neudinger/formation</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2 connects kernels to measured applications</a:t>
            </a:r>
          </a:p>
          <a:p/>
          <a:p>
            <a:r>
              <a:t>Use the official SIMT/tile comparison only for the abstraction distinction. The figure says a SIMT programmer writes per-thread code while a tile programmer writes per-block tile operations. Today's tiled shared-memory transpose remains a SIMT implementation, not a CUDA Tile kernel. Day 2 covers measurement, streams, MatMul and deployment; JAX, Triton and CUDA Tile are separate comparisons, not interchangeable names for the same API.</a:t>
            </a:r>
          </a:p>
          <a:p/>
          <a:p>
            <a:r>
              <a:t>SOURCE AND ATTRIBUTION</a:t>
            </a:r>
          </a:p>
          <a:p>
            <a:r>
              <a:t>NVIDIA source edition: CUDA Programming Guide, Release 13.4.2, NVIDIA Corporation, 10 September 2026. Source of figure pixels: user-supplied cuda-programming-guide.pdf.</a:t>
            </a:r>
          </a:p>
          <a:p>
            <a:r>
              <a:t>NVIDIA Figure 8 · §1.2.2.3, p. 11 / PDF p. 29; existing Day 2 course roadmap.</a:t>
            </a:r>
          </a:p>
          <a:p>
            <a:r>
              <a:t>Figure 8: printed page 11; PDF page 29; embedded image xref 898; 1376×768 pixels.</a:t>
            </a:r>
          </a:p>
          <a:p>
            <a:r>
              <a:t>Image SHA-256: 4c5ed5a0b1dea2cb5d96ed85e7af7fd69fd4a1a56d767b3bcefdccd25461701d</a:t>
            </a:r>
          </a:p>
          <a:p>
            <a:r>
              <a:t>Original embedded figure pixels, PNG extraction; no redraw or recoloring.</a:t>
            </a:r>
          </a:p>
          <a:p/>
          <a:p>
            <a:r>
              <a:t>COURSE / TOOLING REFERENCES (distinct from the PDF artwork)</a:t>
            </a:r>
          </a:p>
          <a:p>
            <a:r>
              <a:t>https://github.com/neudinger/formation/blob/main/followup/presentation-2-followup.md</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Correctness first. Finish with evidence.</a:t>
            </a:r>
          </a:p>
          <a:p/>
          <a:p>
            <a:r>
              <a:t>Close the taught portion. Ask learners to show their test and explain a memory-access or synchronization choice. The following reference slides are available for setup, code review, timing and source attribution. This slide does not claim the commands have been run in the authoring environment.</a:t>
            </a:r>
          </a:p>
          <a:p/>
          <a:p>
            <a:r>
              <a:t>SOURCE AND ATTRIBUTION</a:t>
            </a:r>
          </a:p>
          <a:p>
            <a:r>
              <a:t>NVIDIA source edition: CUDA Programming Guide, Release 13.4.2, NVIDIA Corporation, 10 September 2026. Source of figure pixels: user-supplied cuda-programming-guide.pdf.</a:t>
            </a:r>
          </a:p>
          <a:p>
            <a:r>
              <a:t>Original CUDA cover artwork from PDF p. 1; existing course commands below.</a:t>
            </a:r>
          </a:p>
          <a:p>
            <a:r>
              <a:t>Cover artwork: printed page cover; PDF page 1; embedded image xref 9; 948×317 pixels.</a:t>
            </a:r>
          </a:p>
          <a:p>
            <a:r>
              <a:t>Image SHA-256: 8525c91f9095219325160e8e7d53cf9a5529ecf10ed3f8c3ada8d3c11260a5a0</a:t>
            </a:r>
          </a:p>
          <a:p>
            <a:r>
              <a:t>Embedded image with PDF transparency mask restored; no redraw or recoloring.</a:t>
            </a:r>
          </a:p>
          <a:p/>
          <a:p>
            <a:r>
              <a:t>COURSE / TOOLING REFERENCES (distinct from the PDF artwork)</a:t>
            </a:r>
          </a:p>
          <a:p>
            <a:r>
              <a:t>https://github.com/neudinger/formation/blob/main/projects/detailed/README.md</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source edition, build inputs and runtime separate</a:t>
            </a:r>
          </a:p>
          <a:p/>
          <a:p>
            <a:r>
              <a:t>The figure is the original NVIDIA fatbin illustration. It depicts CPU code and several GPU representations in an executable or library; it is not a literal inventory of the repository's generated binary. The supplied PDF is Release 13.4.2. The earlier course baseline pins a different toolkit/compiler pair. Students must also have a suitable runtime driver and device. The original lab zip is not changed by this image revision. Newer guide features are not automatically available in older lab environments.</a:t>
            </a:r>
          </a:p>
          <a:p/>
          <a:p>
            <a:r>
              <a:t>SOURCE AND ATTRIBUTION</a:t>
            </a:r>
          </a:p>
          <a:p>
            <a:r>
              <a:t>NVIDIA source edition: CUDA Programming Guide, Release 13.4.2, NVIDIA Corporation, 10 September 2026. Source of figure pixels: user-supplied cuda-programming-guide.pdf.</a:t>
            </a:r>
          </a:p>
          <a:p>
            <a:r>
              <a:t>NVIDIA Figure 10 · §1.3.4, p. 17 / PDF p. 35; existing course module boundaries.</a:t>
            </a:r>
          </a:p>
          <a:p>
            <a:r>
              <a:t>Figure 10: printed page 17; PDF page 35; embedded image xref 947; 754×867 pixels.</a:t>
            </a:r>
          </a:p>
          <a:p>
            <a:r>
              <a:t>Image SHA-256: 51b81d6bc5779b73fe4c229c722116d6fa1eb093b05e0aa9891305aa24512cab</a:t>
            </a:r>
          </a:p>
          <a:p>
            <a:r>
              <a:t>Embedded image with PDF transparency mask restored; no redraw or recoloring.</a:t>
            </a:r>
          </a:p>
          <a:p/>
          <a:p>
            <a:r>
              <a:t>COURSE / TOOLING REFERENCES (distinct from the PDF artwork)</a:t>
            </a:r>
          </a:p>
          <a:p>
            <a:r>
              <a:t>https://github.com/neudinger/formation/blob/main/tp/README.md</a:t>
            </a:r>
          </a:p>
          <a:p>
            <a:r>
              <a:t>https://github.com/neudinger/formation/blob/main/projects/detailed/.bazelrc</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padded shared-memory transpose body</a:t>
            </a:r>
          </a:p>
          <a:p/>
          <a:p>
            <a:r>
              <a:t>Keep the original lab implementation. Launch exactly dim3(32,8) threads per block, with each block covering 32×32 data values. Input and output are distinct buffers. The first loop checks the input extents, the barrier is uniform, coordinates are exchanged, and the output guard reflects the transposed shape. Each valid output reads a shared-memory entry written by a valid input load. This course code extends the guide's square-matrix discussion to rectangular shapes. Full host validation and launch code remain in the companion pack.</a:t>
            </a:r>
          </a:p>
          <a:p/>
          <a:p>
            <a:r>
              <a:t>SOURCE AND ATTRIBUTION</a:t>
            </a:r>
          </a:p>
          <a:p>
            <a:r>
              <a:t>NVIDIA source edition: CUDA Programming Guide, Release 13.4.2, NVIDIA Corporation, 10 September 2026. Source of figure pixels: user-supplied cuda-programming-guide.pdf.</a:t>
            </a:r>
          </a:p>
          <a:p>
            <a:r>
              <a:t>Retained companion code; NVIDIA transpose concepts §2.3.4.2. This is not an exact guide listing.</a:t>
            </a:r>
          </a:p>
          <a:p>
            <a:r>
              <a:t>No illustration on this slide: editable explanatory text/code only.</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 a warm device-work interval</a:t>
            </a:r>
          </a:p>
          <a:p/>
          <a:p>
            <a:r>
              <a:t>This is a retained teaching excerpt. Events must exist and repeats must be positive. Setup, upload and warmup happen before this interval. The event stream orders the markers with the launched work. The elapsed interval may include submission gaps between kernels, so it is not a promise of a pure instruction-only measurement. Separate this GPU interval from a complete host-visible result time.</a:t>
            </a:r>
          </a:p>
          <a:p/>
          <a:p>
            <a:r>
              <a:t>SOURCE AND ATTRIBUTION</a:t>
            </a:r>
          </a:p>
          <a:p>
            <a:r>
              <a:t>NVIDIA source edition: CUDA Programming Guide, Release 13.4.2, NVIDIA Corporation, 10 September 2026. Source of figure pixels: user-supplied cuda-programming-guide.pdf.</a:t>
            </a:r>
          </a:p>
          <a:p>
            <a:r>
              <a:t>Guide §2.5.3.3, pp. 108–109 / PDF pp. 126–127; course timing excerpt.</a:t>
            </a:r>
          </a:p>
          <a:p>
            <a:r>
              <a:t>No illustration on this slide: editable explanatory text/code only.</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to the day’s conceptual checks</a:t>
            </a:r>
          </a:p>
          <a:p/>
          <a:p>
            <a:r>
              <a:t>The previous question about the custom sector chart has been removed with that chart. The replacement question distinguishes the guide's 12.5% transaction-utilization example from a measured speed ratio. Ask students to explain, not just recite, the index and synchronization answers.</a:t>
            </a:r>
          </a:p>
          <a:p/>
          <a:p>
            <a:r>
              <a:t>SOURCE AND ATTRIBUTION</a:t>
            </a:r>
          </a:p>
          <a:p>
            <a:r>
              <a:t>NVIDIA source edition: CUDA Programming Guide, Release 13.4.2, NVIDIA Corporation, 10 September 2026. Source of figure pixels: user-supplied cuda-programming-guide.pdf.</a:t>
            </a:r>
          </a:p>
          <a:p>
            <a:r>
              <a:t>Derived course answers; transaction utilization example: guide §2.3.4.1, p. 59 / PDF p. 77.</a:t>
            </a:r>
          </a:p>
          <a:p>
            <a:r>
              <a:t>No illustration on this slide: editable explanatory text/code only.</a:t>
            </a:r>
          </a:p>
          <a:p/>
          <a:p>
            <a:r>
              <a:t>COURSE / TOOLING REFERENCES (distinct from the PDF artwork)</a:t>
            </a:r>
          </a:p>
          <a:p>
            <a:r>
              <a:t>https://github.com/neudinger/formation/blob/main/projects/detailed/gpu/vector_add_device.cu</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 the original figure in the supplied NVIDIA guide</a:t>
            </a:r>
          </a:p>
          <a:p/>
          <a:p>
            <a:r>
              <a:t>All technical image artwork comes from embedded images in the user-uploaded cuda-programming-guide.pdf. Part 1 supplies the introduction, hardware, scheduling, warps, SIMT/tile and fatbin imagery. The SIMT chapter supplies original memory-access and transpose figures for the retained afternoon lessons. Figure 3 is repeated by NVIDIA as Figure 11; this deck cites its first occurrence. Full per-slide provenance, original-image xrefs and SHA-256 identifiers are recorded in the accompanying source map and the notes.</a:t>
            </a:r>
          </a:p>
          <a:p/>
          <a:p>
            <a:r>
              <a:t>SOURCE AND ATTRIBUTION</a:t>
            </a:r>
          </a:p>
          <a:p>
            <a:r>
              <a:t>NVIDIA source edition: CUDA Programming Guide, Release 13.4.2, NVIDIA Corporation, 10 September 2026. Source of figure pixels: user-supplied cuda-programming-guide.pdf.</a:t>
            </a:r>
          </a:p>
          <a:p>
            <a:r>
              <a:t>CUDA Programming Guide, Release 13.4.2, 10 September 2026 · page numbers below are PDF page numbers.</a:t>
            </a:r>
          </a:p>
          <a:p>
            <a:r>
              <a:t>No illustration on this slide: editable explanatory text/code only.</a:t>
            </a:r>
          </a:p>
          <a:p/>
          <a:p>
            <a:r>
              <a:t>COURSE / TOOLING REFERENCES (distinct from the PDF artwork)</a:t>
            </a:r>
          </a:p>
          <a:p>
            <a:r>
              <a:t>https://github.com/neudinger/formation</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NVIDIA artwork. Independent course material.</a:t>
            </a:r>
          </a:p>
          <a:p/>
          <a:p>
            <a:r>
              <a:t>Source artwork: only figures and cover artwork extracted from the supplied NVIDIA PDF. Embedded images are used without redraw, recoloring or alteration of labels; images may be scaled proportionally for slide layout. The source PDF's transparency masks are restored on extraction where present. White figure panels preserve their intended display. No media from third-party mirrors, stock sites or AI generation is included. No custom charts or connector-based technical diagrams remain. Lesson text, code and layout are course adaptations and remain editable. The existing companion lab pack is unchanged. No new GPU tests or performance measurements were performed for this visual revision. NVIDIA and CUDA trademarks remain with NVIDIA. This presentation is independently prepared for neudinger/formation, not an official NVIDIA course.</a:t>
            </a:r>
          </a:p>
          <a:p/>
          <a:p>
            <a:r>
              <a:t>SOURCE AND ATTRIBUTION</a:t>
            </a:r>
          </a:p>
          <a:p>
            <a:r>
              <a:t>NVIDIA source edition: CUDA Programming Guide, Release 13.4.2, NVIDIA Corporation, 10 September 2026. Source of figure pixels: user-supplied cuda-programming-guide.pdf.</a:t>
            </a:r>
          </a:p>
          <a:p>
            <a:r>
              <a:t>Source PDF: CUDA Programming Guide, Release 13.4.2 · NVIDIA Corporation · 10 September 2026.</a:t>
            </a:r>
          </a:p>
          <a:p>
            <a:r>
              <a:t>Cover artwork: printed page cover; PDF page 1; embedded image xref 9; 948×317 pixels.</a:t>
            </a:r>
          </a:p>
          <a:p>
            <a:r>
              <a:t>Image SHA-256: 8525c91f9095219325160e8e7d53cf9a5529ecf10ed3f8c3ada8d3c11260a5a0</a:t>
            </a:r>
          </a:p>
          <a:p>
            <a:r>
              <a:t>Embedded image with PDF transparency mask restored; no redraw or recoloring.</a:t>
            </a:r>
          </a:p>
          <a:p/>
          <a:p>
            <a:r>
              <a:t>COURSE / TOOLING REFERENCES (distinct from the PDF artwork)</a:t>
            </a:r>
          </a:p>
          <a:p>
            <a:r>
              <a:t>https://github.com/neudinger/formation</a:t>
            </a:r>
          </a:p>
          <a:p/>
          <a:p>
            <a:r>
              <a:t>IMAGE REVISION</a:t>
            </a:r>
          </a:p>
          <a:p>
            <a:r>
              <a:t>Technical illustrations are original NVIDIA artwork from the uploaded PDF; none are redrawn or generated. Native text, code, source captions and layout elements are independently authored. Full source figures are kept intact and scaled proportionally. No claim of NVIDIA affiliation or endorsement.</a:t>
            </a:r>
          </a:p>
          <a:p/>
          <a:p>
            <a:r>
              <a:t>VALIDATION BOUNDARY</a:t>
            </a:r>
          </a:p>
          <a:p>
            <a:r>
              <a:t>This revision validates presentation layout and image provenance. It does not establish successful compilation or execution of the retained CUDA examples on a GPU.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0C08"/>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C2CBB8"/>
                </a:solidFill>
                <a:latin typeface="Inter"/>
              </a:rPr>
              <a:t>FORMATION / CUDA C++</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p>
        </p:txBody>
      </p:sp>
      <p:sp>
        <p:nvSpPr>
          <p:cNvPr id="4" name="Rectangle 3"/>
          <p:cNvSpPr/>
          <p:nvPr/>
        </p:nvSpPr>
        <p:spPr>
          <a:xfrm>
            <a:off x="502920" y="6432804"/>
            <a:ext cx="11173968" cy="8229"/>
          </a:xfrm>
          <a:prstGeom prst="rect">
            <a:avLst/>
          </a:prstGeom>
          <a:solidFill>
            <a:srgbClr val="3A45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C2CBB8"/>
                </a:solidFill>
                <a:latin typeface="Inter"/>
              </a:rPr>
              <a:t>Original CUDA cover artwork · supplied NVIDIA Programming Guide, PDF p. 1</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C2CBB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FFFFFF"/>
                </a:solidFill>
                <a:latin typeface="Inter"/>
              </a:rPr>
              <a:t>01</a:t>
            </a:r>
          </a:p>
        </p:txBody>
      </p:sp>
      <p:sp>
        <p:nvSpPr>
          <p:cNvPr id="8" name="Rectangle 7"/>
          <p:cNvSpPr/>
          <p:nvPr/>
        </p:nvSpPr>
        <p:spPr>
          <a:xfrm>
            <a:off x="683550" y="960120"/>
            <a:ext cx="7246547" cy="24231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ORIGINAL_NVIDIA_cover_PDF_page_1" descr="CUDA cover artwork; CUDA Programming Guide 13.4.2, PDF page 1, printed page cover. Extracted from embedded image xref 9; original colors and aspect ratio preserved."/>
          <p:cNvPicPr>
            <a:picLocks noChangeAspect="1"/>
          </p:cNvPicPr>
          <p:nvPr/>
        </p:nvPicPr>
        <p:blipFill>
          <a:blip r:embed="rId2"/>
          <a:stretch>
            <a:fillRect/>
          </a:stretch>
        </p:blipFill>
        <p:spPr>
          <a:xfrm>
            <a:off x="683550" y="960120"/>
            <a:ext cx="7246547" cy="2423160"/>
          </a:xfrm>
          <a:prstGeom prst="rect">
            <a:avLst/>
          </a:prstGeom>
        </p:spPr>
      </p:pic>
      <p:sp>
        <p:nvSpPr>
          <p:cNvPr id="10" name="TextBox 9"/>
          <p:cNvSpPr txBox="1"/>
          <p:nvPr/>
        </p:nvSpPr>
        <p:spPr>
          <a:xfrm>
            <a:off x="594360" y="3694176"/>
            <a:ext cx="2286000" cy="347472"/>
          </a:xfrm>
          <a:prstGeom prst="rect">
            <a:avLst/>
          </a:prstGeom>
          <a:noFill/>
        </p:spPr>
        <p:txBody>
          <a:bodyPr wrap="square" lIns="0" rIns="0" tIns="0" bIns="0" anchor="t">
            <a:noAutofit/>
          </a:bodyPr>
          <a:lstStyle/>
          <a:p>
            <a:pPr algn="l">
              <a:lnSpc>
                <a:spcPct val="114000"/>
              </a:lnSpc>
              <a:spcBef>
                <a:spcPts val="0"/>
              </a:spcBef>
              <a:spcAft>
                <a:spcPts val="0"/>
              </a:spcAft>
            </a:pPr>
            <a:r>
              <a:rPr sz="1600" b="1">
                <a:solidFill>
                  <a:srgbClr val="76B900"/>
                </a:solidFill>
                <a:latin typeface="Inter"/>
              </a:rPr>
              <a:t>DAY 1</a:t>
            </a:r>
          </a:p>
        </p:txBody>
      </p:sp>
      <p:sp>
        <p:nvSpPr>
          <p:cNvPr id="11" name="TextBox 10"/>
          <p:cNvSpPr txBox="1"/>
          <p:nvPr/>
        </p:nvSpPr>
        <p:spPr>
          <a:xfrm>
            <a:off x="557784" y="4187952"/>
            <a:ext cx="10881360" cy="694944"/>
          </a:xfrm>
          <a:prstGeom prst="rect">
            <a:avLst/>
          </a:prstGeom>
          <a:noFill/>
        </p:spPr>
        <p:txBody>
          <a:bodyPr wrap="square" lIns="0" rIns="0" tIns="0" bIns="0" anchor="t">
            <a:noAutofit/>
          </a:bodyPr>
          <a:lstStyle/>
          <a:p>
            <a:pPr algn="l">
              <a:lnSpc>
                <a:spcPct val="114000"/>
              </a:lnSpc>
              <a:spcBef>
                <a:spcPts val="0"/>
              </a:spcBef>
              <a:spcAft>
                <a:spcPts val="0"/>
              </a:spcAft>
            </a:pPr>
            <a:r>
              <a:rPr sz="4300" b="1">
                <a:solidFill>
                  <a:srgbClr val="FFFFFF"/>
                </a:solidFill>
                <a:latin typeface="Inter"/>
              </a:rPr>
              <a:t>CUDA Foundations</a:t>
            </a:r>
          </a:p>
        </p:txBody>
      </p:sp>
      <p:sp>
        <p:nvSpPr>
          <p:cNvPr id="12" name="TextBox 11"/>
          <p:cNvSpPr txBox="1"/>
          <p:nvPr/>
        </p:nvSpPr>
        <p:spPr>
          <a:xfrm>
            <a:off x="603504" y="5120640"/>
            <a:ext cx="10881360" cy="557784"/>
          </a:xfrm>
          <a:prstGeom prst="rect">
            <a:avLst/>
          </a:prstGeom>
          <a:noFill/>
        </p:spPr>
        <p:txBody>
          <a:bodyPr wrap="square" lIns="0" rIns="0" tIns="0" bIns="0" anchor="t">
            <a:noAutofit/>
          </a:bodyPr>
          <a:lstStyle/>
          <a:p>
            <a:pPr algn="l">
              <a:lnSpc>
                <a:spcPct val="114000"/>
              </a:lnSpc>
              <a:spcBef>
                <a:spcPts val="0"/>
              </a:spcBef>
              <a:spcAft>
                <a:spcPts val="0"/>
              </a:spcAft>
            </a:pPr>
            <a:r>
              <a:rPr sz="2100" b="0">
                <a:solidFill>
                  <a:srgbClr val="C7D0C0"/>
                </a:solidFill>
                <a:latin typeface="Inter"/>
              </a:rPr>
              <a:t>Programming model. Correct kernels. Memory access. Cooperation.</a:t>
            </a:r>
          </a:p>
        </p:txBody>
      </p:sp>
      <p:sp>
        <p:nvSpPr>
          <p:cNvPr id="13" name="TextBox 12"/>
          <p:cNvSpPr txBox="1"/>
          <p:nvPr/>
        </p:nvSpPr>
        <p:spPr>
          <a:xfrm>
            <a:off x="8412480" y="1965960"/>
            <a:ext cx="3154680" cy="365760"/>
          </a:xfrm>
          <a:prstGeom prst="rect">
            <a:avLst/>
          </a:prstGeom>
          <a:noFill/>
        </p:spPr>
        <p:txBody>
          <a:bodyPr wrap="square" lIns="0" rIns="0" tIns="0" bIns="0" anchor="t">
            <a:noAutofit/>
          </a:bodyPr>
          <a:lstStyle/>
          <a:p>
            <a:pPr algn="l">
              <a:lnSpc>
                <a:spcPct val="114000"/>
              </a:lnSpc>
              <a:spcBef>
                <a:spcPts val="0"/>
              </a:spcBef>
              <a:spcAft>
                <a:spcPts val="0"/>
              </a:spcAft>
            </a:pPr>
            <a:r>
              <a:rPr sz="2000" b="1">
                <a:solidFill>
                  <a:srgbClr val="FFFFFF"/>
                </a:solidFill>
                <a:latin typeface="Inter"/>
              </a:rPr>
              <a:t>neudinger / formation</a:t>
            </a:r>
          </a:p>
        </p:txBody>
      </p:sp>
      <p:sp>
        <p:nvSpPr>
          <p:cNvPr id="14" name="TextBox 13"/>
          <p:cNvSpPr txBox="1"/>
          <p:nvPr/>
        </p:nvSpPr>
        <p:spPr>
          <a:xfrm>
            <a:off x="8412480" y="2542032"/>
            <a:ext cx="3127248" cy="841248"/>
          </a:xfrm>
          <a:prstGeom prst="rect">
            <a:avLst/>
          </a:prstGeom>
          <a:noFill/>
        </p:spPr>
        <p:txBody>
          <a:bodyPr wrap="square" lIns="0" rIns="0" tIns="0" bIns="0" anchor="t">
            <a:noAutofit/>
          </a:bodyPr>
          <a:lstStyle/>
          <a:p>
            <a:pPr algn="l">
              <a:lnSpc>
                <a:spcPct val="114000"/>
              </a:lnSpc>
              <a:spcBef>
                <a:spcPts val="0"/>
              </a:spcBef>
              <a:spcAft>
                <a:spcPts val="0"/>
              </a:spcAft>
            </a:pPr>
            <a:r>
              <a:rPr sz="1700" b="0">
                <a:solidFill>
                  <a:srgbClr val="C7D0C0"/>
                </a:solidFill>
                <a:latin typeface="Inter"/>
              </a:rPr>
              <a:t>Original NVIDIA figures</a:t>
            </a:r>
          </a:p>
          <a:p>
            <a:pPr algn="l">
              <a:lnSpc>
                <a:spcPct val="114000"/>
              </a:lnSpc>
              <a:spcBef>
                <a:spcPts val="0"/>
              </a:spcBef>
              <a:spcAft>
                <a:spcPts val="0"/>
              </a:spcAft>
            </a:pPr>
            <a:r>
              <a:rPr sz="1700" b="0">
                <a:solidFill>
                  <a:srgbClr val="C7D0C0"/>
                </a:solidFill>
                <a:latin typeface="Inter"/>
              </a:rPr>
              <a:t>Editable lesson text and code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LEARNING OUTCOMES</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By 17:00, explain the kernel—not just the command</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Course learning objectives; guide alignment: §§1.2, 2.1 and 2.3</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02</a:t>
            </a:r>
          </a:p>
        </p:txBody>
      </p:sp>
      <p:sp>
        <p:nvSpPr>
          <p:cNvPr id="8" name="TextBox 7"/>
          <p:cNvSpPr txBox="1"/>
          <p:nvPr/>
        </p:nvSpPr>
        <p:spPr>
          <a:xfrm>
            <a:off x="594360" y="2011680"/>
            <a:ext cx="3291840" cy="749808"/>
          </a:xfrm>
          <a:prstGeom prst="rect">
            <a:avLst/>
          </a:prstGeom>
          <a:noFill/>
        </p:spPr>
        <p:txBody>
          <a:bodyPr wrap="square" lIns="0" rIns="0" tIns="0" bIns="0" anchor="t">
            <a:noAutofit/>
          </a:bodyPr>
          <a:lstStyle/>
          <a:p>
            <a:pPr algn="l">
              <a:lnSpc>
                <a:spcPct val="114000"/>
              </a:lnSpc>
              <a:spcBef>
                <a:spcPts val="0"/>
              </a:spcBef>
              <a:spcAft>
                <a:spcPts val="0"/>
              </a:spcAft>
            </a:pPr>
            <a:r>
              <a:rPr sz="4800" b="1">
                <a:solidFill>
                  <a:srgbClr val="76B900"/>
                </a:solidFill>
                <a:latin typeface="Inter"/>
              </a:rPr>
              <a:t>01</a:t>
            </a:r>
          </a:p>
        </p:txBody>
      </p:sp>
      <p:sp>
        <p:nvSpPr>
          <p:cNvPr id="9" name="TextBox 8"/>
          <p:cNvSpPr txBox="1"/>
          <p:nvPr/>
        </p:nvSpPr>
        <p:spPr>
          <a:xfrm>
            <a:off x="594360" y="2971800"/>
            <a:ext cx="3246120" cy="475488"/>
          </a:xfrm>
          <a:prstGeom prst="rect">
            <a:avLst/>
          </a:prstGeom>
          <a:noFill/>
        </p:spPr>
        <p:txBody>
          <a:bodyPr wrap="square" lIns="0" rIns="0" tIns="0" bIns="0" anchor="t">
            <a:noAutofit/>
          </a:bodyPr>
          <a:lstStyle/>
          <a:p>
            <a:pPr algn="l">
              <a:lnSpc>
                <a:spcPct val="114000"/>
              </a:lnSpc>
              <a:spcBef>
                <a:spcPts val="0"/>
              </a:spcBef>
              <a:spcAft>
                <a:spcPts val="0"/>
              </a:spcAft>
            </a:pPr>
            <a:r>
              <a:rPr sz="2600" b="1">
                <a:solidFill>
                  <a:srgbClr val="121610"/>
                </a:solidFill>
                <a:latin typeface="Inter"/>
              </a:rPr>
              <a:t>Explain</a:t>
            </a:r>
          </a:p>
        </p:txBody>
      </p:sp>
      <p:sp>
        <p:nvSpPr>
          <p:cNvPr id="10" name="TextBox 9"/>
          <p:cNvSpPr txBox="1"/>
          <p:nvPr/>
        </p:nvSpPr>
        <p:spPr>
          <a:xfrm>
            <a:off x="594360" y="3703320"/>
            <a:ext cx="3246120" cy="1353312"/>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Locate a thread in its grid.</a:t>
            </a:r>
          </a:p>
          <a:p>
            <a:pPr algn="l">
              <a:lnSpc>
                <a:spcPct val="114000"/>
              </a:lnSpc>
              <a:spcBef>
                <a:spcPts val="0"/>
              </a:spcBef>
              <a:spcAft>
                <a:spcPts val="0"/>
              </a:spcAft>
            </a:pPr>
            <a:r>
              <a:rPr sz="2000" b="0">
                <a:solidFill>
                  <a:srgbClr val="121610"/>
                </a:solidFill>
                <a:latin typeface="Inter"/>
              </a:rPr>
              <a:t>Distinguish software groups</a:t>
            </a:r>
          </a:p>
          <a:p>
            <a:pPr algn="l">
              <a:lnSpc>
                <a:spcPct val="114000"/>
              </a:lnSpc>
              <a:spcBef>
                <a:spcPts val="0"/>
              </a:spcBef>
              <a:spcAft>
                <a:spcPts val="0"/>
              </a:spcAft>
            </a:pPr>
            <a:r>
              <a:rPr sz="2000" b="0">
                <a:solidFill>
                  <a:srgbClr val="121610"/>
                </a:solidFill>
                <a:latin typeface="Inter"/>
              </a:rPr>
              <a:t>from GPU hardware.</a:t>
            </a:r>
          </a:p>
        </p:txBody>
      </p:sp>
      <p:sp>
        <p:nvSpPr>
          <p:cNvPr id="11" name="TextBox 10"/>
          <p:cNvSpPr txBox="1"/>
          <p:nvPr/>
        </p:nvSpPr>
        <p:spPr>
          <a:xfrm>
            <a:off x="4453128" y="2011680"/>
            <a:ext cx="3291840" cy="749808"/>
          </a:xfrm>
          <a:prstGeom prst="rect">
            <a:avLst/>
          </a:prstGeom>
          <a:noFill/>
        </p:spPr>
        <p:txBody>
          <a:bodyPr wrap="square" lIns="0" rIns="0" tIns="0" bIns="0" anchor="t">
            <a:noAutofit/>
          </a:bodyPr>
          <a:lstStyle/>
          <a:p>
            <a:pPr algn="l">
              <a:lnSpc>
                <a:spcPct val="114000"/>
              </a:lnSpc>
              <a:spcBef>
                <a:spcPts val="0"/>
              </a:spcBef>
              <a:spcAft>
                <a:spcPts val="0"/>
              </a:spcAft>
            </a:pPr>
            <a:r>
              <a:rPr sz="4800" b="1">
                <a:solidFill>
                  <a:srgbClr val="76B900"/>
                </a:solidFill>
                <a:latin typeface="Inter"/>
              </a:rPr>
              <a:t>02</a:t>
            </a:r>
          </a:p>
        </p:txBody>
      </p:sp>
      <p:sp>
        <p:nvSpPr>
          <p:cNvPr id="12" name="TextBox 11"/>
          <p:cNvSpPr txBox="1"/>
          <p:nvPr/>
        </p:nvSpPr>
        <p:spPr>
          <a:xfrm>
            <a:off x="4453128" y="2971800"/>
            <a:ext cx="3246120" cy="475488"/>
          </a:xfrm>
          <a:prstGeom prst="rect">
            <a:avLst/>
          </a:prstGeom>
          <a:noFill/>
        </p:spPr>
        <p:txBody>
          <a:bodyPr wrap="square" lIns="0" rIns="0" tIns="0" bIns="0" anchor="t">
            <a:noAutofit/>
          </a:bodyPr>
          <a:lstStyle/>
          <a:p>
            <a:pPr algn="l">
              <a:lnSpc>
                <a:spcPct val="114000"/>
              </a:lnSpc>
              <a:spcBef>
                <a:spcPts val="0"/>
              </a:spcBef>
              <a:spcAft>
                <a:spcPts val="0"/>
              </a:spcAft>
            </a:pPr>
            <a:r>
              <a:rPr sz="2600" b="1">
                <a:solidFill>
                  <a:srgbClr val="121610"/>
                </a:solidFill>
                <a:latin typeface="Inter"/>
              </a:rPr>
              <a:t>Implement</a:t>
            </a:r>
          </a:p>
        </p:txBody>
      </p:sp>
      <p:sp>
        <p:nvSpPr>
          <p:cNvPr id="13" name="TextBox 12"/>
          <p:cNvSpPr txBox="1"/>
          <p:nvPr/>
        </p:nvSpPr>
        <p:spPr>
          <a:xfrm>
            <a:off x="4453128" y="3703320"/>
            <a:ext cx="3246120" cy="1353312"/>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Turn a CPU reference into</a:t>
            </a:r>
          </a:p>
          <a:p>
            <a:pPr algn="l">
              <a:lnSpc>
                <a:spcPct val="114000"/>
              </a:lnSpc>
              <a:spcBef>
                <a:spcPts val="0"/>
              </a:spcBef>
              <a:spcAft>
                <a:spcPts val="0"/>
              </a:spcAft>
            </a:pPr>
            <a:r>
              <a:rPr sz="2000" b="0">
                <a:solidFill>
                  <a:srgbClr val="121610"/>
                </a:solidFill>
                <a:latin typeface="Inter"/>
              </a:rPr>
              <a:t>a bounded CUDA kernel</a:t>
            </a:r>
          </a:p>
          <a:p>
            <a:pPr algn="l">
              <a:lnSpc>
                <a:spcPct val="114000"/>
              </a:lnSpc>
              <a:spcBef>
                <a:spcPts val="0"/>
              </a:spcBef>
              <a:spcAft>
                <a:spcPts val="0"/>
              </a:spcAft>
            </a:pPr>
            <a:r>
              <a:rPr sz="2000" b="0">
                <a:solidFill>
                  <a:srgbClr val="121610"/>
                </a:solidFill>
                <a:latin typeface="Inter"/>
              </a:rPr>
              <a:t>and a clear host workflow.</a:t>
            </a:r>
          </a:p>
        </p:txBody>
      </p:sp>
      <p:sp>
        <p:nvSpPr>
          <p:cNvPr id="14" name="TextBox 13"/>
          <p:cNvSpPr txBox="1"/>
          <p:nvPr/>
        </p:nvSpPr>
        <p:spPr>
          <a:xfrm>
            <a:off x="8257031" y="2011680"/>
            <a:ext cx="3291840" cy="749808"/>
          </a:xfrm>
          <a:prstGeom prst="rect">
            <a:avLst/>
          </a:prstGeom>
          <a:noFill/>
        </p:spPr>
        <p:txBody>
          <a:bodyPr wrap="square" lIns="0" rIns="0" tIns="0" bIns="0" anchor="t">
            <a:noAutofit/>
          </a:bodyPr>
          <a:lstStyle/>
          <a:p>
            <a:pPr algn="l">
              <a:lnSpc>
                <a:spcPct val="114000"/>
              </a:lnSpc>
              <a:spcBef>
                <a:spcPts val="0"/>
              </a:spcBef>
              <a:spcAft>
                <a:spcPts val="0"/>
              </a:spcAft>
            </a:pPr>
            <a:r>
              <a:rPr sz="4800" b="1">
                <a:solidFill>
                  <a:srgbClr val="76B900"/>
                </a:solidFill>
                <a:latin typeface="Inter"/>
              </a:rPr>
              <a:t>03</a:t>
            </a:r>
          </a:p>
        </p:txBody>
      </p:sp>
      <p:sp>
        <p:nvSpPr>
          <p:cNvPr id="15" name="TextBox 14"/>
          <p:cNvSpPr txBox="1"/>
          <p:nvPr/>
        </p:nvSpPr>
        <p:spPr>
          <a:xfrm>
            <a:off x="8257031" y="2971800"/>
            <a:ext cx="3246120" cy="475488"/>
          </a:xfrm>
          <a:prstGeom prst="rect">
            <a:avLst/>
          </a:prstGeom>
          <a:noFill/>
        </p:spPr>
        <p:txBody>
          <a:bodyPr wrap="square" lIns="0" rIns="0" tIns="0" bIns="0" anchor="t">
            <a:noAutofit/>
          </a:bodyPr>
          <a:lstStyle/>
          <a:p>
            <a:pPr algn="l">
              <a:lnSpc>
                <a:spcPct val="114000"/>
              </a:lnSpc>
              <a:spcBef>
                <a:spcPts val="0"/>
              </a:spcBef>
              <a:spcAft>
                <a:spcPts val="0"/>
              </a:spcAft>
            </a:pPr>
            <a:r>
              <a:rPr sz="2600" b="1">
                <a:solidFill>
                  <a:srgbClr val="121610"/>
                </a:solidFill>
                <a:latin typeface="Inter"/>
              </a:rPr>
              <a:t>Verify</a:t>
            </a:r>
          </a:p>
        </p:txBody>
      </p:sp>
      <p:sp>
        <p:nvSpPr>
          <p:cNvPr id="16" name="TextBox 15"/>
          <p:cNvSpPr txBox="1"/>
          <p:nvPr/>
        </p:nvSpPr>
        <p:spPr>
          <a:xfrm>
            <a:off x="8257031" y="3703320"/>
            <a:ext cx="3246120" cy="1353312"/>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Test boundaries, inspect</a:t>
            </a:r>
          </a:p>
          <a:p>
            <a:pPr algn="l">
              <a:lnSpc>
                <a:spcPct val="114000"/>
              </a:lnSpc>
              <a:spcBef>
                <a:spcPts val="0"/>
              </a:spcBef>
              <a:spcAft>
                <a:spcPts val="0"/>
              </a:spcAft>
            </a:pPr>
            <a:r>
              <a:rPr sz="2000" b="0">
                <a:solidFill>
                  <a:srgbClr val="121610"/>
                </a:solidFill>
                <a:latin typeface="Inter"/>
              </a:rPr>
              <a:t>access patterns, and justify</a:t>
            </a:r>
          </a:p>
          <a:p>
            <a:pPr algn="l">
              <a:lnSpc>
                <a:spcPct val="114000"/>
              </a:lnSpc>
              <a:spcBef>
                <a:spcPts val="0"/>
              </a:spcBef>
              <a:spcAft>
                <a:spcPts val="0"/>
              </a:spcAft>
            </a:pPr>
            <a:r>
              <a:rPr sz="2000" b="0">
                <a:solidFill>
                  <a:srgbClr val="121610"/>
                </a:solidFill>
                <a:latin typeface="Inter"/>
              </a:rPr>
              <a:t>a synchronization point.</a:t>
            </a:r>
          </a:p>
        </p:txBody>
      </p:sp>
      <p:sp>
        <p:nvSpPr>
          <p:cNvPr id="17" name="Rectangle 16"/>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Evidence: correct output, a thread/data explanation, and a justified memory-access prediction.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SCHEDULE</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One day. Four connected learning blocks.</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Workshop schedule; the underlying concepts are mapped to the guide in the speaker notes.</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03</a:t>
            </a:r>
          </a:p>
        </p:txBody>
      </p:sp>
      <p:sp>
        <p:nvSpPr>
          <p:cNvPr id="8" name="Rectangle 7"/>
          <p:cNvSpPr/>
          <p:nvPr/>
        </p:nvSpPr>
        <p:spPr>
          <a:xfrm>
            <a:off x="585216" y="1856231"/>
            <a:ext cx="11000232" cy="347472"/>
          </a:xfrm>
          <a:prstGeom prst="rect">
            <a:avLst/>
          </a:prstGeom>
          <a:solidFill>
            <a:srgbClr val="1216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13232" y="1929384"/>
            <a:ext cx="1929384"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FFFFFF"/>
                </a:solidFill>
                <a:latin typeface="Inter"/>
              </a:rPr>
              <a:t>TIME</a:t>
            </a:r>
          </a:p>
        </p:txBody>
      </p:sp>
      <p:sp>
        <p:nvSpPr>
          <p:cNvPr id="10" name="TextBox 9"/>
          <p:cNvSpPr txBox="1"/>
          <p:nvPr/>
        </p:nvSpPr>
        <p:spPr>
          <a:xfrm>
            <a:off x="2871216" y="1929384"/>
            <a:ext cx="411480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FFFFFF"/>
                </a:solidFill>
                <a:latin typeface="Inter"/>
              </a:rPr>
              <a:t>LEARNING BLOCK</a:t>
            </a:r>
          </a:p>
        </p:txBody>
      </p:sp>
      <p:sp>
        <p:nvSpPr>
          <p:cNvPr id="11" name="TextBox 10"/>
          <p:cNvSpPr txBox="1"/>
          <p:nvPr/>
        </p:nvSpPr>
        <p:spPr>
          <a:xfrm>
            <a:off x="7214616" y="1929384"/>
            <a:ext cx="4270248"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FFFFFF"/>
                </a:solidFill>
                <a:latin typeface="Inter"/>
              </a:rPr>
              <a:t>PRACTICE</a:t>
            </a:r>
          </a:p>
        </p:txBody>
      </p:sp>
      <p:sp>
        <p:nvSpPr>
          <p:cNvPr id="12" name="Rectangle 11"/>
          <p:cNvSpPr/>
          <p:nvPr/>
        </p:nvSpPr>
        <p:spPr>
          <a:xfrm>
            <a:off x="585216" y="2203703"/>
            <a:ext cx="11000232" cy="603504"/>
          </a:xfrm>
          <a:prstGeom prst="rect">
            <a:avLst/>
          </a:prstGeom>
          <a:solidFill>
            <a:srgbClr val="F0F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13232" y="2340863"/>
            <a:ext cx="1911095" cy="420624"/>
          </a:xfrm>
          <a:prstGeom prst="rect">
            <a:avLst/>
          </a:prstGeom>
          <a:noFill/>
        </p:spPr>
        <p:txBody>
          <a:bodyPr wrap="square" lIns="0" rIns="0" tIns="0" bIns="0" anchor="t">
            <a:noAutofit/>
          </a:bodyPr>
          <a:lstStyle/>
          <a:p>
            <a:pPr algn="l">
              <a:lnSpc>
                <a:spcPct val="104000"/>
              </a:lnSpc>
              <a:spcBef>
                <a:spcPts val="0"/>
              </a:spcBef>
              <a:spcAft>
                <a:spcPts val="0"/>
              </a:spcAft>
            </a:pPr>
            <a:r>
              <a:rPr sz="1700" b="1">
                <a:solidFill>
                  <a:srgbClr val="466B00"/>
                </a:solidFill>
                <a:latin typeface="Inter"/>
              </a:rPr>
              <a:t>09:00–10:15</a:t>
            </a:r>
          </a:p>
        </p:txBody>
      </p:sp>
      <p:sp>
        <p:nvSpPr>
          <p:cNvPr id="14" name="TextBox 13"/>
          <p:cNvSpPr txBox="1"/>
          <p:nvPr/>
        </p:nvSpPr>
        <p:spPr>
          <a:xfrm>
            <a:off x="2871216" y="2340863"/>
            <a:ext cx="4096512" cy="420624"/>
          </a:xfrm>
          <a:prstGeom prst="rect">
            <a:avLst/>
          </a:prstGeom>
          <a:noFill/>
        </p:spPr>
        <p:txBody>
          <a:bodyPr wrap="square" lIns="0" rIns="0" tIns="0" bIns="0" anchor="t">
            <a:noAutofit/>
          </a:bodyPr>
          <a:lstStyle/>
          <a:p>
            <a:pPr algn="l">
              <a:lnSpc>
                <a:spcPct val="104000"/>
              </a:lnSpc>
              <a:spcBef>
                <a:spcPts val="0"/>
              </a:spcBef>
              <a:spcAft>
                <a:spcPts val="0"/>
              </a:spcAft>
            </a:pPr>
            <a:r>
              <a:rPr sz="1700" b="0">
                <a:solidFill>
                  <a:srgbClr val="121610"/>
                </a:solidFill>
                <a:latin typeface="Inter"/>
              </a:rPr>
              <a:t>Programming model</a:t>
            </a:r>
          </a:p>
        </p:txBody>
      </p:sp>
      <p:sp>
        <p:nvSpPr>
          <p:cNvPr id="15" name="TextBox 14"/>
          <p:cNvSpPr txBox="1"/>
          <p:nvPr/>
        </p:nvSpPr>
        <p:spPr>
          <a:xfrm>
            <a:off x="7214616" y="2340863"/>
            <a:ext cx="4251960" cy="420624"/>
          </a:xfrm>
          <a:prstGeom prst="rect">
            <a:avLst/>
          </a:prstGeom>
          <a:noFill/>
        </p:spPr>
        <p:txBody>
          <a:bodyPr wrap="square" lIns="0" rIns="0" tIns="0" bIns="0" anchor="t">
            <a:noAutofit/>
          </a:bodyPr>
          <a:lstStyle/>
          <a:p>
            <a:pPr algn="l">
              <a:lnSpc>
                <a:spcPct val="104000"/>
              </a:lnSpc>
              <a:spcBef>
                <a:spcPts val="0"/>
              </a:spcBef>
              <a:spcAft>
                <a:spcPts val="0"/>
              </a:spcAft>
            </a:pPr>
            <a:r>
              <a:rPr sz="1700" b="0">
                <a:solidFill>
                  <a:srgbClr val="121610"/>
                </a:solidFill>
                <a:latin typeface="Inter"/>
              </a:rPr>
              <a:t>GPU/CPU checkpoint · Lab 1</a:t>
            </a:r>
          </a:p>
        </p:txBody>
      </p:sp>
      <p:sp>
        <p:nvSpPr>
          <p:cNvPr id="16" name="TextBox 15"/>
          <p:cNvSpPr txBox="1"/>
          <p:nvPr/>
        </p:nvSpPr>
        <p:spPr>
          <a:xfrm>
            <a:off x="713232" y="2944368"/>
            <a:ext cx="1911095" cy="420624"/>
          </a:xfrm>
          <a:prstGeom prst="rect">
            <a:avLst/>
          </a:prstGeom>
          <a:noFill/>
        </p:spPr>
        <p:txBody>
          <a:bodyPr wrap="square" lIns="0" rIns="0" tIns="0" bIns="0" anchor="t">
            <a:noAutofit/>
          </a:bodyPr>
          <a:lstStyle/>
          <a:p>
            <a:pPr algn="l">
              <a:lnSpc>
                <a:spcPct val="104000"/>
              </a:lnSpc>
              <a:spcBef>
                <a:spcPts val="0"/>
              </a:spcBef>
              <a:spcAft>
                <a:spcPts val="0"/>
              </a:spcAft>
            </a:pPr>
            <a:r>
              <a:rPr sz="1700" b="1">
                <a:solidFill>
                  <a:srgbClr val="466B00"/>
                </a:solidFill>
                <a:latin typeface="Inter"/>
              </a:rPr>
              <a:t>10:30–12:15</a:t>
            </a:r>
          </a:p>
        </p:txBody>
      </p:sp>
      <p:sp>
        <p:nvSpPr>
          <p:cNvPr id="17" name="TextBox 16"/>
          <p:cNvSpPr txBox="1"/>
          <p:nvPr/>
        </p:nvSpPr>
        <p:spPr>
          <a:xfrm>
            <a:off x="2871216" y="2944368"/>
            <a:ext cx="4096512" cy="420624"/>
          </a:xfrm>
          <a:prstGeom prst="rect">
            <a:avLst/>
          </a:prstGeom>
          <a:noFill/>
        </p:spPr>
        <p:txBody>
          <a:bodyPr wrap="square" lIns="0" rIns="0" tIns="0" bIns="0" anchor="t">
            <a:noAutofit/>
          </a:bodyPr>
          <a:lstStyle/>
          <a:p>
            <a:pPr algn="l">
              <a:lnSpc>
                <a:spcPct val="104000"/>
              </a:lnSpc>
              <a:spcBef>
                <a:spcPts val="0"/>
              </a:spcBef>
              <a:spcAft>
                <a:spcPts val="0"/>
              </a:spcAft>
            </a:pPr>
            <a:r>
              <a:rPr sz="1700" b="0">
                <a:solidFill>
                  <a:srgbClr val="121610"/>
                </a:solidFill>
                <a:latin typeface="Inter"/>
              </a:rPr>
              <a:t>First CUDA feature</a:t>
            </a:r>
          </a:p>
        </p:txBody>
      </p:sp>
      <p:sp>
        <p:nvSpPr>
          <p:cNvPr id="18" name="TextBox 17"/>
          <p:cNvSpPr txBox="1"/>
          <p:nvPr/>
        </p:nvSpPr>
        <p:spPr>
          <a:xfrm>
            <a:off x="7214616" y="2944368"/>
            <a:ext cx="4251960" cy="420624"/>
          </a:xfrm>
          <a:prstGeom prst="rect">
            <a:avLst/>
          </a:prstGeom>
          <a:noFill/>
        </p:spPr>
        <p:txBody>
          <a:bodyPr wrap="square" lIns="0" rIns="0" tIns="0" bIns="0" anchor="t">
            <a:noAutofit/>
          </a:bodyPr>
          <a:lstStyle/>
          <a:p>
            <a:pPr algn="l">
              <a:lnSpc>
                <a:spcPct val="104000"/>
              </a:lnSpc>
              <a:spcBef>
                <a:spcPts val="0"/>
              </a:spcBef>
              <a:spcAft>
                <a:spcPts val="0"/>
              </a:spcAft>
            </a:pPr>
            <a:r>
              <a:rPr sz="1700" b="0">
                <a:solidFill>
                  <a:srgbClr val="121610"/>
                </a:solidFill>
                <a:latin typeface="Inter"/>
              </a:rPr>
              <a:t>Kernel + correctness · Lab 2</a:t>
            </a:r>
          </a:p>
        </p:txBody>
      </p:sp>
      <p:sp>
        <p:nvSpPr>
          <p:cNvPr id="19" name="Rectangle 18"/>
          <p:cNvSpPr/>
          <p:nvPr/>
        </p:nvSpPr>
        <p:spPr>
          <a:xfrm>
            <a:off x="585216" y="3410712"/>
            <a:ext cx="11000232" cy="603504"/>
          </a:xfrm>
          <a:prstGeom prst="rect">
            <a:avLst/>
          </a:prstGeom>
          <a:solidFill>
            <a:srgbClr val="F0F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13232" y="3547872"/>
            <a:ext cx="1911095" cy="420624"/>
          </a:xfrm>
          <a:prstGeom prst="rect">
            <a:avLst/>
          </a:prstGeom>
          <a:noFill/>
        </p:spPr>
        <p:txBody>
          <a:bodyPr wrap="square" lIns="0" rIns="0" tIns="0" bIns="0" anchor="t">
            <a:noAutofit/>
          </a:bodyPr>
          <a:lstStyle/>
          <a:p>
            <a:pPr algn="l">
              <a:lnSpc>
                <a:spcPct val="104000"/>
              </a:lnSpc>
              <a:spcBef>
                <a:spcPts val="0"/>
              </a:spcBef>
              <a:spcAft>
                <a:spcPts val="0"/>
              </a:spcAft>
            </a:pPr>
            <a:r>
              <a:rPr sz="1700" b="1">
                <a:solidFill>
                  <a:srgbClr val="466B00"/>
                </a:solidFill>
                <a:latin typeface="Inter"/>
              </a:rPr>
              <a:t>13:15–15:00</a:t>
            </a:r>
          </a:p>
        </p:txBody>
      </p:sp>
      <p:sp>
        <p:nvSpPr>
          <p:cNvPr id="21" name="TextBox 20"/>
          <p:cNvSpPr txBox="1"/>
          <p:nvPr/>
        </p:nvSpPr>
        <p:spPr>
          <a:xfrm>
            <a:off x="2871216" y="3547872"/>
            <a:ext cx="4096512" cy="420624"/>
          </a:xfrm>
          <a:prstGeom prst="rect">
            <a:avLst/>
          </a:prstGeom>
          <a:noFill/>
        </p:spPr>
        <p:txBody>
          <a:bodyPr wrap="square" lIns="0" rIns="0" tIns="0" bIns="0" anchor="t">
            <a:noAutofit/>
          </a:bodyPr>
          <a:lstStyle/>
          <a:p>
            <a:pPr algn="l">
              <a:lnSpc>
                <a:spcPct val="104000"/>
              </a:lnSpc>
              <a:spcBef>
                <a:spcPts val="0"/>
              </a:spcBef>
              <a:spcAft>
                <a:spcPts val="0"/>
              </a:spcAft>
            </a:pPr>
            <a:r>
              <a:rPr sz="1700" b="0">
                <a:solidFill>
                  <a:srgbClr val="121610"/>
                </a:solidFill>
                <a:latin typeface="Inter"/>
              </a:rPr>
              <a:t>Memory-access patterns</a:t>
            </a:r>
          </a:p>
        </p:txBody>
      </p:sp>
      <p:sp>
        <p:nvSpPr>
          <p:cNvPr id="22" name="TextBox 21"/>
          <p:cNvSpPr txBox="1"/>
          <p:nvPr/>
        </p:nvSpPr>
        <p:spPr>
          <a:xfrm>
            <a:off x="7214616" y="3547872"/>
            <a:ext cx="4251960" cy="420624"/>
          </a:xfrm>
          <a:prstGeom prst="rect">
            <a:avLst/>
          </a:prstGeom>
          <a:noFill/>
        </p:spPr>
        <p:txBody>
          <a:bodyPr wrap="square" lIns="0" rIns="0" tIns="0" bIns="0" anchor="t">
            <a:noAutofit/>
          </a:bodyPr>
          <a:lstStyle/>
          <a:p>
            <a:pPr algn="l">
              <a:lnSpc>
                <a:spcPct val="104000"/>
              </a:lnSpc>
              <a:spcBef>
                <a:spcPts val="0"/>
              </a:spcBef>
              <a:spcAft>
                <a:spcPts val="0"/>
              </a:spcAft>
            </a:pPr>
            <a:r>
              <a:rPr sz="1700" b="0">
                <a:solidFill>
                  <a:srgbClr val="121610"/>
                </a:solidFill>
                <a:latin typeface="Inter"/>
              </a:rPr>
              <a:t>Transpose investigation · Lab 3</a:t>
            </a:r>
          </a:p>
        </p:txBody>
      </p:sp>
      <p:sp>
        <p:nvSpPr>
          <p:cNvPr id="23" name="TextBox 22"/>
          <p:cNvSpPr txBox="1"/>
          <p:nvPr/>
        </p:nvSpPr>
        <p:spPr>
          <a:xfrm>
            <a:off x="713232" y="4151376"/>
            <a:ext cx="1911095" cy="420624"/>
          </a:xfrm>
          <a:prstGeom prst="rect">
            <a:avLst/>
          </a:prstGeom>
          <a:noFill/>
        </p:spPr>
        <p:txBody>
          <a:bodyPr wrap="square" lIns="0" rIns="0" tIns="0" bIns="0" anchor="t">
            <a:noAutofit/>
          </a:bodyPr>
          <a:lstStyle/>
          <a:p>
            <a:pPr algn="l">
              <a:lnSpc>
                <a:spcPct val="104000"/>
              </a:lnSpc>
              <a:spcBef>
                <a:spcPts val="0"/>
              </a:spcBef>
              <a:spcAft>
                <a:spcPts val="0"/>
              </a:spcAft>
            </a:pPr>
            <a:r>
              <a:rPr sz="1700" b="1">
                <a:solidFill>
                  <a:srgbClr val="466B00"/>
                </a:solidFill>
                <a:latin typeface="Inter"/>
              </a:rPr>
              <a:t>15:15–16:40</a:t>
            </a:r>
          </a:p>
        </p:txBody>
      </p:sp>
      <p:sp>
        <p:nvSpPr>
          <p:cNvPr id="24" name="TextBox 23"/>
          <p:cNvSpPr txBox="1"/>
          <p:nvPr/>
        </p:nvSpPr>
        <p:spPr>
          <a:xfrm>
            <a:off x="2871216" y="4151376"/>
            <a:ext cx="4096512" cy="420624"/>
          </a:xfrm>
          <a:prstGeom prst="rect">
            <a:avLst/>
          </a:prstGeom>
          <a:noFill/>
        </p:spPr>
        <p:txBody>
          <a:bodyPr wrap="square" lIns="0" rIns="0" tIns="0" bIns="0" anchor="t">
            <a:noAutofit/>
          </a:bodyPr>
          <a:lstStyle/>
          <a:p>
            <a:pPr algn="l">
              <a:lnSpc>
                <a:spcPct val="104000"/>
              </a:lnSpc>
              <a:spcBef>
                <a:spcPts val="0"/>
              </a:spcBef>
              <a:spcAft>
                <a:spcPts val="0"/>
              </a:spcAft>
            </a:pPr>
            <a:r>
              <a:rPr sz="1700" b="0">
                <a:solidFill>
                  <a:srgbClr val="121610"/>
                </a:solidFill>
                <a:latin typeface="Inter"/>
              </a:rPr>
              <a:t>Thread cooperation</a:t>
            </a:r>
          </a:p>
        </p:txBody>
      </p:sp>
      <p:sp>
        <p:nvSpPr>
          <p:cNvPr id="25" name="TextBox 24"/>
          <p:cNvSpPr txBox="1"/>
          <p:nvPr/>
        </p:nvSpPr>
        <p:spPr>
          <a:xfrm>
            <a:off x="7214616" y="4151376"/>
            <a:ext cx="4251960" cy="420624"/>
          </a:xfrm>
          <a:prstGeom prst="rect">
            <a:avLst/>
          </a:prstGeom>
          <a:noFill/>
        </p:spPr>
        <p:txBody>
          <a:bodyPr wrap="square" lIns="0" rIns="0" tIns="0" bIns="0" anchor="t">
            <a:noAutofit/>
          </a:bodyPr>
          <a:lstStyle/>
          <a:p>
            <a:pPr algn="l">
              <a:lnSpc>
                <a:spcPct val="104000"/>
              </a:lnSpc>
              <a:spcBef>
                <a:spcPts val="0"/>
              </a:spcBef>
              <a:spcAft>
                <a:spcPts val="0"/>
              </a:spcAft>
            </a:pPr>
            <a:r>
              <a:rPr sz="1700" b="0">
                <a:solidFill>
                  <a:srgbClr val="121610"/>
                </a:solidFill>
                <a:latin typeface="Inter"/>
              </a:rPr>
              <a:t>Reduction investigation · Lab 4</a:t>
            </a:r>
          </a:p>
        </p:txBody>
      </p:sp>
      <p:sp>
        <p:nvSpPr>
          <p:cNvPr id="26" name="Rectangle 25"/>
          <p:cNvSpPr/>
          <p:nvPr/>
        </p:nvSpPr>
        <p:spPr>
          <a:xfrm>
            <a:off x="585216" y="4617720"/>
            <a:ext cx="11000232" cy="603504"/>
          </a:xfrm>
          <a:prstGeom prst="rect">
            <a:avLst/>
          </a:prstGeom>
          <a:solidFill>
            <a:srgbClr val="F0F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713232" y="4754880"/>
            <a:ext cx="1911095" cy="420624"/>
          </a:xfrm>
          <a:prstGeom prst="rect">
            <a:avLst/>
          </a:prstGeom>
          <a:noFill/>
        </p:spPr>
        <p:txBody>
          <a:bodyPr wrap="square" lIns="0" rIns="0" tIns="0" bIns="0" anchor="t">
            <a:noAutofit/>
          </a:bodyPr>
          <a:lstStyle/>
          <a:p>
            <a:pPr algn="l">
              <a:lnSpc>
                <a:spcPct val="104000"/>
              </a:lnSpc>
              <a:spcBef>
                <a:spcPts val="0"/>
              </a:spcBef>
              <a:spcAft>
                <a:spcPts val="0"/>
              </a:spcAft>
            </a:pPr>
            <a:r>
              <a:rPr sz="1700" b="1">
                <a:solidFill>
                  <a:srgbClr val="466B00"/>
                </a:solidFill>
                <a:latin typeface="Inter"/>
              </a:rPr>
              <a:t>16:40–17:00</a:t>
            </a:r>
          </a:p>
        </p:txBody>
      </p:sp>
      <p:sp>
        <p:nvSpPr>
          <p:cNvPr id="28" name="TextBox 27"/>
          <p:cNvSpPr txBox="1"/>
          <p:nvPr/>
        </p:nvSpPr>
        <p:spPr>
          <a:xfrm>
            <a:off x="2871216" y="4754880"/>
            <a:ext cx="4096512" cy="420624"/>
          </a:xfrm>
          <a:prstGeom prst="rect">
            <a:avLst/>
          </a:prstGeom>
          <a:noFill/>
        </p:spPr>
        <p:txBody>
          <a:bodyPr wrap="square" lIns="0" rIns="0" tIns="0" bIns="0" anchor="t">
            <a:noAutofit/>
          </a:bodyPr>
          <a:lstStyle/>
          <a:p>
            <a:pPr algn="l">
              <a:lnSpc>
                <a:spcPct val="104000"/>
              </a:lnSpc>
              <a:spcBef>
                <a:spcPts val="0"/>
              </a:spcBef>
              <a:spcAft>
                <a:spcPts val="0"/>
              </a:spcAft>
            </a:pPr>
            <a:r>
              <a:rPr sz="1700" b="0">
                <a:solidFill>
                  <a:srgbClr val="121610"/>
                </a:solidFill>
                <a:latin typeface="Inter"/>
              </a:rPr>
              <a:t>Review and evidence check</a:t>
            </a:r>
          </a:p>
        </p:txBody>
      </p:sp>
      <p:sp>
        <p:nvSpPr>
          <p:cNvPr id="29" name="TextBox 28"/>
          <p:cNvSpPr txBox="1"/>
          <p:nvPr/>
        </p:nvSpPr>
        <p:spPr>
          <a:xfrm>
            <a:off x="7214616" y="4754880"/>
            <a:ext cx="4251960" cy="420624"/>
          </a:xfrm>
          <a:prstGeom prst="rect">
            <a:avLst/>
          </a:prstGeom>
          <a:noFill/>
        </p:spPr>
        <p:txBody>
          <a:bodyPr wrap="square" lIns="0" rIns="0" tIns="0" bIns="0" anchor="t">
            <a:noAutofit/>
          </a:bodyPr>
          <a:lstStyle/>
          <a:p>
            <a:pPr algn="l">
              <a:lnSpc>
                <a:spcPct val="104000"/>
              </a:lnSpc>
              <a:spcBef>
                <a:spcPts val="0"/>
              </a:spcBef>
              <a:spcAft>
                <a:spcPts val="0"/>
              </a:spcAft>
            </a:pPr>
            <a:r>
              <a:rPr sz="1700" b="0">
                <a:solidFill>
                  <a:srgbClr val="121610"/>
                </a:solidFill>
                <a:latin typeface="Inter"/>
              </a:rPr>
              <a:t>Prepare for Day 2</a:t>
            </a:r>
          </a:p>
        </p:txBody>
      </p:sp>
      <p:sp>
        <p:nvSpPr>
          <p:cNvPr id="30" name="TextBox 29"/>
          <p:cNvSpPr txBox="1"/>
          <p:nvPr/>
        </p:nvSpPr>
        <p:spPr>
          <a:xfrm>
            <a:off x="704088" y="5513832"/>
            <a:ext cx="10789920" cy="384048"/>
          </a:xfrm>
          <a:prstGeom prst="rect">
            <a:avLst/>
          </a:prstGeom>
          <a:noFill/>
        </p:spPr>
        <p:txBody>
          <a:bodyPr wrap="square" lIns="0" rIns="0" tIns="0" bIns="0" anchor="t">
            <a:noAutofit/>
          </a:bodyPr>
          <a:lstStyle/>
          <a:p>
            <a:pPr algn="l">
              <a:lnSpc>
                <a:spcPct val="114000"/>
              </a:lnSpc>
              <a:spcBef>
                <a:spcPts val="0"/>
              </a:spcBef>
              <a:spcAft>
                <a:spcPts val="0"/>
              </a:spcAft>
            </a:pPr>
            <a:r>
              <a:rPr sz="1500" b="0">
                <a:solidFill>
                  <a:srgbClr val="5A6358"/>
                </a:solidFill>
                <a:latin typeface="Inter"/>
              </a:rPr>
              <a:t>Breaks: 10:15–10:30 and 15:00–15:15   |   Lunch: 12:15–13:15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BEFORE THE FIRST LAB</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Prepare the machine once; focus on CUDA today</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Existing Day 1 course setup; uploaded guide is Release 13.4.2, not a change to the lab toolchain.</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04</a:t>
            </a:r>
          </a:p>
        </p:txBody>
      </p:sp>
      <p:sp>
        <p:nvSpPr>
          <p:cNvPr id="8" name="TextBox 7"/>
          <p:cNvSpPr txBox="1"/>
          <p:nvPr/>
        </p:nvSpPr>
        <p:spPr>
          <a:xfrm>
            <a:off x="640080" y="1938528"/>
            <a:ext cx="516636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EXISTING REPOSITORY</a:t>
            </a:r>
          </a:p>
        </p:txBody>
      </p:sp>
      <p:sp>
        <p:nvSpPr>
          <p:cNvPr id="9" name="TextBox 8"/>
          <p:cNvSpPr txBox="1"/>
          <p:nvPr/>
        </p:nvSpPr>
        <p:spPr>
          <a:xfrm>
            <a:off x="640080" y="2249424"/>
            <a:ext cx="5166360" cy="1188719"/>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Use projects/detailed for the reference.</a:t>
            </a:r>
          </a:p>
          <a:p>
            <a:pPr algn="l">
              <a:lnSpc>
                <a:spcPct val="114000"/>
              </a:lnSpc>
              <a:spcBef>
                <a:spcPts val="0"/>
              </a:spcBef>
              <a:spcAft>
                <a:spcPts val="0"/>
              </a:spcAft>
            </a:pPr>
            <a:r>
              <a:rPr sz="2000" b="0">
                <a:solidFill>
                  <a:srgbClr val="121610"/>
                </a:solidFill>
                <a:latin typeface="Inter"/>
              </a:rPr>
              <a:t>Run its declared toolchain and targets.</a:t>
            </a:r>
          </a:p>
        </p:txBody>
      </p:sp>
      <p:sp>
        <p:nvSpPr>
          <p:cNvPr id="10" name="TextBox 9"/>
          <p:cNvSpPr txBox="1"/>
          <p:nvPr/>
        </p:nvSpPr>
        <p:spPr>
          <a:xfrm>
            <a:off x="640080" y="3447288"/>
            <a:ext cx="516636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EXISTING EXERCISE MODULES</a:t>
            </a:r>
          </a:p>
        </p:txBody>
      </p:sp>
      <p:sp>
        <p:nvSpPr>
          <p:cNvPr id="11" name="TextBox 10"/>
          <p:cNvSpPr txBox="1"/>
          <p:nvPr/>
        </p:nvSpPr>
        <p:spPr>
          <a:xfrm>
            <a:off x="640080" y="3758184"/>
            <a:ext cx="5166360" cy="1188719"/>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Use tp/day1/ex01…ex05 for starter work.</a:t>
            </a:r>
          </a:p>
          <a:p>
            <a:pPr algn="l">
              <a:lnSpc>
                <a:spcPct val="114000"/>
              </a:lnSpc>
              <a:spcBef>
                <a:spcPts val="0"/>
              </a:spcBef>
              <a:spcAft>
                <a:spcPts val="0"/>
              </a:spcAft>
            </a:pPr>
            <a:r>
              <a:rPr sz="2000" b="0">
                <a:solidFill>
                  <a:srgbClr val="121610"/>
                </a:solidFill>
                <a:latin typeface="Inter"/>
              </a:rPr>
              <a:t>Each is a separate Bazel module.</a:t>
            </a:r>
          </a:p>
        </p:txBody>
      </p:sp>
      <p:sp>
        <p:nvSpPr>
          <p:cNvPr id="12" name="TextBox 11"/>
          <p:cNvSpPr txBox="1"/>
          <p:nvPr/>
        </p:nvSpPr>
        <p:spPr>
          <a:xfrm>
            <a:off x="6437376" y="1938528"/>
            <a:ext cx="5102352"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COMPANION LAB PACK</a:t>
            </a:r>
          </a:p>
        </p:txBody>
      </p:sp>
      <p:sp>
        <p:nvSpPr>
          <p:cNvPr id="13" name="TextBox 12"/>
          <p:cNvSpPr txBox="1"/>
          <p:nvPr/>
        </p:nvSpPr>
        <p:spPr>
          <a:xfrm>
            <a:off x="6437376" y="2249424"/>
            <a:ext cx="5102352" cy="1188719"/>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Labs 3–4 use day1_extensions.</a:t>
            </a:r>
          </a:p>
          <a:p>
            <a:pPr algn="l">
              <a:lnSpc>
                <a:spcPct val="114000"/>
              </a:lnSpc>
              <a:spcBef>
                <a:spcPts val="0"/>
              </a:spcBef>
              <a:spcAft>
                <a:spcPts val="0"/>
              </a:spcAft>
            </a:pPr>
            <a:r>
              <a:rPr sz="2000" b="0">
                <a:solidFill>
                  <a:srgbClr val="121610"/>
                </a:solidFill>
                <a:latin typeface="Inter"/>
              </a:rPr>
              <a:t>Install one starter or solution copy.</a:t>
            </a:r>
          </a:p>
        </p:txBody>
      </p:sp>
      <p:sp>
        <p:nvSpPr>
          <p:cNvPr id="14" name="TextBox 13"/>
          <p:cNvSpPr txBox="1"/>
          <p:nvPr/>
        </p:nvSpPr>
        <p:spPr>
          <a:xfrm>
            <a:off x="6437376" y="3447288"/>
            <a:ext cx="5102352"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TRAINER PREFLIGHT</a:t>
            </a:r>
          </a:p>
        </p:txBody>
      </p:sp>
      <p:sp>
        <p:nvSpPr>
          <p:cNvPr id="15" name="TextBox 14"/>
          <p:cNvSpPr txBox="1"/>
          <p:nvPr/>
        </p:nvSpPr>
        <p:spPr>
          <a:xfrm>
            <a:off x="6437376" y="3758184"/>
            <a:ext cx="5102352" cy="1188719"/>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Check driver, GPU access, compilation,</a:t>
            </a:r>
          </a:p>
          <a:p>
            <a:pPr algn="l">
              <a:lnSpc>
                <a:spcPct val="114000"/>
              </a:lnSpc>
              <a:spcBef>
                <a:spcPts val="0"/>
              </a:spcBef>
              <a:spcAft>
                <a:spcPts val="0"/>
              </a:spcAft>
            </a:pPr>
            <a:r>
              <a:rPr sz="2000" b="0">
                <a:solidFill>
                  <a:srgbClr val="121610"/>
                </a:solidFill>
                <a:latin typeface="Inter"/>
              </a:rPr>
              <a:t>correctness tests and diagnostic tools.</a:t>
            </a:r>
          </a:p>
        </p:txBody>
      </p:sp>
      <p:sp>
        <p:nvSpPr>
          <p:cNvPr id="16" name="Rectangle 15"/>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Guide edition ≠ lab toolchain version. Revalidate the actual teaching machine before delivery.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0C08"/>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C2CBB8"/>
                </a:solidFill>
                <a:latin typeface="Inter"/>
              </a:rPr>
              <a:t>DAY 1 / 01</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FFFFFF"/>
                </a:solidFill>
                <a:latin typeface="Inter"/>
              </a:rPr>
              <a:t>Think in parallel</a:t>
            </a:r>
          </a:p>
        </p:txBody>
      </p:sp>
      <p:sp>
        <p:nvSpPr>
          <p:cNvPr id="4" name="Rectangle 3"/>
          <p:cNvSpPr/>
          <p:nvPr/>
        </p:nvSpPr>
        <p:spPr>
          <a:xfrm>
            <a:off x="502920" y="6432804"/>
            <a:ext cx="11173968" cy="8229"/>
          </a:xfrm>
          <a:prstGeom prst="rect">
            <a:avLst/>
          </a:prstGeom>
          <a:solidFill>
            <a:srgbClr val="3A45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C2CBB8"/>
                </a:solidFill>
                <a:latin typeface="Inter"/>
              </a:rPr>
              <a:t>NVIDIA Figure 1 · Guide §1.1.2, p. 4 / PDF p. 22</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C2CBB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FFFFFF"/>
                </a:solidFill>
                <a:latin typeface="Inter"/>
              </a:rPr>
              <a:t>05</a:t>
            </a:r>
          </a:p>
        </p:txBody>
      </p:sp>
      <p:sp>
        <p:nvSpPr>
          <p:cNvPr id="8" name="TextBox 7"/>
          <p:cNvSpPr txBox="1"/>
          <p:nvPr/>
        </p:nvSpPr>
        <p:spPr>
          <a:xfrm>
            <a:off x="521207" y="2103120"/>
            <a:ext cx="3566160" cy="1115568"/>
          </a:xfrm>
          <a:prstGeom prst="rect">
            <a:avLst/>
          </a:prstGeom>
          <a:noFill/>
        </p:spPr>
        <p:txBody>
          <a:bodyPr wrap="square" lIns="0" rIns="0" tIns="0" bIns="0" anchor="t">
            <a:noAutofit/>
          </a:bodyPr>
          <a:lstStyle/>
          <a:p>
            <a:pPr algn="l">
              <a:lnSpc>
                <a:spcPct val="114000"/>
              </a:lnSpc>
              <a:spcBef>
                <a:spcPts val="0"/>
              </a:spcBef>
              <a:spcAft>
                <a:spcPts val="0"/>
              </a:spcAft>
            </a:pPr>
            <a:r>
              <a:rPr sz="6600" b="1">
                <a:solidFill>
                  <a:srgbClr val="76B900"/>
                </a:solidFill>
                <a:latin typeface="Inter"/>
              </a:rPr>
              <a:t>01</a:t>
            </a:r>
          </a:p>
        </p:txBody>
      </p:sp>
      <p:sp>
        <p:nvSpPr>
          <p:cNvPr id="9" name="TextBox 8"/>
          <p:cNvSpPr txBox="1"/>
          <p:nvPr/>
        </p:nvSpPr>
        <p:spPr>
          <a:xfrm>
            <a:off x="530352" y="3438144"/>
            <a:ext cx="4069080" cy="1325880"/>
          </a:xfrm>
          <a:prstGeom prst="rect">
            <a:avLst/>
          </a:prstGeom>
          <a:noFill/>
        </p:spPr>
        <p:txBody>
          <a:bodyPr wrap="square" lIns="0" rIns="0" tIns="0" bIns="0" anchor="t">
            <a:noAutofit/>
          </a:bodyPr>
          <a:lstStyle/>
          <a:p>
            <a:pPr algn="l">
              <a:lnSpc>
                <a:spcPct val="114000"/>
              </a:lnSpc>
              <a:spcBef>
                <a:spcPts val="0"/>
              </a:spcBef>
              <a:spcAft>
                <a:spcPts val="0"/>
              </a:spcAft>
            </a:pPr>
            <a:r>
              <a:rPr sz="2200" b="0">
                <a:solidFill>
                  <a:srgbClr val="FFFFFF"/>
                </a:solidFill>
                <a:latin typeface="Inter"/>
              </a:rPr>
              <a:t>CPU and GPU designs prioritize</a:t>
            </a:r>
          </a:p>
          <a:p>
            <a:pPr algn="l">
              <a:lnSpc>
                <a:spcPct val="114000"/>
              </a:lnSpc>
              <a:spcBef>
                <a:spcPts val="0"/>
              </a:spcBef>
              <a:spcAft>
                <a:spcPts val="0"/>
              </a:spcAft>
            </a:pPr>
            <a:r>
              <a:rPr sz="2200" b="0">
                <a:solidFill>
                  <a:srgbClr val="FFFFFF"/>
                </a:solidFill>
                <a:latin typeface="Inter"/>
              </a:rPr>
              <a:t>different kinds of work.</a:t>
            </a:r>
          </a:p>
        </p:txBody>
      </p:sp>
      <p:sp>
        <p:nvSpPr>
          <p:cNvPr id="10" name="Rectangle 9"/>
          <p:cNvSpPr/>
          <p:nvPr/>
        </p:nvSpPr>
        <p:spPr>
          <a:xfrm>
            <a:off x="5065776" y="1865376"/>
            <a:ext cx="6611112" cy="360273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5325277" y="2011680"/>
            <a:ext cx="6073821" cy="299923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ORIGINAL_NVIDIA_fig01_cpu_gpu_PDF_page_22" descr="NVIDIA Figure 1; CUDA Programming Guide 13.4.2, PDF page 22, printed page 4. Extracted from embedded image xref 840; original colors and aspect ratio preserved."/>
          <p:cNvPicPr>
            <a:picLocks noChangeAspect="1"/>
          </p:cNvPicPr>
          <p:nvPr/>
        </p:nvPicPr>
        <p:blipFill>
          <a:blip r:embed="rId2"/>
          <a:stretch>
            <a:fillRect/>
          </a:stretch>
        </p:blipFill>
        <p:spPr>
          <a:xfrm>
            <a:off x="5325277" y="2011680"/>
            <a:ext cx="6073821" cy="2999232"/>
          </a:xfrm>
          <a:prstGeom prst="rect">
            <a:avLst/>
          </a:prstGeom>
        </p:spPr>
      </p:pic>
      <p:sp>
        <p:nvSpPr>
          <p:cNvPr id="13" name="TextBox 12"/>
          <p:cNvSpPr txBox="1"/>
          <p:nvPr/>
        </p:nvSpPr>
        <p:spPr>
          <a:xfrm>
            <a:off x="5276088" y="5084064"/>
            <a:ext cx="6172200" cy="210312"/>
          </a:xfrm>
          <a:prstGeom prst="rect">
            <a:avLst/>
          </a:prstGeom>
          <a:noFill/>
        </p:spPr>
        <p:txBody>
          <a:bodyPr wrap="square" lIns="0" rIns="0" tIns="0" bIns="0" anchor="t">
            <a:noAutofit/>
          </a:bodyPr>
          <a:lstStyle/>
          <a:p>
            <a:pPr algn="ctr">
              <a:lnSpc>
                <a:spcPct val="114000"/>
              </a:lnSpc>
              <a:spcBef>
                <a:spcPts val="0"/>
              </a:spcBef>
              <a:spcAft>
                <a:spcPts val="0"/>
              </a:spcAft>
            </a:pPr>
            <a:r>
              <a:rPr sz="919" b="0">
                <a:solidFill>
                  <a:srgbClr val="5A6358"/>
                </a:solidFill>
                <a:latin typeface="Inter"/>
              </a:rPr>
              <a:t>NVIDIA Figure 1 · Guide p. 4 / PDF p. 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PROGRAMMING MODEL</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The host orchestrates. The device executes kernels.</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NVIDIA Figure 2 · §1.2.1–1.2.2, pp. 5–6 / PDF pp. 23–24</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06</a:t>
            </a:r>
          </a:p>
        </p:txBody>
      </p:sp>
      <p:sp>
        <p:nvSpPr>
          <p:cNvPr id="8" name="Rectangle 7"/>
          <p:cNvSpPr/>
          <p:nvPr/>
        </p:nvSpPr>
        <p:spPr>
          <a:xfrm>
            <a:off x="1647980" y="1682496"/>
            <a:ext cx="3562038" cy="3611879"/>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ORIGINAL_NVIDIA_fig02_system_PDF_page_24" descr="NVIDIA Figure 2; CUDA Programming Guide 13.4.2, PDF page 24, printed page 6. Extracted from embedded image xref 851; original colors and aspect ratio preserved."/>
          <p:cNvPicPr>
            <a:picLocks noChangeAspect="1"/>
          </p:cNvPicPr>
          <p:nvPr/>
        </p:nvPicPr>
        <p:blipFill>
          <a:blip r:embed="rId2"/>
          <a:stretch>
            <a:fillRect/>
          </a:stretch>
        </p:blipFill>
        <p:spPr>
          <a:xfrm>
            <a:off x="1647980" y="1682496"/>
            <a:ext cx="3562038" cy="3611879"/>
          </a:xfrm>
          <a:prstGeom prst="rect">
            <a:avLst/>
          </a:prstGeom>
        </p:spPr>
      </p:pic>
      <p:sp>
        <p:nvSpPr>
          <p:cNvPr id="10" name="TextBox 9"/>
          <p:cNvSpPr txBox="1"/>
          <p:nvPr/>
        </p:nvSpPr>
        <p:spPr>
          <a:xfrm>
            <a:off x="630936" y="5367527"/>
            <a:ext cx="5596128" cy="210312"/>
          </a:xfrm>
          <a:prstGeom prst="rect">
            <a:avLst/>
          </a:prstGeom>
          <a:noFill/>
        </p:spPr>
        <p:txBody>
          <a:bodyPr wrap="square" lIns="0" rIns="0" tIns="0" bIns="0" anchor="t">
            <a:noAutofit/>
          </a:bodyPr>
          <a:lstStyle/>
          <a:p>
            <a:pPr algn="ctr">
              <a:lnSpc>
                <a:spcPct val="114000"/>
              </a:lnSpc>
              <a:spcBef>
                <a:spcPts val="0"/>
              </a:spcBef>
              <a:spcAft>
                <a:spcPts val="0"/>
              </a:spcAft>
            </a:pPr>
            <a:r>
              <a:rPr sz="919" b="0">
                <a:solidFill>
                  <a:srgbClr val="5A6358"/>
                </a:solidFill>
                <a:latin typeface="Inter"/>
              </a:rPr>
              <a:t>NVIDIA Figure 2 · Guide p. 6 / PDF p. 24</a:t>
            </a:r>
          </a:p>
        </p:txBody>
      </p:sp>
      <p:sp>
        <p:nvSpPr>
          <p:cNvPr id="11" name="TextBox 10"/>
          <p:cNvSpPr txBox="1"/>
          <p:nvPr/>
        </p:nvSpPr>
        <p:spPr>
          <a:xfrm>
            <a:off x="6656832" y="1865376"/>
            <a:ext cx="475488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HOST</a:t>
            </a:r>
          </a:p>
        </p:txBody>
      </p:sp>
      <p:sp>
        <p:nvSpPr>
          <p:cNvPr id="12" name="TextBox 11"/>
          <p:cNvSpPr txBox="1"/>
          <p:nvPr/>
        </p:nvSpPr>
        <p:spPr>
          <a:xfrm>
            <a:off x="6656832" y="2176272"/>
            <a:ext cx="4754880" cy="832104"/>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CPU code starts the application</a:t>
            </a:r>
          </a:p>
          <a:p>
            <a:pPr algn="l">
              <a:lnSpc>
                <a:spcPct val="114000"/>
              </a:lnSpc>
              <a:spcBef>
                <a:spcPts val="0"/>
              </a:spcBef>
              <a:spcAft>
                <a:spcPts val="0"/>
              </a:spcAft>
            </a:pPr>
            <a:r>
              <a:rPr sz="2000" b="0">
                <a:solidFill>
                  <a:srgbClr val="121610"/>
                </a:solidFill>
                <a:latin typeface="Inter"/>
              </a:rPr>
              <a:t>and submits work.</a:t>
            </a:r>
          </a:p>
        </p:txBody>
      </p:sp>
      <p:sp>
        <p:nvSpPr>
          <p:cNvPr id="13" name="TextBox 12"/>
          <p:cNvSpPr txBox="1"/>
          <p:nvPr/>
        </p:nvSpPr>
        <p:spPr>
          <a:xfrm>
            <a:off x="6656832" y="3017520"/>
            <a:ext cx="475488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DEVICE</a:t>
            </a:r>
          </a:p>
        </p:txBody>
      </p:sp>
      <p:sp>
        <p:nvSpPr>
          <p:cNvPr id="14" name="TextBox 13"/>
          <p:cNvSpPr txBox="1"/>
          <p:nvPr/>
        </p:nvSpPr>
        <p:spPr>
          <a:xfrm>
            <a:off x="6656832" y="3328415"/>
            <a:ext cx="4754880" cy="832104"/>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Many GPU threads execute</a:t>
            </a:r>
          </a:p>
          <a:p>
            <a:pPr algn="l">
              <a:lnSpc>
                <a:spcPct val="114000"/>
              </a:lnSpc>
              <a:spcBef>
                <a:spcPts val="0"/>
              </a:spcBef>
              <a:spcAft>
                <a:spcPts val="0"/>
              </a:spcAft>
            </a:pPr>
            <a:r>
              <a:rPr sz="2000" b="0">
                <a:solidFill>
                  <a:srgbClr val="121610"/>
                </a:solidFill>
                <a:latin typeface="Inter"/>
              </a:rPr>
              <a:t>the kernel code.</a:t>
            </a:r>
          </a:p>
        </p:txBody>
      </p:sp>
      <p:sp>
        <p:nvSpPr>
          <p:cNvPr id="15" name="TextBox 14"/>
          <p:cNvSpPr txBox="1"/>
          <p:nvPr/>
        </p:nvSpPr>
        <p:spPr>
          <a:xfrm>
            <a:off x="6656832" y="4169664"/>
            <a:ext cx="475488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COMPLETION</a:t>
            </a:r>
          </a:p>
        </p:txBody>
      </p:sp>
      <p:sp>
        <p:nvSpPr>
          <p:cNvPr id="16" name="TextBox 15"/>
          <p:cNvSpPr txBox="1"/>
          <p:nvPr/>
        </p:nvSpPr>
        <p:spPr>
          <a:xfrm>
            <a:off x="6656832" y="4480560"/>
            <a:ext cx="4754880" cy="832104"/>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Submitting a kernel is not the same</a:t>
            </a:r>
          </a:p>
          <a:p>
            <a:pPr algn="l">
              <a:lnSpc>
                <a:spcPct val="114000"/>
              </a:lnSpc>
              <a:spcBef>
                <a:spcPts val="0"/>
              </a:spcBef>
              <a:spcAft>
                <a:spcPts val="0"/>
              </a:spcAft>
            </a:pPr>
            <a:r>
              <a:rPr sz="2000" b="0">
                <a:solidFill>
                  <a:srgbClr val="121610"/>
                </a:solidFill>
                <a:latin typeface="Inter"/>
              </a:rPr>
              <a:t>as waiting for its result.</a:t>
            </a:r>
          </a:p>
        </p:txBody>
      </p:sp>
      <p:sp>
        <p:nvSpPr>
          <p:cNvPr id="17" name="Rectangle 16"/>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Keep the execution location, memory location and completion point explicit.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PROGRAMMING MODEL</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Do not confuse software groups with hardware</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NVIDIA Figures 2–3 · §1.2.2, pp. 5–7 / PDF pp. 23–25</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07</a:t>
            </a:r>
          </a:p>
        </p:txBody>
      </p:sp>
      <p:sp>
        <p:nvSpPr>
          <p:cNvPr id="8" name="Rectangle 7"/>
          <p:cNvSpPr/>
          <p:nvPr/>
        </p:nvSpPr>
        <p:spPr>
          <a:xfrm>
            <a:off x="809935" y="1847088"/>
            <a:ext cx="6408561" cy="304495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ORIGINAL_NVIDIA_fig03_grid_PDF_page_24" descr="NVIDIA Figure 3; CUDA Programming Guide 13.4.2, PDF page 24, printed page 6. Extracted from embedded image xref 853; original colors and aspect ratio preserved."/>
          <p:cNvPicPr>
            <a:picLocks noChangeAspect="1"/>
          </p:cNvPicPr>
          <p:nvPr/>
        </p:nvPicPr>
        <p:blipFill>
          <a:blip r:embed="rId2"/>
          <a:stretch>
            <a:fillRect/>
          </a:stretch>
        </p:blipFill>
        <p:spPr>
          <a:xfrm>
            <a:off x="809935" y="1847088"/>
            <a:ext cx="6408561" cy="3044952"/>
          </a:xfrm>
          <a:prstGeom prst="rect">
            <a:avLst/>
          </a:prstGeom>
        </p:spPr>
      </p:pic>
      <p:sp>
        <p:nvSpPr>
          <p:cNvPr id="10" name="TextBox 9"/>
          <p:cNvSpPr txBox="1"/>
          <p:nvPr/>
        </p:nvSpPr>
        <p:spPr>
          <a:xfrm>
            <a:off x="694944" y="4965192"/>
            <a:ext cx="6638544" cy="210312"/>
          </a:xfrm>
          <a:prstGeom prst="rect">
            <a:avLst/>
          </a:prstGeom>
          <a:noFill/>
        </p:spPr>
        <p:txBody>
          <a:bodyPr wrap="square" lIns="0" rIns="0" tIns="0" bIns="0" anchor="t">
            <a:noAutofit/>
          </a:bodyPr>
          <a:lstStyle/>
          <a:p>
            <a:pPr algn="ctr">
              <a:lnSpc>
                <a:spcPct val="114000"/>
              </a:lnSpc>
              <a:spcBef>
                <a:spcPts val="0"/>
              </a:spcBef>
              <a:spcAft>
                <a:spcPts val="0"/>
              </a:spcAft>
            </a:pPr>
            <a:r>
              <a:rPr sz="919" b="0">
                <a:solidFill>
                  <a:srgbClr val="5A6358"/>
                </a:solidFill>
                <a:latin typeface="Inter"/>
              </a:rPr>
              <a:t>NVIDIA Figure 3 · Guide p. 6 / PDF p. 24</a:t>
            </a:r>
          </a:p>
        </p:txBody>
      </p:sp>
      <p:sp>
        <p:nvSpPr>
          <p:cNvPr id="11" name="TextBox 10"/>
          <p:cNvSpPr txBox="1"/>
          <p:nvPr/>
        </p:nvSpPr>
        <p:spPr>
          <a:xfrm>
            <a:off x="7891272" y="1947672"/>
            <a:ext cx="3685032"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THE PROGRAM DESCRIBES</a:t>
            </a:r>
          </a:p>
        </p:txBody>
      </p:sp>
      <p:sp>
        <p:nvSpPr>
          <p:cNvPr id="12" name="TextBox 11"/>
          <p:cNvSpPr txBox="1"/>
          <p:nvPr/>
        </p:nvSpPr>
        <p:spPr>
          <a:xfrm>
            <a:off x="7891272" y="2258568"/>
            <a:ext cx="3685032" cy="1453895"/>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Grid dimensions.</a:t>
            </a:r>
          </a:p>
          <a:p>
            <a:pPr algn="l">
              <a:lnSpc>
                <a:spcPct val="114000"/>
              </a:lnSpc>
              <a:spcBef>
                <a:spcPts val="0"/>
              </a:spcBef>
              <a:spcAft>
                <a:spcPts val="0"/>
              </a:spcAft>
            </a:pPr>
            <a:r>
              <a:rPr sz="2000" b="0">
                <a:solidFill>
                  <a:srgbClr val="121610"/>
                </a:solidFill>
                <a:latin typeface="Inter"/>
              </a:rPr>
              <a:t>Block dimensions.</a:t>
            </a:r>
          </a:p>
          <a:p>
            <a:pPr algn="l">
              <a:lnSpc>
                <a:spcPct val="114000"/>
              </a:lnSpc>
              <a:spcBef>
                <a:spcPts val="0"/>
              </a:spcBef>
              <a:spcAft>
                <a:spcPts val="0"/>
              </a:spcAft>
            </a:pPr>
            <a:r>
              <a:rPr sz="2000" b="0">
                <a:solidFill>
                  <a:srgbClr val="121610"/>
                </a:solidFill>
                <a:latin typeface="Inter"/>
              </a:rPr>
              <a:t>Per-thread work.</a:t>
            </a:r>
          </a:p>
        </p:txBody>
      </p:sp>
      <p:sp>
        <p:nvSpPr>
          <p:cNvPr id="13" name="TextBox 12"/>
          <p:cNvSpPr txBox="1"/>
          <p:nvPr/>
        </p:nvSpPr>
        <p:spPr>
          <a:xfrm>
            <a:off x="7891272" y="3721608"/>
            <a:ext cx="3685032"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THE HARDWARE EXECUTES</a:t>
            </a:r>
          </a:p>
        </p:txBody>
      </p:sp>
      <p:sp>
        <p:nvSpPr>
          <p:cNvPr id="14" name="TextBox 13"/>
          <p:cNvSpPr txBox="1"/>
          <p:nvPr/>
        </p:nvSpPr>
        <p:spPr>
          <a:xfrm>
            <a:off x="7891272" y="4032504"/>
            <a:ext cx="3685032" cy="1453895"/>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Blocks on SMs, subject to</a:t>
            </a:r>
          </a:p>
          <a:p>
            <a:pPr algn="l">
              <a:lnSpc>
                <a:spcPct val="114000"/>
              </a:lnSpc>
              <a:spcBef>
                <a:spcPts val="0"/>
              </a:spcBef>
              <a:spcAft>
                <a:spcPts val="0"/>
              </a:spcAft>
            </a:pPr>
            <a:r>
              <a:rPr sz="2000" b="0">
                <a:solidFill>
                  <a:srgbClr val="121610"/>
                </a:solidFill>
                <a:latin typeface="Inter"/>
              </a:rPr>
              <a:t>available resources.</a:t>
            </a:r>
          </a:p>
        </p:txBody>
      </p:sp>
      <p:sp>
        <p:nvSpPr>
          <p:cNvPr id="15" name="Rectangle 14"/>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A block is a software grouping. An SM is a hardware execution resource.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PROGRAMMING MODEL</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Independent blocks let the same program scale</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NVIDIA Figure 4 · §1.2.2.1, pp. 7–8 / PDF pp. 25–26</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08</a:t>
            </a:r>
          </a:p>
        </p:txBody>
      </p:sp>
      <p:sp>
        <p:nvSpPr>
          <p:cNvPr id="8" name="Rectangle 7"/>
          <p:cNvSpPr/>
          <p:nvPr/>
        </p:nvSpPr>
        <p:spPr>
          <a:xfrm>
            <a:off x="1361871" y="1709928"/>
            <a:ext cx="2497481" cy="363016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ORIGINAL_NVIDIA_fig04_scheduling_PDF_page_26" descr="NVIDIA Figure 4; CUDA Programming Guide 13.4.2, PDF page 26, printed page 8. Extracted from embedded image xref 870; original colors and aspect ratio preserved."/>
          <p:cNvPicPr>
            <a:picLocks noChangeAspect="1"/>
          </p:cNvPicPr>
          <p:nvPr/>
        </p:nvPicPr>
        <p:blipFill>
          <a:blip r:embed="rId2"/>
          <a:stretch>
            <a:fillRect/>
          </a:stretch>
        </p:blipFill>
        <p:spPr>
          <a:xfrm>
            <a:off x="1361871" y="1709928"/>
            <a:ext cx="2497481" cy="3630168"/>
          </a:xfrm>
          <a:prstGeom prst="rect">
            <a:avLst/>
          </a:prstGeom>
        </p:spPr>
      </p:pic>
      <p:sp>
        <p:nvSpPr>
          <p:cNvPr id="10" name="TextBox 9"/>
          <p:cNvSpPr txBox="1"/>
          <p:nvPr/>
        </p:nvSpPr>
        <p:spPr>
          <a:xfrm>
            <a:off x="621792" y="5413248"/>
            <a:ext cx="3977639" cy="210312"/>
          </a:xfrm>
          <a:prstGeom prst="rect">
            <a:avLst/>
          </a:prstGeom>
          <a:noFill/>
        </p:spPr>
        <p:txBody>
          <a:bodyPr wrap="square" lIns="0" rIns="0" tIns="0" bIns="0" anchor="t">
            <a:noAutofit/>
          </a:bodyPr>
          <a:lstStyle/>
          <a:p>
            <a:pPr algn="ctr">
              <a:lnSpc>
                <a:spcPct val="114000"/>
              </a:lnSpc>
              <a:spcBef>
                <a:spcPts val="0"/>
              </a:spcBef>
              <a:spcAft>
                <a:spcPts val="0"/>
              </a:spcAft>
            </a:pPr>
            <a:r>
              <a:rPr sz="919" b="0">
                <a:solidFill>
                  <a:srgbClr val="5A6358"/>
                </a:solidFill>
                <a:latin typeface="Inter"/>
              </a:rPr>
              <a:t>NVIDIA Figure 4 · Guide p. 8 / PDF p. 26</a:t>
            </a:r>
          </a:p>
        </p:txBody>
      </p:sp>
      <p:sp>
        <p:nvSpPr>
          <p:cNvPr id="11" name="TextBox 10"/>
          <p:cNvSpPr txBox="1"/>
          <p:nvPr/>
        </p:nvSpPr>
        <p:spPr>
          <a:xfrm>
            <a:off x="5276088" y="2103120"/>
            <a:ext cx="5897880" cy="566928"/>
          </a:xfrm>
          <a:prstGeom prst="rect">
            <a:avLst/>
          </a:prstGeom>
          <a:noFill/>
        </p:spPr>
        <p:txBody>
          <a:bodyPr wrap="square" lIns="0" rIns="0" tIns="0" bIns="0" anchor="t">
            <a:noAutofit/>
          </a:bodyPr>
          <a:lstStyle/>
          <a:p>
            <a:pPr algn="l">
              <a:lnSpc>
                <a:spcPct val="114000"/>
              </a:lnSpc>
              <a:spcBef>
                <a:spcPts val="0"/>
              </a:spcBef>
              <a:spcAft>
                <a:spcPts val="0"/>
              </a:spcAft>
            </a:pPr>
            <a:r>
              <a:rPr sz="2800" b="1">
                <a:solidFill>
                  <a:srgbClr val="121610"/>
                </a:solidFill>
                <a:latin typeface="Inter"/>
              </a:rPr>
              <a:t>No block-order guarantee</a:t>
            </a:r>
          </a:p>
        </p:txBody>
      </p:sp>
      <p:sp>
        <p:nvSpPr>
          <p:cNvPr id="12" name="TextBox 11"/>
          <p:cNvSpPr txBox="1"/>
          <p:nvPr/>
        </p:nvSpPr>
        <p:spPr>
          <a:xfrm>
            <a:off x="5303520" y="2962656"/>
            <a:ext cx="5660136" cy="868680"/>
          </a:xfrm>
          <a:prstGeom prst="rect">
            <a:avLst/>
          </a:prstGeom>
          <a:noFill/>
        </p:spPr>
        <p:txBody>
          <a:bodyPr wrap="square" lIns="0" rIns="0" tIns="0" bIns="0" anchor="t">
            <a:noAutofit/>
          </a:bodyPr>
          <a:lstStyle/>
          <a:p>
            <a:pPr algn="l">
              <a:lnSpc>
                <a:spcPct val="114000"/>
              </a:lnSpc>
              <a:spcBef>
                <a:spcPts val="0"/>
              </a:spcBef>
              <a:spcAft>
                <a:spcPts val="0"/>
              </a:spcAft>
            </a:pPr>
            <a:r>
              <a:rPr sz="2300" b="0">
                <a:solidFill>
                  <a:srgbClr val="121610"/>
                </a:solidFill>
                <a:latin typeface="Inter"/>
              </a:rPr>
              <a:t>A grid can be much larger than</a:t>
            </a:r>
          </a:p>
          <a:p>
            <a:pPr algn="l">
              <a:lnSpc>
                <a:spcPct val="114000"/>
              </a:lnSpc>
              <a:spcBef>
                <a:spcPts val="0"/>
              </a:spcBef>
              <a:spcAft>
                <a:spcPts val="0"/>
              </a:spcAft>
            </a:pPr>
            <a:r>
              <a:rPr sz="2300" b="0">
                <a:solidFill>
                  <a:srgbClr val="121610"/>
                </a:solidFill>
                <a:latin typeface="Inter"/>
              </a:rPr>
              <a:t>the GPU’s available SMs.</a:t>
            </a:r>
          </a:p>
        </p:txBody>
      </p:sp>
      <p:sp>
        <p:nvSpPr>
          <p:cNvPr id="13" name="TextBox 12"/>
          <p:cNvSpPr txBox="1"/>
          <p:nvPr/>
        </p:nvSpPr>
        <p:spPr>
          <a:xfrm>
            <a:off x="5303520" y="4206240"/>
            <a:ext cx="5641848" cy="1133856"/>
          </a:xfrm>
          <a:prstGeom prst="rect">
            <a:avLst/>
          </a:prstGeom>
          <a:noFill/>
        </p:spPr>
        <p:txBody>
          <a:bodyPr wrap="square" lIns="0" rIns="0" tIns="0" bIns="0" anchor="t">
            <a:noAutofit/>
          </a:bodyPr>
          <a:lstStyle/>
          <a:p>
            <a:pPr algn="l">
              <a:lnSpc>
                <a:spcPct val="114000"/>
              </a:lnSpc>
              <a:spcBef>
                <a:spcPts val="0"/>
              </a:spcBef>
              <a:spcAft>
                <a:spcPts val="0"/>
              </a:spcAft>
            </a:pPr>
            <a:r>
              <a:rPr sz="2100" b="0">
                <a:solidFill>
                  <a:srgbClr val="121610"/>
                </a:solidFill>
                <a:latin typeface="Inter"/>
              </a:rPr>
              <a:t>Correctness must not depend on</a:t>
            </a:r>
          </a:p>
          <a:p>
            <a:pPr algn="l">
              <a:lnSpc>
                <a:spcPct val="114000"/>
              </a:lnSpc>
              <a:spcBef>
                <a:spcPts val="0"/>
              </a:spcBef>
              <a:spcAft>
                <a:spcPts val="0"/>
              </a:spcAft>
            </a:pPr>
            <a:r>
              <a:rPr sz="2100" b="0">
                <a:solidFill>
                  <a:srgbClr val="121610"/>
                </a:solidFill>
                <a:latin typeface="Inter"/>
              </a:rPr>
              <a:t>a particular block assignment</a:t>
            </a:r>
          </a:p>
          <a:p>
            <a:pPr algn="l">
              <a:lnSpc>
                <a:spcPct val="114000"/>
              </a:lnSpc>
              <a:spcBef>
                <a:spcPts val="0"/>
              </a:spcBef>
              <a:spcAft>
                <a:spcPts val="0"/>
              </a:spcAft>
            </a:pPr>
            <a:r>
              <a:rPr sz="2100" b="0">
                <a:solidFill>
                  <a:srgbClr val="121610"/>
                </a:solidFill>
                <a:latin typeface="Inter"/>
              </a:rPr>
              <a:t>or execution order.</a:t>
            </a:r>
          </a:p>
        </p:txBody>
      </p:sp>
      <p:sp>
        <p:nvSpPr>
          <p:cNvPr id="14" name="Rectangle 13"/>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The schedule is an implementation detail; independence is part of the programming contract.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PROGRAMMING MODEL</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Grid, block and thread form a coordinate system</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NVIDIA Figure 3 · §1.2.2.1; index intrinsics: §2.1.2.3, pp. 23–24 / PDF pp. 41–42</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09</a:t>
            </a:r>
          </a:p>
        </p:txBody>
      </p:sp>
      <p:sp>
        <p:nvSpPr>
          <p:cNvPr id="8" name="Rectangle 7"/>
          <p:cNvSpPr/>
          <p:nvPr/>
        </p:nvSpPr>
        <p:spPr>
          <a:xfrm>
            <a:off x="3617887" y="1755648"/>
            <a:ext cx="4907457" cy="23317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ORIGINAL_NVIDIA_fig03_grid_PDF_page_24" descr="NVIDIA Figure 3; CUDA Programming Guide 13.4.2, PDF page 24, printed page 6. Extracted from embedded image xref 853; original colors and aspect ratio preserved."/>
          <p:cNvPicPr>
            <a:picLocks noChangeAspect="1"/>
          </p:cNvPicPr>
          <p:nvPr/>
        </p:nvPicPr>
        <p:blipFill>
          <a:blip r:embed="rId2"/>
          <a:stretch>
            <a:fillRect/>
          </a:stretch>
        </p:blipFill>
        <p:spPr>
          <a:xfrm>
            <a:off x="3617887" y="1755648"/>
            <a:ext cx="4907457" cy="2331720"/>
          </a:xfrm>
          <a:prstGeom prst="rect">
            <a:avLst/>
          </a:prstGeom>
        </p:spPr>
      </p:pic>
      <p:sp>
        <p:nvSpPr>
          <p:cNvPr id="10" name="TextBox 9"/>
          <p:cNvSpPr txBox="1"/>
          <p:nvPr/>
        </p:nvSpPr>
        <p:spPr>
          <a:xfrm>
            <a:off x="950976" y="4160520"/>
            <a:ext cx="10241280" cy="210312"/>
          </a:xfrm>
          <a:prstGeom prst="rect">
            <a:avLst/>
          </a:prstGeom>
          <a:noFill/>
        </p:spPr>
        <p:txBody>
          <a:bodyPr wrap="square" lIns="0" rIns="0" tIns="0" bIns="0" anchor="t">
            <a:noAutofit/>
          </a:bodyPr>
          <a:lstStyle/>
          <a:p>
            <a:pPr algn="ctr">
              <a:lnSpc>
                <a:spcPct val="114000"/>
              </a:lnSpc>
              <a:spcBef>
                <a:spcPts val="0"/>
              </a:spcBef>
              <a:spcAft>
                <a:spcPts val="0"/>
              </a:spcAft>
            </a:pPr>
            <a:r>
              <a:rPr sz="919" b="0">
                <a:solidFill>
                  <a:srgbClr val="5A6358"/>
                </a:solidFill>
                <a:latin typeface="Inter"/>
              </a:rPr>
              <a:t>NVIDIA Figure 3 · Guide p. 6 / PDF p. 24</a:t>
            </a:r>
          </a:p>
        </p:txBody>
      </p:sp>
      <p:sp>
        <p:nvSpPr>
          <p:cNvPr id="11" name="Rectangle 10"/>
          <p:cNvSpPr/>
          <p:nvPr/>
        </p:nvSpPr>
        <p:spPr>
          <a:xfrm>
            <a:off x="768096" y="4480560"/>
            <a:ext cx="10652760" cy="356616"/>
          </a:xfrm>
          <a:prstGeom prst="rect">
            <a:avLst/>
          </a:prstGeom>
          <a:solidFill>
            <a:srgbClr val="F0F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96112" y="4617720"/>
            <a:ext cx="3593592" cy="173736"/>
          </a:xfrm>
          <a:prstGeom prst="rect">
            <a:avLst/>
          </a:prstGeom>
          <a:noFill/>
        </p:spPr>
        <p:txBody>
          <a:bodyPr wrap="square" lIns="0" rIns="0" tIns="0" bIns="0" anchor="t">
            <a:noAutofit/>
          </a:bodyPr>
          <a:lstStyle/>
          <a:p>
            <a:pPr algn="l">
              <a:lnSpc>
                <a:spcPct val="104000"/>
              </a:lnSpc>
              <a:spcBef>
                <a:spcPts val="0"/>
              </a:spcBef>
              <a:spcAft>
                <a:spcPts val="0"/>
              </a:spcAft>
            </a:pPr>
            <a:r>
              <a:rPr sz="1500" b="1">
                <a:solidFill>
                  <a:srgbClr val="466B00"/>
                </a:solidFill>
                <a:latin typeface="Inter"/>
              </a:rPr>
              <a:t>gridDim</a:t>
            </a:r>
          </a:p>
        </p:txBody>
      </p:sp>
      <p:sp>
        <p:nvSpPr>
          <p:cNvPr id="13" name="TextBox 12"/>
          <p:cNvSpPr txBox="1"/>
          <p:nvPr/>
        </p:nvSpPr>
        <p:spPr>
          <a:xfrm>
            <a:off x="4736592" y="4617720"/>
            <a:ext cx="6565392" cy="173736"/>
          </a:xfrm>
          <a:prstGeom prst="rect">
            <a:avLst/>
          </a:prstGeom>
          <a:noFill/>
        </p:spPr>
        <p:txBody>
          <a:bodyPr wrap="square" lIns="0" rIns="0" tIns="0" bIns="0" anchor="t">
            <a:noAutofit/>
          </a:bodyPr>
          <a:lstStyle/>
          <a:p>
            <a:pPr algn="l">
              <a:lnSpc>
                <a:spcPct val="104000"/>
              </a:lnSpc>
              <a:spcBef>
                <a:spcPts val="0"/>
              </a:spcBef>
              <a:spcAft>
                <a:spcPts val="0"/>
              </a:spcAft>
            </a:pPr>
            <a:r>
              <a:rPr sz="1500" b="0">
                <a:solidFill>
                  <a:srgbClr val="121610"/>
                </a:solidFill>
                <a:latin typeface="Inter"/>
              </a:rPr>
              <a:t>How many blocks?</a:t>
            </a:r>
          </a:p>
        </p:txBody>
      </p:sp>
      <p:sp>
        <p:nvSpPr>
          <p:cNvPr id="14" name="TextBox 13"/>
          <p:cNvSpPr txBox="1"/>
          <p:nvPr/>
        </p:nvSpPr>
        <p:spPr>
          <a:xfrm>
            <a:off x="896112" y="4974336"/>
            <a:ext cx="3593592" cy="173736"/>
          </a:xfrm>
          <a:prstGeom prst="rect">
            <a:avLst/>
          </a:prstGeom>
          <a:noFill/>
        </p:spPr>
        <p:txBody>
          <a:bodyPr wrap="square" lIns="0" rIns="0" tIns="0" bIns="0" anchor="t">
            <a:noAutofit/>
          </a:bodyPr>
          <a:lstStyle/>
          <a:p>
            <a:pPr algn="l">
              <a:lnSpc>
                <a:spcPct val="104000"/>
              </a:lnSpc>
              <a:spcBef>
                <a:spcPts val="0"/>
              </a:spcBef>
              <a:spcAft>
                <a:spcPts val="0"/>
              </a:spcAft>
            </a:pPr>
            <a:r>
              <a:rPr sz="1500" b="1">
                <a:solidFill>
                  <a:srgbClr val="466B00"/>
                </a:solidFill>
                <a:latin typeface="Inter"/>
              </a:rPr>
              <a:t>blockDim</a:t>
            </a:r>
          </a:p>
        </p:txBody>
      </p:sp>
      <p:sp>
        <p:nvSpPr>
          <p:cNvPr id="15" name="TextBox 14"/>
          <p:cNvSpPr txBox="1"/>
          <p:nvPr/>
        </p:nvSpPr>
        <p:spPr>
          <a:xfrm>
            <a:off x="4736592" y="4974336"/>
            <a:ext cx="6565392" cy="173736"/>
          </a:xfrm>
          <a:prstGeom prst="rect">
            <a:avLst/>
          </a:prstGeom>
          <a:noFill/>
        </p:spPr>
        <p:txBody>
          <a:bodyPr wrap="square" lIns="0" rIns="0" tIns="0" bIns="0" anchor="t">
            <a:noAutofit/>
          </a:bodyPr>
          <a:lstStyle/>
          <a:p>
            <a:pPr algn="l">
              <a:lnSpc>
                <a:spcPct val="104000"/>
              </a:lnSpc>
              <a:spcBef>
                <a:spcPts val="0"/>
              </a:spcBef>
              <a:spcAft>
                <a:spcPts val="0"/>
              </a:spcAft>
            </a:pPr>
            <a:r>
              <a:rPr sz="1500" b="0">
                <a:solidFill>
                  <a:srgbClr val="121610"/>
                </a:solidFill>
                <a:latin typeface="Inter"/>
              </a:rPr>
              <a:t>How many threads in each block?</a:t>
            </a:r>
          </a:p>
        </p:txBody>
      </p:sp>
      <p:sp>
        <p:nvSpPr>
          <p:cNvPr id="16" name="Rectangle 15"/>
          <p:cNvSpPr/>
          <p:nvPr/>
        </p:nvSpPr>
        <p:spPr>
          <a:xfrm>
            <a:off x="768096" y="5193792"/>
            <a:ext cx="10652760" cy="356616"/>
          </a:xfrm>
          <a:prstGeom prst="rect">
            <a:avLst/>
          </a:prstGeom>
          <a:solidFill>
            <a:srgbClr val="F0F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96112" y="5330952"/>
            <a:ext cx="3593592" cy="173736"/>
          </a:xfrm>
          <a:prstGeom prst="rect">
            <a:avLst/>
          </a:prstGeom>
          <a:noFill/>
        </p:spPr>
        <p:txBody>
          <a:bodyPr wrap="square" lIns="0" rIns="0" tIns="0" bIns="0" anchor="t">
            <a:noAutofit/>
          </a:bodyPr>
          <a:lstStyle/>
          <a:p>
            <a:pPr algn="l">
              <a:lnSpc>
                <a:spcPct val="104000"/>
              </a:lnSpc>
              <a:spcBef>
                <a:spcPts val="0"/>
              </a:spcBef>
              <a:spcAft>
                <a:spcPts val="0"/>
              </a:spcAft>
            </a:pPr>
            <a:r>
              <a:rPr sz="1500" b="1">
                <a:solidFill>
                  <a:srgbClr val="466B00"/>
                </a:solidFill>
                <a:latin typeface="Inter"/>
              </a:rPr>
              <a:t>blockIdx / threadIdx</a:t>
            </a:r>
          </a:p>
        </p:txBody>
      </p:sp>
      <p:sp>
        <p:nvSpPr>
          <p:cNvPr id="18" name="TextBox 17"/>
          <p:cNvSpPr txBox="1"/>
          <p:nvPr/>
        </p:nvSpPr>
        <p:spPr>
          <a:xfrm>
            <a:off x="4736592" y="5330952"/>
            <a:ext cx="6565392" cy="173736"/>
          </a:xfrm>
          <a:prstGeom prst="rect">
            <a:avLst/>
          </a:prstGeom>
          <a:noFill/>
        </p:spPr>
        <p:txBody>
          <a:bodyPr wrap="square" lIns="0" rIns="0" tIns="0" bIns="0" anchor="t">
            <a:noAutofit/>
          </a:bodyPr>
          <a:lstStyle/>
          <a:p>
            <a:pPr algn="l">
              <a:lnSpc>
                <a:spcPct val="104000"/>
              </a:lnSpc>
              <a:spcBef>
                <a:spcPts val="0"/>
              </a:spcBef>
              <a:spcAft>
                <a:spcPts val="0"/>
              </a:spcAft>
            </a:pPr>
            <a:r>
              <a:rPr sz="1500" b="0">
                <a:solidFill>
                  <a:srgbClr val="121610"/>
                </a:solidFill>
                <a:latin typeface="Inter"/>
              </a:rPr>
              <a:t>Which block and which thread am I?</a:t>
            </a:r>
          </a:p>
        </p:txBody>
      </p:sp>
      <p:sp>
        <p:nvSpPr>
          <p:cNvPr id="19" name="Rectangle 18"/>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Dimensions organize the work; an address expression determines which data each thread uses.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PROGRAMMING MODEL</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A warp has 32 lanes; branches change active lanes</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NVIDIA Figure 7 · §1.2.2.2, pp. 9–11 / PDF pp. 27–29</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10</a:t>
            </a:r>
          </a:p>
        </p:txBody>
      </p:sp>
      <p:sp>
        <p:nvSpPr>
          <p:cNvPr id="8" name="Rectangle 7"/>
          <p:cNvSpPr/>
          <p:nvPr/>
        </p:nvSpPr>
        <p:spPr>
          <a:xfrm>
            <a:off x="3258332" y="1847088"/>
            <a:ext cx="5599135" cy="26151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ORIGINAL_NVIDIA_fig07_warps_PDF_page_29" descr="NVIDIA Figure 7; CUDA Programming Guide 13.4.2, PDF page 29, printed page 11. Extracted from embedded image xref 894; original colors and aspect ratio preserved."/>
          <p:cNvPicPr>
            <a:picLocks noChangeAspect="1"/>
          </p:cNvPicPr>
          <p:nvPr/>
        </p:nvPicPr>
        <p:blipFill>
          <a:blip r:embed="rId2"/>
          <a:stretch>
            <a:fillRect/>
          </a:stretch>
        </p:blipFill>
        <p:spPr>
          <a:xfrm>
            <a:off x="3258332" y="1847088"/>
            <a:ext cx="5599135" cy="2615184"/>
          </a:xfrm>
          <a:prstGeom prst="rect">
            <a:avLst/>
          </a:prstGeom>
        </p:spPr>
      </p:pic>
      <p:sp>
        <p:nvSpPr>
          <p:cNvPr id="10" name="TextBox 9"/>
          <p:cNvSpPr txBox="1"/>
          <p:nvPr/>
        </p:nvSpPr>
        <p:spPr>
          <a:xfrm>
            <a:off x="850392" y="4535424"/>
            <a:ext cx="10415016" cy="210312"/>
          </a:xfrm>
          <a:prstGeom prst="rect">
            <a:avLst/>
          </a:prstGeom>
          <a:noFill/>
        </p:spPr>
        <p:txBody>
          <a:bodyPr wrap="square" lIns="0" rIns="0" tIns="0" bIns="0" anchor="t">
            <a:noAutofit/>
          </a:bodyPr>
          <a:lstStyle/>
          <a:p>
            <a:pPr algn="ctr">
              <a:lnSpc>
                <a:spcPct val="114000"/>
              </a:lnSpc>
              <a:spcBef>
                <a:spcPts val="0"/>
              </a:spcBef>
              <a:spcAft>
                <a:spcPts val="0"/>
              </a:spcAft>
            </a:pPr>
            <a:r>
              <a:rPr sz="919" b="0">
                <a:solidFill>
                  <a:srgbClr val="5A6358"/>
                </a:solidFill>
                <a:latin typeface="Inter"/>
              </a:rPr>
              <a:t>NVIDIA Figure 7 · Guide p. 11 / PDF p. 29</a:t>
            </a:r>
          </a:p>
        </p:txBody>
      </p:sp>
      <p:sp>
        <p:nvSpPr>
          <p:cNvPr id="11" name="TextBox 10"/>
          <p:cNvSpPr txBox="1"/>
          <p:nvPr/>
        </p:nvSpPr>
        <p:spPr>
          <a:xfrm>
            <a:off x="859536" y="4919472"/>
            <a:ext cx="5074920" cy="384048"/>
          </a:xfrm>
          <a:prstGeom prst="rect">
            <a:avLst/>
          </a:prstGeom>
          <a:noFill/>
        </p:spPr>
        <p:txBody>
          <a:bodyPr wrap="square" lIns="0" rIns="0" tIns="0" bIns="0" anchor="t">
            <a:noAutofit/>
          </a:bodyPr>
          <a:lstStyle/>
          <a:p>
            <a:pPr algn="l">
              <a:lnSpc>
                <a:spcPct val="114000"/>
              </a:lnSpc>
              <a:spcBef>
                <a:spcPts val="0"/>
              </a:spcBef>
              <a:spcAft>
                <a:spcPts val="0"/>
              </a:spcAft>
            </a:pPr>
            <a:r>
              <a:rPr sz="2300" b="1">
                <a:solidFill>
                  <a:srgbClr val="121610"/>
                </a:solidFill>
                <a:latin typeface="Inter"/>
              </a:rPr>
              <a:t>Same kernel code</a:t>
            </a:r>
          </a:p>
        </p:txBody>
      </p:sp>
      <p:sp>
        <p:nvSpPr>
          <p:cNvPr id="12" name="TextBox 11"/>
          <p:cNvSpPr txBox="1"/>
          <p:nvPr/>
        </p:nvSpPr>
        <p:spPr>
          <a:xfrm>
            <a:off x="6153912" y="4919472"/>
            <a:ext cx="5074920" cy="384048"/>
          </a:xfrm>
          <a:prstGeom prst="rect">
            <a:avLst/>
          </a:prstGeom>
          <a:noFill/>
        </p:spPr>
        <p:txBody>
          <a:bodyPr wrap="square" lIns="0" rIns="0" tIns="0" bIns="0" anchor="t">
            <a:noAutofit/>
          </a:bodyPr>
          <a:lstStyle/>
          <a:p>
            <a:pPr algn="l">
              <a:lnSpc>
                <a:spcPct val="114000"/>
              </a:lnSpc>
              <a:spcBef>
                <a:spcPts val="0"/>
              </a:spcBef>
              <a:spcAft>
                <a:spcPts val="0"/>
              </a:spcAft>
            </a:pPr>
            <a:r>
              <a:rPr sz="2300" b="1">
                <a:solidFill>
                  <a:srgbClr val="121610"/>
                </a:solidFill>
                <a:latin typeface="Inter"/>
              </a:rPr>
              <a:t>Different control-flow paths</a:t>
            </a:r>
          </a:p>
        </p:txBody>
      </p:sp>
      <p:sp>
        <p:nvSpPr>
          <p:cNvPr id="13" name="Rectangle 12"/>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Reason about the active lanes for an instruction—not just the total number of launched threads.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INDEXING CHECKPOINT</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1,000 elements do not fit exactly into 256-thread blocks</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Course arithmetic derived from the index and ceiling-division pattern in §2.1.2.3, p. 24 / PDF p. 42</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11</a:t>
            </a:r>
          </a:p>
        </p:txBody>
      </p:sp>
      <p:sp>
        <p:nvSpPr>
          <p:cNvPr id="8" name="TextBox 7"/>
          <p:cNvSpPr txBox="1"/>
          <p:nvPr/>
        </p:nvSpPr>
        <p:spPr>
          <a:xfrm>
            <a:off x="667512" y="1792224"/>
            <a:ext cx="10698480" cy="548640"/>
          </a:xfrm>
          <a:prstGeom prst="rect">
            <a:avLst/>
          </a:prstGeom>
          <a:noFill/>
        </p:spPr>
        <p:txBody>
          <a:bodyPr wrap="square" lIns="0" rIns="0" tIns="0" bIns="0" anchor="t">
            <a:noAutofit/>
          </a:bodyPr>
          <a:lstStyle/>
          <a:p>
            <a:pPr algn="l">
              <a:lnSpc>
                <a:spcPct val="114000"/>
              </a:lnSpc>
              <a:spcBef>
                <a:spcPts val="0"/>
              </a:spcBef>
              <a:spcAft>
                <a:spcPts val="0"/>
              </a:spcAft>
            </a:pPr>
            <a:r>
              <a:rPr sz="3100" b="1">
                <a:solidFill>
                  <a:srgbClr val="121610"/>
                </a:solidFill>
                <a:latin typeface="Inter"/>
              </a:rPr>
              <a:t>N = 1,000     B = 256</a:t>
            </a:r>
          </a:p>
        </p:txBody>
      </p:sp>
      <p:sp>
        <p:nvSpPr>
          <p:cNvPr id="9" name="Rectangle 8"/>
          <p:cNvSpPr/>
          <p:nvPr/>
        </p:nvSpPr>
        <p:spPr>
          <a:xfrm>
            <a:off x="676656" y="2651760"/>
            <a:ext cx="10844784" cy="347472"/>
          </a:xfrm>
          <a:prstGeom prst="rect">
            <a:avLst/>
          </a:prstGeom>
          <a:solidFill>
            <a:srgbClr val="1216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04672" y="2724912"/>
            <a:ext cx="118872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FFFFFF"/>
                </a:solidFill>
                <a:latin typeface="Inter"/>
              </a:rPr>
              <a:t>BLOCK</a:t>
            </a:r>
          </a:p>
        </p:txBody>
      </p:sp>
      <p:sp>
        <p:nvSpPr>
          <p:cNvPr id="11" name="TextBox 10"/>
          <p:cNvSpPr txBox="1"/>
          <p:nvPr/>
        </p:nvSpPr>
        <p:spPr>
          <a:xfrm>
            <a:off x="2221992" y="2724912"/>
            <a:ext cx="3776472"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FFFFFF"/>
                </a:solidFill>
                <a:latin typeface="Inter"/>
              </a:rPr>
              <a:t>GLOBAL INDICES</a:t>
            </a:r>
          </a:p>
        </p:txBody>
      </p:sp>
      <p:sp>
        <p:nvSpPr>
          <p:cNvPr id="12" name="TextBox 11"/>
          <p:cNvSpPr txBox="1"/>
          <p:nvPr/>
        </p:nvSpPr>
        <p:spPr>
          <a:xfrm>
            <a:off x="6227064" y="2724912"/>
            <a:ext cx="5193792"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FFFFFF"/>
                </a:solidFill>
                <a:latin typeface="Inter"/>
              </a:rPr>
              <a:t>MEMORY ACCESS</a:t>
            </a:r>
          </a:p>
        </p:txBody>
      </p:sp>
      <p:sp>
        <p:nvSpPr>
          <p:cNvPr id="13" name="Rectangle 12"/>
          <p:cNvSpPr/>
          <p:nvPr/>
        </p:nvSpPr>
        <p:spPr>
          <a:xfrm>
            <a:off x="676656" y="2999232"/>
            <a:ext cx="10844784" cy="502920"/>
          </a:xfrm>
          <a:prstGeom prst="rect">
            <a:avLst/>
          </a:prstGeom>
          <a:solidFill>
            <a:srgbClr val="F0F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04672" y="3136391"/>
            <a:ext cx="1170432" cy="320040"/>
          </a:xfrm>
          <a:prstGeom prst="rect">
            <a:avLst/>
          </a:prstGeom>
          <a:noFill/>
        </p:spPr>
        <p:txBody>
          <a:bodyPr wrap="square" lIns="0" rIns="0" tIns="0" bIns="0" anchor="t">
            <a:noAutofit/>
          </a:bodyPr>
          <a:lstStyle/>
          <a:p>
            <a:pPr algn="l">
              <a:lnSpc>
                <a:spcPct val="104000"/>
              </a:lnSpc>
              <a:spcBef>
                <a:spcPts val="0"/>
              </a:spcBef>
              <a:spcAft>
                <a:spcPts val="0"/>
              </a:spcAft>
            </a:pPr>
            <a:r>
              <a:rPr sz="1800" b="1">
                <a:solidFill>
                  <a:srgbClr val="466B00"/>
                </a:solidFill>
                <a:latin typeface="Inter"/>
              </a:rPr>
              <a:t>0</a:t>
            </a:r>
          </a:p>
        </p:txBody>
      </p:sp>
      <p:sp>
        <p:nvSpPr>
          <p:cNvPr id="15" name="TextBox 14"/>
          <p:cNvSpPr txBox="1"/>
          <p:nvPr/>
        </p:nvSpPr>
        <p:spPr>
          <a:xfrm>
            <a:off x="2221992" y="3136391"/>
            <a:ext cx="3758183" cy="320040"/>
          </a:xfrm>
          <a:prstGeom prst="rect">
            <a:avLst/>
          </a:prstGeom>
          <a:noFill/>
        </p:spPr>
        <p:txBody>
          <a:bodyPr wrap="square" lIns="0" rIns="0" tIns="0" bIns="0" anchor="t">
            <a:noAutofit/>
          </a:bodyPr>
          <a:lstStyle/>
          <a:p>
            <a:pPr algn="l">
              <a:lnSpc>
                <a:spcPct val="104000"/>
              </a:lnSpc>
              <a:spcBef>
                <a:spcPts val="0"/>
              </a:spcBef>
              <a:spcAft>
                <a:spcPts val="0"/>
              </a:spcAft>
            </a:pPr>
            <a:r>
              <a:rPr sz="1800" b="0">
                <a:solidFill>
                  <a:srgbClr val="121610"/>
                </a:solidFill>
                <a:latin typeface="Inter"/>
              </a:rPr>
              <a:t>0–255</a:t>
            </a:r>
          </a:p>
        </p:txBody>
      </p:sp>
      <p:sp>
        <p:nvSpPr>
          <p:cNvPr id="16" name="TextBox 15"/>
          <p:cNvSpPr txBox="1"/>
          <p:nvPr/>
        </p:nvSpPr>
        <p:spPr>
          <a:xfrm>
            <a:off x="6227064" y="3136391"/>
            <a:ext cx="5175504" cy="320040"/>
          </a:xfrm>
          <a:prstGeom prst="rect">
            <a:avLst/>
          </a:prstGeom>
          <a:noFill/>
        </p:spPr>
        <p:txBody>
          <a:bodyPr wrap="square" lIns="0" rIns="0" tIns="0" bIns="0" anchor="t">
            <a:noAutofit/>
          </a:bodyPr>
          <a:lstStyle/>
          <a:p>
            <a:pPr algn="l">
              <a:lnSpc>
                <a:spcPct val="104000"/>
              </a:lnSpc>
              <a:spcBef>
                <a:spcPts val="0"/>
              </a:spcBef>
              <a:spcAft>
                <a:spcPts val="0"/>
              </a:spcAft>
            </a:pPr>
            <a:r>
              <a:rPr sz="1800" b="0">
                <a:solidFill>
                  <a:srgbClr val="121610"/>
                </a:solidFill>
                <a:latin typeface="Inter"/>
              </a:rPr>
              <a:t>All valid</a:t>
            </a:r>
          </a:p>
        </p:txBody>
      </p:sp>
      <p:sp>
        <p:nvSpPr>
          <p:cNvPr id="17" name="TextBox 16"/>
          <p:cNvSpPr txBox="1"/>
          <p:nvPr/>
        </p:nvSpPr>
        <p:spPr>
          <a:xfrm>
            <a:off x="804672" y="3639312"/>
            <a:ext cx="1170432" cy="320040"/>
          </a:xfrm>
          <a:prstGeom prst="rect">
            <a:avLst/>
          </a:prstGeom>
          <a:noFill/>
        </p:spPr>
        <p:txBody>
          <a:bodyPr wrap="square" lIns="0" rIns="0" tIns="0" bIns="0" anchor="t">
            <a:noAutofit/>
          </a:bodyPr>
          <a:lstStyle/>
          <a:p>
            <a:pPr algn="l">
              <a:lnSpc>
                <a:spcPct val="104000"/>
              </a:lnSpc>
              <a:spcBef>
                <a:spcPts val="0"/>
              </a:spcBef>
              <a:spcAft>
                <a:spcPts val="0"/>
              </a:spcAft>
            </a:pPr>
            <a:r>
              <a:rPr sz="1800" b="1">
                <a:solidFill>
                  <a:srgbClr val="466B00"/>
                </a:solidFill>
                <a:latin typeface="Inter"/>
              </a:rPr>
              <a:t>1</a:t>
            </a:r>
          </a:p>
        </p:txBody>
      </p:sp>
      <p:sp>
        <p:nvSpPr>
          <p:cNvPr id="18" name="TextBox 17"/>
          <p:cNvSpPr txBox="1"/>
          <p:nvPr/>
        </p:nvSpPr>
        <p:spPr>
          <a:xfrm>
            <a:off x="2221992" y="3639312"/>
            <a:ext cx="3758183" cy="320040"/>
          </a:xfrm>
          <a:prstGeom prst="rect">
            <a:avLst/>
          </a:prstGeom>
          <a:noFill/>
        </p:spPr>
        <p:txBody>
          <a:bodyPr wrap="square" lIns="0" rIns="0" tIns="0" bIns="0" anchor="t">
            <a:noAutofit/>
          </a:bodyPr>
          <a:lstStyle/>
          <a:p>
            <a:pPr algn="l">
              <a:lnSpc>
                <a:spcPct val="104000"/>
              </a:lnSpc>
              <a:spcBef>
                <a:spcPts val="0"/>
              </a:spcBef>
              <a:spcAft>
                <a:spcPts val="0"/>
              </a:spcAft>
            </a:pPr>
            <a:r>
              <a:rPr sz="1800" b="0">
                <a:solidFill>
                  <a:srgbClr val="121610"/>
                </a:solidFill>
                <a:latin typeface="Inter"/>
              </a:rPr>
              <a:t>256–511</a:t>
            </a:r>
          </a:p>
        </p:txBody>
      </p:sp>
      <p:sp>
        <p:nvSpPr>
          <p:cNvPr id="19" name="TextBox 18"/>
          <p:cNvSpPr txBox="1"/>
          <p:nvPr/>
        </p:nvSpPr>
        <p:spPr>
          <a:xfrm>
            <a:off x="6227064" y="3639312"/>
            <a:ext cx="5175504" cy="320040"/>
          </a:xfrm>
          <a:prstGeom prst="rect">
            <a:avLst/>
          </a:prstGeom>
          <a:noFill/>
        </p:spPr>
        <p:txBody>
          <a:bodyPr wrap="square" lIns="0" rIns="0" tIns="0" bIns="0" anchor="t">
            <a:noAutofit/>
          </a:bodyPr>
          <a:lstStyle/>
          <a:p>
            <a:pPr algn="l">
              <a:lnSpc>
                <a:spcPct val="104000"/>
              </a:lnSpc>
              <a:spcBef>
                <a:spcPts val="0"/>
              </a:spcBef>
              <a:spcAft>
                <a:spcPts val="0"/>
              </a:spcAft>
            </a:pPr>
            <a:r>
              <a:rPr sz="1800" b="0">
                <a:solidFill>
                  <a:srgbClr val="121610"/>
                </a:solidFill>
                <a:latin typeface="Inter"/>
              </a:rPr>
              <a:t>All valid</a:t>
            </a:r>
          </a:p>
        </p:txBody>
      </p:sp>
      <p:sp>
        <p:nvSpPr>
          <p:cNvPr id="20" name="Rectangle 19"/>
          <p:cNvSpPr/>
          <p:nvPr/>
        </p:nvSpPr>
        <p:spPr>
          <a:xfrm>
            <a:off x="676656" y="4005072"/>
            <a:ext cx="10844784" cy="502920"/>
          </a:xfrm>
          <a:prstGeom prst="rect">
            <a:avLst/>
          </a:prstGeom>
          <a:solidFill>
            <a:srgbClr val="F0F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04672" y="4142232"/>
            <a:ext cx="1170432" cy="320040"/>
          </a:xfrm>
          <a:prstGeom prst="rect">
            <a:avLst/>
          </a:prstGeom>
          <a:noFill/>
        </p:spPr>
        <p:txBody>
          <a:bodyPr wrap="square" lIns="0" rIns="0" tIns="0" bIns="0" anchor="t">
            <a:noAutofit/>
          </a:bodyPr>
          <a:lstStyle/>
          <a:p>
            <a:pPr algn="l">
              <a:lnSpc>
                <a:spcPct val="104000"/>
              </a:lnSpc>
              <a:spcBef>
                <a:spcPts val="0"/>
              </a:spcBef>
              <a:spcAft>
                <a:spcPts val="0"/>
              </a:spcAft>
            </a:pPr>
            <a:r>
              <a:rPr sz="1800" b="1">
                <a:solidFill>
                  <a:srgbClr val="466B00"/>
                </a:solidFill>
                <a:latin typeface="Inter"/>
              </a:rPr>
              <a:t>2</a:t>
            </a:r>
          </a:p>
        </p:txBody>
      </p:sp>
      <p:sp>
        <p:nvSpPr>
          <p:cNvPr id="22" name="TextBox 21"/>
          <p:cNvSpPr txBox="1"/>
          <p:nvPr/>
        </p:nvSpPr>
        <p:spPr>
          <a:xfrm>
            <a:off x="2221992" y="4142232"/>
            <a:ext cx="3758183" cy="320040"/>
          </a:xfrm>
          <a:prstGeom prst="rect">
            <a:avLst/>
          </a:prstGeom>
          <a:noFill/>
        </p:spPr>
        <p:txBody>
          <a:bodyPr wrap="square" lIns="0" rIns="0" tIns="0" bIns="0" anchor="t">
            <a:noAutofit/>
          </a:bodyPr>
          <a:lstStyle/>
          <a:p>
            <a:pPr algn="l">
              <a:lnSpc>
                <a:spcPct val="104000"/>
              </a:lnSpc>
              <a:spcBef>
                <a:spcPts val="0"/>
              </a:spcBef>
              <a:spcAft>
                <a:spcPts val="0"/>
              </a:spcAft>
            </a:pPr>
            <a:r>
              <a:rPr sz="1800" b="0">
                <a:solidFill>
                  <a:srgbClr val="121610"/>
                </a:solidFill>
                <a:latin typeface="Inter"/>
              </a:rPr>
              <a:t>512–767</a:t>
            </a:r>
          </a:p>
        </p:txBody>
      </p:sp>
      <p:sp>
        <p:nvSpPr>
          <p:cNvPr id="23" name="TextBox 22"/>
          <p:cNvSpPr txBox="1"/>
          <p:nvPr/>
        </p:nvSpPr>
        <p:spPr>
          <a:xfrm>
            <a:off x="6227064" y="4142232"/>
            <a:ext cx="5175504" cy="320040"/>
          </a:xfrm>
          <a:prstGeom prst="rect">
            <a:avLst/>
          </a:prstGeom>
          <a:noFill/>
        </p:spPr>
        <p:txBody>
          <a:bodyPr wrap="square" lIns="0" rIns="0" tIns="0" bIns="0" anchor="t">
            <a:noAutofit/>
          </a:bodyPr>
          <a:lstStyle/>
          <a:p>
            <a:pPr algn="l">
              <a:lnSpc>
                <a:spcPct val="104000"/>
              </a:lnSpc>
              <a:spcBef>
                <a:spcPts val="0"/>
              </a:spcBef>
              <a:spcAft>
                <a:spcPts val="0"/>
              </a:spcAft>
            </a:pPr>
            <a:r>
              <a:rPr sz="1800" b="0">
                <a:solidFill>
                  <a:srgbClr val="121610"/>
                </a:solidFill>
                <a:latin typeface="Inter"/>
              </a:rPr>
              <a:t>All valid</a:t>
            </a:r>
          </a:p>
        </p:txBody>
      </p:sp>
      <p:sp>
        <p:nvSpPr>
          <p:cNvPr id="24" name="TextBox 23"/>
          <p:cNvSpPr txBox="1"/>
          <p:nvPr/>
        </p:nvSpPr>
        <p:spPr>
          <a:xfrm>
            <a:off x="804672" y="4645152"/>
            <a:ext cx="1170432" cy="320040"/>
          </a:xfrm>
          <a:prstGeom prst="rect">
            <a:avLst/>
          </a:prstGeom>
          <a:noFill/>
        </p:spPr>
        <p:txBody>
          <a:bodyPr wrap="square" lIns="0" rIns="0" tIns="0" bIns="0" anchor="t">
            <a:noAutofit/>
          </a:bodyPr>
          <a:lstStyle/>
          <a:p>
            <a:pPr algn="l">
              <a:lnSpc>
                <a:spcPct val="104000"/>
              </a:lnSpc>
              <a:spcBef>
                <a:spcPts val="0"/>
              </a:spcBef>
              <a:spcAft>
                <a:spcPts val="0"/>
              </a:spcAft>
            </a:pPr>
            <a:r>
              <a:rPr sz="1800" b="1">
                <a:solidFill>
                  <a:srgbClr val="466B00"/>
                </a:solidFill>
                <a:latin typeface="Inter"/>
              </a:rPr>
              <a:t>3</a:t>
            </a:r>
          </a:p>
        </p:txBody>
      </p:sp>
      <p:sp>
        <p:nvSpPr>
          <p:cNvPr id="25" name="TextBox 24"/>
          <p:cNvSpPr txBox="1"/>
          <p:nvPr/>
        </p:nvSpPr>
        <p:spPr>
          <a:xfrm>
            <a:off x="2221992" y="4645152"/>
            <a:ext cx="3758183" cy="320040"/>
          </a:xfrm>
          <a:prstGeom prst="rect">
            <a:avLst/>
          </a:prstGeom>
          <a:noFill/>
        </p:spPr>
        <p:txBody>
          <a:bodyPr wrap="square" lIns="0" rIns="0" tIns="0" bIns="0" anchor="t">
            <a:noAutofit/>
          </a:bodyPr>
          <a:lstStyle/>
          <a:p>
            <a:pPr algn="l">
              <a:lnSpc>
                <a:spcPct val="104000"/>
              </a:lnSpc>
              <a:spcBef>
                <a:spcPts val="0"/>
              </a:spcBef>
              <a:spcAft>
                <a:spcPts val="0"/>
              </a:spcAft>
            </a:pPr>
            <a:r>
              <a:rPr sz="1800" b="0">
                <a:solidFill>
                  <a:srgbClr val="121610"/>
                </a:solidFill>
                <a:latin typeface="Inter"/>
              </a:rPr>
              <a:t>768–1,023</a:t>
            </a:r>
          </a:p>
        </p:txBody>
      </p:sp>
      <p:sp>
        <p:nvSpPr>
          <p:cNvPr id="26" name="TextBox 25"/>
          <p:cNvSpPr txBox="1"/>
          <p:nvPr/>
        </p:nvSpPr>
        <p:spPr>
          <a:xfrm>
            <a:off x="6227064" y="4645152"/>
            <a:ext cx="5175504" cy="320040"/>
          </a:xfrm>
          <a:prstGeom prst="rect">
            <a:avLst/>
          </a:prstGeom>
          <a:noFill/>
        </p:spPr>
        <p:txBody>
          <a:bodyPr wrap="square" lIns="0" rIns="0" tIns="0" bIns="0" anchor="t">
            <a:noAutofit/>
          </a:bodyPr>
          <a:lstStyle/>
          <a:p>
            <a:pPr algn="l">
              <a:lnSpc>
                <a:spcPct val="104000"/>
              </a:lnSpc>
              <a:spcBef>
                <a:spcPts val="0"/>
              </a:spcBef>
              <a:spcAft>
                <a:spcPts val="0"/>
              </a:spcAft>
            </a:pPr>
            <a:r>
              <a:rPr sz="1800" b="0">
                <a:solidFill>
                  <a:srgbClr val="121610"/>
                </a:solidFill>
                <a:latin typeface="Inter"/>
              </a:rPr>
              <a:t>Only 768–999 are valid</a:t>
            </a:r>
          </a:p>
        </p:txBody>
      </p:sp>
      <p:sp>
        <p:nvSpPr>
          <p:cNvPr id="27" name="TextBox 26"/>
          <p:cNvSpPr txBox="1"/>
          <p:nvPr/>
        </p:nvSpPr>
        <p:spPr>
          <a:xfrm>
            <a:off x="731520" y="5212080"/>
            <a:ext cx="10698480" cy="338328"/>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4 × 256 = 1,024 launched threads; 24 must skip the access.</a:t>
            </a:r>
          </a:p>
        </p:txBody>
      </p:sp>
      <p:sp>
        <p:nvSpPr>
          <p:cNvPr id="28" name="Rectangle 27"/>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The guard is i &lt; n. The launch size and the data size are different quantities.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PROGRAMMING MODEL</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Name both the scope and the location of memory</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Guide §1.2.3 and §2.3.3, pp. 13–15 and 49–55 / PDF pp. 31–33 and 67–73</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12</a:t>
            </a:r>
          </a:p>
        </p:txBody>
      </p:sp>
      <p:sp>
        <p:nvSpPr>
          <p:cNvPr id="8" name="Rectangle 7"/>
          <p:cNvSpPr/>
          <p:nvPr/>
        </p:nvSpPr>
        <p:spPr>
          <a:xfrm>
            <a:off x="676656" y="1892807"/>
            <a:ext cx="10853928" cy="347472"/>
          </a:xfrm>
          <a:prstGeom prst="rect">
            <a:avLst/>
          </a:prstGeom>
          <a:solidFill>
            <a:srgbClr val="1216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04672" y="1965960"/>
            <a:ext cx="269748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FFFFFF"/>
                </a:solidFill>
                <a:latin typeface="Inter"/>
              </a:rPr>
              <a:t>MEMORY</a:t>
            </a:r>
          </a:p>
        </p:txBody>
      </p:sp>
      <p:sp>
        <p:nvSpPr>
          <p:cNvPr id="10" name="TextBox 9"/>
          <p:cNvSpPr txBox="1"/>
          <p:nvPr/>
        </p:nvSpPr>
        <p:spPr>
          <a:xfrm>
            <a:off x="3730752" y="1965960"/>
            <a:ext cx="457200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FFFFFF"/>
                </a:solidFill>
                <a:latin typeface="Inter"/>
              </a:rPr>
              <a:t>SCOPE</a:t>
            </a:r>
          </a:p>
        </p:txBody>
      </p:sp>
      <p:sp>
        <p:nvSpPr>
          <p:cNvPr id="11" name="TextBox 10"/>
          <p:cNvSpPr txBox="1"/>
          <p:nvPr/>
        </p:nvSpPr>
        <p:spPr>
          <a:xfrm>
            <a:off x="8531352" y="1965960"/>
            <a:ext cx="2898648"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FFFFFF"/>
                </a:solidFill>
                <a:latin typeface="Inter"/>
              </a:rPr>
              <a:t>LOCATION</a:t>
            </a:r>
          </a:p>
        </p:txBody>
      </p:sp>
      <p:sp>
        <p:nvSpPr>
          <p:cNvPr id="12" name="Rectangle 11"/>
          <p:cNvSpPr/>
          <p:nvPr/>
        </p:nvSpPr>
        <p:spPr>
          <a:xfrm>
            <a:off x="676656" y="2240279"/>
            <a:ext cx="10853928" cy="694944"/>
          </a:xfrm>
          <a:prstGeom prst="rect">
            <a:avLst/>
          </a:prstGeom>
          <a:solidFill>
            <a:srgbClr val="F0F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04672" y="2377439"/>
            <a:ext cx="2679192" cy="512064"/>
          </a:xfrm>
          <a:prstGeom prst="rect">
            <a:avLst/>
          </a:prstGeom>
          <a:noFill/>
        </p:spPr>
        <p:txBody>
          <a:bodyPr wrap="square" lIns="0" rIns="0" tIns="0" bIns="0" anchor="t">
            <a:noAutofit/>
          </a:bodyPr>
          <a:lstStyle/>
          <a:p>
            <a:pPr algn="l">
              <a:lnSpc>
                <a:spcPct val="104000"/>
              </a:lnSpc>
              <a:spcBef>
                <a:spcPts val="0"/>
              </a:spcBef>
              <a:spcAft>
                <a:spcPts val="0"/>
              </a:spcAft>
            </a:pPr>
            <a:r>
              <a:rPr sz="1900" b="1">
                <a:solidFill>
                  <a:srgbClr val="466B00"/>
                </a:solidFill>
                <a:latin typeface="Inter"/>
              </a:rPr>
              <a:t>Registers</a:t>
            </a:r>
          </a:p>
        </p:txBody>
      </p:sp>
      <p:sp>
        <p:nvSpPr>
          <p:cNvPr id="14" name="TextBox 13"/>
          <p:cNvSpPr txBox="1"/>
          <p:nvPr/>
        </p:nvSpPr>
        <p:spPr>
          <a:xfrm>
            <a:off x="3730752" y="2377439"/>
            <a:ext cx="4553712" cy="512064"/>
          </a:xfrm>
          <a:prstGeom prst="rect">
            <a:avLst/>
          </a:prstGeom>
          <a:noFill/>
        </p:spPr>
        <p:txBody>
          <a:bodyPr wrap="square" lIns="0" rIns="0" tIns="0" bIns="0" anchor="t">
            <a:noAutofit/>
          </a:bodyPr>
          <a:lstStyle/>
          <a:p>
            <a:pPr algn="l">
              <a:lnSpc>
                <a:spcPct val="104000"/>
              </a:lnSpc>
              <a:spcBef>
                <a:spcPts val="0"/>
              </a:spcBef>
              <a:spcAft>
                <a:spcPts val="0"/>
              </a:spcAft>
            </a:pPr>
            <a:r>
              <a:rPr sz="1900" b="0">
                <a:solidFill>
                  <a:srgbClr val="121610"/>
                </a:solidFill>
                <a:latin typeface="Inter"/>
              </a:rPr>
              <a:t>Thread-local</a:t>
            </a:r>
          </a:p>
        </p:txBody>
      </p:sp>
      <p:sp>
        <p:nvSpPr>
          <p:cNvPr id="15" name="TextBox 14"/>
          <p:cNvSpPr txBox="1"/>
          <p:nvPr/>
        </p:nvSpPr>
        <p:spPr>
          <a:xfrm>
            <a:off x="8531352" y="2377439"/>
            <a:ext cx="2880360" cy="512064"/>
          </a:xfrm>
          <a:prstGeom prst="rect">
            <a:avLst/>
          </a:prstGeom>
          <a:noFill/>
        </p:spPr>
        <p:txBody>
          <a:bodyPr wrap="square" lIns="0" rIns="0" tIns="0" bIns="0" anchor="t">
            <a:noAutofit/>
          </a:bodyPr>
          <a:lstStyle/>
          <a:p>
            <a:pPr algn="l">
              <a:lnSpc>
                <a:spcPct val="104000"/>
              </a:lnSpc>
              <a:spcBef>
                <a:spcPts val="0"/>
              </a:spcBef>
              <a:spcAft>
                <a:spcPts val="0"/>
              </a:spcAft>
            </a:pPr>
            <a:r>
              <a:rPr sz="1900" b="0">
                <a:solidFill>
                  <a:srgbClr val="121610"/>
                </a:solidFill>
                <a:latin typeface="Inter"/>
              </a:rPr>
              <a:t>On the SM</a:t>
            </a:r>
          </a:p>
        </p:txBody>
      </p:sp>
      <p:sp>
        <p:nvSpPr>
          <p:cNvPr id="16" name="TextBox 15"/>
          <p:cNvSpPr txBox="1"/>
          <p:nvPr/>
        </p:nvSpPr>
        <p:spPr>
          <a:xfrm>
            <a:off x="804672" y="3072384"/>
            <a:ext cx="2679192" cy="512064"/>
          </a:xfrm>
          <a:prstGeom prst="rect">
            <a:avLst/>
          </a:prstGeom>
          <a:noFill/>
        </p:spPr>
        <p:txBody>
          <a:bodyPr wrap="square" lIns="0" rIns="0" tIns="0" bIns="0" anchor="t">
            <a:noAutofit/>
          </a:bodyPr>
          <a:lstStyle/>
          <a:p>
            <a:pPr algn="l">
              <a:lnSpc>
                <a:spcPct val="104000"/>
              </a:lnSpc>
              <a:spcBef>
                <a:spcPts val="0"/>
              </a:spcBef>
              <a:spcAft>
                <a:spcPts val="0"/>
              </a:spcAft>
            </a:pPr>
            <a:r>
              <a:rPr sz="1900" b="1">
                <a:solidFill>
                  <a:srgbClr val="466B00"/>
                </a:solidFill>
                <a:latin typeface="Inter"/>
              </a:rPr>
              <a:t>Shared memory</a:t>
            </a:r>
          </a:p>
        </p:txBody>
      </p:sp>
      <p:sp>
        <p:nvSpPr>
          <p:cNvPr id="17" name="TextBox 16"/>
          <p:cNvSpPr txBox="1"/>
          <p:nvPr/>
        </p:nvSpPr>
        <p:spPr>
          <a:xfrm>
            <a:off x="3730752" y="3072384"/>
            <a:ext cx="4553712" cy="512064"/>
          </a:xfrm>
          <a:prstGeom prst="rect">
            <a:avLst/>
          </a:prstGeom>
          <a:noFill/>
        </p:spPr>
        <p:txBody>
          <a:bodyPr wrap="square" lIns="0" rIns="0" tIns="0" bIns="0" anchor="t">
            <a:noAutofit/>
          </a:bodyPr>
          <a:lstStyle/>
          <a:p>
            <a:pPr algn="l">
              <a:lnSpc>
                <a:spcPct val="104000"/>
              </a:lnSpc>
              <a:spcBef>
                <a:spcPts val="0"/>
              </a:spcBef>
              <a:spcAft>
                <a:spcPts val="0"/>
              </a:spcAft>
            </a:pPr>
            <a:r>
              <a:rPr sz="1900" b="0">
                <a:solidFill>
                  <a:srgbClr val="121610"/>
                </a:solidFill>
                <a:latin typeface="Inter"/>
              </a:rPr>
              <a:t>Block in today’s labs</a:t>
            </a:r>
          </a:p>
        </p:txBody>
      </p:sp>
      <p:sp>
        <p:nvSpPr>
          <p:cNvPr id="18" name="TextBox 17"/>
          <p:cNvSpPr txBox="1"/>
          <p:nvPr/>
        </p:nvSpPr>
        <p:spPr>
          <a:xfrm>
            <a:off x="8531352" y="3072384"/>
            <a:ext cx="2880360" cy="512064"/>
          </a:xfrm>
          <a:prstGeom prst="rect">
            <a:avLst/>
          </a:prstGeom>
          <a:noFill/>
        </p:spPr>
        <p:txBody>
          <a:bodyPr wrap="square" lIns="0" rIns="0" tIns="0" bIns="0" anchor="t">
            <a:noAutofit/>
          </a:bodyPr>
          <a:lstStyle/>
          <a:p>
            <a:pPr algn="l">
              <a:lnSpc>
                <a:spcPct val="104000"/>
              </a:lnSpc>
              <a:spcBef>
                <a:spcPts val="0"/>
              </a:spcBef>
              <a:spcAft>
                <a:spcPts val="0"/>
              </a:spcAft>
            </a:pPr>
            <a:r>
              <a:rPr sz="1900" b="0">
                <a:solidFill>
                  <a:srgbClr val="121610"/>
                </a:solidFill>
                <a:latin typeface="Inter"/>
              </a:rPr>
              <a:t>On the SM</a:t>
            </a:r>
          </a:p>
        </p:txBody>
      </p:sp>
      <p:sp>
        <p:nvSpPr>
          <p:cNvPr id="19" name="Rectangle 18"/>
          <p:cNvSpPr/>
          <p:nvPr/>
        </p:nvSpPr>
        <p:spPr>
          <a:xfrm>
            <a:off x="676656" y="3630168"/>
            <a:ext cx="10853928" cy="694944"/>
          </a:xfrm>
          <a:prstGeom prst="rect">
            <a:avLst/>
          </a:prstGeom>
          <a:solidFill>
            <a:srgbClr val="F0F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04672" y="3767328"/>
            <a:ext cx="2679192" cy="512064"/>
          </a:xfrm>
          <a:prstGeom prst="rect">
            <a:avLst/>
          </a:prstGeom>
          <a:noFill/>
        </p:spPr>
        <p:txBody>
          <a:bodyPr wrap="square" lIns="0" rIns="0" tIns="0" bIns="0" anchor="t">
            <a:noAutofit/>
          </a:bodyPr>
          <a:lstStyle/>
          <a:p>
            <a:pPr algn="l">
              <a:lnSpc>
                <a:spcPct val="104000"/>
              </a:lnSpc>
              <a:spcBef>
                <a:spcPts val="0"/>
              </a:spcBef>
              <a:spcAft>
                <a:spcPts val="0"/>
              </a:spcAft>
            </a:pPr>
            <a:r>
              <a:rPr sz="1900" b="1">
                <a:solidFill>
                  <a:srgbClr val="466B00"/>
                </a:solidFill>
                <a:latin typeface="Inter"/>
              </a:rPr>
              <a:t>Global memory</a:t>
            </a:r>
          </a:p>
        </p:txBody>
      </p:sp>
      <p:sp>
        <p:nvSpPr>
          <p:cNvPr id="21" name="TextBox 20"/>
          <p:cNvSpPr txBox="1"/>
          <p:nvPr/>
        </p:nvSpPr>
        <p:spPr>
          <a:xfrm>
            <a:off x="3730752" y="3767328"/>
            <a:ext cx="4553712" cy="512064"/>
          </a:xfrm>
          <a:prstGeom prst="rect">
            <a:avLst/>
          </a:prstGeom>
          <a:noFill/>
        </p:spPr>
        <p:txBody>
          <a:bodyPr wrap="square" lIns="0" rIns="0" tIns="0" bIns="0" anchor="t">
            <a:noAutofit/>
          </a:bodyPr>
          <a:lstStyle/>
          <a:p>
            <a:pPr algn="l">
              <a:lnSpc>
                <a:spcPct val="104000"/>
              </a:lnSpc>
              <a:spcBef>
                <a:spcPts val="0"/>
              </a:spcBef>
              <a:spcAft>
                <a:spcPts val="0"/>
              </a:spcAft>
            </a:pPr>
            <a:r>
              <a:rPr sz="1900" b="0">
                <a:solidFill>
                  <a:srgbClr val="121610"/>
                </a:solidFill>
                <a:latin typeface="Inter"/>
              </a:rPr>
              <a:t>Accessible across device threads</a:t>
            </a:r>
          </a:p>
        </p:txBody>
      </p:sp>
      <p:sp>
        <p:nvSpPr>
          <p:cNvPr id="22" name="TextBox 21"/>
          <p:cNvSpPr txBox="1"/>
          <p:nvPr/>
        </p:nvSpPr>
        <p:spPr>
          <a:xfrm>
            <a:off x="8531352" y="3767328"/>
            <a:ext cx="2880360" cy="512064"/>
          </a:xfrm>
          <a:prstGeom prst="rect">
            <a:avLst/>
          </a:prstGeom>
          <a:noFill/>
        </p:spPr>
        <p:txBody>
          <a:bodyPr wrap="square" lIns="0" rIns="0" tIns="0" bIns="0" anchor="t">
            <a:noAutofit/>
          </a:bodyPr>
          <a:lstStyle/>
          <a:p>
            <a:pPr algn="l">
              <a:lnSpc>
                <a:spcPct val="104000"/>
              </a:lnSpc>
              <a:spcBef>
                <a:spcPts val="0"/>
              </a:spcBef>
              <a:spcAft>
                <a:spcPts val="0"/>
              </a:spcAft>
            </a:pPr>
            <a:r>
              <a:rPr sz="1900" b="0">
                <a:solidFill>
                  <a:srgbClr val="121610"/>
                </a:solidFill>
                <a:latin typeface="Inter"/>
              </a:rPr>
              <a:t>Device memory</a:t>
            </a:r>
          </a:p>
        </p:txBody>
      </p:sp>
      <p:sp>
        <p:nvSpPr>
          <p:cNvPr id="23" name="TextBox 22"/>
          <p:cNvSpPr txBox="1"/>
          <p:nvPr/>
        </p:nvSpPr>
        <p:spPr>
          <a:xfrm>
            <a:off x="804672" y="4462272"/>
            <a:ext cx="2679192" cy="512064"/>
          </a:xfrm>
          <a:prstGeom prst="rect">
            <a:avLst/>
          </a:prstGeom>
          <a:noFill/>
        </p:spPr>
        <p:txBody>
          <a:bodyPr wrap="square" lIns="0" rIns="0" tIns="0" bIns="0" anchor="t">
            <a:noAutofit/>
          </a:bodyPr>
          <a:lstStyle/>
          <a:p>
            <a:pPr algn="l">
              <a:lnSpc>
                <a:spcPct val="104000"/>
              </a:lnSpc>
              <a:spcBef>
                <a:spcPts val="0"/>
              </a:spcBef>
              <a:spcAft>
                <a:spcPts val="0"/>
              </a:spcAft>
            </a:pPr>
            <a:r>
              <a:rPr sz="1900" b="1">
                <a:solidFill>
                  <a:srgbClr val="466B00"/>
                </a:solidFill>
                <a:latin typeface="Inter"/>
              </a:rPr>
              <a:t>Local memory</a:t>
            </a:r>
          </a:p>
        </p:txBody>
      </p:sp>
      <p:sp>
        <p:nvSpPr>
          <p:cNvPr id="24" name="TextBox 23"/>
          <p:cNvSpPr txBox="1"/>
          <p:nvPr/>
        </p:nvSpPr>
        <p:spPr>
          <a:xfrm>
            <a:off x="3730752" y="4462272"/>
            <a:ext cx="4553712" cy="512064"/>
          </a:xfrm>
          <a:prstGeom prst="rect">
            <a:avLst/>
          </a:prstGeom>
          <a:noFill/>
        </p:spPr>
        <p:txBody>
          <a:bodyPr wrap="square" lIns="0" rIns="0" tIns="0" bIns="0" anchor="t">
            <a:noAutofit/>
          </a:bodyPr>
          <a:lstStyle/>
          <a:p>
            <a:pPr algn="l">
              <a:lnSpc>
                <a:spcPct val="104000"/>
              </a:lnSpc>
              <a:spcBef>
                <a:spcPts val="0"/>
              </a:spcBef>
              <a:spcAft>
                <a:spcPts val="0"/>
              </a:spcAft>
            </a:pPr>
            <a:r>
              <a:rPr sz="1900" b="0">
                <a:solidFill>
                  <a:srgbClr val="121610"/>
                </a:solidFill>
                <a:latin typeface="Inter"/>
              </a:rPr>
              <a:t>Thread-local</a:t>
            </a:r>
          </a:p>
        </p:txBody>
      </p:sp>
      <p:sp>
        <p:nvSpPr>
          <p:cNvPr id="25" name="TextBox 24"/>
          <p:cNvSpPr txBox="1"/>
          <p:nvPr/>
        </p:nvSpPr>
        <p:spPr>
          <a:xfrm>
            <a:off x="8531352" y="4462272"/>
            <a:ext cx="2880360" cy="512064"/>
          </a:xfrm>
          <a:prstGeom prst="rect">
            <a:avLst/>
          </a:prstGeom>
          <a:noFill/>
        </p:spPr>
        <p:txBody>
          <a:bodyPr wrap="square" lIns="0" rIns="0" tIns="0" bIns="0" anchor="t">
            <a:noAutofit/>
          </a:bodyPr>
          <a:lstStyle/>
          <a:p>
            <a:pPr algn="l">
              <a:lnSpc>
                <a:spcPct val="104000"/>
              </a:lnSpc>
              <a:spcBef>
                <a:spcPts val="0"/>
              </a:spcBef>
              <a:spcAft>
                <a:spcPts val="0"/>
              </a:spcAft>
            </a:pPr>
            <a:r>
              <a:rPr sz="1900" b="0">
                <a:solidFill>
                  <a:srgbClr val="121610"/>
                </a:solidFill>
                <a:latin typeface="Inter"/>
              </a:rPr>
              <a:t>Device memory</a:t>
            </a:r>
          </a:p>
        </p:txBody>
      </p:sp>
      <p:sp>
        <p:nvSpPr>
          <p:cNvPr id="26" name="Rectangle 25"/>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“Local” names the scope. It does not mean the value stays in a register.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25-MINUTE CHECKPOINT</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Lab 1 · Prove the environment and the reference</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Existing course targets · projects/detailed/runtime and cpp; guide §§1.2–1.3</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13</a:t>
            </a:r>
          </a:p>
        </p:txBody>
      </p:sp>
      <p:sp>
        <p:nvSpPr>
          <p:cNvPr id="8" name="Rectangle 7"/>
          <p:cNvSpPr/>
          <p:nvPr/>
        </p:nvSpPr>
        <p:spPr>
          <a:xfrm>
            <a:off x="521207" y="1773936"/>
            <a:ext cx="3090672" cy="283464"/>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30936" y="1833372"/>
            <a:ext cx="2907791" cy="182880"/>
          </a:xfrm>
          <a:prstGeom prst="rect">
            <a:avLst/>
          </a:prstGeom>
          <a:noFill/>
        </p:spPr>
        <p:txBody>
          <a:bodyPr wrap="square" lIns="0" rIns="0" tIns="0" bIns="0" anchor="t">
            <a:noAutofit/>
          </a:bodyPr>
          <a:lstStyle/>
          <a:p>
            <a:pPr algn="l">
              <a:lnSpc>
                <a:spcPct val="114000"/>
              </a:lnSpc>
              <a:spcBef>
                <a:spcPts val="0"/>
              </a:spcBef>
              <a:spcAft>
                <a:spcPts val="0"/>
              </a:spcAft>
            </a:pPr>
            <a:r>
              <a:rPr sz="950" b="1">
                <a:solidFill>
                  <a:srgbClr val="4C7000"/>
                </a:solidFill>
                <a:latin typeface="Inter"/>
              </a:rPr>
              <a:t>HANDS-ON / COURSE EXERCISE</a:t>
            </a:r>
          </a:p>
        </p:txBody>
      </p:sp>
      <p:sp>
        <p:nvSpPr>
          <p:cNvPr id="10" name="Rectangle 9"/>
          <p:cNvSpPr/>
          <p:nvPr/>
        </p:nvSpPr>
        <p:spPr>
          <a:xfrm>
            <a:off x="521207" y="2286000"/>
            <a:ext cx="7406640" cy="2414016"/>
          </a:xfrm>
          <a:prstGeom prst="rect">
            <a:avLst/>
          </a:prstGeom>
          <a:solidFill>
            <a:srgbClr val="11170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04088" y="2441448"/>
            <a:ext cx="7040879" cy="210312"/>
          </a:xfrm>
          <a:prstGeom prst="rect">
            <a:avLst/>
          </a:prstGeom>
          <a:noFill/>
        </p:spPr>
        <p:txBody>
          <a:bodyPr wrap="square" lIns="0" rIns="0" tIns="0" bIns="0" anchor="t">
            <a:noAutofit/>
          </a:bodyPr>
          <a:lstStyle/>
          <a:p>
            <a:pPr algn="l">
              <a:lnSpc>
                <a:spcPct val="114000"/>
              </a:lnSpc>
              <a:spcBef>
                <a:spcPts val="0"/>
              </a:spcBef>
              <a:spcAft>
                <a:spcPts val="0"/>
              </a:spcAft>
            </a:pPr>
            <a:r>
              <a:rPr sz="900" b="1">
                <a:solidFill>
                  <a:srgbClr val="76B900"/>
                </a:solidFill>
                <a:latin typeface="Inter"/>
              </a:rPr>
              <a:t>RUN FROM THE MODULE SHOWN</a:t>
            </a:r>
          </a:p>
        </p:txBody>
      </p:sp>
      <p:sp>
        <p:nvSpPr>
          <p:cNvPr id="12" name="TextBox 11"/>
          <p:cNvSpPr txBox="1"/>
          <p:nvPr/>
        </p:nvSpPr>
        <p:spPr>
          <a:xfrm>
            <a:off x="704088" y="2798064"/>
            <a:ext cx="7040879" cy="1773936"/>
          </a:xfrm>
          <a:prstGeom prst="rect">
            <a:avLst/>
          </a:prstGeom>
          <a:noFill/>
        </p:spPr>
        <p:txBody>
          <a:bodyPr wrap="none" lIns="0" rIns="0" tIns="0" bIns="0">
            <a:noAutofit/>
          </a:bodyPr>
          <a:lstStyle/>
          <a:p>
            <a:pPr>
              <a:lnSpc>
                <a:spcPts val="2039"/>
              </a:lnSpc>
              <a:spcBef>
                <a:spcPts val="0"/>
              </a:spcBef>
              <a:spcAft>
                <a:spcPts val="0"/>
              </a:spcAft>
            </a:pPr>
            <a:r>
              <a:rPr sz="1700">
                <a:solidFill>
                  <a:srgbClr val="EDF3E6"/>
                </a:solidFill>
                <a:latin typeface="DejaVu Sans Mono"/>
              </a:rPr>
              <a:t>cd</a:t>
            </a:r>
            <a:r>
              <a:rPr sz="1700">
                <a:solidFill>
                  <a:srgbClr val="EDF3E6"/>
                </a:solidFill>
                <a:latin typeface="DejaVu Sans Mono"/>
              </a:rPr>
              <a:t> </a:t>
            </a:r>
            <a:r>
              <a:rPr sz="1700">
                <a:solidFill>
                  <a:srgbClr val="EDF3E6"/>
                </a:solidFill>
                <a:latin typeface="DejaVu Sans Mono"/>
              </a:rPr>
              <a:t>formation/projects/detailed</a:t>
            </a:r>
          </a:p>
          <a:p>
            <a:pPr>
              <a:lnSpc>
                <a:spcPts val="2039"/>
              </a:lnSpc>
              <a:spcBef>
                <a:spcPts val="0"/>
              </a:spcBef>
              <a:spcAft>
                <a:spcPts val="0"/>
              </a:spcAft>
            </a:pPr>
            <a:r>
              <a:rPr sz="1700">
                <a:solidFill>
                  <a:srgbClr val="EDF3E6"/>
                </a:solidFill>
                <a:latin typeface="DejaVu Sans Mono"/>
              </a:rPr>
              <a:t>bazel</a:t>
            </a:r>
            <a:r>
              <a:rPr sz="1700">
                <a:solidFill>
                  <a:srgbClr val="EDF3E6"/>
                </a:solidFill>
                <a:latin typeface="DejaVu Sans Mono"/>
              </a:rPr>
              <a:t> </a:t>
            </a:r>
            <a:r>
              <a:rPr sz="1700">
                <a:solidFill>
                  <a:srgbClr val="EDF3E6"/>
                </a:solidFill>
                <a:latin typeface="DejaVu Sans Mono"/>
              </a:rPr>
              <a:t>run</a:t>
            </a:r>
            <a:r>
              <a:rPr sz="1700">
                <a:solidFill>
                  <a:srgbClr val="EDF3E6"/>
                </a:solidFill>
                <a:latin typeface="DejaVu Sans Mono"/>
              </a:rPr>
              <a:t> </a:t>
            </a:r>
            <a:r>
              <a:rPr sz="1700">
                <a:solidFill>
                  <a:srgbClr val="EDF3E6"/>
                </a:solidFill>
                <a:latin typeface="DejaVu Sans Mono"/>
              </a:rPr>
              <a:t>//runtime:device_info</a:t>
            </a:r>
          </a:p>
          <a:p>
            <a:pPr>
              <a:lnSpc>
                <a:spcPts val="2039"/>
              </a:lnSpc>
              <a:spcBef>
                <a:spcPts val="0"/>
              </a:spcBef>
              <a:spcAft>
                <a:spcPts val="0"/>
              </a:spcAft>
            </a:pPr>
            <a:r>
              <a:rPr sz="1700">
                <a:solidFill>
                  <a:srgbClr val="EDF3E6"/>
                </a:solidFill>
                <a:latin typeface="DejaVu Sans Mono"/>
              </a:rPr>
              <a:t>bazel</a:t>
            </a:r>
            <a:r>
              <a:rPr sz="1700">
                <a:solidFill>
                  <a:srgbClr val="EDF3E6"/>
                </a:solidFill>
                <a:latin typeface="DejaVu Sans Mono"/>
              </a:rPr>
              <a:t> </a:t>
            </a:r>
            <a:r>
              <a:rPr sz="1700">
                <a:solidFill>
                  <a:srgbClr val="EDF3E6"/>
                </a:solidFill>
                <a:latin typeface="DejaVu Sans Mono"/>
              </a:rPr>
              <a:t>test</a:t>
            </a:r>
            <a:r>
              <a:rPr sz="1700">
                <a:solidFill>
                  <a:srgbClr val="EDF3E6"/>
                </a:solidFill>
                <a:latin typeface="DejaVu Sans Mono"/>
              </a:rPr>
              <a:t> </a:t>
            </a:r>
            <a:r>
              <a:rPr sz="1700">
                <a:solidFill>
                  <a:srgbClr val="EDF3E6"/>
                </a:solidFill>
                <a:latin typeface="DejaVu Sans Mono"/>
              </a:rPr>
              <a:t>//cpp:vector_cpu_test</a:t>
            </a:r>
          </a:p>
        </p:txBody>
      </p:sp>
      <p:sp>
        <p:nvSpPr>
          <p:cNvPr id="13" name="TextBox 12"/>
          <p:cNvSpPr txBox="1"/>
          <p:nvPr/>
        </p:nvSpPr>
        <p:spPr>
          <a:xfrm>
            <a:off x="8339327" y="1938528"/>
            <a:ext cx="320040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RECORD</a:t>
            </a:r>
          </a:p>
        </p:txBody>
      </p:sp>
      <p:sp>
        <p:nvSpPr>
          <p:cNvPr id="14" name="TextBox 13"/>
          <p:cNvSpPr txBox="1"/>
          <p:nvPr/>
        </p:nvSpPr>
        <p:spPr>
          <a:xfrm>
            <a:off x="8339327" y="2249424"/>
            <a:ext cx="3200400" cy="704088"/>
          </a:xfrm>
          <a:prstGeom prst="rect">
            <a:avLst/>
          </a:prstGeom>
          <a:noFill/>
        </p:spPr>
        <p:txBody>
          <a:bodyPr wrap="square" lIns="0" rIns="0" tIns="0" bIns="0" anchor="t">
            <a:noAutofit/>
          </a:bodyPr>
          <a:lstStyle/>
          <a:p>
            <a:pPr algn="l">
              <a:lnSpc>
                <a:spcPct val="114000"/>
              </a:lnSpc>
              <a:spcBef>
                <a:spcPts val="0"/>
              </a:spcBef>
              <a:spcAft>
                <a:spcPts val="0"/>
              </a:spcAft>
            </a:pPr>
            <a:r>
              <a:rPr sz="1900" b="0">
                <a:solidFill>
                  <a:srgbClr val="121610"/>
                </a:solidFill>
                <a:latin typeface="Inter"/>
              </a:rPr>
              <a:t>GPU name and compute capability</a:t>
            </a:r>
          </a:p>
        </p:txBody>
      </p:sp>
      <p:sp>
        <p:nvSpPr>
          <p:cNvPr id="15" name="TextBox 14"/>
          <p:cNvSpPr txBox="1"/>
          <p:nvPr/>
        </p:nvSpPr>
        <p:spPr>
          <a:xfrm>
            <a:off x="8339327" y="2962656"/>
            <a:ext cx="320040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DISTINGUISH</a:t>
            </a:r>
          </a:p>
        </p:txBody>
      </p:sp>
      <p:sp>
        <p:nvSpPr>
          <p:cNvPr id="16" name="TextBox 15"/>
          <p:cNvSpPr txBox="1"/>
          <p:nvPr/>
        </p:nvSpPr>
        <p:spPr>
          <a:xfrm>
            <a:off x="8339327" y="3273552"/>
            <a:ext cx="3200400" cy="704088"/>
          </a:xfrm>
          <a:prstGeom prst="rect">
            <a:avLst/>
          </a:prstGeom>
          <a:noFill/>
        </p:spPr>
        <p:txBody>
          <a:bodyPr wrap="square" lIns="0" rIns="0" tIns="0" bIns="0" anchor="t">
            <a:noAutofit/>
          </a:bodyPr>
          <a:lstStyle/>
          <a:p>
            <a:pPr algn="l">
              <a:lnSpc>
                <a:spcPct val="114000"/>
              </a:lnSpc>
              <a:spcBef>
                <a:spcPts val="0"/>
              </a:spcBef>
              <a:spcAft>
                <a:spcPts val="0"/>
              </a:spcAft>
            </a:pPr>
            <a:r>
              <a:rPr sz="1900" b="0">
                <a:solidFill>
                  <a:srgbClr val="121610"/>
                </a:solidFill>
                <a:latin typeface="Inter"/>
              </a:rPr>
              <a:t>Runtime and driver versions</a:t>
            </a:r>
          </a:p>
        </p:txBody>
      </p:sp>
      <p:sp>
        <p:nvSpPr>
          <p:cNvPr id="17" name="TextBox 16"/>
          <p:cNvSpPr txBox="1"/>
          <p:nvPr/>
        </p:nvSpPr>
        <p:spPr>
          <a:xfrm>
            <a:off x="8339327" y="3986784"/>
            <a:ext cx="320040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CHECK</a:t>
            </a:r>
          </a:p>
        </p:txBody>
      </p:sp>
      <p:sp>
        <p:nvSpPr>
          <p:cNvPr id="18" name="TextBox 17"/>
          <p:cNvSpPr txBox="1"/>
          <p:nvPr/>
        </p:nvSpPr>
        <p:spPr>
          <a:xfrm>
            <a:off x="8339327" y="4297680"/>
            <a:ext cx="3200400" cy="704088"/>
          </a:xfrm>
          <a:prstGeom prst="rect">
            <a:avLst/>
          </a:prstGeom>
          <a:noFill/>
        </p:spPr>
        <p:txBody>
          <a:bodyPr wrap="square" lIns="0" rIns="0" tIns="0" bIns="0" anchor="t">
            <a:noAutofit/>
          </a:bodyPr>
          <a:lstStyle/>
          <a:p>
            <a:pPr algn="l">
              <a:lnSpc>
                <a:spcPct val="114000"/>
              </a:lnSpc>
              <a:spcBef>
                <a:spcPts val="0"/>
              </a:spcBef>
              <a:spcAft>
                <a:spcPts val="0"/>
              </a:spcAft>
            </a:pPr>
            <a:r>
              <a:rPr sz="1900" b="0">
                <a:solidFill>
                  <a:srgbClr val="121610"/>
                </a:solidFill>
                <a:latin typeface="Inter"/>
              </a:rPr>
              <a:t>One hand-calculated SAXPY result</a:t>
            </a:r>
          </a:p>
        </p:txBody>
      </p:sp>
      <p:sp>
        <p:nvSpPr>
          <p:cNvPr id="19" name="TextBox 18"/>
          <p:cNvSpPr txBox="1"/>
          <p:nvPr/>
        </p:nvSpPr>
        <p:spPr>
          <a:xfrm>
            <a:off x="594360" y="5056632"/>
            <a:ext cx="10936224" cy="438912"/>
          </a:xfrm>
          <a:prstGeom prst="rect">
            <a:avLst/>
          </a:prstGeom>
          <a:noFill/>
        </p:spPr>
        <p:txBody>
          <a:bodyPr wrap="square" lIns="0" rIns="0" tIns="0" bIns="0" anchor="t">
            <a:noAutofit/>
          </a:bodyPr>
          <a:lstStyle/>
          <a:p>
            <a:pPr algn="l">
              <a:lnSpc>
                <a:spcPct val="114000"/>
              </a:lnSpc>
              <a:spcBef>
                <a:spcPts val="0"/>
              </a:spcBef>
              <a:spcAft>
                <a:spcPts val="0"/>
              </a:spcAft>
            </a:pPr>
            <a:r>
              <a:rPr sz="1800" b="1">
                <a:solidFill>
                  <a:srgbClr val="121610"/>
                </a:solidFill>
                <a:latin typeface="Inter"/>
              </a:rPr>
              <a:t>Deliverable: environment facts and a CPU result you can explain.</a:t>
            </a:r>
          </a:p>
        </p:txBody>
      </p:sp>
      <p:sp>
        <p:nvSpPr>
          <p:cNvPr id="20" name="Rectangle 19"/>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Record what you tested, why you trust the result, and what remains unverified.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90C08"/>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C2CBB8"/>
                </a:solidFill>
                <a:latin typeface="Inter"/>
              </a:rPr>
              <a:t>DAY 1 / 02</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FFFFFF"/>
                </a:solidFill>
                <a:latin typeface="Inter"/>
              </a:rPr>
              <a:t>Build a first CUDA feature</a:t>
            </a:r>
          </a:p>
        </p:txBody>
      </p:sp>
      <p:sp>
        <p:nvSpPr>
          <p:cNvPr id="4" name="Rectangle 3"/>
          <p:cNvSpPr/>
          <p:nvPr/>
        </p:nvSpPr>
        <p:spPr>
          <a:xfrm>
            <a:off x="502920" y="6432804"/>
            <a:ext cx="11173968" cy="8229"/>
          </a:xfrm>
          <a:prstGeom prst="rect">
            <a:avLst/>
          </a:prstGeom>
          <a:solidFill>
            <a:srgbClr val="3A45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C2CBB8"/>
                </a:solidFill>
                <a:latin typeface="Inter"/>
              </a:rPr>
              <a:t>NVIDIA Figure 3 · §1.2.2.1, p. 6 / PDF p. 24; C++ implementation concepts: §2.1</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C2CBB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FFFFFF"/>
                </a:solidFill>
                <a:latin typeface="Inter"/>
              </a:rPr>
              <a:t>14</a:t>
            </a:r>
          </a:p>
        </p:txBody>
      </p:sp>
      <p:sp>
        <p:nvSpPr>
          <p:cNvPr id="8" name="TextBox 7"/>
          <p:cNvSpPr txBox="1"/>
          <p:nvPr/>
        </p:nvSpPr>
        <p:spPr>
          <a:xfrm>
            <a:off x="521207" y="2103120"/>
            <a:ext cx="3566160" cy="1115568"/>
          </a:xfrm>
          <a:prstGeom prst="rect">
            <a:avLst/>
          </a:prstGeom>
          <a:noFill/>
        </p:spPr>
        <p:txBody>
          <a:bodyPr wrap="square" lIns="0" rIns="0" tIns="0" bIns="0" anchor="t">
            <a:noAutofit/>
          </a:bodyPr>
          <a:lstStyle/>
          <a:p>
            <a:pPr algn="l">
              <a:lnSpc>
                <a:spcPct val="114000"/>
              </a:lnSpc>
              <a:spcBef>
                <a:spcPts val="0"/>
              </a:spcBef>
              <a:spcAft>
                <a:spcPts val="0"/>
              </a:spcAft>
            </a:pPr>
            <a:r>
              <a:rPr sz="6600" b="1">
                <a:solidFill>
                  <a:srgbClr val="76B900"/>
                </a:solidFill>
                <a:latin typeface="Inter"/>
              </a:rPr>
              <a:t>02</a:t>
            </a:r>
          </a:p>
        </p:txBody>
      </p:sp>
      <p:sp>
        <p:nvSpPr>
          <p:cNvPr id="9" name="TextBox 8"/>
          <p:cNvSpPr txBox="1"/>
          <p:nvPr/>
        </p:nvSpPr>
        <p:spPr>
          <a:xfrm>
            <a:off x="530352" y="3438144"/>
            <a:ext cx="4069080" cy="1325880"/>
          </a:xfrm>
          <a:prstGeom prst="rect">
            <a:avLst/>
          </a:prstGeom>
          <a:noFill/>
        </p:spPr>
        <p:txBody>
          <a:bodyPr wrap="square" lIns="0" rIns="0" tIns="0" bIns="0" anchor="t">
            <a:noAutofit/>
          </a:bodyPr>
          <a:lstStyle/>
          <a:p>
            <a:pPr algn="l">
              <a:lnSpc>
                <a:spcPct val="114000"/>
              </a:lnSpc>
              <a:spcBef>
                <a:spcPts val="0"/>
              </a:spcBef>
              <a:spcAft>
                <a:spcPts val="0"/>
              </a:spcAft>
            </a:pPr>
            <a:r>
              <a:rPr sz="2200" b="0">
                <a:solidFill>
                  <a:srgbClr val="FFFFFF"/>
                </a:solidFill>
                <a:latin typeface="Inter"/>
              </a:rPr>
              <a:t>A CPU oracle, a small kernel,</a:t>
            </a:r>
          </a:p>
          <a:p>
            <a:pPr algn="l">
              <a:lnSpc>
                <a:spcPct val="114000"/>
              </a:lnSpc>
              <a:spcBef>
                <a:spcPts val="0"/>
              </a:spcBef>
              <a:spcAft>
                <a:spcPts val="0"/>
              </a:spcAft>
            </a:pPr>
            <a:r>
              <a:rPr sz="2200" b="0">
                <a:solidFill>
                  <a:srgbClr val="FFFFFF"/>
                </a:solidFill>
                <a:latin typeface="Inter"/>
              </a:rPr>
              <a:t>and an explicit host workflow.</a:t>
            </a:r>
          </a:p>
        </p:txBody>
      </p:sp>
      <p:sp>
        <p:nvSpPr>
          <p:cNvPr id="10" name="Rectangle 9"/>
          <p:cNvSpPr/>
          <p:nvPr/>
        </p:nvSpPr>
        <p:spPr>
          <a:xfrm>
            <a:off x="5065776" y="1865376"/>
            <a:ext cx="6611112" cy="360273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5276088" y="2044972"/>
            <a:ext cx="6172200" cy="293264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ORIGINAL_NVIDIA_fig03_grid_PDF_page_24" descr="NVIDIA Figure 3; CUDA Programming Guide 13.4.2, PDF page 24, printed page 6. Extracted from embedded image xref 853; original colors and aspect ratio preserved."/>
          <p:cNvPicPr>
            <a:picLocks noChangeAspect="1"/>
          </p:cNvPicPr>
          <p:nvPr/>
        </p:nvPicPr>
        <p:blipFill>
          <a:blip r:embed="rId2"/>
          <a:stretch>
            <a:fillRect/>
          </a:stretch>
        </p:blipFill>
        <p:spPr>
          <a:xfrm>
            <a:off x="5276088" y="2044972"/>
            <a:ext cx="6172200" cy="2932647"/>
          </a:xfrm>
          <a:prstGeom prst="rect">
            <a:avLst/>
          </a:prstGeom>
        </p:spPr>
      </p:pic>
      <p:sp>
        <p:nvSpPr>
          <p:cNvPr id="13" name="TextBox 12"/>
          <p:cNvSpPr txBox="1"/>
          <p:nvPr/>
        </p:nvSpPr>
        <p:spPr>
          <a:xfrm>
            <a:off x="5276088" y="5084064"/>
            <a:ext cx="6172200" cy="210312"/>
          </a:xfrm>
          <a:prstGeom prst="rect">
            <a:avLst/>
          </a:prstGeom>
          <a:noFill/>
        </p:spPr>
        <p:txBody>
          <a:bodyPr wrap="square" lIns="0" rIns="0" tIns="0" bIns="0" anchor="t">
            <a:noAutofit/>
          </a:bodyPr>
          <a:lstStyle/>
          <a:p>
            <a:pPr algn="ctr">
              <a:lnSpc>
                <a:spcPct val="114000"/>
              </a:lnSpc>
              <a:spcBef>
                <a:spcPts val="0"/>
              </a:spcBef>
              <a:spcAft>
                <a:spcPts val="0"/>
              </a:spcAft>
            </a:pPr>
            <a:r>
              <a:rPr sz="919" b="0">
                <a:solidFill>
                  <a:srgbClr val="5A6358"/>
                </a:solidFill>
                <a:latin typeface="Inter"/>
              </a:rPr>
              <a:t>NVIDIA Figure 3 · Guide p. 6 / PDF p.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FIRST CUDA FEATURE</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Start with a contract that can be checked by hand</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Course SAXPY implementation; guide §2.1.5 illustrates the CPU/GPU comparison pattern.</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15</a:t>
            </a:r>
          </a:p>
        </p:txBody>
      </p:sp>
      <p:sp>
        <p:nvSpPr>
          <p:cNvPr id="8" name="TextBox 7"/>
          <p:cNvSpPr txBox="1"/>
          <p:nvPr/>
        </p:nvSpPr>
        <p:spPr>
          <a:xfrm>
            <a:off x="621792" y="1856231"/>
            <a:ext cx="10808208" cy="530352"/>
          </a:xfrm>
          <a:prstGeom prst="rect">
            <a:avLst/>
          </a:prstGeom>
          <a:noFill/>
        </p:spPr>
        <p:txBody>
          <a:bodyPr wrap="square" lIns="0" rIns="0" tIns="0" bIns="0" anchor="t">
            <a:noAutofit/>
          </a:bodyPr>
          <a:lstStyle/>
          <a:p>
            <a:pPr algn="l">
              <a:lnSpc>
                <a:spcPct val="114000"/>
              </a:lnSpc>
              <a:spcBef>
                <a:spcPts val="0"/>
              </a:spcBef>
              <a:spcAft>
                <a:spcPts val="0"/>
              </a:spcAft>
            </a:pPr>
            <a:r>
              <a:rPr sz="3200" b="1">
                <a:solidFill>
                  <a:srgbClr val="121610"/>
                </a:solidFill>
                <a:latin typeface="Inter"/>
              </a:rPr>
              <a:t>out[i] = α × a[i] + b[i]</a:t>
            </a:r>
          </a:p>
        </p:txBody>
      </p:sp>
      <p:sp>
        <p:nvSpPr>
          <p:cNvPr id="9" name="Rectangle 8"/>
          <p:cNvSpPr/>
          <p:nvPr/>
        </p:nvSpPr>
        <p:spPr>
          <a:xfrm>
            <a:off x="594360" y="2770632"/>
            <a:ext cx="7662672" cy="2221992"/>
          </a:xfrm>
          <a:prstGeom prst="rect">
            <a:avLst/>
          </a:prstGeom>
          <a:solidFill>
            <a:srgbClr val="11170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77240" y="2926079"/>
            <a:ext cx="7296912" cy="210312"/>
          </a:xfrm>
          <a:prstGeom prst="rect">
            <a:avLst/>
          </a:prstGeom>
          <a:noFill/>
        </p:spPr>
        <p:txBody>
          <a:bodyPr wrap="square" lIns="0" rIns="0" tIns="0" bIns="0" anchor="t">
            <a:noAutofit/>
          </a:bodyPr>
          <a:lstStyle/>
          <a:p>
            <a:pPr algn="l">
              <a:lnSpc>
                <a:spcPct val="114000"/>
              </a:lnSpc>
              <a:spcBef>
                <a:spcPts val="0"/>
              </a:spcBef>
              <a:spcAft>
                <a:spcPts val="0"/>
              </a:spcAft>
            </a:pPr>
            <a:r>
              <a:rPr sz="900" b="1">
                <a:solidFill>
                  <a:srgbClr val="76B900"/>
                </a:solidFill>
                <a:latin typeface="Inter"/>
              </a:rPr>
              <a:t>COURSE CPU REFERENCE · EXCERPT</a:t>
            </a:r>
          </a:p>
        </p:txBody>
      </p:sp>
      <p:sp>
        <p:nvSpPr>
          <p:cNvPr id="11" name="TextBox 10"/>
          <p:cNvSpPr txBox="1"/>
          <p:nvPr/>
        </p:nvSpPr>
        <p:spPr>
          <a:xfrm>
            <a:off x="777240" y="3282696"/>
            <a:ext cx="7296912" cy="1581912"/>
          </a:xfrm>
          <a:prstGeom prst="rect">
            <a:avLst/>
          </a:prstGeom>
          <a:noFill/>
        </p:spPr>
        <p:txBody>
          <a:bodyPr wrap="none" lIns="0" rIns="0" tIns="0" bIns="0">
            <a:noAutofit/>
          </a:bodyPr>
          <a:lstStyle/>
          <a:p>
            <a:pPr>
              <a:lnSpc>
                <a:spcPts val="2160"/>
              </a:lnSpc>
              <a:spcBef>
                <a:spcPts val="0"/>
              </a:spcBef>
              <a:spcAft>
                <a:spcPts val="0"/>
              </a:spcAft>
            </a:pPr>
            <a:r>
              <a:rPr sz="1800" b="1">
                <a:solidFill>
                  <a:srgbClr val="AADA57"/>
                </a:solidFill>
                <a:latin typeface="DejaVu Sans Mono"/>
              </a:rPr>
              <a:t>if</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a</a:t>
            </a:r>
            <a:r>
              <a:rPr sz="1800">
                <a:solidFill>
                  <a:srgbClr val="EDF3E6"/>
                </a:solidFill>
                <a:latin typeface="DejaVu Sans Mono"/>
              </a:rPr>
              <a:t>.</a:t>
            </a:r>
            <a:r>
              <a:rPr sz="1800">
                <a:solidFill>
                  <a:srgbClr val="EDF3E6"/>
                </a:solidFill>
                <a:latin typeface="DejaVu Sans Mono"/>
              </a:rPr>
              <a:t>size</a:t>
            </a:r>
            <a:r>
              <a:rPr sz="1800">
                <a:solidFill>
                  <a:srgbClr val="EDF3E6"/>
                </a:solidFill>
                <a:latin typeface="DejaVu Sans Mono"/>
              </a:rPr>
              <a:t>(</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b</a:t>
            </a:r>
            <a:r>
              <a:rPr sz="1800">
                <a:solidFill>
                  <a:srgbClr val="EDF3E6"/>
                </a:solidFill>
                <a:latin typeface="DejaVu Sans Mono"/>
              </a:rPr>
              <a:t>.</a:t>
            </a:r>
            <a:r>
              <a:rPr sz="1800">
                <a:solidFill>
                  <a:srgbClr val="EDF3E6"/>
                </a:solidFill>
                <a:latin typeface="DejaVu Sans Mono"/>
              </a:rPr>
              <a:t>size</a:t>
            </a:r>
            <a:r>
              <a:rPr sz="1800">
                <a:solidFill>
                  <a:srgbClr val="EDF3E6"/>
                </a:solidFill>
                <a:latin typeface="DejaVu Sans Mono"/>
              </a:rPr>
              <a:t>(</a:t>
            </a:r>
            <a:r>
              <a:rPr sz="1800">
                <a:solidFill>
                  <a:srgbClr val="EDF3E6"/>
                </a:solidFill>
                <a:latin typeface="DejaVu Sans Mono"/>
              </a:rPr>
              <a:t>)</a:t>
            </a:r>
            <a:r>
              <a:rPr sz="1800">
                <a:solidFill>
                  <a:srgbClr val="EDF3E6"/>
                </a:solidFill>
                <a:latin typeface="DejaVu Sans Mono"/>
              </a:rPr>
              <a:t>)</a:t>
            </a:r>
          </a:p>
          <a:p>
            <a:pPr>
              <a:lnSpc>
                <a:spcPts val="2160"/>
              </a:lnSpc>
              <a:spcBef>
                <a:spcPts val="0"/>
              </a:spcBef>
              <a:spcAft>
                <a:spcPts val="0"/>
              </a:spcAft>
            </a:pPr>
            <a:r>
              <a:rPr sz="1800">
                <a:solidFill>
                  <a:srgbClr val="EDF3E6"/>
                </a:solidFill>
                <a:latin typeface="DejaVu Sans Mono"/>
              </a:rPr>
              <a:t>  </a:t>
            </a:r>
            <a:r>
              <a:rPr sz="1800" b="1">
                <a:solidFill>
                  <a:srgbClr val="AADA57"/>
                </a:solidFill>
                <a:latin typeface="DejaVu Sans Mono"/>
              </a:rPr>
              <a:t>throw</a:t>
            </a:r>
            <a:r>
              <a:rPr sz="1800">
                <a:solidFill>
                  <a:srgbClr val="EDF3E6"/>
                </a:solidFill>
                <a:latin typeface="DejaVu Sans Mono"/>
              </a:rPr>
              <a:t> </a:t>
            </a:r>
            <a:r>
              <a:rPr sz="1800">
                <a:solidFill>
                  <a:srgbClr val="EDF3E6"/>
                </a:solidFill>
                <a:latin typeface="DejaVu Sans Mono"/>
              </a:rPr>
              <a:t>std</a:t>
            </a:r>
            <a:r>
              <a:rPr sz="1800">
                <a:solidFill>
                  <a:srgbClr val="EDF3E6"/>
                </a:solidFill>
                <a:latin typeface="DejaVu Sans Mono"/>
              </a:rPr>
              <a:t>:</a:t>
            </a:r>
            <a:r>
              <a:rPr sz="1800">
                <a:solidFill>
                  <a:srgbClr val="EDF3E6"/>
                </a:solidFill>
                <a:latin typeface="DejaVu Sans Mono"/>
              </a:rPr>
              <a:t>:</a:t>
            </a:r>
            <a:r>
              <a:rPr sz="1800">
                <a:solidFill>
                  <a:srgbClr val="EDF3E6"/>
                </a:solidFill>
                <a:latin typeface="DejaVu Sans Mono"/>
              </a:rPr>
              <a:t>invalid_argument</a:t>
            </a:r>
            <a:r>
              <a:rPr sz="1800">
                <a:solidFill>
                  <a:srgbClr val="EDF3E6"/>
                </a:solidFill>
                <a:latin typeface="DejaVu Sans Mono"/>
              </a:rPr>
              <a:t>(</a:t>
            </a:r>
            <a:r>
              <a:rPr sz="1800">
                <a:solidFill>
                  <a:srgbClr val="E0D997"/>
                </a:solidFill>
                <a:latin typeface="DejaVu Sans Mono"/>
              </a:rPr>
              <a:t>"</a:t>
            </a:r>
            <a:r>
              <a:rPr sz="1800">
                <a:solidFill>
                  <a:srgbClr val="E0D997"/>
                </a:solidFill>
                <a:latin typeface="DejaVu Sans Mono"/>
              </a:rPr>
              <a:t>size mismatch</a:t>
            </a:r>
            <a:r>
              <a:rPr sz="1800">
                <a:solidFill>
                  <a:srgbClr val="E0D997"/>
                </a:solidFill>
                <a:latin typeface="DejaVu Sans Mono"/>
              </a:rPr>
              <a:t>"</a:t>
            </a:r>
            <a:r>
              <a:rPr sz="1800">
                <a:solidFill>
                  <a:srgbClr val="EDF3E6"/>
                </a:solidFill>
                <a:latin typeface="DejaVu Sans Mono"/>
              </a:rPr>
              <a:t>)</a:t>
            </a:r>
            <a:r>
              <a:rPr sz="1800">
                <a:solidFill>
                  <a:srgbClr val="EDF3E6"/>
                </a:solidFill>
                <a:latin typeface="DejaVu Sans Mono"/>
              </a:rPr>
              <a:t>;</a:t>
            </a:r>
          </a:p>
          <a:p>
            <a:pPr>
              <a:lnSpc>
                <a:spcPts val="2160"/>
              </a:lnSpc>
              <a:spcBef>
                <a:spcPts val="0"/>
              </a:spcBef>
              <a:spcAft>
                <a:spcPts val="0"/>
              </a:spcAft>
            </a:pPr>
            <a:r>
              <a:rPr sz="1800" b="1">
                <a:solidFill>
                  <a:srgbClr val="AADA57"/>
                </a:solidFill>
                <a:latin typeface="DejaVu Sans Mono"/>
              </a:rPr>
              <a:t>for</a:t>
            </a:r>
            <a:r>
              <a:rPr sz="1800">
                <a:solidFill>
                  <a:srgbClr val="EDF3E6"/>
                </a:solidFill>
                <a:latin typeface="DejaVu Sans Mono"/>
              </a:rPr>
              <a:t> </a:t>
            </a:r>
            <a:r>
              <a:rPr sz="1800">
                <a:solidFill>
                  <a:srgbClr val="EDF3E6"/>
                </a:solidFill>
                <a:latin typeface="DejaVu Sans Mono"/>
              </a:rPr>
              <a:t>(</a:t>
            </a:r>
            <a:r>
              <a:rPr sz="1800" b="1">
                <a:solidFill>
                  <a:srgbClr val="AADA57"/>
                </a:solidFill>
                <a:latin typeface="DejaVu Sans Mono"/>
              </a:rPr>
              <a:t>size_t</a:t>
            </a:r>
            <a:r>
              <a:rPr sz="1800">
                <a:solidFill>
                  <a:srgbClr val="EDF3E6"/>
                </a:solidFill>
                <a:latin typeface="DejaVu Sans Mono"/>
              </a:rPr>
              <a:t> </a:t>
            </a:r>
            <a:r>
              <a:rPr sz="1800">
                <a:solidFill>
                  <a:srgbClr val="EDF3E6"/>
                </a:solidFill>
                <a:latin typeface="DejaVu Sans Mono"/>
              </a:rPr>
              <a:t>i</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 </a:t>
            </a:r>
            <a:r>
              <a:rPr sz="1800">
                <a:solidFill>
                  <a:srgbClr val="C0E579"/>
                </a:solidFill>
                <a:latin typeface="DejaVu Sans Mono"/>
              </a:rPr>
              <a:t>0</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i</a:t>
            </a:r>
            <a:r>
              <a:rPr sz="1800">
                <a:solidFill>
                  <a:srgbClr val="EDF3E6"/>
                </a:solidFill>
                <a:latin typeface="DejaVu Sans Mono"/>
              </a:rPr>
              <a:t> </a:t>
            </a:r>
            <a:r>
              <a:rPr sz="1800">
                <a:solidFill>
                  <a:srgbClr val="EDF3E6"/>
                </a:solidFill>
                <a:latin typeface="DejaVu Sans Mono"/>
              </a:rPr>
              <a:t>&lt;</a:t>
            </a:r>
            <a:r>
              <a:rPr sz="1800">
                <a:solidFill>
                  <a:srgbClr val="EDF3E6"/>
                </a:solidFill>
                <a:latin typeface="DejaVu Sans Mono"/>
              </a:rPr>
              <a:t> </a:t>
            </a:r>
            <a:r>
              <a:rPr sz="1800">
                <a:solidFill>
                  <a:srgbClr val="EDF3E6"/>
                </a:solidFill>
                <a:latin typeface="DejaVu Sans Mono"/>
              </a:rPr>
              <a:t>a</a:t>
            </a:r>
            <a:r>
              <a:rPr sz="1800">
                <a:solidFill>
                  <a:srgbClr val="EDF3E6"/>
                </a:solidFill>
                <a:latin typeface="DejaVu Sans Mono"/>
              </a:rPr>
              <a:t>.</a:t>
            </a:r>
            <a:r>
              <a:rPr sz="1800">
                <a:solidFill>
                  <a:srgbClr val="EDF3E6"/>
                </a:solidFill>
                <a:latin typeface="DejaVu Sans Mono"/>
              </a:rPr>
              <a:t>size</a:t>
            </a:r>
            <a:r>
              <a:rPr sz="1800">
                <a:solidFill>
                  <a:srgbClr val="EDF3E6"/>
                </a:solidFill>
                <a:latin typeface="DejaVu Sans Mono"/>
              </a:rPr>
              <a:t>(</a:t>
            </a:r>
            <a:r>
              <a:rPr sz="1800">
                <a:solidFill>
                  <a:srgbClr val="EDF3E6"/>
                </a:solidFill>
                <a:latin typeface="DejaVu Sans Mono"/>
              </a:rPr>
              <a:t>)</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a:t>
            </a:r>
            <a:r>
              <a:rPr sz="1800">
                <a:solidFill>
                  <a:srgbClr val="EDF3E6"/>
                </a:solidFill>
                <a:latin typeface="DejaVu Sans Mono"/>
              </a:rPr>
              <a:t>i</a:t>
            </a:r>
            <a:r>
              <a:rPr sz="1800">
                <a:solidFill>
                  <a:srgbClr val="EDF3E6"/>
                </a:solidFill>
                <a:latin typeface="DejaVu Sans Mono"/>
              </a:rPr>
              <a:t>)</a:t>
            </a:r>
          </a:p>
          <a:p>
            <a:pPr>
              <a:lnSpc>
                <a:spcPts val="2160"/>
              </a:lnSpc>
              <a:spcBef>
                <a:spcPts val="0"/>
              </a:spcBef>
              <a:spcAft>
                <a:spcPts val="0"/>
              </a:spcAft>
            </a:pPr>
            <a:r>
              <a:rPr sz="1800">
                <a:solidFill>
                  <a:srgbClr val="EDF3E6"/>
                </a:solidFill>
                <a:latin typeface="DejaVu Sans Mono"/>
              </a:rPr>
              <a:t>  </a:t>
            </a:r>
            <a:r>
              <a:rPr sz="1800">
                <a:solidFill>
                  <a:srgbClr val="EDF3E6"/>
                </a:solidFill>
                <a:latin typeface="DejaVu Sans Mono"/>
              </a:rPr>
              <a:t>out</a:t>
            </a:r>
            <a:r>
              <a:rPr sz="1800">
                <a:solidFill>
                  <a:srgbClr val="EDF3E6"/>
                </a:solidFill>
                <a:latin typeface="DejaVu Sans Mono"/>
              </a:rPr>
              <a:t>[</a:t>
            </a:r>
            <a:r>
              <a:rPr sz="1800">
                <a:solidFill>
                  <a:srgbClr val="EDF3E6"/>
                </a:solidFill>
                <a:latin typeface="DejaVu Sans Mono"/>
              </a:rPr>
              <a:t>i</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alpha</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a</a:t>
            </a:r>
            <a:r>
              <a:rPr sz="1800">
                <a:solidFill>
                  <a:srgbClr val="EDF3E6"/>
                </a:solidFill>
                <a:latin typeface="DejaVu Sans Mono"/>
              </a:rPr>
              <a:t>[</a:t>
            </a:r>
            <a:r>
              <a:rPr sz="1800">
                <a:solidFill>
                  <a:srgbClr val="EDF3E6"/>
                </a:solidFill>
                <a:latin typeface="DejaVu Sans Mono"/>
              </a:rPr>
              <a:t>i</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b</a:t>
            </a:r>
            <a:r>
              <a:rPr sz="1800">
                <a:solidFill>
                  <a:srgbClr val="EDF3E6"/>
                </a:solidFill>
                <a:latin typeface="DejaVu Sans Mono"/>
              </a:rPr>
              <a:t>[</a:t>
            </a:r>
            <a:r>
              <a:rPr sz="1800">
                <a:solidFill>
                  <a:srgbClr val="EDF3E6"/>
                </a:solidFill>
                <a:latin typeface="DejaVu Sans Mono"/>
              </a:rPr>
              <a:t>i</a:t>
            </a:r>
            <a:r>
              <a:rPr sz="1800">
                <a:solidFill>
                  <a:srgbClr val="EDF3E6"/>
                </a:solidFill>
                <a:latin typeface="DejaVu Sans Mono"/>
              </a:rPr>
              <a:t>]</a:t>
            </a:r>
            <a:r>
              <a:rPr sz="1800">
                <a:solidFill>
                  <a:srgbClr val="EDF3E6"/>
                </a:solidFill>
                <a:latin typeface="DejaVu Sans Mono"/>
              </a:rPr>
              <a:t>;</a:t>
            </a:r>
          </a:p>
        </p:txBody>
      </p:sp>
      <p:sp>
        <p:nvSpPr>
          <p:cNvPr id="12" name="TextBox 11"/>
          <p:cNvSpPr txBox="1"/>
          <p:nvPr/>
        </p:nvSpPr>
        <p:spPr>
          <a:xfrm>
            <a:off x="8604504" y="2825496"/>
            <a:ext cx="2907792" cy="2020824"/>
          </a:xfrm>
          <a:prstGeom prst="rect">
            <a:avLst/>
          </a:prstGeom>
          <a:noFill/>
        </p:spPr>
        <p:txBody>
          <a:bodyPr wrap="square" lIns="0" rIns="0" tIns="0" bIns="0" anchor="t">
            <a:noAutofit/>
          </a:bodyPr>
          <a:lstStyle/>
          <a:p>
            <a:pPr algn="l">
              <a:lnSpc>
                <a:spcPct val="114000"/>
              </a:lnSpc>
              <a:spcBef>
                <a:spcPts val="0"/>
              </a:spcBef>
              <a:spcAft>
                <a:spcPts val="0"/>
              </a:spcAft>
            </a:pPr>
            <a:r>
              <a:rPr sz="2200" b="0">
                <a:solidFill>
                  <a:srgbClr val="121610"/>
                </a:solidFill>
                <a:latin typeface="Inter"/>
              </a:rPr>
              <a:t>α = 2</a:t>
            </a:r>
          </a:p>
          <a:p>
            <a:pPr algn="l">
              <a:lnSpc>
                <a:spcPct val="114000"/>
              </a:lnSpc>
              <a:spcBef>
                <a:spcPts val="0"/>
              </a:spcBef>
              <a:spcAft>
                <a:spcPts val="0"/>
              </a:spcAft>
            </a:pPr>
            <a:r>
              <a:rPr sz="2200" b="0">
                <a:solidFill>
                  <a:srgbClr val="121610"/>
                </a:solidFill>
                <a:latin typeface="Inter"/>
              </a:rPr>
              <a:t>a = [1, 2, 3]</a:t>
            </a:r>
          </a:p>
          <a:p>
            <a:pPr algn="l">
              <a:lnSpc>
                <a:spcPct val="114000"/>
              </a:lnSpc>
              <a:spcBef>
                <a:spcPts val="0"/>
              </a:spcBef>
              <a:spcAft>
                <a:spcPts val="0"/>
              </a:spcAft>
            </a:pPr>
            <a:r>
              <a:rPr sz="2200" b="0">
                <a:solidFill>
                  <a:srgbClr val="121610"/>
                </a:solidFill>
                <a:latin typeface="Inter"/>
              </a:rPr>
              <a:t>b = [4, 5, 6]</a:t>
            </a:r>
          </a:p>
          <a:p>
            <a:pPr algn="l">
              <a:lnSpc>
                <a:spcPct val="114000"/>
              </a:lnSpc>
              <a:spcBef>
                <a:spcPts val="0"/>
              </a:spcBef>
              <a:spcAft>
                <a:spcPts val="0"/>
              </a:spcAft>
            </a:pPr>
            <a:r>
              <a:rPr sz="2200" b="0">
                <a:solidFill>
                  <a:srgbClr val="121610"/>
                </a:solidFill>
                <a:latin typeface="Inter"/>
              </a:rPr>
              <a:t>out = [6, 9, 12]</a:t>
            </a:r>
          </a:p>
        </p:txBody>
      </p:sp>
      <p:sp>
        <p:nvSpPr>
          <p:cNvPr id="13" name="Rectangle 12"/>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Scaled addition becomes ordinary vector addition when α = 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FIRST CUDA FEATURE</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The device kernel assigns one result to one thread</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Course repository: gpu/vector_add_device.cu; guide §2.1.2, pp. 21–25 / PDF pp. 39–43</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16</a:t>
            </a:r>
          </a:p>
        </p:txBody>
      </p:sp>
      <p:sp>
        <p:nvSpPr>
          <p:cNvPr id="8" name="Rectangle 7"/>
          <p:cNvSpPr/>
          <p:nvPr/>
        </p:nvSpPr>
        <p:spPr>
          <a:xfrm>
            <a:off x="576072" y="1847088"/>
            <a:ext cx="8284464" cy="3611880"/>
          </a:xfrm>
          <a:prstGeom prst="rect">
            <a:avLst/>
          </a:prstGeom>
          <a:solidFill>
            <a:srgbClr val="11170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8952" y="2002536"/>
            <a:ext cx="7918704" cy="210312"/>
          </a:xfrm>
          <a:prstGeom prst="rect">
            <a:avLst/>
          </a:prstGeom>
          <a:noFill/>
        </p:spPr>
        <p:txBody>
          <a:bodyPr wrap="square" lIns="0" rIns="0" tIns="0" bIns="0" anchor="t">
            <a:noAutofit/>
          </a:bodyPr>
          <a:lstStyle/>
          <a:p>
            <a:pPr algn="l">
              <a:lnSpc>
                <a:spcPct val="114000"/>
              </a:lnSpc>
              <a:spcBef>
                <a:spcPts val="0"/>
              </a:spcBef>
              <a:spcAft>
                <a:spcPts val="0"/>
              </a:spcAft>
            </a:pPr>
            <a:r>
              <a:rPr sz="900" b="1">
                <a:solidFill>
                  <a:srgbClr val="76B900"/>
                </a:solidFill>
                <a:latin typeface="Inter"/>
              </a:rPr>
              <a:t>REPOSITORY KERNEL · FORMATTING ADAPTED</a:t>
            </a:r>
          </a:p>
        </p:txBody>
      </p:sp>
      <p:sp>
        <p:nvSpPr>
          <p:cNvPr id="10" name="TextBox 9"/>
          <p:cNvSpPr txBox="1"/>
          <p:nvPr/>
        </p:nvSpPr>
        <p:spPr>
          <a:xfrm>
            <a:off x="758952" y="2359152"/>
            <a:ext cx="7918704" cy="2971800"/>
          </a:xfrm>
          <a:prstGeom prst="rect">
            <a:avLst/>
          </a:prstGeom>
          <a:noFill/>
        </p:spPr>
        <p:txBody>
          <a:bodyPr wrap="none" lIns="0" rIns="0" tIns="0" bIns="0">
            <a:noAutofit/>
          </a:bodyPr>
          <a:lstStyle/>
          <a:p>
            <a:pPr>
              <a:lnSpc>
                <a:spcPts val="2296"/>
              </a:lnSpc>
              <a:spcBef>
                <a:spcPts val="0"/>
              </a:spcBef>
              <a:spcAft>
                <a:spcPts val="0"/>
              </a:spcAft>
            </a:pPr>
            <a:r>
              <a:rPr sz="1913">
                <a:solidFill>
                  <a:srgbClr val="EDF3E6"/>
                </a:solidFill>
                <a:latin typeface="DejaVu Sans Mono"/>
              </a:rPr>
              <a:t>__global__</a:t>
            </a:r>
            <a:r>
              <a:rPr sz="1913">
                <a:solidFill>
                  <a:srgbClr val="EDF3E6"/>
                </a:solidFill>
                <a:latin typeface="DejaVu Sans Mono"/>
              </a:rPr>
              <a:t> </a:t>
            </a:r>
            <a:r>
              <a:rPr sz="1913" b="1">
                <a:solidFill>
                  <a:srgbClr val="AADA57"/>
                </a:solidFill>
                <a:latin typeface="DejaVu Sans Mono"/>
              </a:rPr>
              <a:t>void</a:t>
            </a:r>
            <a:r>
              <a:rPr sz="1913">
                <a:solidFill>
                  <a:srgbClr val="EDF3E6"/>
                </a:solidFill>
                <a:latin typeface="DejaVu Sans Mono"/>
              </a:rPr>
              <a:t> </a:t>
            </a:r>
            <a:r>
              <a:rPr sz="1913">
                <a:solidFill>
                  <a:srgbClr val="EDF3E6"/>
                </a:solidFill>
                <a:latin typeface="DejaVu Sans Mono"/>
              </a:rPr>
              <a:t>vector_add_kernel</a:t>
            </a:r>
            <a:r>
              <a:rPr sz="1913">
                <a:solidFill>
                  <a:srgbClr val="EDF3E6"/>
                </a:solidFill>
                <a:latin typeface="DejaVu Sans Mono"/>
              </a:rPr>
              <a:t>(</a:t>
            </a:r>
          </a:p>
          <a:p>
            <a:pPr>
              <a:lnSpc>
                <a:spcPts val="2296"/>
              </a:lnSpc>
              <a:spcBef>
                <a:spcPts val="0"/>
              </a:spcBef>
              <a:spcAft>
                <a:spcPts val="0"/>
              </a:spcAft>
            </a:pPr>
            <a:r>
              <a:rPr sz="1913">
                <a:solidFill>
                  <a:srgbClr val="EDF3E6"/>
                </a:solidFill>
                <a:latin typeface="DejaVu Sans Mono"/>
              </a:rPr>
              <a:t>    </a:t>
            </a:r>
            <a:r>
              <a:rPr sz="1913" b="1">
                <a:solidFill>
                  <a:srgbClr val="AADA57"/>
                </a:solidFill>
                <a:latin typeface="DejaVu Sans Mono"/>
              </a:rPr>
              <a:t>const</a:t>
            </a:r>
            <a:r>
              <a:rPr sz="1913">
                <a:solidFill>
                  <a:srgbClr val="EDF3E6"/>
                </a:solidFill>
                <a:latin typeface="DejaVu Sans Mono"/>
              </a:rPr>
              <a:t> </a:t>
            </a:r>
            <a:r>
              <a:rPr sz="1913" b="1">
                <a:solidFill>
                  <a:srgbClr val="AADA57"/>
                </a:solidFill>
                <a:latin typeface="DejaVu Sans Mono"/>
              </a:rPr>
              <a:t>float</a:t>
            </a:r>
            <a:r>
              <a:rPr sz="1913">
                <a:solidFill>
                  <a:srgbClr val="EDF3E6"/>
                </a:solidFill>
                <a:latin typeface="DejaVu Sans Mono"/>
              </a:rPr>
              <a:t>*</a:t>
            </a:r>
            <a:r>
              <a:rPr sz="1913">
                <a:solidFill>
                  <a:srgbClr val="EDF3E6"/>
                </a:solidFill>
                <a:latin typeface="DejaVu Sans Mono"/>
              </a:rPr>
              <a:t> </a:t>
            </a:r>
            <a:r>
              <a:rPr sz="1913">
                <a:solidFill>
                  <a:srgbClr val="EDF3E6"/>
                </a:solidFill>
                <a:latin typeface="DejaVu Sans Mono"/>
              </a:rPr>
              <a:t>a</a:t>
            </a:r>
            <a:r>
              <a:rPr sz="1913">
                <a:solidFill>
                  <a:srgbClr val="EDF3E6"/>
                </a:solidFill>
                <a:latin typeface="DejaVu Sans Mono"/>
              </a:rPr>
              <a:t>,</a:t>
            </a:r>
            <a:r>
              <a:rPr sz="1913">
                <a:solidFill>
                  <a:srgbClr val="EDF3E6"/>
                </a:solidFill>
                <a:latin typeface="DejaVu Sans Mono"/>
              </a:rPr>
              <a:t> </a:t>
            </a:r>
            <a:r>
              <a:rPr sz="1913" b="1">
                <a:solidFill>
                  <a:srgbClr val="AADA57"/>
                </a:solidFill>
                <a:latin typeface="DejaVu Sans Mono"/>
              </a:rPr>
              <a:t>const</a:t>
            </a:r>
            <a:r>
              <a:rPr sz="1913">
                <a:solidFill>
                  <a:srgbClr val="EDF3E6"/>
                </a:solidFill>
                <a:latin typeface="DejaVu Sans Mono"/>
              </a:rPr>
              <a:t> </a:t>
            </a:r>
            <a:r>
              <a:rPr sz="1913" b="1">
                <a:solidFill>
                  <a:srgbClr val="AADA57"/>
                </a:solidFill>
                <a:latin typeface="DejaVu Sans Mono"/>
              </a:rPr>
              <a:t>float</a:t>
            </a:r>
            <a:r>
              <a:rPr sz="1913">
                <a:solidFill>
                  <a:srgbClr val="EDF3E6"/>
                </a:solidFill>
                <a:latin typeface="DejaVu Sans Mono"/>
              </a:rPr>
              <a:t>*</a:t>
            </a:r>
            <a:r>
              <a:rPr sz="1913">
                <a:solidFill>
                  <a:srgbClr val="EDF3E6"/>
                </a:solidFill>
                <a:latin typeface="DejaVu Sans Mono"/>
              </a:rPr>
              <a:t> </a:t>
            </a:r>
            <a:r>
              <a:rPr sz="1913">
                <a:solidFill>
                  <a:srgbClr val="EDF3E6"/>
                </a:solidFill>
                <a:latin typeface="DejaVu Sans Mono"/>
              </a:rPr>
              <a:t>b</a:t>
            </a:r>
            <a:r>
              <a:rPr sz="1913">
                <a:solidFill>
                  <a:srgbClr val="EDF3E6"/>
                </a:solidFill>
                <a:latin typeface="DejaVu Sans Mono"/>
              </a:rPr>
              <a:t>,</a:t>
            </a:r>
            <a:r>
              <a:rPr sz="1913">
                <a:solidFill>
                  <a:srgbClr val="EDF3E6"/>
                </a:solidFill>
                <a:latin typeface="DejaVu Sans Mono"/>
              </a:rPr>
              <a:t> </a:t>
            </a:r>
            <a:r>
              <a:rPr sz="1913" b="1">
                <a:solidFill>
                  <a:srgbClr val="AADA57"/>
                </a:solidFill>
                <a:latin typeface="DejaVu Sans Mono"/>
              </a:rPr>
              <a:t>float</a:t>
            </a:r>
            <a:r>
              <a:rPr sz="1913">
                <a:solidFill>
                  <a:srgbClr val="EDF3E6"/>
                </a:solidFill>
                <a:latin typeface="DejaVu Sans Mono"/>
              </a:rPr>
              <a:t>*</a:t>
            </a:r>
            <a:r>
              <a:rPr sz="1913">
                <a:solidFill>
                  <a:srgbClr val="EDF3E6"/>
                </a:solidFill>
                <a:latin typeface="DejaVu Sans Mono"/>
              </a:rPr>
              <a:t> </a:t>
            </a:r>
            <a:r>
              <a:rPr sz="1913">
                <a:solidFill>
                  <a:srgbClr val="EDF3E6"/>
                </a:solidFill>
                <a:latin typeface="DejaVu Sans Mono"/>
              </a:rPr>
              <a:t>out</a:t>
            </a:r>
            <a:r>
              <a:rPr sz="1913">
                <a:solidFill>
                  <a:srgbClr val="EDF3E6"/>
                </a:solidFill>
                <a:latin typeface="DejaVu Sans Mono"/>
              </a:rPr>
              <a:t>,</a:t>
            </a:r>
          </a:p>
          <a:p>
            <a:pPr>
              <a:lnSpc>
                <a:spcPts val="2296"/>
              </a:lnSpc>
              <a:spcBef>
                <a:spcPts val="0"/>
              </a:spcBef>
              <a:spcAft>
                <a:spcPts val="0"/>
              </a:spcAft>
            </a:pPr>
            <a:r>
              <a:rPr sz="1913">
                <a:solidFill>
                  <a:srgbClr val="EDF3E6"/>
                </a:solidFill>
                <a:latin typeface="DejaVu Sans Mono"/>
              </a:rPr>
              <a:t>    </a:t>
            </a:r>
            <a:r>
              <a:rPr sz="1913" b="1">
                <a:solidFill>
                  <a:srgbClr val="AADA57"/>
                </a:solidFill>
                <a:latin typeface="DejaVu Sans Mono"/>
              </a:rPr>
              <a:t>float</a:t>
            </a:r>
            <a:r>
              <a:rPr sz="1913">
                <a:solidFill>
                  <a:srgbClr val="EDF3E6"/>
                </a:solidFill>
                <a:latin typeface="DejaVu Sans Mono"/>
              </a:rPr>
              <a:t> </a:t>
            </a:r>
            <a:r>
              <a:rPr sz="1913">
                <a:solidFill>
                  <a:srgbClr val="EDF3E6"/>
                </a:solidFill>
                <a:latin typeface="DejaVu Sans Mono"/>
              </a:rPr>
              <a:t>alpha</a:t>
            </a:r>
            <a:r>
              <a:rPr sz="1913">
                <a:solidFill>
                  <a:srgbClr val="EDF3E6"/>
                </a:solidFill>
                <a:latin typeface="DejaVu Sans Mono"/>
              </a:rPr>
              <a:t>,</a:t>
            </a:r>
            <a:r>
              <a:rPr sz="1913">
                <a:solidFill>
                  <a:srgbClr val="EDF3E6"/>
                </a:solidFill>
                <a:latin typeface="DejaVu Sans Mono"/>
              </a:rPr>
              <a:t> </a:t>
            </a:r>
            <a:r>
              <a:rPr sz="1913" b="1">
                <a:solidFill>
                  <a:srgbClr val="AADA57"/>
                </a:solidFill>
                <a:latin typeface="DejaVu Sans Mono"/>
              </a:rPr>
              <a:t>int</a:t>
            </a:r>
            <a:r>
              <a:rPr sz="1913">
                <a:solidFill>
                  <a:srgbClr val="EDF3E6"/>
                </a:solidFill>
                <a:latin typeface="DejaVu Sans Mono"/>
              </a:rPr>
              <a:t> </a:t>
            </a:r>
            <a:r>
              <a:rPr sz="1913">
                <a:solidFill>
                  <a:srgbClr val="EDF3E6"/>
                </a:solidFill>
                <a:latin typeface="DejaVu Sans Mono"/>
              </a:rPr>
              <a:t>n</a:t>
            </a:r>
            <a:r>
              <a:rPr sz="1913">
                <a:solidFill>
                  <a:srgbClr val="EDF3E6"/>
                </a:solidFill>
                <a:latin typeface="DejaVu Sans Mono"/>
              </a:rPr>
              <a:t>)</a:t>
            </a:r>
            <a:r>
              <a:rPr sz="1913">
                <a:solidFill>
                  <a:srgbClr val="EDF3E6"/>
                </a:solidFill>
                <a:latin typeface="DejaVu Sans Mono"/>
              </a:rPr>
              <a:t> </a:t>
            </a:r>
            <a:r>
              <a:rPr sz="1913">
                <a:solidFill>
                  <a:srgbClr val="EDF3E6"/>
                </a:solidFill>
                <a:latin typeface="DejaVu Sans Mono"/>
              </a:rPr>
              <a:t>{</a:t>
            </a:r>
          </a:p>
          <a:p>
            <a:pPr>
              <a:lnSpc>
                <a:spcPts val="2296"/>
              </a:lnSpc>
              <a:spcBef>
                <a:spcPts val="0"/>
              </a:spcBef>
              <a:spcAft>
                <a:spcPts val="0"/>
              </a:spcAft>
            </a:pPr>
            <a:r>
              <a:rPr sz="1913">
                <a:solidFill>
                  <a:srgbClr val="EDF3E6"/>
                </a:solidFill>
                <a:latin typeface="DejaVu Sans Mono"/>
              </a:rPr>
              <a:t>  </a:t>
            </a:r>
            <a:r>
              <a:rPr sz="1913" b="1">
                <a:solidFill>
                  <a:srgbClr val="AADA57"/>
                </a:solidFill>
                <a:latin typeface="DejaVu Sans Mono"/>
              </a:rPr>
              <a:t>const</a:t>
            </a:r>
            <a:r>
              <a:rPr sz="1913">
                <a:solidFill>
                  <a:srgbClr val="EDF3E6"/>
                </a:solidFill>
                <a:latin typeface="DejaVu Sans Mono"/>
              </a:rPr>
              <a:t> </a:t>
            </a:r>
            <a:r>
              <a:rPr sz="1913" b="1">
                <a:solidFill>
                  <a:srgbClr val="AADA57"/>
                </a:solidFill>
                <a:latin typeface="DejaVu Sans Mono"/>
              </a:rPr>
              <a:t>int</a:t>
            </a:r>
            <a:r>
              <a:rPr sz="1913">
                <a:solidFill>
                  <a:srgbClr val="EDF3E6"/>
                </a:solidFill>
                <a:latin typeface="DejaVu Sans Mono"/>
              </a:rPr>
              <a:t> </a:t>
            </a:r>
            <a:r>
              <a:rPr sz="1913">
                <a:solidFill>
                  <a:srgbClr val="EDF3E6"/>
                </a:solidFill>
                <a:latin typeface="DejaVu Sans Mono"/>
              </a:rPr>
              <a:t>i</a:t>
            </a:r>
            <a:r>
              <a:rPr sz="1913">
                <a:solidFill>
                  <a:srgbClr val="EDF3E6"/>
                </a:solidFill>
                <a:latin typeface="DejaVu Sans Mono"/>
              </a:rPr>
              <a:t> </a:t>
            </a:r>
            <a:r>
              <a:rPr sz="1913">
                <a:solidFill>
                  <a:srgbClr val="EDF3E6"/>
                </a:solidFill>
                <a:latin typeface="DejaVu Sans Mono"/>
              </a:rPr>
              <a:t>=</a:t>
            </a:r>
            <a:r>
              <a:rPr sz="1913">
                <a:solidFill>
                  <a:srgbClr val="EDF3E6"/>
                </a:solidFill>
                <a:latin typeface="DejaVu Sans Mono"/>
              </a:rPr>
              <a:t> </a:t>
            </a:r>
            <a:r>
              <a:rPr sz="1913">
                <a:solidFill>
                  <a:srgbClr val="EDF3E6"/>
                </a:solidFill>
                <a:latin typeface="DejaVu Sans Mono"/>
              </a:rPr>
              <a:t>blockIdx</a:t>
            </a:r>
            <a:r>
              <a:rPr sz="1913">
                <a:solidFill>
                  <a:srgbClr val="EDF3E6"/>
                </a:solidFill>
                <a:latin typeface="DejaVu Sans Mono"/>
              </a:rPr>
              <a:t>.</a:t>
            </a:r>
            <a:r>
              <a:rPr sz="1913">
                <a:solidFill>
                  <a:srgbClr val="EDF3E6"/>
                </a:solidFill>
                <a:latin typeface="DejaVu Sans Mono"/>
              </a:rPr>
              <a:t>x</a:t>
            </a:r>
            <a:r>
              <a:rPr sz="1913">
                <a:solidFill>
                  <a:srgbClr val="EDF3E6"/>
                </a:solidFill>
                <a:latin typeface="DejaVu Sans Mono"/>
              </a:rPr>
              <a:t> </a:t>
            </a:r>
            <a:r>
              <a:rPr sz="1913">
                <a:solidFill>
                  <a:srgbClr val="EDF3E6"/>
                </a:solidFill>
                <a:latin typeface="DejaVu Sans Mono"/>
              </a:rPr>
              <a:t>*</a:t>
            </a:r>
            <a:r>
              <a:rPr sz="1913">
                <a:solidFill>
                  <a:srgbClr val="EDF3E6"/>
                </a:solidFill>
                <a:latin typeface="DejaVu Sans Mono"/>
              </a:rPr>
              <a:t> </a:t>
            </a:r>
            <a:r>
              <a:rPr sz="1913">
                <a:solidFill>
                  <a:srgbClr val="EDF3E6"/>
                </a:solidFill>
                <a:latin typeface="DejaVu Sans Mono"/>
              </a:rPr>
              <a:t>blockDim</a:t>
            </a:r>
            <a:r>
              <a:rPr sz="1913">
                <a:solidFill>
                  <a:srgbClr val="EDF3E6"/>
                </a:solidFill>
                <a:latin typeface="DejaVu Sans Mono"/>
              </a:rPr>
              <a:t>.</a:t>
            </a:r>
            <a:r>
              <a:rPr sz="1913">
                <a:solidFill>
                  <a:srgbClr val="EDF3E6"/>
                </a:solidFill>
                <a:latin typeface="DejaVu Sans Mono"/>
              </a:rPr>
              <a:t>x</a:t>
            </a:r>
            <a:r>
              <a:rPr sz="1913">
                <a:solidFill>
                  <a:srgbClr val="EDF3E6"/>
                </a:solidFill>
                <a:latin typeface="DejaVu Sans Mono"/>
              </a:rPr>
              <a:t> </a:t>
            </a:r>
            <a:r>
              <a:rPr sz="1913">
                <a:solidFill>
                  <a:srgbClr val="EDF3E6"/>
                </a:solidFill>
                <a:latin typeface="DejaVu Sans Mono"/>
              </a:rPr>
              <a:t>+</a:t>
            </a:r>
            <a:r>
              <a:rPr sz="1913">
                <a:solidFill>
                  <a:srgbClr val="EDF3E6"/>
                </a:solidFill>
                <a:latin typeface="DejaVu Sans Mono"/>
              </a:rPr>
              <a:t> </a:t>
            </a:r>
            <a:r>
              <a:rPr sz="1913">
                <a:solidFill>
                  <a:srgbClr val="EDF3E6"/>
                </a:solidFill>
                <a:latin typeface="DejaVu Sans Mono"/>
              </a:rPr>
              <a:t>threadIdx</a:t>
            </a:r>
            <a:r>
              <a:rPr sz="1913">
                <a:solidFill>
                  <a:srgbClr val="EDF3E6"/>
                </a:solidFill>
                <a:latin typeface="DejaVu Sans Mono"/>
              </a:rPr>
              <a:t>.</a:t>
            </a:r>
            <a:r>
              <a:rPr sz="1913">
                <a:solidFill>
                  <a:srgbClr val="EDF3E6"/>
                </a:solidFill>
                <a:latin typeface="DejaVu Sans Mono"/>
              </a:rPr>
              <a:t>x</a:t>
            </a:r>
            <a:r>
              <a:rPr sz="1913">
                <a:solidFill>
                  <a:srgbClr val="EDF3E6"/>
                </a:solidFill>
                <a:latin typeface="DejaVu Sans Mono"/>
              </a:rPr>
              <a:t>;</a:t>
            </a:r>
          </a:p>
          <a:p>
            <a:pPr>
              <a:lnSpc>
                <a:spcPts val="2296"/>
              </a:lnSpc>
              <a:spcBef>
                <a:spcPts val="0"/>
              </a:spcBef>
              <a:spcAft>
                <a:spcPts val="0"/>
              </a:spcAft>
            </a:pPr>
            <a:r>
              <a:rPr sz="1913">
                <a:solidFill>
                  <a:srgbClr val="EDF3E6"/>
                </a:solidFill>
                <a:latin typeface="DejaVu Sans Mono"/>
              </a:rPr>
              <a:t>  </a:t>
            </a:r>
            <a:r>
              <a:rPr sz="1913" b="1">
                <a:solidFill>
                  <a:srgbClr val="AADA57"/>
                </a:solidFill>
                <a:latin typeface="DejaVu Sans Mono"/>
              </a:rPr>
              <a:t>if</a:t>
            </a:r>
            <a:r>
              <a:rPr sz="1913">
                <a:solidFill>
                  <a:srgbClr val="EDF3E6"/>
                </a:solidFill>
                <a:latin typeface="DejaVu Sans Mono"/>
              </a:rPr>
              <a:t> </a:t>
            </a:r>
            <a:r>
              <a:rPr sz="1913">
                <a:solidFill>
                  <a:srgbClr val="EDF3E6"/>
                </a:solidFill>
                <a:latin typeface="DejaVu Sans Mono"/>
              </a:rPr>
              <a:t>(</a:t>
            </a:r>
            <a:r>
              <a:rPr sz="1913">
                <a:solidFill>
                  <a:srgbClr val="EDF3E6"/>
                </a:solidFill>
                <a:latin typeface="DejaVu Sans Mono"/>
              </a:rPr>
              <a:t>i</a:t>
            </a:r>
            <a:r>
              <a:rPr sz="1913">
                <a:solidFill>
                  <a:srgbClr val="EDF3E6"/>
                </a:solidFill>
                <a:latin typeface="DejaVu Sans Mono"/>
              </a:rPr>
              <a:t> </a:t>
            </a:r>
            <a:r>
              <a:rPr sz="1913">
                <a:solidFill>
                  <a:srgbClr val="EDF3E6"/>
                </a:solidFill>
                <a:latin typeface="DejaVu Sans Mono"/>
              </a:rPr>
              <a:t>&lt;</a:t>
            </a:r>
            <a:r>
              <a:rPr sz="1913">
                <a:solidFill>
                  <a:srgbClr val="EDF3E6"/>
                </a:solidFill>
                <a:latin typeface="DejaVu Sans Mono"/>
              </a:rPr>
              <a:t> </a:t>
            </a:r>
            <a:r>
              <a:rPr sz="1913">
                <a:solidFill>
                  <a:srgbClr val="EDF3E6"/>
                </a:solidFill>
                <a:latin typeface="DejaVu Sans Mono"/>
              </a:rPr>
              <a:t>n</a:t>
            </a:r>
            <a:r>
              <a:rPr sz="1913">
                <a:solidFill>
                  <a:srgbClr val="EDF3E6"/>
                </a:solidFill>
                <a:latin typeface="DejaVu Sans Mono"/>
              </a:rPr>
              <a:t>)</a:t>
            </a:r>
            <a:r>
              <a:rPr sz="1913">
                <a:solidFill>
                  <a:srgbClr val="EDF3E6"/>
                </a:solidFill>
                <a:latin typeface="DejaVu Sans Mono"/>
              </a:rPr>
              <a:t> </a:t>
            </a:r>
            <a:r>
              <a:rPr sz="1913">
                <a:solidFill>
                  <a:srgbClr val="EDF3E6"/>
                </a:solidFill>
                <a:latin typeface="DejaVu Sans Mono"/>
              </a:rPr>
              <a:t>{</a:t>
            </a:r>
          </a:p>
          <a:p>
            <a:pPr>
              <a:lnSpc>
                <a:spcPts val="2296"/>
              </a:lnSpc>
              <a:spcBef>
                <a:spcPts val="0"/>
              </a:spcBef>
              <a:spcAft>
                <a:spcPts val="0"/>
              </a:spcAft>
            </a:pPr>
            <a:r>
              <a:rPr sz="1913">
                <a:solidFill>
                  <a:srgbClr val="EDF3E6"/>
                </a:solidFill>
                <a:latin typeface="DejaVu Sans Mono"/>
              </a:rPr>
              <a:t>    </a:t>
            </a:r>
            <a:r>
              <a:rPr sz="1913">
                <a:solidFill>
                  <a:srgbClr val="EDF3E6"/>
                </a:solidFill>
                <a:latin typeface="DejaVu Sans Mono"/>
              </a:rPr>
              <a:t>out</a:t>
            </a:r>
            <a:r>
              <a:rPr sz="1913">
                <a:solidFill>
                  <a:srgbClr val="EDF3E6"/>
                </a:solidFill>
                <a:latin typeface="DejaVu Sans Mono"/>
              </a:rPr>
              <a:t>[</a:t>
            </a:r>
            <a:r>
              <a:rPr sz="1913">
                <a:solidFill>
                  <a:srgbClr val="EDF3E6"/>
                </a:solidFill>
                <a:latin typeface="DejaVu Sans Mono"/>
              </a:rPr>
              <a:t>i</a:t>
            </a:r>
            <a:r>
              <a:rPr sz="1913">
                <a:solidFill>
                  <a:srgbClr val="EDF3E6"/>
                </a:solidFill>
                <a:latin typeface="DejaVu Sans Mono"/>
              </a:rPr>
              <a:t>]</a:t>
            </a:r>
            <a:r>
              <a:rPr sz="1913">
                <a:solidFill>
                  <a:srgbClr val="EDF3E6"/>
                </a:solidFill>
                <a:latin typeface="DejaVu Sans Mono"/>
              </a:rPr>
              <a:t> </a:t>
            </a:r>
            <a:r>
              <a:rPr sz="1913">
                <a:solidFill>
                  <a:srgbClr val="EDF3E6"/>
                </a:solidFill>
                <a:latin typeface="DejaVu Sans Mono"/>
              </a:rPr>
              <a:t>=</a:t>
            </a:r>
            <a:r>
              <a:rPr sz="1913">
                <a:solidFill>
                  <a:srgbClr val="EDF3E6"/>
                </a:solidFill>
                <a:latin typeface="DejaVu Sans Mono"/>
              </a:rPr>
              <a:t> </a:t>
            </a:r>
            <a:r>
              <a:rPr sz="1913">
                <a:solidFill>
                  <a:srgbClr val="EDF3E6"/>
                </a:solidFill>
                <a:latin typeface="DejaVu Sans Mono"/>
              </a:rPr>
              <a:t>alpha</a:t>
            </a:r>
            <a:r>
              <a:rPr sz="1913">
                <a:solidFill>
                  <a:srgbClr val="EDF3E6"/>
                </a:solidFill>
                <a:latin typeface="DejaVu Sans Mono"/>
              </a:rPr>
              <a:t> </a:t>
            </a:r>
            <a:r>
              <a:rPr sz="1913">
                <a:solidFill>
                  <a:srgbClr val="EDF3E6"/>
                </a:solidFill>
                <a:latin typeface="DejaVu Sans Mono"/>
              </a:rPr>
              <a:t>*</a:t>
            </a:r>
            <a:r>
              <a:rPr sz="1913">
                <a:solidFill>
                  <a:srgbClr val="EDF3E6"/>
                </a:solidFill>
                <a:latin typeface="DejaVu Sans Mono"/>
              </a:rPr>
              <a:t> </a:t>
            </a:r>
            <a:r>
              <a:rPr sz="1913">
                <a:solidFill>
                  <a:srgbClr val="EDF3E6"/>
                </a:solidFill>
                <a:latin typeface="DejaVu Sans Mono"/>
              </a:rPr>
              <a:t>a</a:t>
            </a:r>
            <a:r>
              <a:rPr sz="1913">
                <a:solidFill>
                  <a:srgbClr val="EDF3E6"/>
                </a:solidFill>
                <a:latin typeface="DejaVu Sans Mono"/>
              </a:rPr>
              <a:t>[</a:t>
            </a:r>
            <a:r>
              <a:rPr sz="1913">
                <a:solidFill>
                  <a:srgbClr val="EDF3E6"/>
                </a:solidFill>
                <a:latin typeface="DejaVu Sans Mono"/>
              </a:rPr>
              <a:t>i</a:t>
            </a:r>
            <a:r>
              <a:rPr sz="1913">
                <a:solidFill>
                  <a:srgbClr val="EDF3E6"/>
                </a:solidFill>
                <a:latin typeface="DejaVu Sans Mono"/>
              </a:rPr>
              <a:t>]</a:t>
            </a:r>
            <a:r>
              <a:rPr sz="1913">
                <a:solidFill>
                  <a:srgbClr val="EDF3E6"/>
                </a:solidFill>
                <a:latin typeface="DejaVu Sans Mono"/>
              </a:rPr>
              <a:t> </a:t>
            </a:r>
            <a:r>
              <a:rPr sz="1913">
                <a:solidFill>
                  <a:srgbClr val="EDF3E6"/>
                </a:solidFill>
                <a:latin typeface="DejaVu Sans Mono"/>
              </a:rPr>
              <a:t>+</a:t>
            </a:r>
            <a:r>
              <a:rPr sz="1913">
                <a:solidFill>
                  <a:srgbClr val="EDF3E6"/>
                </a:solidFill>
                <a:latin typeface="DejaVu Sans Mono"/>
              </a:rPr>
              <a:t> </a:t>
            </a:r>
            <a:r>
              <a:rPr sz="1913">
                <a:solidFill>
                  <a:srgbClr val="EDF3E6"/>
                </a:solidFill>
                <a:latin typeface="DejaVu Sans Mono"/>
              </a:rPr>
              <a:t>b</a:t>
            </a:r>
            <a:r>
              <a:rPr sz="1913">
                <a:solidFill>
                  <a:srgbClr val="EDF3E6"/>
                </a:solidFill>
                <a:latin typeface="DejaVu Sans Mono"/>
              </a:rPr>
              <a:t>[</a:t>
            </a:r>
            <a:r>
              <a:rPr sz="1913">
                <a:solidFill>
                  <a:srgbClr val="EDF3E6"/>
                </a:solidFill>
                <a:latin typeface="DejaVu Sans Mono"/>
              </a:rPr>
              <a:t>i</a:t>
            </a:r>
            <a:r>
              <a:rPr sz="1913">
                <a:solidFill>
                  <a:srgbClr val="EDF3E6"/>
                </a:solidFill>
                <a:latin typeface="DejaVu Sans Mono"/>
              </a:rPr>
              <a:t>]</a:t>
            </a:r>
            <a:r>
              <a:rPr sz="1913">
                <a:solidFill>
                  <a:srgbClr val="EDF3E6"/>
                </a:solidFill>
                <a:latin typeface="DejaVu Sans Mono"/>
              </a:rPr>
              <a:t>;</a:t>
            </a:r>
          </a:p>
          <a:p>
            <a:pPr>
              <a:lnSpc>
                <a:spcPts val="2296"/>
              </a:lnSpc>
              <a:spcBef>
                <a:spcPts val="0"/>
              </a:spcBef>
              <a:spcAft>
                <a:spcPts val="0"/>
              </a:spcAft>
            </a:pPr>
            <a:r>
              <a:rPr sz="1913">
                <a:solidFill>
                  <a:srgbClr val="EDF3E6"/>
                </a:solidFill>
                <a:latin typeface="DejaVu Sans Mono"/>
              </a:rPr>
              <a:t>  </a:t>
            </a:r>
            <a:r>
              <a:rPr sz="1913">
                <a:solidFill>
                  <a:srgbClr val="EDF3E6"/>
                </a:solidFill>
                <a:latin typeface="DejaVu Sans Mono"/>
              </a:rPr>
              <a:t>}</a:t>
            </a:r>
          </a:p>
          <a:p>
            <a:pPr>
              <a:lnSpc>
                <a:spcPts val="2296"/>
              </a:lnSpc>
              <a:spcBef>
                <a:spcPts val="0"/>
              </a:spcBef>
              <a:spcAft>
                <a:spcPts val="0"/>
              </a:spcAft>
            </a:pPr>
            <a:r>
              <a:rPr sz="1913">
                <a:solidFill>
                  <a:srgbClr val="EDF3E6"/>
                </a:solidFill>
                <a:latin typeface="DejaVu Sans Mono"/>
              </a:rPr>
              <a:t>}</a:t>
            </a:r>
          </a:p>
        </p:txBody>
      </p:sp>
      <p:sp>
        <p:nvSpPr>
          <p:cNvPr id="11" name="TextBox 10"/>
          <p:cNvSpPr txBox="1"/>
          <p:nvPr/>
        </p:nvSpPr>
        <p:spPr>
          <a:xfrm>
            <a:off x="9162288" y="2112264"/>
            <a:ext cx="228600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INDEX</a:t>
            </a:r>
          </a:p>
        </p:txBody>
      </p:sp>
      <p:sp>
        <p:nvSpPr>
          <p:cNvPr id="12" name="TextBox 11"/>
          <p:cNvSpPr txBox="1"/>
          <p:nvPr/>
        </p:nvSpPr>
        <p:spPr>
          <a:xfrm>
            <a:off x="9162288" y="2423160"/>
            <a:ext cx="2286000" cy="676656"/>
          </a:xfrm>
          <a:prstGeom prst="rect">
            <a:avLst/>
          </a:prstGeom>
          <a:noFill/>
        </p:spPr>
        <p:txBody>
          <a:bodyPr wrap="square" lIns="0" rIns="0" tIns="0" bIns="0" anchor="t">
            <a:noAutofit/>
          </a:bodyPr>
          <a:lstStyle/>
          <a:p>
            <a:pPr algn="l">
              <a:lnSpc>
                <a:spcPct val="114000"/>
              </a:lnSpc>
              <a:spcBef>
                <a:spcPts val="0"/>
              </a:spcBef>
              <a:spcAft>
                <a:spcPts val="0"/>
              </a:spcAft>
            </a:pPr>
            <a:r>
              <a:rPr sz="1900" b="0">
                <a:solidFill>
                  <a:srgbClr val="121610"/>
                </a:solidFill>
                <a:latin typeface="Inter"/>
              </a:rPr>
              <a:t>Find my element.</a:t>
            </a:r>
          </a:p>
        </p:txBody>
      </p:sp>
      <p:sp>
        <p:nvSpPr>
          <p:cNvPr id="13" name="TextBox 12"/>
          <p:cNvSpPr txBox="1"/>
          <p:nvPr/>
        </p:nvSpPr>
        <p:spPr>
          <a:xfrm>
            <a:off x="9162288" y="3108960"/>
            <a:ext cx="228600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BOUNDARY</a:t>
            </a:r>
          </a:p>
        </p:txBody>
      </p:sp>
      <p:sp>
        <p:nvSpPr>
          <p:cNvPr id="14" name="TextBox 13"/>
          <p:cNvSpPr txBox="1"/>
          <p:nvPr/>
        </p:nvSpPr>
        <p:spPr>
          <a:xfrm>
            <a:off x="9162288" y="3419856"/>
            <a:ext cx="2286000" cy="676656"/>
          </a:xfrm>
          <a:prstGeom prst="rect">
            <a:avLst/>
          </a:prstGeom>
          <a:noFill/>
        </p:spPr>
        <p:txBody>
          <a:bodyPr wrap="square" lIns="0" rIns="0" tIns="0" bIns="0" anchor="t">
            <a:noAutofit/>
          </a:bodyPr>
          <a:lstStyle/>
          <a:p>
            <a:pPr algn="l">
              <a:lnSpc>
                <a:spcPct val="114000"/>
              </a:lnSpc>
              <a:spcBef>
                <a:spcPts val="0"/>
              </a:spcBef>
              <a:spcAft>
                <a:spcPts val="0"/>
              </a:spcAft>
            </a:pPr>
            <a:r>
              <a:rPr sz="1900" b="0">
                <a:solidFill>
                  <a:srgbClr val="121610"/>
                </a:solidFill>
                <a:latin typeface="Inter"/>
              </a:rPr>
              <a:t>Check it exists.</a:t>
            </a:r>
          </a:p>
        </p:txBody>
      </p:sp>
      <p:sp>
        <p:nvSpPr>
          <p:cNvPr id="15" name="TextBox 14"/>
          <p:cNvSpPr txBox="1"/>
          <p:nvPr/>
        </p:nvSpPr>
        <p:spPr>
          <a:xfrm>
            <a:off x="9162288" y="4105656"/>
            <a:ext cx="228600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OWNERSHIP</a:t>
            </a:r>
          </a:p>
        </p:txBody>
      </p:sp>
      <p:sp>
        <p:nvSpPr>
          <p:cNvPr id="16" name="TextBox 15"/>
          <p:cNvSpPr txBox="1"/>
          <p:nvPr/>
        </p:nvSpPr>
        <p:spPr>
          <a:xfrm>
            <a:off x="9162288" y="4416552"/>
            <a:ext cx="2286000" cy="676656"/>
          </a:xfrm>
          <a:prstGeom prst="rect">
            <a:avLst/>
          </a:prstGeom>
          <a:noFill/>
        </p:spPr>
        <p:txBody>
          <a:bodyPr wrap="square" lIns="0" rIns="0" tIns="0" bIns="0" anchor="t">
            <a:noAutofit/>
          </a:bodyPr>
          <a:lstStyle/>
          <a:p>
            <a:pPr algn="l">
              <a:lnSpc>
                <a:spcPct val="114000"/>
              </a:lnSpc>
              <a:spcBef>
                <a:spcPts val="0"/>
              </a:spcBef>
              <a:spcAft>
                <a:spcPts val="0"/>
              </a:spcAft>
            </a:pPr>
            <a:r>
              <a:rPr sz="1900" b="0">
                <a:solidFill>
                  <a:srgbClr val="121610"/>
                </a:solidFill>
                <a:latin typeface="Inter"/>
              </a:rPr>
              <a:t>Write my result.</a:t>
            </a:r>
          </a:p>
        </p:txBody>
      </p:sp>
      <p:sp>
        <p:nvSpPr>
          <p:cNvPr id="17" name="Rectangle 16"/>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The kernel body is short because each valid thread owns a different result.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FIRST CUDA FEATURE</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Read the index as “block offset + local offset”</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Worked course example derived from §2.1.2.3, pp. 23–24 / PDF pp. 41–42</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17</a:t>
            </a:r>
          </a:p>
        </p:txBody>
      </p:sp>
      <p:sp>
        <p:nvSpPr>
          <p:cNvPr id="8" name="TextBox 7"/>
          <p:cNvSpPr txBox="1"/>
          <p:nvPr/>
        </p:nvSpPr>
        <p:spPr>
          <a:xfrm>
            <a:off x="640080" y="1883664"/>
            <a:ext cx="10863072" cy="740664"/>
          </a:xfrm>
          <a:prstGeom prst="rect">
            <a:avLst/>
          </a:prstGeom>
          <a:noFill/>
        </p:spPr>
        <p:txBody>
          <a:bodyPr wrap="square" lIns="0" rIns="0" tIns="0" bIns="0" anchor="t">
            <a:noAutofit/>
          </a:bodyPr>
          <a:lstStyle/>
          <a:p>
            <a:pPr algn="l">
              <a:lnSpc>
                <a:spcPct val="114000"/>
              </a:lnSpc>
              <a:spcBef>
                <a:spcPts val="0"/>
              </a:spcBef>
              <a:spcAft>
                <a:spcPts val="0"/>
              </a:spcAft>
            </a:pPr>
            <a:r>
              <a:rPr sz="4300" b="1">
                <a:solidFill>
                  <a:srgbClr val="121610"/>
                </a:solidFill>
                <a:latin typeface="Inter"/>
              </a:rPr>
              <a:t>2 × 256 + 13 = 525</a:t>
            </a:r>
          </a:p>
        </p:txBody>
      </p:sp>
      <p:sp>
        <p:nvSpPr>
          <p:cNvPr id="9" name="TextBox 8"/>
          <p:cNvSpPr txBox="1"/>
          <p:nvPr/>
        </p:nvSpPr>
        <p:spPr>
          <a:xfrm>
            <a:off x="685800" y="2834640"/>
            <a:ext cx="10707624" cy="347472"/>
          </a:xfrm>
          <a:prstGeom prst="rect">
            <a:avLst/>
          </a:prstGeom>
          <a:noFill/>
        </p:spPr>
        <p:txBody>
          <a:bodyPr wrap="square" lIns="0" rIns="0" tIns="0" bIns="0" anchor="t">
            <a:noAutofit/>
          </a:bodyPr>
          <a:lstStyle/>
          <a:p>
            <a:pPr algn="l">
              <a:lnSpc>
                <a:spcPct val="114000"/>
              </a:lnSpc>
              <a:spcBef>
                <a:spcPts val="0"/>
              </a:spcBef>
              <a:spcAft>
                <a:spcPts val="0"/>
              </a:spcAft>
            </a:pPr>
            <a:r>
              <a:rPr sz="1900" b="0">
                <a:solidFill>
                  <a:srgbClr val="5A6358"/>
                </a:solidFill>
                <a:latin typeface="Inter"/>
              </a:rPr>
              <a:t>blockIdx.x = 2     blockDim.x = 256     threadIdx.x = 13</a:t>
            </a:r>
          </a:p>
        </p:txBody>
      </p:sp>
      <p:sp>
        <p:nvSpPr>
          <p:cNvPr id="10" name="Rectangle 9"/>
          <p:cNvSpPr/>
          <p:nvPr/>
        </p:nvSpPr>
        <p:spPr>
          <a:xfrm>
            <a:off x="2348838" y="3474720"/>
            <a:ext cx="3541067" cy="168249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ORIGINAL_NVIDIA_fig03_grid_PDF_page_24" descr="NVIDIA Figure 3; CUDA Programming Guide 13.4.2, PDF page 24, printed page 6. Extracted from embedded image xref 853; original colors and aspect ratio preserved."/>
          <p:cNvPicPr>
            <a:picLocks noChangeAspect="1"/>
          </p:cNvPicPr>
          <p:nvPr/>
        </p:nvPicPr>
        <p:blipFill>
          <a:blip r:embed="rId2"/>
          <a:stretch>
            <a:fillRect/>
          </a:stretch>
        </p:blipFill>
        <p:spPr>
          <a:xfrm>
            <a:off x="2348838" y="3474720"/>
            <a:ext cx="3541067" cy="1682496"/>
          </a:xfrm>
          <a:prstGeom prst="rect">
            <a:avLst/>
          </a:prstGeom>
        </p:spPr>
      </p:pic>
      <p:sp>
        <p:nvSpPr>
          <p:cNvPr id="12" name="TextBox 11"/>
          <p:cNvSpPr txBox="1"/>
          <p:nvPr/>
        </p:nvSpPr>
        <p:spPr>
          <a:xfrm>
            <a:off x="822960" y="5230368"/>
            <a:ext cx="6592824" cy="210312"/>
          </a:xfrm>
          <a:prstGeom prst="rect">
            <a:avLst/>
          </a:prstGeom>
          <a:noFill/>
        </p:spPr>
        <p:txBody>
          <a:bodyPr wrap="square" lIns="0" rIns="0" tIns="0" bIns="0" anchor="t">
            <a:noAutofit/>
          </a:bodyPr>
          <a:lstStyle/>
          <a:p>
            <a:pPr algn="ctr">
              <a:lnSpc>
                <a:spcPct val="114000"/>
              </a:lnSpc>
              <a:spcBef>
                <a:spcPts val="0"/>
              </a:spcBef>
              <a:spcAft>
                <a:spcPts val="0"/>
              </a:spcAft>
            </a:pPr>
            <a:r>
              <a:rPr sz="919" b="0">
                <a:solidFill>
                  <a:srgbClr val="5A6358"/>
                </a:solidFill>
                <a:latin typeface="Inter"/>
              </a:rPr>
              <a:t>NVIDIA Figure 3 · Guide p. 6 / PDF p. 24</a:t>
            </a:r>
          </a:p>
        </p:txBody>
      </p:sp>
      <p:sp>
        <p:nvSpPr>
          <p:cNvPr id="13" name="TextBox 12"/>
          <p:cNvSpPr txBox="1"/>
          <p:nvPr/>
        </p:nvSpPr>
        <p:spPr>
          <a:xfrm>
            <a:off x="7845552" y="3483864"/>
            <a:ext cx="3493008" cy="1536192"/>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Your turn</a:t>
            </a:r>
          </a:p>
          <a:p>
            <a:pPr algn="l">
              <a:lnSpc>
                <a:spcPct val="114000"/>
              </a:lnSpc>
              <a:spcBef>
                <a:spcPts val="0"/>
              </a:spcBef>
              <a:spcAft>
                <a:spcPts val="0"/>
              </a:spcAft>
            </a:pPr>
          </a:p>
          <a:p>
            <a:pPr algn="l">
              <a:lnSpc>
                <a:spcPct val="114000"/>
              </a:lnSpc>
              <a:spcBef>
                <a:spcPts val="0"/>
              </a:spcBef>
              <a:spcAft>
                <a:spcPts val="0"/>
              </a:spcAft>
            </a:pPr>
            <a:r>
              <a:rPr sz="2000" b="0">
                <a:solidFill>
                  <a:srgbClr val="121610"/>
                </a:solidFill>
                <a:latin typeface="Inter"/>
              </a:rPr>
              <a:t>Block 3, thread 231:</a:t>
            </a:r>
          </a:p>
          <a:p>
            <a:pPr algn="l">
              <a:lnSpc>
                <a:spcPct val="114000"/>
              </a:lnSpc>
              <a:spcBef>
                <a:spcPts val="0"/>
              </a:spcBef>
              <a:spcAft>
                <a:spcPts val="0"/>
              </a:spcAft>
            </a:pPr>
            <a:r>
              <a:rPr sz="2000" b="0">
                <a:solidFill>
                  <a:srgbClr val="121610"/>
                </a:solidFill>
                <a:latin typeface="Inter"/>
              </a:rPr>
              <a:t>which output element?</a:t>
            </a:r>
          </a:p>
        </p:txBody>
      </p:sp>
      <p:sp>
        <p:nvSpPr>
          <p:cNvPr id="14" name="Rectangle 13"/>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The same expression identifies both valid work and out-of-range tail threads.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FIRST CUDA FEATURE</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A launch specifies the grid, the block and the stream</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Guide §2.1.2.2, §2.3.3.2.2 and §2.5.2.2; course launch expression</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18</a:t>
            </a:r>
          </a:p>
        </p:txBody>
      </p:sp>
      <p:sp>
        <p:nvSpPr>
          <p:cNvPr id="8" name="Rectangle 7"/>
          <p:cNvSpPr/>
          <p:nvPr/>
        </p:nvSpPr>
        <p:spPr>
          <a:xfrm>
            <a:off x="603504" y="1883664"/>
            <a:ext cx="10972800" cy="1435608"/>
          </a:xfrm>
          <a:prstGeom prst="rect">
            <a:avLst/>
          </a:prstGeom>
          <a:solidFill>
            <a:srgbClr val="11170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2039112"/>
            <a:ext cx="10607040" cy="210312"/>
          </a:xfrm>
          <a:prstGeom prst="rect">
            <a:avLst/>
          </a:prstGeom>
          <a:noFill/>
        </p:spPr>
        <p:txBody>
          <a:bodyPr wrap="square" lIns="0" rIns="0" tIns="0" bIns="0" anchor="t">
            <a:noAutofit/>
          </a:bodyPr>
          <a:lstStyle/>
          <a:p>
            <a:pPr algn="l">
              <a:lnSpc>
                <a:spcPct val="114000"/>
              </a:lnSpc>
              <a:spcBef>
                <a:spcPts val="0"/>
              </a:spcBef>
              <a:spcAft>
                <a:spcPts val="0"/>
              </a:spcAft>
            </a:pPr>
            <a:r>
              <a:rPr sz="900" b="1">
                <a:solidFill>
                  <a:srgbClr val="76B900"/>
                </a:solidFill>
                <a:latin typeface="Inter"/>
              </a:rPr>
              <a:t>COURSE LAUNCH EXPRESSION</a:t>
            </a:r>
          </a:p>
        </p:txBody>
      </p:sp>
      <p:sp>
        <p:nvSpPr>
          <p:cNvPr id="10" name="TextBox 9"/>
          <p:cNvSpPr txBox="1"/>
          <p:nvPr/>
        </p:nvSpPr>
        <p:spPr>
          <a:xfrm>
            <a:off x="786384" y="2395728"/>
            <a:ext cx="10607040" cy="795528"/>
          </a:xfrm>
          <a:prstGeom prst="rect">
            <a:avLst/>
          </a:prstGeom>
          <a:noFill/>
        </p:spPr>
        <p:txBody>
          <a:bodyPr wrap="none" lIns="0" rIns="0" tIns="0" bIns="0">
            <a:noAutofit/>
          </a:bodyPr>
          <a:lstStyle/>
          <a:p>
            <a:pPr>
              <a:lnSpc>
                <a:spcPts val="2879"/>
              </a:lnSpc>
              <a:spcBef>
                <a:spcPts val="0"/>
              </a:spcBef>
              <a:spcAft>
                <a:spcPts val="0"/>
              </a:spcAft>
            </a:pPr>
            <a:r>
              <a:rPr sz="2400">
                <a:solidFill>
                  <a:srgbClr val="EDF3E6"/>
                </a:solidFill>
                <a:latin typeface="DejaVu Sans Mono"/>
              </a:rPr>
              <a:t>vector_add_kernel</a:t>
            </a:r>
            <a:r>
              <a:rPr sz="2400">
                <a:solidFill>
                  <a:srgbClr val="EDF3E6"/>
                </a:solidFill>
                <a:latin typeface="DejaVu Sans Mono"/>
              </a:rPr>
              <a:t>&lt;</a:t>
            </a:r>
            <a:r>
              <a:rPr sz="2400">
                <a:solidFill>
                  <a:srgbClr val="EDF3E6"/>
                </a:solidFill>
                <a:latin typeface="DejaVu Sans Mono"/>
              </a:rPr>
              <a:t>&lt;</a:t>
            </a:r>
            <a:r>
              <a:rPr sz="2400">
                <a:solidFill>
                  <a:srgbClr val="EDF3E6"/>
                </a:solidFill>
                <a:latin typeface="DejaVu Sans Mono"/>
              </a:rPr>
              <a:t>&lt;</a:t>
            </a:r>
            <a:r>
              <a:rPr sz="2400">
                <a:solidFill>
                  <a:srgbClr val="EDF3E6"/>
                </a:solidFill>
                <a:latin typeface="DejaVu Sans Mono"/>
              </a:rPr>
              <a:t>grid</a:t>
            </a:r>
            <a:r>
              <a:rPr sz="2400">
                <a:solidFill>
                  <a:srgbClr val="EDF3E6"/>
                </a:solidFill>
                <a:latin typeface="DejaVu Sans Mono"/>
              </a:rPr>
              <a:t>,</a:t>
            </a:r>
            <a:r>
              <a:rPr sz="2400">
                <a:solidFill>
                  <a:srgbClr val="EDF3E6"/>
                </a:solidFill>
                <a:latin typeface="DejaVu Sans Mono"/>
              </a:rPr>
              <a:t> </a:t>
            </a:r>
            <a:r>
              <a:rPr sz="2400">
                <a:solidFill>
                  <a:srgbClr val="EDF3E6"/>
                </a:solidFill>
                <a:latin typeface="DejaVu Sans Mono"/>
              </a:rPr>
              <a:t>block</a:t>
            </a:r>
            <a:r>
              <a:rPr sz="2400">
                <a:solidFill>
                  <a:srgbClr val="EDF3E6"/>
                </a:solidFill>
                <a:latin typeface="DejaVu Sans Mono"/>
              </a:rPr>
              <a:t>,</a:t>
            </a:r>
            <a:r>
              <a:rPr sz="2400">
                <a:solidFill>
                  <a:srgbClr val="EDF3E6"/>
                </a:solidFill>
                <a:latin typeface="DejaVu Sans Mono"/>
              </a:rPr>
              <a:t> </a:t>
            </a:r>
            <a:r>
              <a:rPr sz="2400">
                <a:solidFill>
                  <a:srgbClr val="C0E579"/>
                </a:solidFill>
                <a:latin typeface="DejaVu Sans Mono"/>
              </a:rPr>
              <a:t>0</a:t>
            </a:r>
            <a:r>
              <a:rPr sz="2400">
                <a:solidFill>
                  <a:srgbClr val="EDF3E6"/>
                </a:solidFill>
                <a:latin typeface="DejaVu Sans Mono"/>
              </a:rPr>
              <a:t>,</a:t>
            </a:r>
            <a:r>
              <a:rPr sz="2400">
                <a:solidFill>
                  <a:srgbClr val="EDF3E6"/>
                </a:solidFill>
                <a:latin typeface="DejaVu Sans Mono"/>
              </a:rPr>
              <a:t> </a:t>
            </a:r>
            <a:r>
              <a:rPr sz="2400">
                <a:solidFill>
                  <a:srgbClr val="EDF3E6"/>
                </a:solidFill>
                <a:latin typeface="DejaVu Sans Mono"/>
              </a:rPr>
              <a:t>stream</a:t>
            </a:r>
            <a:r>
              <a:rPr sz="2400">
                <a:solidFill>
                  <a:srgbClr val="EDF3E6"/>
                </a:solidFill>
                <a:latin typeface="DejaVu Sans Mono"/>
              </a:rPr>
              <a:t>&gt;</a:t>
            </a:r>
            <a:r>
              <a:rPr sz="2400">
                <a:solidFill>
                  <a:srgbClr val="EDF3E6"/>
                </a:solidFill>
                <a:latin typeface="DejaVu Sans Mono"/>
              </a:rPr>
              <a:t>&gt;</a:t>
            </a:r>
            <a:r>
              <a:rPr sz="2400">
                <a:solidFill>
                  <a:srgbClr val="EDF3E6"/>
                </a:solidFill>
                <a:latin typeface="DejaVu Sans Mono"/>
              </a:rPr>
              <a:t>&gt;</a:t>
            </a:r>
            <a:r>
              <a:rPr sz="2400">
                <a:solidFill>
                  <a:srgbClr val="EDF3E6"/>
                </a:solidFill>
                <a:latin typeface="DejaVu Sans Mono"/>
              </a:rPr>
              <a:t>(</a:t>
            </a:r>
          </a:p>
          <a:p>
            <a:pPr>
              <a:lnSpc>
                <a:spcPts val="2879"/>
              </a:lnSpc>
              <a:spcBef>
                <a:spcPts val="0"/>
              </a:spcBef>
              <a:spcAft>
                <a:spcPts val="0"/>
              </a:spcAft>
            </a:pPr>
            <a:r>
              <a:rPr sz="2400">
                <a:solidFill>
                  <a:srgbClr val="EDF3E6"/>
                </a:solidFill>
                <a:latin typeface="DejaVu Sans Mono"/>
              </a:rPr>
              <a:t>    </a:t>
            </a:r>
            <a:r>
              <a:rPr sz="2400">
                <a:solidFill>
                  <a:srgbClr val="EDF3E6"/>
                </a:solidFill>
                <a:latin typeface="DejaVu Sans Mono"/>
              </a:rPr>
              <a:t>d_a</a:t>
            </a:r>
            <a:r>
              <a:rPr sz="2400">
                <a:solidFill>
                  <a:srgbClr val="EDF3E6"/>
                </a:solidFill>
                <a:latin typeface="DejaVu Sans Mono"/>
              </a:rPr>
              <a:t>,</a:t>
            </a:r>
            <a:r>
              <a:rPr sz="2400">
                <a:solidFill>
                  <a:srgbClr val="EDF3E6"/>
                </a:solidFill>
                <a:latin typeface="DejaVu Sans Mono"/>
              </a:rPr>
              <a:t> </a:t>
            </a:r>
            <a:r>
              <a:rPr sz="2400">
                <a:solidFill>
                  <a:srgbClr val="EDF3E6"/>
                </a:solidFill>
                <a:latin typeface="DejaVu Sans Mono"/>
              </a:rPr>
              <a:t>d_b</a:t>
            </a:r>
            <a:r>
              <a:rPr sz="2400">
                <a:solidFill>
                  <a:srgbClr val="EDF3E6"/>
                </a:solidFill>
                <a:latin typeface="DejaVu Sans Mono"/>
              </a:rPr>
              <a:t>,</a:t>
            </a:r>
            <a:r>
              <a:rPr sz="2400">
                <a:solidFill>
                  <a:srgbClr val="EDF3E6"/>
                </a:solidFill>
                <a:latin typeface="DejaVu Sans Mono"/>
              </a:rPr>
              <a:t> </a:t>
            </a:r>
            <a:r>
              <a:rPr sz="2400">
                <a:solidFill>
                  <a:srgbClr val="EDF3E6"/>
                </a:solidFill>
                <a:latin typeface="DejaVu Sans Mono"/>
              </a:rPr>
              <a:t>d_out</a:t>
            </a:r>
            <a:r>
              <a:rPr sz="2400">
                <a:solidFill>
                  <a:srgbClr val="EDF3E6"/>
                </a:solidFill>
                <a:latin typeface="DejaVu Sans Mono"/>
              </a:rPr>
              <a:t>,</a:t>
            </a:r>
            <a:r>
              <a:rPr sz="2400">
                <a:solidFill>
                  <a:srgbClr val="EDF3E6"/>
                </a:solidFill>
                <a:latin typeface="DejaVu Sans Mono"/>
              </a:rPr>
              <a:t> </a:t>
            </a:r>
            <a:r>
              <a:rPr sz="2400">
                <a:solidFill>
                  <a:srgbClr val="EDF3E6"/>
                </a:solidFill>
                <a:latin typeface="DejaVu Sans Mono"/>
              </a:rPr>
              <a:t>alpha</a:t>
            </a:r>
            <a:r>
              <a:rPr sz="2400">
                <a:solidFill>
                  <a:srgbClr val="EDF3E6"/>
                </a:solidFill>
                <a:latin typeface="DejaVu Sans Mono"/>
              </a:rPr>
              <a:t>,</a:t>
            </a:r>
            <a:r>
              <a:rPr sz="2400">
                <a:solidFill>
                  <a:srgbClr val="EDF3E6"/>
                </a:solidFill>
                <a:latin typeface="DejaVu Sans Mono"/>
              </a:rPr>
              <a:t> </a:t>
            </a:r>
            <a:r>
              <a:rPr sz="2400">
                <a:solidFill>
                  <a:srgbClr val="EDF3E6"/>
                </a:solidFill>
                <a:latin typeface="DejaVu Sans Mono"/>
              </a:rPr>
              <a:t>n</a:t>
            </a:r>
            <a:r>
              <a:rPr sz="2400">
                <a:solidFill>
                  <a:srgbClr val="EDF3E6"/>
                </a:solidFill>
                <a:latin typeface="DejaVu Sans Mono"/>
              </a:rPr>
              <a:t>)</a:t>
            </a:r>
            <a:r>
              <a:rPr sz="2400">
                <a:solidFill>
                  <a:srgbClr val="EDF3E6"/>
                </a:solidFill>
                <a:latin typeface="DejaVu Sans Mono"/>
              </a:rPr>
              <a:t>;</a:t>
            </a:r>
          </a:p>
        </p:txBody>
      </p:sp>
      <p:sp>
        <p:nvSpPr>
          <p:cNvPr id="11" name="Rectangle 10"/>
          <p:cNvSpPr/>
          <p:nvPr/>
        </p:nvSpPr>
        <p:spPr>
          <a:xfrm>
            <a:off x="658368" y="3666744"/>
            <a:ext cx="10881360" cy="411480"/>
          </a:xfrm>
          <a:prstGeom prst="rect">
            <a:avLst/>
          </a:prstGeom>
          <a:solidFill>
            <a:srgbClr val="F0F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86384" y="3803904"/>
            <a:ext cx="2496312" cy="228600"/>
          </a:xfrm>
          <a:prstGeom prst="rect">
            <a:avLst/>
          </a:prstGeom>
          <a:noFill/>
        </p:spPr>
        <p:txBody>
          <a:bodyPr wrap="square" lIns="0" rIns="0" tIns="0" bIns="0" anchor="t">
            <a:noAutofit/>
          </a:bodyPr>
          <a:lstStyle/>
          <a:p>
            <a:pPr algn="l">
              <a:lnSpc>
                <a:spcPct val="104000"/>
              </a:lnSpc>
              <a:spcBef>
                <a:spcPts val="0"/>
              </a:spcBef>
              <a:spcAft>
                <a:spcPts val="0"/>
              </a:spcAft>
            </a:pPr>
            <a:r>
              <a:rPr sz="1800" b="1">
                <a:solidFill>
                  <a:srgbClr val="466B00"/>
                </a:solidFill>
                <a:latin typeface="Inter"/>
              </a:rPr>
              <a:t>grid</a:t>
            </a:r>
          </a:p>
        </p:txBody>
      </p:sp>
      <p:sp>
        <p:nvSpPr>
          <p:cNvPr id="13" name="TextBox 12"/>
          <p:cNvSpPr txBox="1"/>
          <p:nvPr/>
        </p:nvSpPr>
        <p:spPr>
          <a:xfrm>
            <a:off x="3529584" y="3803904"/>
            <a:ext cx="7891272" cy="228600"/>
          </a:xfrm>
          <a:prstGeom prst="rect">
            <a:avLst/>
          </a:prstGeom>
          <a:noFill/>
        </p:spPr>
        <p:txBody>
          <a:bodyPr wrap="square" lIns="0" rIns="0" tIns="0" bIns="0" anchor="t">
            <a:noAutofit/>
          </a:bodyPr>
          <a:lstStyle/>
          <a:p>
            <a:pPr algn="l">
              <a:lnSpc>
                <a:spcPct val="104000"/>
              </a:lnSpc>
              <a:spcBef>
                <a:spcPts val="0"/>
              </a:spcBef>
              <a:spcAft>
                <a:spcPts val="0"/>
              </a:spcAft>
            </a:pPr>
            <a:r>
              <a:rPr sz="1800" b="0">
                <a:solidFill>
                  <a:srgbClr val="121610"/>
                </a:solidFill>
                <a:latin typeface="Inter"/>
              </a:rPr>
              <a:t>Number of blocks</a:t>
            </a:r>
          </a:p>
        </p:txBody>
      </p:sp>
      <p:sp>
        <p:nvSpPr>
          <p:cNvPr id="14" name="TextBox 13"/>
          <p:cNvSpPr txBox="1"/>
          <p:nvPr/>
        </p:nvSpPr>
        <p:spPr>
          <a:xfrm>
            <a:off x="786384" y="4215384"/>
            <a:ext cx="2496312" cy="228600"/>
          </a:xfrm>
          <a:prstGeom prst="rect">
            <a:avLst/>
          </a:prstGeom>
          <a:noFill/>
        </p:spPr>
        <p:txBody>
          <a:bodyPr wrap="square" lIns="0" rIns="0" tIns="0" bIns="0" anchor="t">
            <a:noAutofit/>
          </a:bodyPr>
          <a:lstStyle/>
          <a:p>
            <a:pPr algn="l">
              <a:lnSpc>
                <a:spcPct val="104000"/>
              </a:lnSpc>
              <a:spcBef>
                <a:spcPts val="0"/>
              </a:spcBef>
              <a:spcAft>
                <a:spcPts val="0"/>
              </a:spcAft>
            </a:pPr>
            <a:r>
              <a:rPr sz="1800" b="1">
                <a:solidFill>
                  <a:srgbClr val="466B00"/>
                </a:solidFill>
                <a:latin typeface="Inter"/>
              </a:rPr>
              <a:t>block</a:t>
            </a:r>
          </a:p>
        </p:txBody>
      </p:sp>
      <p:sp>
        <p:nvSpPr>
          <p:cNvPr id="15" name="TextBox 14"/>
          <p:cNvSpPr txBox="1"/>
          <p:nvPr/>
        </p:nvSpPr>
        <p:spPr>
          <a:xfrm>
            <a:off x="3529584" y="4215384"/>
            <a:ext cx="7891272" cy="228600"/>
          </a:xfrm>
          <a:prstGeom prst="rect">
            <a:avLst/>
          </a:prstGeom>
          <a:noFill/>
        </p:spPr>
        <p:txBody>
          <a:bodyPr wrap="square" lIns="0" rIns="0" tIns="0" bIns="0" anchor="t">
            <a:noAutofit/>
          </a:bodyPr>
          <a:lstStyle/>
          <a:p>
            <a:pPr algn="l">
              <a:lnSpc>
                <a:spcPct val="104000"/>
              </a:lnSpc>
              <a:spcBef>
                <a:spcPts val="0"/>
              </a:spcBef>
              <a:spcAft>
                <a:spcPts val="0"/>
              </a:spcAft>
            </a:pPr>
            <a:r>
              <a:rPr sz="1800" b="0">
                <a:solidFill>
                  <a:srgbClr val="121610"/>
                </a:solidFill>
                <a:latin typeface="Inter"/>
              </a:rPr>
              <a:t>Threads in each block</a:t>
            </a:r>
          </a:p>
        </p:txBody>
      </p:sp>
      <p:sp>
        <p:nvSpPr>
          <p:cNvPr id="16" name="Rectangle 15"/>
          <p:cNvSpPr/>
          <p:nvPr/>
        </p:nvSpPr>
        <p:spPr>
          <a:xfrm>
            <a:off x="658368" y="4489704"/>
            <a:ext cx="10881360" cy="411480"/>
          </a:xfrm>
          <a:prstGeom prst="rect">
            <a:avLst/>
          </a:prstGeom>
          <a:solidFill>
            <a:srgbClr val="F0F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86384" y="4626864"/>
            <a:ext cx="2496312" cy="228600"/>
          </a:xfrm>
          <a:prstGeom prst="rect">
            <a:avLst/>
          </a:prstGeom>
          <a:noFill/>
        </p:spPr>
        <p:txBody>
          <a:bodyPr wrap="square" lIns="0" rIns="0" tIns="0" bIns="0" anchor="t">
            <a:noAutofit/>
          </a:bodyPr>
          <a:lstStyle/>
          <a:p>
            <a:pPr algn="l">
              <a:lnSpc>
                <a:spcPct val="104000"/>
              </a:lnSpc>
              <a:spcBef>
                <a:spcPts val="0"/>
              </a:spcBef>
              <a:spcAft>
                <a:spcPts val="0"/>
              </a:spcAft>
            </a:pPr>
            <a:r>
              <a:rPr sz="1800" b="1">
                <a:solidFill>
                  <a:srgbClr val="466B00"/>
                </a:solidFill>
                <a:latin typeface="Inter"/>
              </a:rPr>
              <a:t>0</a:t>
            </a:r>
          </a:p>
        </p:txBody>
      </p:sp>
      <p:sp>
        <p:nvSpPr>
          <p:cNvPr id="18" name="TextBox 17"/>
          <p:cNvSpPr txBox="1"/>
          <p:nvPr/>
        </p:nvSpPr>
        <p:spPr>
          <a:xfrm>
            <a:off x="3529584" y="4626864"/>
            <a:ext cx="7891272" cy="228600"/>
          </a:xfrm>
          <a:prstGeom prst="rect">
            <a:avLst/>
          </a:prstGeom>
          <a:noFill/>
        </p:spPr>
        <p:txBody>
          <a:bodyPr wrap="square" lIns="0" rIns="0" tIns="0" bIns="0" anchor="t">
            <a:noAutofit/>
          </a:bodyPr>
          <a:lstStyle/>
          <a:p>
            <a:pPr algn="l">
              <a:lnSpc>
                <a:spcPct val="104000"/>
              </a:lnSpc>
              <a:spcBef>
                <a:spcPts val="0"/>
              </a:spcBef>
              <a:spcAft>
                <a:spcPts val="0"/>
              </a:spcAft>
            </a:pPr>
            <a:r>
              <a:rPr sz="1800" b="0">
                <a:solidFill>
                  <a:srgbClr val="121610"/>
                </a:solidFill>
                <a:latin typeface="Inter"/>
              </a:rPr>
              <a:t>Extra dynamic shared-memory bytes</a:t>
            </a:r>
          </a:p>
        </p:txBody>
      </p:sp>
      <p:sp>
        <p:nvSpPr>
          <p:cNvPr id="19" name="TextBox 18"/>
          <p:cNvSpPr txBox="1"/>
          <p:nvPr/>
        </p:nvSpPr>
        <p:spPr>
          <a:xfrm>
            <a:off x="786384" y="5038344"/>
            <a:ext cx="2496312" cy="228600"/>
          </a:xfrm>
          <a:prstGeom prst="rect">
            <a:avLst/>
          </a:prstGeom>
          <a:noFill/>
        </p:spPr>
        <p:txBody>
          <a:bodyPr wrap="square" lIns="0" rIns="0" tIns="0" bIns="0" anchor="t">
            <a:noAutofit/>
          </a:bodyPr>
          <a:lstStyle/>
          <a:p>
            <a:pPr algn="l">
              <a:lnSpc>
                <a:spcPct val="104000"/>
              </a:lnSpc>
              <a:spcBef>
                <a:spcPts val="0"/>
              </a:spcBef>
              <a:spcAft>
                <a:spcPts val="0"/>
              </a:spcAft>
            </a:pPr>
            <a:r>
              <a:rPr sz="1800" b="1">
                <a:solidFill>
                  <a:srgbClr val="466B00"/>
                </a:solidFill>
                <a:latin typeface="Inter"/>
              </a:rPr>
              <a:t>stream</a:t>
            </a:r>
          </a:p>
        </p:txBody>
      </p:sp>
      <p:sp>
        <p:nvSpPr>
          <p:cNvPr id="20" name="TextBox 19"/>
          <p:cNvSpPr txBox="1"/>
          <p:nvPr/>
        </p:nvSpPr>
        <p:spPr>
          <a:xfrm>
            <a:off x="3529584" y="5038344"/>
            <a:ext cx="7891272" cy="228600"/>
          </a:xfrm>
          <a:prstGeom prst="rect">
            <a:avLst/>
          </a:prstGeom>
          <a:noFill/>
        </p:spPr>
        <p:txBody>
          <a:bodyPr wrap="square" lIns="0" rIns="0" tIns="0" bIns="0" anchor="t">
            <a:noAutofit/>
          </a:bodyPr>
          <a:lstStyle/>
          <a:p>
            <a:pPr algn="l">
              <a:lnSpc>
                <a:spcPct val="104000"/>
              </a:lnSpc>
              <a:spcBef>
                <a:spcPts val="0"/>
              </a:spcBef>
              <a:spcAft>
                <a:spcPts val="0"/>
              </a:spcAft>
            </a:pPr>
            <a:r>
              <a:rPr sz="1800" b="0">
                <a:solidFill>
                  <a:srgbClr val="121610"/>
                </a:solidFill>
                <a:latin typeface="Inter"/>
              </a:rPr>
              <a:t>Ordering context for submitted work</a:t>
            </a:r>
          </a:p>
        </p:txBody>
      </p:sp>
      <p:sp>
        <p:nvSpPr>
          <p:cNvPr id="21" name="Rectangle 20"/>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For N &gt; 0, choose enough blocks to cover N elements, then guard the tail.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FIRST CUDA FEATURE</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The kernel is one step in a complete operation</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Course host wrapper: gpu/vector_add_cuda.cc; NVIDIA Figure 2, p. 6 / PDF p. 24</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19</a:t>
            </a:r>
          </a:p>
        </p:txBody>
      </p:sp>
      <p:sp>
        <p:nvSpPr>
          <p:cNvPr id="8" name="TextBox 7"/>
          <p:cNvSpPr txBox="1"/>
          <p:nvPr/>
        </p:nvSpPr>
        <p:spPr>
          <a:xfrm>
            <a:off x="667512" y="1837943"/>
            <a:ext cx="548640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01 / VALIDATE</a:t>
            </a:r>
          </a:p>
        </p:txBody>
      </p:sp>
      <p:sp>
        <p:nvSpPr>
          <p:cNvPr id="9" name="TextBox 8"/>
          <p:cNvSpPr txBox="1"/>
          <p:nvPr/>
        </p:nvSpPr>
        <p:spPr>
          <a:xfrm>
            <a:off x="667512" y="2148839"/>
            <a:ext cx="5486400" cy="594360"/>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Sizes and empty input.</a:t>
            </a:r>
          </a:p>
        </p:txBody>
      </p:sp>
      <p:sp>
        <p:nvSpPr>
          <p:cNvPr id="10" name="TextBox 9"/>
          <p:cNvSpPr txBox="1"/>
          <p:nvPr/>
        </p:nvSpPr>
        <p:spPr>
          <a:xfrm>
            <a:off x="667512" y="2752344"/>
            <a:ext cx="548640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02 / PREPARE</a:t>
            </a:r>
          </a:p>
        </p:txBody>
      </p:sp>
      <p:sp>
        <p:nvSpPr>
          <p:cNvPr id="11" name="TextBox 10"/>
          <p:cNvSpPr txBox="1"/>
          <p:nvPr/>
        </p:nvSpPr>
        <p:spPr>
          <a:xfrm>
            <a:off x="667512" y="3063239"/>
            <a:ext cx="5486400" cy="594360"/>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Create stream and device buffers.</a:t>
            </a:r>
          </a:p>
        </p:txBody>
      </p:sp>
      <p:sp>
        <p:nvSpPr>
          <p:cNvPr id="12" name="TextBox 11"/>
          <p:cNvSpPr txBox="1"/>
          <p:nvPr/>
        </p:nvSpPr>
        <p:spPr>
          <a:xfrm>
            <a:off x="667512" y="3666744"/>
            <a:ext cx="548640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03 / TRANSFER</a:t>
            </a:r>
          </a:p>
        </p:txBody>
      </p:sp>
      <p:sp>
        <p:nvSpPr>
          <p:cNvPr id="13" name="TextBox 12"/>
          <p:cNvSpPr txBox="1"/>
          <p:nvPr/>
        </p:nvSpPr>
        <p:spPr>
          <a:xfrm>
            <a:off x="667512" y="3977639"/>
            <a:ext cx="5486400" cy="594360"/>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Make both inputs available on the GPU.</a:t>
            </a:r>
          </a:p>
        </p:txBody>
      </p:sp>
      <p:sp>
        <p:nvSpPr>
          <p:cNvPr id="14" name="TextBox 13"/>
          <p:cNvSpPr txBox="1"/>
          <p:nvPr/>
        </p:nvSpPr>
        <p:spPr>
          <a:xfrm>
            <a:off x="667512" y="4581144"/>
            <a:ext cx="548640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04 / EXECUTE</a:t>
            </a:r>
          </a:p>
        </p:txBody>
      </p:sp>
      <p:sp>
        <p:nvSpPr>
          <p:cNvPr id="15" name="TextBox 14"/>
          <p:cNvSpPr txBox="1"/>
          <p:nvPr/>
        </p:nvSpPr>
        <p:spPr>
          <a:xfrm>
            <a:off x="667512" y="4892040"/>
            <a:ext cx="5486400" cy="594360"/>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Launch, return the result, then wait.</a:t>
            </a:r>
          </a:p>
        </p:txBody>
      </p:sp>
      <p:sp>
        <p:nvSpPr>
          <p:cNvPr id="16" name="Rectangle 15"/>
          <p:cNvSpPr/>
          <p:nvPr/>
        </p:nvSpPr>
        <p:spPr>
          <a:xfrm>
            <a:off x="7321265" y="1810512"/>
            <a:ext cx="3480877" cy="35295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ORIGINAL_NVIDIA_fig02_system_PDF_page_24" descr="NVIDIA Figure 2; CUDA Programming Guide 13.4.2, PDF page 24, printed page 6. Extracted from embedded image xref 851; original colors and aspect ratio preserved."/>
          <p:cNvPicPr>
            <a:picLocks noChangeAspect="1"/>
          </p:cNvPicPr>
          <p:nvPr/>
        </p:nvPicPr>
        <p:blipFill>
          <a:blip r:embed="rId2"/>
          <a:stretch>
            <a:fillRect/>
          </a:stretch>
        </p:blipFill>
        <p:spPr>
          <a:xfrm>
            <a:off x="7321265" y="1810512"/>
            <a:ext cx="3480877" cy="3529584"/>
          </a:xfrm>
          <a:prstGeom prst="rect">
            <a:avLst/>
          </a:prstGeom>
        </p:spPr>
      </p:pic>
      <p:sp>
        <p:nvSpPr>
          <p:cNvPr id="18" name="TextBox 17"/>
          <p:cNvSpPr txBox="1"/>
          <p:nvPr/>
        </p:nvSpPr>
        <p:spPr>
          <a:xfrm>
            <a:off x="6903720" y="5413248"/>
            <a:ext cx="4315968" cy="210312"/>
          </a:xfrm>
          <a:prstGeom prst="rect">
            <a:avLst/>
          </a:prstGeom>
          <a:noFill/>
        </p:spPr>
        <p:txBody>
          <a:bodyPr wrap="square" lIns="0" rIns="0" tIns="0" bIns="0" anchor="t">
            <a:noAutofit/>
          </a:bodyPr>
          <a:lstStyle/>
          <a:p>
            <a:pPr algn="ctr">
              <a:lnSpc>
                <a:spcPct val="114000"/>
              </a:lnSpc>
              <a:spcBef>
                <a:spcPts val="0"/>
              </a:spcBef>
              <a:spcAft>
                <a:spcPts val="0"/>
              </a:spcAft>
            </a:pPr>
            <a:r>
              <a:rPr sz="919" b="0">
                <a:solidFill>
                  <a:srgbClr val="5A6358"/>
                </a:solidFill>
                <a:latin typeface="Inter"/>
              </a:rPr>
              <a:t>NVIDIA Figure 2 · Guide p. 6 / PDF p. 24</a:t>
            </a:r>
          </a:p>
        </p:txBody>
      </p:sp>
      <p:sp>
        <p:nvSpPr>
          <p:cNvPr id="19" name="Rectangle 18"/>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Timing the whole function is not the same as timing only its kernel.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FIRST CUDA FEATURE</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One explicit stream gives an ordered baseline</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Course wrapper; guide §2.5.2 and §2.5.5, pp. 105–106 and 114 / PDF pp. 123–124 and 132</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20</a:t>
            </a:r>
          </a:p>
        </p:txBody>
      </p:sp>
      <p:sp>
        <p:nvSpPr>
          <p:cNvPr id="8" name="Rectangle 7"/>
          <p:cNvSpPr/>
          <p:nvPr/>
        </p:nvSpPr>
        <p:spPr>
          <a:xfrm>
            <a:off x="603504" y="1856231"/>
            <a:ext cx="8247888" cy="3675887"/>
          </a:xfrm>
          <a:prstGeom prst="rect">
            <a:avLst/>
          </a:prstGeom>
          <a:solidFill>
            <a:srgbClr val="11170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2011679"/>
            <a:ext cx="7882127" cy="210312"/>
          </a:xfrm>
          <a:prstGeom prst="rect">
            <a:avLst/>
          </a:prstGeom>
          <a:noFill/>
        </p:spPr>
        <p:txBody>
          <a:bodyPr wrap="square" lIns="0" rIns="0" tIns="0" bIns="0" anchor="t">
            <a:noAutofit/>
          </a:bodyPr>
          <a:lstStyle/>
          <a:p>
            <a:pPr algn="l">
              <a:lnSpc>
                <a:spcPct val="114000"/>
              </a:lnSpc>
              <a:spcBef>
                <a:spcPts val="0"/>
              </a:spcBef>
              <a:spcAft>
                <a:spcPts val="0"/>
              </a:spcAft>
            </a:pPr>
            <a:r>
              <a:rPr sz="900" b="1">
                <a:solidFill>
                  <a:srgbClr val="76B900"/>
                </a:solidFill>
                <a:latin typeface="Inter"/>
              </a:rPr>
              <a:t>COURSE EXCERPT · BUFFERS ALREADY ALLOCATED</a:t>
            </a:r>
          </a:p>
        </p:txBody>
      </p:sp>
      <p:sp>
        <p:nvSpPr>
          <p:cNvPr id="10" name="TextBox 9"/>
          <p:cNvSpPr txBox="1"/>
          <p:nvPr/>
        </p:nvSpPr>
        <p:spPr>
          <a:xfrm>
            <a:off x="786384" y="2368296"/>
            <a:ext cx="7882127" cy="3035807"/>
          </a:xfrm>
          <a:prstGeom prst="rect">
            <a:avLst/>
          </a:prstGeom>
          <a:noFill/>
        </p:spPr>
        <p:txBody>
          <a:bodyPr wrap="none" lIns="0" rIns="0" tIns="0" bIns="0">
            <a:noAutofit/>
          </a:bodyPr>
          <a:lstStyle/>
          <a:p>
            <a:pPr>
              <a:lnSpc>
                <a:spcPts val="2100"/>
              </a:lnSpc>
              <a:spcBef>
                <a:spcPts val="0"/>
              </a:spcBef>
              <a:spcAft>
                <a:spcPts val="0"/>
              </a:spcAft>
            </a:pPr>
            <a:r>
              <a:rPr sz="1750">
                <a:solidFill>
                  <a:srgbClr val="EDF3E6"/>
                </a:solidFill>
                <a:latin typeface="DejaVu Sans Mono"/>
              </a:rPr>
              <a:t>CUDA_CHECK</a:t>
            </a:r>
            <a:r>
              <a:rPr sz="1750">
                <a:solidFill>
                  <a:srgbClr val="EDF3E6"/>
                </a:solidFill>
                <a:latin typeface="DejaVu Sans Mono"/>
              </a:rPr>
              <a:t>(</a:t>
            </a:r>
            <a:r>
              <a:rPr sz="1750">
                <a:solidFill>
                  <a:srgbClr val="EDF3E6"/>
                </a:solidFill>
                <a:latin typeface="DejaVu Sans Mono"/>
              </a:rPr>
              <a:t>cudaMemcpyAsync</a:t>
            </a:r>
            <a:r>
              <a:rPr sz="1750">
                <a:solidFill>
                  <a:srgbClr val="EDF3E6"/>
                </a:solidFill>
                <a:latin typeface="DejaVu Sans Mono"/>
              </a:rPr>
              <a:t>(</a:t>
            </a:r>
            <a:r>
              <a:rPr sz="1750">
                <a:solidFill>
                  <a:srgbClr val="EDF3E6"/>
                </a:solidFill>
                <a:latin typeface="DejaVu Sans Mono"/>
              </a:rPr>
              <a:t>d_a</a:t>
            </a:r>
            <a:r>
              <a:rPr sz="1750">
                <a:solidFill>
                  <a:srgbClr val="EDF3E6"/>
                </a:solidFill>
                <a:latin typeface="DejaVu Sans Mono"/>
              </a:rPr>
              <a:t>,</a:t>
            </a:r>
            <a:r>
              <a:rPr sz="1750">
                <a:solidFill>
                  <a:srgbClr val="EDF3E6"/>
                </a:solidFill>
                <a:latin typeface="DejaVu Sans Mono"/>
              </a:rPr>
              <a:t> </a:t>
            </a:r>
            <a:r>
              <a:rPr sz="1750">
                <a:solidFill>
                  <a:srgbClr val="EDF3E6"/>
                </a:solidFill>
                <a:latin typeface="DejaVu Sans Mono"/>
              </a:rPr>
              <a:t>a</a:t>
            </a:r>
            <a:r>
              <a:rPr sz="1750">
                <a:solidFill>
                  <a:srgbClr val="EDF3E6"/>
                </a:solidFill>
                <a:latin typeface="DejaVu Sans Mono"/>
              </a:rPr>
              <a:t>,</a:t>
            </a:r>
            <a:r>
              <a:rPr sz="1750">
                <a:solidFill>
                  <a:srgbClr val="EDF3E6"/>
                </a:solidFill>
                <a:latin typeface="DejaVu Sans Mono"/>
              </a:rPr>
              <a:t> </a:t>
            </a:r>
            <a:r>
              <a:rPr sz="1750">
                <a:solidFill>
                  <a:srgbClr val="EDF3E6"/>
                </a:solidFill>
                <a:latin typeface="DejaVu Sans Mono"/>
              </a:rPr>
              <a:t>bytes</a:t>
            </a:r>
            <a:r>
              <a:rPr sz="1750">
                <a:solidFill>
                  <a:srgbClr val="EDF3E6"/>
                </a:solidFill>
                <a:latin typeface="DejaVu Sans Mono"/>
              </a:rPr>
              <a:t>,</a:t>
            </a:r>
          </a:p>
          <a:p>
            <a:pPr>
              <a:lnSpc>
                <a:spcPts val="2100"/>
              </a:lnSpc>
              <a:spcBef>
                <a:spcPts val="0"/>
              </a:spcBef>
              <a:spcAft>
                <a:spcPts val="0"/>
              </a:spcAft>
            </a:pPr>
            <a:r>
              <a:rPr sz="1750">
                <a:solidFill>
                  <a:srgbClr val="EDF3E6"/>
                </a:solidFill>
                <a:latin typeface="DejaVu Sans Mono"/>
              </a:rPr>
              <a:t>    </a:t>
            </a:r>
            <a:r>
              <a:rPr sz="1750">
                <a:solidFill>
                  <a:srgbClr val="EDF3E6"/>
                </a:solidFill>
                <a:latin typeface="DejaVu Sans Mono"/>
              </a:rPr>
              <a:t>cudaMemcpyHostToDevice</a:t>
            </a:r>
            <a:r>
              <a:rPr sz="1750">
                <a:solidFill>
                  <a:srgbClr val="EDF3E6"/>
                </a:solidFill>
                <a:latin typeface="DejaVu Sans Mono"/>
              </a:rPr>
              <a:t>,</a:t>
            </a:r>
            <a:r>
              <a:rPr sz="1750">
                <a:solidFill>
                  <a:srgbClr val="EDF3E6"/>
                </a:solidFill>
                <a:latin typeface="DejaVu Sans Mono"/>
              </a:rPr>
              <a:t> </a:t>
            </a:r>
            <a:r>
              <a:rPr sz="1750">
                <a:solidFill>
                  <a:srgbClr val="EDF3E6"/>
                </a:solidFill>
                <a:latin typeface="DejaVu Sans Mono"/>
              </a:rPr>
              <a:t>stream</a:t>
            </a:r>
            <a:r>
              <a:rPr sz="1750">
                <a:solidFill>
                  <a:srgbClr val="EDF3E6"/>
                </a:solidFill>
                <a:latin typeface="DejaVu Sans Mono"/>
              </a:rPr>
              <a:t>)</a:t>
            </a:r>
            <a:r>
              <a:rPr sz="1750">
                <a:solidFill>
                  <a:srgbClr val="EDF3E6"/>
                </a:solidFill>
                <a:latin typeface="DejaVu Sans Mono"/>
              </a:rPr>
              <a:t>)</a:t>
            </a:r>
            <a:r>
              <a:rPr sz="1750">
                <a:solidFill>
                  <a:srgbClr val="EDF3E6"/>
                </a:solidFill>
                <a:latin typeface="DejaVu Sans Mono"/>
              </a:rPr>
              <a:t>;</a:t>
            </a:r>
          </a:p>
          <a:p>
            <a:pPr>
              <a:lnSpc>
                <a:spcPts val="2100"/>
              </a:lnSpc>
              <a:spcBef>
                <a:spcPts val="0"/>
              </a:spcBef>
              <a:spcAft>
                <a:spcPts val="0"/>
              </a:spcAft>
            </a:pPr>
            <a:r>
              <a:rPr sz="1750">
                <a:solidFill>
                  <a:srgbClr val="EDF3E6"/>
                </a:solidFill>
                <a:latin typeface="DejaVu Sans Mono"/>
              </a:rPr>
              <a:t>CUDA_CHECK</a:t>
            </a:r>
            <a:r>
              <a:rPr sz="1750">
                <a:solidFill>
                  <a:srgbClr val="EDF3E6"/>
                </a:solidFill>
                <a:latin typeface="DejaVu Sans Mono"/>
              </a:rPr>
              <a:t>(</a:t>
            </a:r>
            <a:r>
              <a:rPr sz="1750">
                <a:solidFill>
                  <a:srgbClr val="EDF3E6"/>
                </a:solidFill>
                <a:latin typeface="DejaVu Sans Mono"/>
              </a:rPr>
              <a:t>cudaMemcpyAsync</a:t>
            </a:r>
            <a:r>
              <a:rPr sz="1750">
                <a:solidFill>
                  <a:srgbClr val="EDF3E6"/>
                </a:solidFill>
                <a:latin typeface="DejaVu Sans Mono"/>
              </a:rPr>
              <a:t>(</a:t>
            </a:r>
            <a:r>
              <a:rPr sz="1750">
                <a:solidFill>
                  <a:srgbClr val="EDF3E6"/>
                </a:solidFill>
                <a:latin typeface="DejaVu Sans Mono"/>
              </a:rPr>
              <a:t>d_b</a:t>
            </a:r>
            <a:r>
              <a:rPr sz="1750">
                <a:solidFill>
                  <a:srgbClr val="EDF3E6"/>
                </a:solidFill>
                <a:latin typeface="DejaVu Sans Mono"/>
              </a:rPr>
              <a:t>,</a:t>
            </a:r>
            <a:r>
              <a:rPr sz="1750">
                <a:solidFill>
                  <a:srgbClr val="EDF3E6"/>
                </a:solidFill>
                <a:latin typeface="DejaVu Sans Mono"/>
              </a:rPr>
              <a:t> </a:t>
            </a:r>
            <a:r>
              <a:rPr sz="1750">
                <a:solidFill>
                  <a:srgbClr val="EDF3E6"/>
                </a:solidFill>
                <a:latin typeface="DejaVu Sans Mono"/>
              </a:rPr>
              <a:t>b</a:t>
            </a:r>
            <a:r>
              <a:rPr sz="1750">
                <a:solidFill>
                  <a:srgbClr val="EDF3E6"/>
                </a:solidFill>
                <a:latin typeface="DejaVu Sans Mono"/>
              </a:rPr>
              <a:t>,</a:t>
            </a:r>
            <a:r>
              <a:rPr sz="1750">
                <a:solidFill>
                  <a:srgbClr val="EDF3E6"/>
                </a:solidFill>
                <a:latin typeface="DejaVu Sans Mono"/>
              </a:rPr>
              <a:t> </a:t>
            </a:r>
            <a:r>
              <a:rPr sz="1750">
                <a:solidFill>
                  <a:srgbClr val="EDF3E6"/>
                </a:solidFill>
                <a:latin typeface="DejaVu Sans Mono"/>
              </a:rPr>
              <a:t>bytes</a:t>
            </a:r>
            <a:r>
              <a:rPr sz="1750">
                <a:solidFill>
                  <a:srgbClr val="EDF3E6"/>
                </a:solidFill>
                <a:latin typeface="DejaVu Sans Mono"/>
              </a:rPr>
              <a:t>,</a:t>
            </a:r>
          </a:p>
          <a:p>
            <a:pPr>
              <a:lnSpc>
                <a:spcPts val="2100"/>
              </a:lnSpc>
              <a:spcBef>
                <a:spcPts val="0"/>
              </a:spcBef>
              <a:spcAft>
                <a:spcPts val="0"/>
              </a:spcAft>
            </a:pPr>
            <a:r>
              <a:rPr sz="1750">
                <a:solidFill>
                  <a:srgbClr val="EDF3E6"/>
                </a:solidFill>
                <a:latin typeface="DejaVu Sans Mono"/>
              </a:rPr>
              <a:t>    </a:t>
            </a:r>
            <a:r>
              <a:rPr sz="1750">
                <a:solidFill>
                  <a:srgbClr val="EDF3E6"/>
                </a:solidFill>
                <a:latin typeface="DejaVu Sans Mono"/>
              </a:rPr>
              <a:t>cudaMemcpyHostToDevice</a:t>
            </a:r>
            <a:r>
              <a:rPr sz="1750">
                <a:solidFill>
                  <a:srgbClr val="EDF3E6"/>
                </a:solidFill>
                <a:latin typeface="DejaVu Sans Mono"/>
              </a:rPr>
              <a:t>,</a:t>
            </a:r>
            <a:r>
              <a:rPr sz="1750">
                <a:solidFill>
                  <a:srgbClr val="EDF3E6"/>
                </a:solidFill>
                <a:latin typeface="DejaVu Sans Mono"/>
              </a:rPr>
              <a:t> </a:t>
            </a:r>
            <a:r>
              <a:rPr sz="1750">
                <a:solidFill>
                  <a:srgbClr val="EDF3E6"/>
                </a:solidFill>
                <a:latin typeface="DejaVu Sans Mono"/>
              </a:rPr>
              <a:t>stream</a:t>
            </a:r>
            <a:r>
              <a:rPr sz="1750">
                <a:solidFill>
                  <a:srgbClr val="EDF3E6"/>
                </a:solidFill>
                <a:latin typeface="DejaVu Sans Mono"/>
              </a:rPr>
              <a:t>)</a:t>
            </a:r>
            <a:r>
              <a:rPr sz="1750">
                <a:solidFill>
                  <a:srgbClr val="EDF3E6"/>
                </a:solidFill>
                <a:latin typeface="DejaVu Sans Mono"/>
              </a:rPr>
              <a:t>)</a:t>
            </a:r>
            <a:r>
              <a:rPr sz="1750">
                <a:solidFill>
                  <a:srgbClr val="EDF3E6"/>
                </a:solidFill>
                <a:latin typeface="DejaVu Sans Mono"/>
              </a:rPr>
              <a:t>;</a:t>
            </a:r>
          </a:p>
          <a:p>
            <a:pPr>
              <a:lnSpc>
                <a:spcPts val="2100"/>
              </a:lnSpc>
              <a:spcBef>
                <a:spcPts val="0"/>
              </a:spcBef>
              <a:spcAft>
                <a:spcPts val="0"/>
              </a:spcAft>
            </a:pPr>
            <a:r>
              <a:rPr sz="1750">
                <a:solidFill>
                  <a:srgbClr val="EDF3E6"/>
                </a:solidFill>
                <a:latin typeface="DejaVu Sans Mono"/>
              </a:rPr>
              <a:t>launch_vector_add_kernel</a:t>
            </a:r>
            <a:r>
              <a:rPr sz="1750">
                <a:solidFill>
                  <a:srgbClr val="EDF3E6"/>
                </a:solidFill>
                <a:latin typeface="DejaVu Sans Mono"/>
              </a:rPr>
              <a:t>(</a:t>
            </a:r>
            <a:r>
              <a:rPr sz="1750">
                <a:solidFill>
                  <a:srgbClr val="EDF3E6"/>
                </a:solidFill>
                <a:latin typeface="DejaVu Sans Mono"/>
              </a:rPr>
              <a:t>d_a</a:t>
            </a:r>
            <a:r>
              <a:rPr sz="1750">
                <a:solidFill>
                  <a:srgbClr val="EDF3E6"/>
                </a:solidFill>
                <a:latin typeface="DejaVu Sans Mono"/>
              </a:rPr>
              <a:t>,</a:t>
            </a:r>
            <a:r>
              <a:rPr sz="1750">
                <a:solidFill>
                  <a:srgbClr val="EDF3E6"/>
                </a:solidFill>
                <a:latin typeface="DejaVu Sans Mono"/>
              </a:rPr>
              <a:t> </a:t>
            </a:r>
            <a:r>
              <a:rPr sz="1750">
                <a:solidFill>
                  <a:srgbClr val="EDF3E6"/>
                </a:solidFill>
                <a:latin typeface="DejaVu Sans Mono"/>
              </a:rPr>
              <a:t>d_b</a:t>
            </a:r>
            <a:r>
              <a:rPr sz="1750">
                <a:solidFill>
                  <a:srgbClr val="EDF3E6"/>
                </a:solidFill>
                <a:latin typeface="DejaVu Sans Mono"/>
              </a:rPr>
              <a:t>,</a:t>
            </a:r>
            <a:r>
              <a:rPr sz="1750">
                <a:solidFill>
                  <a:srgbClr val="EDF3E6"/>
                </a:solidFill>
                <a:latin typeface="DejaVu Sans Mono"/>
              </a:rPr>
              <a:t> </a:t>
            </a:r>
            <a:r>
              <a:rPr sz="1750">
                <a:solidFill>
                  <a:srgbClr val="EDF3E6"/>
                </a:solidFill>
                <a:latin typeface="DejaVu Sans Mono"/>
              </a:rPr>
              <a:t>d_out</a:t>
            </a:r>
            <a:r>
              <a:rPr sz="1750">
                <a:solidFill>
                  <a:srgbClr val="EDF3E6"/>
                </a:solidFill>
                <a:latin typeface="DejaVu Sans Mono"/>
              </a:rPr>
              <a:t>,</a:t>
            </a:r>
          </a:p>
          <a:p>
            <a:pPr>
              <a:lnSpc>
                <a:spcPts val="2100"/>
              </a:lnSpc>
              <a:spcBef>
                <a:spcPts val="0"/>
              </a:spcBef>
              <a:spcAft>
                <a:spcPts val="0"/>
              </a:spcAft>
            </a:pPr>
            <a:r>
              <a:rPr sz="1750">
                <a:solidFill>
                  <a:srgbClr val="EDF3E6"/>
                </a:solidFill>
                <a:latin typeface="DejaVu Sans Mono"/>
              </a:rPr>
              <a:t>    </a:t>
            </a:r>
            <a:r>
              <a:rPr sz="1750">
                <a:solidFill>
                  <a:srgbClr val="EDF3E6"/>
                </a:solidFill>
                <a:latin typeface="DejaVu Sans Mono"/>
              </a:rPr>
              <a:t>alpha</a:t>
            </a:r>
            <a:r>
              <a:rPr sz="1750">
                <a:solidFill>
                  <a:srgbClr val="EDF3E6"/>
                </a:solidFill>
                <a:latin typeface="DejaVu Sans Mono"/>
              </a:rPr>
              <a:t>,</a:t>
            </a:r>
            <a:r>
              <a:rPr sz="1750">
                <a:solidFill>
                  <a:srgbClr val="EDF3E6"/>
                </a:solidFill>
                <a:latin typeface="DejaVu Sans Mono"/>
              </a:rPr>
              <a:t> </a:t>
            </a:r>
            <a:r>
              <a:rPr sz="1750">
                <a:solidFill>
                  <a:srgbClr val="EDF3E6"/>
                </a:solidFill>
                <a:latin typeface="DejaVu Sans Mono"/>
              </a:rPr>
              <a:t>n</a:t>
            </a:r>
            <a:r>
              <a:rPr sz="1750">
                <a:solidFill>
                  <a:srgbClr val="EDF3E6"/>
                </a:solidFill>
                <a:latin typeface="DejaVu Sans Mono"/>
              </a:rPr>
              <a:t>,</a:t>
            </a:r>
            <a:r>
              <a:rPr sz="1750">
                <a:solidFill>
                  <a:srgbClr val="EDF3E6"/>
                </a:solidFill>
                <a:latin typeface="DejaVu Sans Mono"/>
              </a:rPr>
              <a:t> </a:t>
            </a:r>
            <a:r>
              <a:rPr sz="1750">
                <a:solidFill>
                  <a:srgbClr val="EDF3E6"/>
                </a:solidFill>
                <a:latin typeface="DejaVu Sans Mono"/>
              </a:rPr>
              <a:t>stream</a:t>
            </a:r>
            <a:r>
              <a:rPr sz="1750">
                <a:solidFill>
                  <a:srgbClr val="EDF3E6"/>
                </a:solidFill>
                <a:latin typeface="DejaVu Sans Mono"/>
              </a:rPr>
              <a:t>,</a:t>
            </a:r>
            <a:r>
              <a:rPr sz="1750">
                <a:solidFill>
                  <a:srgbClr val="EDF3E6"/>
                </a:solidFill>
                <a:latin typeface="DejaVu Sans Mono"/>
              </a:rPr>
              <a:t> </a:t>
            </a:r>
            <a:r>
              <a:rPr sz="1750">
                <a:solidFill>
                  <a:srgbClr val="EDF3E6"/>
                </a:solidFill>
                <a:latin typeface="DejaVu Sans Mono"/>
              </a:rPr>
              <a:t>launch_api</a:t>
            </a:r>
            <a:r>
              <a:rPr sz="1750">
                <a:solidFill>
                  <a:srgbClr val="EDF3E6"/>
                </a:solidFill>
                <a:latin typeface="DejaVu Sans Mono"/>
              </a:rPr>
              <a:t>)</a:t>
            </a:r>
            <a:r>
              <a:rPr sz="1750">
                <a:solidFill>
                  <a:srgbClr val="EDF3E6"/>
                </a:solidFill>
                <a:latin typeface="DejaVu Sans Mono"/>
              </a:rPr>
              <a:t>;</a:t>
            </a:r>
          </a:p>
          <a:p>
            <a:pPr>
              <a:lnSpc>
                <a:spcPts val="2100"/>
              </a:lnSpc>
              <a:spcBef>
                <a:spcPts val="0"/>
              </a:spcBef>
              <a:spcAft>
                <a:spcPts val="0"/>
              </a:spcAft>
            </a:pPr>
            <a:r>
              <a:rPr sz="1750">
                <a:solidFill>
                  <a:srgbClr val="EDF3E6"/>
                </a:solidFill>
                <a:latin typeface="DejaVu Sans Mono"/>
              </a:rPr>
              <a:t>CUDA_CHECK</a:t>
            </a:r>
            <a:r>
              <a:rPr sz="1750">
                <a:solidFill>
                  <a:srgbClr val="EDF3E6"/>
                </a:solidFill>
                <a:latin typeface="DejaVu Sans Mono"/>
              </a:rPr>
              <a:t>(</a:t>
            </a:r>
            <a:r>
              <a:rPr sz="1750">
                <a:solidFill>
                  <a:srgbClr val="EDF3E6"/>
                </a:solidFill>
                <a:latin typeface="DejaVu Sans Mono"/>
              </a:rPr>
              <a:t>cudaMemcpyAsync</a:t>
            </a:r>
            <a:r>
              <a:rPr sz="1750">
                <a:solidFill>
                  <a:srgbClr val="EDF3E6"/>
                </a:solidFill>
                <a:latin typeface="DejaVu Sans Mono"/>
              </a:rPr>
              <a:t>(</a:t>
            </a:r>
            <a:r>
              <a:rPr sz="1750">
                <a:solidFill>
                  <a:srgbClr val="EDF3E6"/>
                </a:solidFill>
                <a:latin typeface="DejaVu Sans Mono"/>
              </a:rPr>
              <a:t>out</a:t>
            </a:r>
            <a:r>
              <a:rPr sz="1750">
                <a:solidFill>
                  <a:srgbClr val="EDF3E6"/>
                </a:solidFill>
                <a:latin typeface="DejaVu Sans Mono"/>
              </a:rPr>
              <a:t>,</a:t>
            </a:r>
            <a:r>
              <a:rPr sz="1750">
                <a:solidFill>
                  <a:srgbClr val="EDF3E6"/>
                </a:solidFill>
                <a:latin typeface="DejaVu Sans Mono"/>
              </a:rPr>
              <a:t> </a:t>
            </a:r>
            <a:r>
              <a:rPr sz="1750">
                <a:solidFill>
                  <a:srgbClr val="EDF3E6"/>
                </a:solidFill>
                <a:latin typeface="DejaVu Sans Mono"/>
              </a:rPr>
              <a:t>d_out</a:t>
            </a:r>
            <a:r>
              <a:rPr sz="1750">
                <a:solidFill>
                  <a:srgbClr val="EDF3E6"/>
                </a:solidFill>
                <a:latin typeface="DejaVu Sans Mono"/>
              </a:rPr>
              <a:t>,</a:t>
            </a:r>
            <a:r>
              <a:rPr sz="1750">
                <a:solidFill>
                  <a:srgbClr val="EDF3E6"/>
                </a:solidFill>
                <a:latin typeface="DejaVu Sans Mono"/>
              </a:rPr>
              <a:t> </a:t>
            </a:r>
            <a:r>
              <a:rPr sz="1750">
                <a:solidFill>
                  <a:srgbClr val="EDF3E6"/>
                </a:solidFill>
                <a:latin typeface="DejaVu Sans Mono"/>
              </a:rPr>
              <a:t>bytes</a:t>
            </a:r>
            <a:r>
              <a:rPr sz="1750">
                <a:solidFill>
                  <a:srgbClr val="EDF3E6"/>
                </a:solidFill>
                <a:latin typeface="DejaVu Sans Mono"/>
              </a:rPr>
              <a:t>,</a:t>
            </a:r>
          </a:p>
          <a:p>
            <a:pPr>
              <a:lnSpc>
                <a:spcPts val="2100"/>
              </a:lnSpc>
              <a:spcBef>
                <a:spcPts val="0"/>
              </a:spcBef>
              <a:spcAft>
                <a:spcPts val="0"/>
              </a:spcAft>
            </a:pPr>
            <a:r>
              <a:rPr sz="1750">
                <a:solidFill>
                  <a:srgbClr val="EDF3E6"/>
                </a:solidFill>
                <a:latin typeface="DejaVu Sans Mono"/>
              </a:rPr>
              <a:t>    </a:t>
            </a:r>
            <a:r>
              <a:rPr sz="1750">
                <a:solidFill>
                  <a:srgbClr val="EDF3E6"/>
                </a:solidFill>
                <a:latin typeface="DejaVu Sans Mono"/>
              </a:rPr>
              <a:t>cudaMemcpyDeviceToHost</a:t>
            </a:r>
            <a:r>
              <a:rPr sz="1750">
                <a:solidFill>
                  <a:srgbClr val="EDF3E6"/>
                </a:solidFill>
                <a:latin typeface="DejaVu Sans Mono"/>
              </a:rPr>
              <a:t>,</a:t>
            </a:r>
            <a:r>
              <a:rPr sz="1750">
                <a:solidFill>
                  <a:srgbClr val="EDF3E6"/>
                </a:solidFill>
                <a:latin typeface="DejaVu Sans Mono"/>
              </a:rPr>
              <a:t> </a:t>
            </a:r>
            <a:r>
              <a:rPr sz="1750">
                <a:solidFill>
                  <a:srgbClr val="EDF3E6"/>
                </a:solidFill>
                <a:latin typeface="DejaVu Sans Mono"/>
              </a:rPr>
              <a:t>stream</a:t>
            </a:r>
            <a:r>
              <a:rPr sz="1750">
                <a:solidFill>
                  <a:srgbClr val="EDF3E6"/>
                </a:solidFill>
                <a:latin typeface="DejaVu Sans Mono"/>
              </a:rPr>
              <a:t>)</a:t>
            </a:r>
            <a:r>
              <a:rPr sz="1750">
                <a:solidFill>
                  <a:srgbClr val="EDF3E6"/>
                </a:solidFill>
                <a:latin typeface="DejaVu Sans Mono"/>
              </a:rPr>
              <a:t>)</a:t>
            </a:r>
            <a:r>
              <a:rPr sz="1750">
                <a:solidFill>
                  <a:srgbClr val="EDF3E6"/>
                </a:solidFill>
                <a:latin typeface="DejaVu Sans Mono"/>
              </a:rPr>
              <a:t>;</a:t>
            </a:r>
          </a:p>
          <a:p>
            <a:pPr>
              <a:lnSpc>
                <a:spcPts val="2100"/>
              </a:lnSpc>
              <a:spcBef>
                <a:spcPts val="0"/>
              </a:spcBef>
              <a:spcAft>
                <a:spcPts val="0"/>
              </a:spcAft>
            </a:pPr>
            <a:r>
              <a:rPr sz="1750">
                <a:solidFill>
                  <a:srgbClr val="EDF3E6"/>
                </a:solidFill>
                <a:latin typeface="DejaVu Sans Mono"/>
              </a:rPr>
              <a:t>CUDA_CHECK</a:t>
            </a:r>
            <a:r>
              <a:rPr sz="1750">
                <a:solidFill>
                  <a:srgbClr val="EDF3E6"/>
                </a:solidFill>
                <a:latin typeface="DejaVu Sans Mono"/>
              </a:rPr>
              <a:t>(</a:t>
            </a:r>
            <a:r>
              <a:rPr sz="1750">
                <a:solidFill>
                  <a:srgbClr val="EDF3E6"/>
                </a:solidFill>
                <a:latin typeface="DejaVu Sans Mono"/>
              </a:rPr>
              <a:t>cudaStreamSynchronize</a:t>
            </a:r>
            <a:r>
              <a:rPr sz="1750">
                <a:solidFill>
                  <a:srgbClr val="EDF3E6"/>
                </a:solidFill>
                <a:latin typeface="DejaVu Sans Mono"/>
              </a:rPr>
              <a:t>(</a:t>
            </a:r>
            <a:r>
              <a:rPr sz="1750">
                <a:solidFill>
                  <a:srgbClr val="EDF3E6"/>
                </a:solidFill>
                <a:latin typeface="DejaVu Sans Mono"/>
              </a:rPr>
              <a:t>stream</a:t>
            </a:r>
            <a:r>
              <a:rPr sz="1750">
                <a:solidFill>
                  <a:srgbClr val="EDF3E6"/>
                </a:solidFill>
                <a:latin typeface="DejaVu Sans Mono"/>
              </a:rPr>
              <a:t>)</a:t>
            </a:r>
            <a:r>
              <a:rPr sz="1750">
                <a:solidFill>
                  <a:srgbClr val="EDF3E6"/>
                </a:solidFill>
                <a:latin typeface="DejaVu Sans Mono"/>
              </a:rPr>
              <a:t>)</a:t>
            </a:r>
            <a:r>
              <a:rPr sz="1750">
                <a:solidFill>
                  <a:srgbClr val="EDF3E6"/>
                </a:solidFill>
                <a:latin typeface="DejaVu Sans Mono"/>
              </a:rPr>
              <a:t>;</a:t>
            </a:r>
          </a:p>
        </p:txBody>
      </p:sp>
      <p:sp>
        <p:nvSpPr>
          <p:cNvPr id="11" name="TextBox 10"/>
          <p:cNvSpPr txBox="1"/>
          <p:nvPr/>
        </p:nvSpPr>
        <p:spPr>
          <a:xfrm>
            <a:off x="9189720" y="1856231"/>
            <a:ext cx="228600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ORDERED</a:t>
            </a:r>
          </a:p>
        </p:txBody>
      </p:sp>
      <p:sp>
        <p:nvSpPr>
          <p:cNvPr id="12" name="TextBox 11"/>
          <p:cNvSpPr txBox="1"/>
          <p:nvPr/>
        </p:nvSpPr>
        <p:spPr>
          <a:xfrm>
            <a:off x="9189720" y="2167127"/>
            <a:ext cx="2286000" cy="868680"/>
          </a:xfrm>
          <a:prstGeom prst="rect">
            <a:avLst/>
          </a:prstGeom>
          <a:noFill/>
        </p:spPr>
        <p:txBody>
          <a:bodyPr wrap="square" lIns="0" rIns="0" tIns="0" bIns="0" anchor="t">
            <a:noAutofit/>
          </a:bodyPr>
          <a:lstStyle/>
          <a:p>
            <a:pPr algn="l">
              <a:lnSpc>
                <a:spcPct val="114000"/>
              </a:lnSpc>
              <a:spcBef>
                <a:spcPts val="0"/>
              </a:spcBef>
              <a:spcAft>
                <a:spcPts val="0"/>
              </a:spcAft>
            </a:pPr>
            <a:r>
              <a:rPr sz="1800" b="0">
                <a:solidFill>
                  <a:srgbClr val="121610"/>
                </a:solidFill>
                <a:latin typeface="Inter"/>
              </a:rPr>
              <a:t>Inputs precede</a:t>
            </a:r>
          </a:p>
          <a:p>
            <a:pPr algn="l">
              <a:lnSpc>
                <a:spcPct val="114000"/>
              </a:lnSpc>
              <a:spcBef>
                <a:spcPts val="0"/>
              </a:spcBef>
              <a:spcAft>
                <a:spcPts val="0"/>
              </a:spcAft>
            </a:pPr>
            <a:r>
              <a:rPr sz="1800" b="0">
                <a:solidFill>
                  <a:srgbClr val="121610"/>
                </a:solidFill>
                <a:latin typeface="Inter"/>
              </a:rPr>
              <a:t>the kernel.</a:t>
            </a:r>
          </a:p>
        </p:txBody>
      </p:sp>
      <p:sp>
        <p:nvSpPr>
          <p:cNvPr id="13" name="TextBox 12"/>
          <p:cNvSpPr txBox="1"/>
          <p:nvPr/>
        </p:nvSpPr>
        <p:spPr>
          <a:xfrm>
            <a:off x="9189720" y="3044952"/>
            <a:ext cx="228600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HOST-VISIBLE</a:t>
            </a:r>
          </a:p>
        </p:txBody>
      </p:sp>
      <p:sp>
        <p:nvSpPr>
          <p:cNvPr id="14" name="TextBox 13"/>
          <p:cNvSpPr txBox="1"/>
          <p:nvPr/>
        </p:nvSpPr>
        <p:spPr>
          <a:xfrm>
            <a:off x="9189720" y="3355848"/>
            <a:ext cx="2286000" cy="868680"/>
          </a:xfrm>
          <a:prstGeom prst="rect">
            <a:avLst/>
          </a:prstGeom>
          <a:noFill/>
        </p:spPr>
        <p:txBody>
          <a:bodyPr wrap="square" lIns="0" rIns="0" tIns="0" bIns="0" anchor="t">
            <a:noAutofit/>
          </a:bodyPr>
          <a:lstStyle/>
          <a:p>
            <a:pPr algn="l">
              <a:lnSpc>
                <a:spcPct val="114000"/>
              </a:lnSpc>
              <a:spcBef>
                <a:spcPts val="0"/>
              </a:spcBef>
              <a:spcAft>
                <a:spcPts val="0"/>
              </a:spcAft>
            </a:pPr>
            <a:r>
              <a:rPr sz="1800" b="0">
                <a:solidFill>
                  <a:srgbClr val="121610"/>
                </a:solidFill>
                <a:latin typeface="Inter"/>
              </a:rPr>
              <a:t>The result is ready</a:t>
            </a:r>
          </a:p>
          <a:p>
            <a:pPr algn="l">
              <a:lnSpc>
                <a:spcPct val="114000"/>
              </a:lnSpc>
              <a:spcBef>
                <a:spcPts val="0"/>
              </a:spcBef>
              <a:spcAft>
                <a:spcPts val="0"/>
              </a:spcAft>
            </a:pPr>
            <a:r>
              <a:rPr sz="1800" b="0">
                <a:solidFill>
                  <a:srgbClr val="121610"/>
                </a:solidFill>
                <a:latin typeface="Inter"/>
              </a:rPr>
              <a:t>after the wait.</a:t>
            </a:r>
          </a:p>
        </p:txBody>
      </p:sp>
      <p:sp>
        <p:nvSpPr>
          <p:cNvPr id="15" name="TextBox 14"/>
          <p:cNvSpPr txBox="1"/>
          <p:nvPr/>
        </p:nvSpPr>
        <p:spPr>
          <a:xfrm>
            <a:off x="9189720" y="4233672"/>
            <a:ext cx="228600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NOT PROVEN</a:t>
            </a:r>
          </a:p>
        </p:txBody>
      </p:sp>
      <p:sp>
        <p:nvSpPr>
          <p:cNvPr id="16" name="TextBox 15"/>
          <p:cNvSpPr txBox="1"/>
          <p:nvPr/>
        </p:nvSpPr>
        <p:spPr>
          <a:xfrm>
            <a:off x="9189720" y="4544568"/>
            <a:ext cx="2286000" cy="868680"/>
          </a:xfrm>
          <a:prstGeom prst="rect">
            <a:avLst/>
          </a:prstGeom>
          <a:noFill/>
        </p:spPr>
        <p:txBody>
          <a:bodyPr wrap="square" lIns="0" rIns="0" tIns="0" bIns="0" anchor="t">
            <a:noAutofit/>
          </a:bodyPr>
          <a:lstStyle/>
          <a:p>
            <a:pPr algn="l">
              <a:lnSpc>
                <a:spcPct val="114000"/>
              </a:lnSpc>
              <a:spcBef>
                <a:spcPts val="0"/>
              </a:spcBef>
              <a:spcAft>
                <a:spcPts val="0"/>
              </a:spcAft>
            </a:pPr>
            <a:r>
              <a:rPr sz="1800" b="0">
                <a:solidFill>
                  <a:srgbClr val="121610"/>
                </a:solidFill>
                <a:latin typeface="Inter"/>
              </a:rPr>
              <a:t>Async names alone</a:t>
            </a:r>
          </a:p>
          <a:p>
            <a:pPr algn="l">
              <a:lnSpc>
                <a:spcPct val="114000"/>
              </a:lnSpc>
              <a:spcBef>
                <a:spcPts val="0"/>
              </a:spcBef>
              <a:spcAft>
                <a:spcPts val="0"/>
              </a:spcAft>
            </a:pPr>
            <a:r>
              <a:rPr sz="1800" b="0">
                <a:solidFill>
                  <a:srgbClr val="121610"/>
                </a:solidFill>
                <a:latin typeface="Inter"/>
              </a:rPr>
              <a:t>do not show overlap.</a:t>
            </a:r>
          </a:p>
        </p:txBody>
      </p:sp>
      <p:sp>
        <p:nvSpPr>
          <p:cNvPr id="17" name="Rectangle 16"/>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The wrapper waits before returning the result to its caller.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FIRST CUDA FEATURE</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Resource lifetime is part of correctness</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Course DeviceBuffer and Stream wrappers; guide §2.1.3–2.1.4</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21</a:t>
            </a:r>
          </a:p>
        </p:txBody>
      </p:sp>
      <p:sp>
        <p:nvSpPr>
          <p:cNvPr id="8" name="TextBox 7"/>
          <p:cNvSpPr txBox="1"/>
          <p:nvPr/>
        </p:nvSpPr>
        <p:spPr>
          <a:xfrm>
            <a:off x="731520" y="1865376"/>
            <a:ext cx="1060704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OWN ALLOCATIONS</a:t>
            </a:r>
          </a:p>
        </p:txBody>
      </p:sp>
      <p:sp>
        <p:nvSpPr>
          <p:cNvPr id="9" name="TextBox 8"/>
          <p:cNvSpPr txBox="1"/>
          <p:nvPr/>
        </p:nvSpPr>
        <p:spPr>
          <a:xfrm>
            <a:off x="731520" y="2176272"/>
            <a:ext cx="10607040" cy="877824"/>
          </a:xfrm>
          <a:prstGeom prst="rect">
            <a:avLst/>
          </a:prstGeom>
          <a:noFill/>
        </p:spPr>
        <p:txBody>
          <a:bodyPr wrap="square" lIns="0" rIns="0" tIns="0" bIns="0" anchor="t">
            <a:noAutofit/>
          </a:bodyPr>
          <a:lstStyle/>
          <a:p>
            <a:pPr algn="l">
              <a:lnSpc>
                <a:spcPct val="114000"/>
              </a:lnSpc>
              <a:spcBef>
                <a:spcPts val="0"/>
              </a:spcBef>
              <a:spcAft>
                <a:spcPts val="0"/>
              </a:spcAft>
            </a:pPr>
            <a:r>
              <a:rPr sz="2300" b="0">
                <a:solidFill>
                  <a:srgbClr val="121610"/>
                </a:solidFill>
                <a:latin typeface="Inter"/>
              </a:rPr>
              <a:t>DeviceBuffer owns a device allocation.</a:t>
            </a:r>
          </a:p>
          <a:p>
            <a:pPr algn="l">
              <a:lnSpc>
                <a:spcPct val="114000"/>
              </a:lnSpc>
              <a:spcBef>
                <a:spcPts val="0"/>
              </a:spcBef>
              <a:spcAft>
                <a:spcPts val="0"/>
              </a:spcAft>
            </a:pPr>
            <a:r>
              <a:rPr sz="2300" b="0">
                <a:solidFill>
                  <a:srgbClr val="121610"/>
                </a:solidFill>
                <a:latin typeface="Inter"/>
              </a:rPr>
              <a:t>Stream owns a CUDA stream handle.</a:t>
            </a:r>
          </a:p>
        </p:txBody>
      </p:sp>
      <p:sp>
        <p:nvSpPr>
          <p:cNvPr id="10" name="TextBox 9"/>
          <p:cNvSpPr txBox="1"/>
          <p:nvPr/>
        </p:nvSpPr>
        <p:spPr>
          <a:xfrm>
            <a:off x="731520" y="3063240"/>
            <a:ext cx="1060704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MAKE COMPLETION EXPLICIT</a:t>
            </a:r>
          </a:p>
        </p:txBody>
      </p:sp>
      <p:sp>
        <p:nvSpPr>
          <p:cNvPr id="11" name="TextBox 10"/>
          <p:cNvSpPr txBox="1"/>
          <p:nvPr/>
        </p:nvSpPr>
        <p:spPr>
          <a:xfrm>
            <a:off x="731520" y="3374136"/>
            <a:ext cx="10607040" cy="877824"/>
          </a:xfrm>
          <a:prstGeom prst="rect">
            <a:avLst/>
          </a:prstGeom>
          <a:noFill/>
        </p:spPr>
        <p:txBody>
          <a:bodyPr wrap="square" lIns="0" rIns="0" tIns="0" bIns="0" anchor="t">
            <a:noAutofit/>
          </a:bodyPr>
          <a:lstStyle/>
          <a:p>
            <a:pPr algn="l">
              <a:lnSpc>
                <a:spcPct val="114000"/>
              </a:lnSpc>
              <a:spcBef>
                <a:spcPts val="0"/>
              </a:spcBef>
              <a:spcAft>
                <a:spcPts val="0"/>
              </a:spcAft>
            </a:pPr>
            <a:r>
              <a:rPr sz="2300" b="0">
                <a:solidFill>
                  <a:srgbClr val="121610"/>
                </a:solidFill>
                <a:latin typeface="Inter"/>
              </a:rPr>
              <a:t>The first API returns only when the</a:t>
            </a:r>
          </a:p>
          <a:p>
            <a:pPr algn="l">
              <a:lnSpc>
                <a:spcPct val="114000"/>
              </a:lnSpc>
              <a:spcBef>
                <a:spcPts val="0"/>
              </a:spcBef>
              <a:spcAft>
                <a:spcPts val="0"/>
              </a:spcAft>
            </a:pPr>
            <a:r>
              <a:rPr sz="2300" b="0">
                <a:solidFill>
                  <a:srgbClr val="121610"/>
                </a:solidFill>
                <a:latin typeface="Inter"/>
              </a:rPr>
              <a:t>host-visible output is ready.</a:t>
            </a:r>
          </a:p>
        </p:txBody>
      </p:sp>
      <p:sp>
        <p:nvSpPr>
          <p:cNvPr id="12" name="TextBox 11"/>
          <p:cNvSpPr txBox="1"/>
          <p:nvPr/>
        </p:nvSpPr>
        <p:spPr>
          <a:xfrm>
            <a:off x="731520" y="4261104"/>
            <a:ext cx="1060704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CLEAN UP PREDICTABLY</a:t>
            </a:r>
          </a:p>
        </p:txBody>
      </p:sp>
      <p:sp>
        <p:nvSpPr>
          <p:cNvPr id="13" name="TextBox 12"/>
          <p:cNvSpPr txBox="1"/>
          <p:nvPr/>
        </p:nvSpPr>
        <p:spPr>
          <a:xfrm>
            <a:off x="731520" y="4572000"/>
            <a:ext cx="10607040" cy="877824"/>
          </a:xfrm>
          <a:prstGeom prst="rect">
            <a:avLst/>
          </a:prstGeom>
          <a:noFill/>
        </p:spPr>
        <p:txBody>
          <a:bodyPr wrap="square" lIns="0" rIns="0" tIns="0" bIns="0" anchor="t">
            <a:noAutofit/>
          </a:bodyPr>
          <a:lstStyle/>
          <a:p>
            <a:pPr algn="l">
              <a:lnSpc>
                <a:spcPct val="114000"/>
              </a:lnSpc>
              <a:spcBef>
                <a:spcPts val="0"/>
              </a:spcBef>
              <a:spcAft>
                <a:spcPts val="0"/>
              </a:spcAft>
            </a:pPr>
            <a:r>
              <a:rPr sz="2300" b="0">
                <a:solidFill>
                  <a:srgbClr val="121610"/>
                </a:solidFill>
                <a:latin typeface="Inter"/>
              </a:rPr>
              <a:t>Resource ownership keeps cleanup local</a:t>
            </a:r>
          </a:p>
          <a:p>
            <a:pPr algn="l">
              <a:lnSpc>
                <a:spcPct val="114000"/>
              </a:lnSpc>
              <a:spcBef>
                <a:spcPts val="0"/>
              </a:spcBef>
              <a:spcAft>
                <a:spcPts val="0"/>
              </a:spcAft>
            </a:pPr>
            <a:r>
              <a:rPr sz="2300" b="0">
                <a:solidFill>
                  <a:srgbClr val="121610"/>
                </a:solidFill>
                <a:latin typeface="Inter"/>
              </a:rPr>
              <a:t>to the code that created the resource.</a:t>
            </a:r>
          </a:p>
        </p:txBody>
      </p:sp>
      <p:sp>
        <p:nvSpPr>
          <p:cNvPr id="14" name="Rectangle 13"/>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Do not reuse or release storage while outstanding work still needs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REPOSITORY MAP</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Four layers keep the feature understandable</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Existing Day 1 course map: projects/detailed/gpu; not an NVIDIA repository diagram.</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22</a:t>
            </a:r>
          </a:p>
        </p:txBody>
      </p:sp>
      <p:sp>
        <p:nvSpPr>
          <p:cNvPr id="8" name="Rectangle 7"/>
          <p:cNvSpPr/>
          <p:nvPr/>
        </p:nvSpPr>
        <p:spPr>
          <a:xfrm>
            <a:off x="594360" y="1847088"/>
            <a:ext cx="11009376" cy="347472"/>
          </a:xfrm>
          <a:prstGeom prst="rect">
            <a:avLst/>
          </a:prstGeom>
          <a:solidFill>
            <a:srgbClr val="1216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22376" y="1920240"/>
            <a:ext cx="2203704"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FFFFFF"/>
                </a:solidFill>
                <a:latin typeface="Inter"/>
              </a:rPr>
              <a:t>LAYER</a:t>
            </a:r>
          </a:p>
        </p:txBody>
      </p:sp>
      <p:sp>
        <p:nvSpPr>
          <p:cNvPr id="10" name="TextBox 9"/>
          <p:cNvSpPr txBox="1"/>
          <p:nvPr/>
        </p:nvSpPr>
        <p:spPr>
          <a:xfrm>
            <a:off x="3154680" y="1920240"/>
            <a:ext cx="4407408"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FFFFFF"/>
                </a:solidFill>
                <a:latin typeface="Inter"/>
              </a:rPr>
              <a:t>FILE</a:t>
            </a:r>
          </a:p>
        </p:txBody>
      </p:sp>
      <p:sp>
        <p:nvSpPr>
          <p:cNvPr id="11" name="TextBox 10"/>
          <p:cNvSpPr txBox="1"/>
          <p:nvPr/>
        </p:nvSpPr>
        <p:spPr>
          <a:xfrm>
            <a:off x="7790688" y="1920240"/>
            <a:ext cx="3712463"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FFFFFF"/>
                </a:solidFill>
                <a:latin typeface="Inter"/>
              </a:rPr>
              <a:t>RESPONSIBILITY</a:t>
            </a:r>
          </a:p>
        </p:txBody>
      </p:sp>
      <p:sp>
        <p:nvSpPr>
          <p:cNvPr id="12" name="Rectangle 11"/>
          <p:cNvSpPr/>
          <p:nvPr/>
        </p:nvSpPr>
        <p:spPr>
          <a:xfrm>
            <a:off x="594360" y="2194560"/>
            <a:ext cx="11009376" cy="786384"/>
          </a:xfrm>
          <a:prstGeom prst="rect">
            <a:avLst/>
          </a:prstGeom>
          <a:solidFill>
            <a:srgbClr val="F0F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22376" y="2331720"/>
            <a:ext cx="2185416" cy="603503"/>
          </a:xfrm>
          <a:prstGeom prst="rect">
            <a:avLst/>
          </a:prstGeom>
          <a:noFill/>
        </p:spPr>
        <p:txBody>
          <a:bodyPr wrap="square" lIns="0" rIns="0" tIns="0" bIns="0" anchor="t">
            <a:noAutofit/>
          </a:bodyPr>
          <a:lstStyle/>
          <a:p>
            <a:pPr algn="l">
              <a:lnSpc>
                <a:spcPct val="104000"/>
              </a:lnSpc>
              <a:spcBef>
                <a:spcPts val="0"/>
              </a:spcBef>
              <a:spcAft>
                <a:spcPts val="0"/>
              </a:spcAft>
            </a:pPr>
            <a:r>
              <a:rPr sz="1600" b="1">
                <a:solidFill>
                  <a:srgbClr val="466B00"/>
                </a:solidFill>
                <a:latin typeface="Inter"/>
              </a:rPr>
              <a:t>Public API</a:t>
            </a:r>
          </a:p>
        </p:txBody>
      </p:sp>
      <p:sp>
        <p:nvSpPr>
          <p:cNvPr id="14" name="TextBox 13"/>
          <p:cNvSpPr txBox="1"/>
          <p:nvPr/>
        </p:nvSpPr>
        <p:spPr>
          <a:xfrm>
            <a:off x="3154680" y="2331720"/>
            <a:ext cx="4389120" cy="603503"/>
          </a:xfrm>
          <a:prstGeom prst="rect">
            <a:avLst/>
          </a:prstGeom>
          <a:noFill/>
        </p:spPr>
        <p:txBody>
          <a:bodyPr wrap="square" lIns="0" rIns="0" tIns="0" bIns="0" anchor="t">
            <a:noAutofit/>
          </a:bodyPr>
          <a:lstStyle/>
          <a:p>
            <a:pPr algn="l">
              <a:lnSpc>
                <a:spcPct val="104000"/>
              </a:lnSpc>
              <a:spcBef>
                <a:spcPts val="0"/>
              </a:spcBef>
              <a:spcAft>
                <a:spcPts val="0"/>
              </a:spcAft>
            </a:pPr>
            <a:r>
              <a:rPr sz="1600" b="0">
                <a:solidFill>
                  <a:srgbClr val="121610"/>
                </a:solidFill>
                <a:latin typeface="Inter"/>
              </a:rPr>
              <a:t>gpu/vector_add.h</a:t>
            </a:r>
          </a:p>
        </p:txBody>
      </p:sp>
      <p:sp>
        <p:nvSpPr>
          <p:cNvPr id="15" name="TextBox 14"/>
          <p:cNvSpPr txBox="1"/>
          <p:nvPr/>
        </p:nvSpPr>
        <p:spPr>
          <a:xfrm>
            <a:off x="7790688" y="2331720"/>
            <a:ext cx="3694175" cy="603503"/>
          </a:xfrm>
          <a:prstGeom prst="rect">
            <a:avLst/>
          </a:prstGeom>
          <a:noFill/>
        </p:spPr>
        <p:txBody>
          <a:bodyPr wrap="square" lIns="0" rIns="0" tIns="0" bIns="0" anchor="t">
            <a:noAutofit/>
          </a:bodyPr>
          <a:lstStyle/>
          <a:p>
            <a:pPr algn="l">
              <a:lnSpc>
                <a:spcPct val="104000"/>
              </a:lnSpc>
              <a:spcBef>
                <a:spcPts val="0"/>
              </a:spcBef>
              <a:spcAft>
                <a:spcPts val="0"/>
              </a:spcAft>
            </a:pPr>
            <a:r>
              <a:rPr sz="1600" b="0">
                <a:solidFill>
                  <a:srgbClr val="121610"/>
                </a:solidFill>
                <a:latin typeface="Inter"/>
              </a:rPr>
              <a:t>What the caller requests</a:t>
            </a:r>
          </a:p>
        </p:txBody>
      </p:sp>
      <p:sp>
        <p:nvSpPr>
          <p:cNvPr id="16" name="TextBox 15"/>
          <p:cNvSpPr txBox="1"/>
          <p:nvPr/>
        </p:nvSpPr>
        <p:spPr>
          <a:xfrm>
            <a:off x="722376" y="3118103"/>
            <a:ext cx="2185416" cy="603503"/>
          </a:xfrm>
          <a:prstGeom prst="rect">
            <a:avLst/>
          </a:prstGeom>
          <a:noFill/>
        </p:spPr>
        <p:txBody>
          <a:bodyPr wrap="square" lIns="0" rIns="0" tIns="0" bIns="0" anchor="t">
            <a:noAutofit/>
          </a:bodyPr>
          <a:lstStyle/>
          <a:p>
            <a:pPr algn="l">
              <a:lnSpc>
                <a:spcPct val="104000"/>
              </a:lnSpc>
              <a:spcBef>
                <a:spcPts val="0"/>
              </a:spcBef>
              <a:spcAft>
                <a:spcPts val="0"/>
              </a:spcAft>
            </a:pPr>
            <a:r>
              <a:rPr sz="1600" b="1">
                <a:solidFill>
                  <a:srgbClr val="466B00"/>
                </a:solidFill>
                <a:latin typeface="Inter"/>
              </a:rPr>
              <a:t>Host workflow</a:t>
            </a:r>
          </a:p>
        </p:txBody>
      </p:sp>
      <p:sp>
        <p:nvSpPr>
          <p:cNvPr id="17" name="TextBox 16"/>
          <p:cNvSpPr txBox="1"/>
          <p:nvPr/>
        </p:nvSpPr>
        <p:spPr>
          <a:xfrm>
            <a:off x="3154680" y="3118103"/>
            <a:ext cx="4389120" cy="603503"/>
          </a:xfrm>
          <a:prstGeom prst="rect">
            <a:avLst/>
          </a:prstGeom>
          <a:noFill/>
        </p:spPr>
        <p:txBody>
          <a:bodyPr wrap="square" lIns="0" rIns="0" tIns="0" bIns="0" anchor="t">
            <a:noAutofit/>
          </a:bodyPr>
          <a:lstStyle/>
          <a:p>
            <a:pPr algn="l">
              <a:lnSpc>
                <a:spcPct val="104000"/>
              </a:lnSpc>
              <a:spcBef>
                <a:spcPts val="0"/>
              </a:spcBef>
              <a:spcAft>
                <a:spcPts val="0"/>
              </a:spcAft>
            </a:pPr>
            <a:r>
              <a:rPr sz="1600" b="0">
                <a:solidFill>
                  <a:srgbClr val="121610"/>
                </a:solidFill>
                <a:latin typeface="Inter"/>
              </a:rPr>
              <a:t>gpu/vector_add_cuda.cc</a:t>
            </a:r>
          </a:p>
        </p:txBody>
      </p:sp>
      <p:sp>
        <p:nvSpPr>
          <p:cNvPr id="18" name="TextBox 17"/>
          <p:cNvSpPr txBox="1"/>
          <p:nvPr/>
        </p:nvSpPr>
        <p:spPr>
          <a:xfrm>
            <a:off x="7790688" y="3118103"/>
            <a:ext cx="3694175" cy="603503"/>
          </a:xfrm>
          <a:prstGeom prst="rect">
            <a:avLst/>
          </a:prstGeom>
          <a:noFill/>
        </p:spPr>
        <p:txBody>
          <a:bodyPr wrap="square" lIns="0" rIns="0" tIns="0" bIns="0" anchor="t">
            <a:noAutofit/>
          </a:bodyPr>
          <a:lstStyle/>
          <a:p>
            <a:pPr algn="l">
              <a:lnSpc>
                <a:spcPct val="104000"/>
              </a:lnSpc>
              <a:spcBef>
                <a:spcPts val="0"/>
              </a:spcBef>
              <a:spcAft>
                <a:spcPts val="0"/>
              </a:spcAft>
            </a:pPr>
            <a:r>
              <a:rPr sz="1600" b="0">
                <a:solidFill>
                  <a:srgbClr val="121610"/>
                </a:solidFill>
                <a:latin typeface="Inter"/>
              </a:rPr>
              <a:t>Validation, buffers, transfers</a:t>
            </a:r>
          </a:p>
        </p:txBody>
      </p:sp>
      <p:sp>
        <p:nvSpPr>
          <p:cNvPr id="19" name="Rectangle 18"/>
          <p:cNvSpPr/>
          <p:nvPr/>
        </p:nvSpPr>
        <p:spPr>
          <a:xfrm>
            <a:off x="594360" y="3767328"/>
            <a:ext cx="11009376" cy="786384"/>
          </a:xfrm>
          <a:prstGeom prst="rect">
            <a:avLst/>
          </a:prstGeom>
          <a:solidFill>
            <a:srgbClr val="F0F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3904488"/>
            <a:ext cx="2185416" cy="603503"/>
          </a:xfrm>
          <a:prstGeom prst="rect">
            <a:avLst/>
          </a:prstGeom>
          <a:noFill/>
        </p:spPr>
        <p:txBody>
          <a:bodyPr wrap="square" lIns="0" rIns="0" tIns="0" bIns="0" anchor="t">
            <a:noAutofit/>
          </a:bodyPr>
          <a:lstStyle/>
          <a:p>
            <a:pPr algn="l">
              <a:lnSpc>
                <a:spcPct val="104000"/>
              </a:lnSpc>
              <a:spcBef>
                <a:spcPts val="0"/>
              </a:spcBef>
              <a:spcAft>
                <a:spcPts val="0"/>
              </a:spcAft>
            </a:pPr>
            <a:r>
              <a:rPr sz="1600" b="1">
                <a:solidFill>
                  <a:srgbClr val="466B00"/>
                </a:solidFill>
                <a:latin typeface="Inter"/>
              </a:rPr>
              <a:t>Device computation</a:t>
            </a:r>
          </a:p>
        </p:txBody>
      </p:sp>
      <p:sp>
        <p:nvSpPr>
          <p:cNvPr id="21" name="TextBox 20"/>
          <p:cNvSpPr txBox="1"/>
          <p:nvPr/>
        </p:nvSpPr>
        <p:spPr>
          <a:xfrm>
            <a:off x="3154680" y="3904488"/>
            <a:ext cx="4389120" cy="603503"/>
          </a:xfrm>
          <a:prstGeom prst="rect">
            <a:avLst/>
          </a:prstGeom>
          <a:noFill/>
        </p:spPr>
        <p:txBody>
          <a:bodyPr wrap="square" lIns="0" rIns="0" tIns="0" bIns="0" anchor="t">
            <a:noAutofit/>
          </a:bodyPr>
          <a:lstStyle/>
          <a:p>
            <a:pPr algn="l">
              <a:lnSpc>
                <a:spcPct val="104000"/>
              </a:lnSpc>
              <a:spcBef>
                <a:spcPts val="0"/>
              </a:spcBef>
              <a:spcAft>
                <a:spcPts val="0"/>
              </a:spcAft>
            </a:pPr>
            <a:r>
              <a:rPr sz="1600" b="0">
                <a:solidFill>
                  <a:srgbClr val="121610"/>
                </a:solidFill>
                <a:latin typeface="Inter"/>
              </a:rPr>
              <a:t>gpu/vector_add_device.cu</a:t>
            </a:r>
          </a:p>
        </p:txBody>
      </p:sp>
      <p:sp>
        <p:nvSpPr>
          <p:cNvPr id="22" name="TextBox 21"/>
          <p:cNvSpPr txBox="1"/>
          <p:nvPr/>
        </p:nvSpPr>
        <p:spPr>
          <a:xfrm>
            <a:off x="7790688" y="3904488"/>
            <a:ext cx="3694175" cy="603503"/>
          </a:xfrm>
          <a:prstGeom prst="rect">
            <a:avLst/>
          </a:prstGeom>
          <a:noFill/>
        </p:spPr>
        <p:txBody>
          <a:bodyPr wrap="square" lIns="0" rIns="0" tIns="0" bIns="0" anchor="t">
            <a:noAutofit/>
          </a:bodyPr>
          <a:lstStyle/>
          <a:p>
            <a:pPr algn="l">
              <a:lnSpc>
                <a:spcPct val="104000"/>
              </a:lnSpc>
              <a:spcBef>
                <a:spcPts val="0"/>
              </a:spcBef>
              <a:spcAft>
                <a:spcPts val="0"/>
              </a:spcAft>
            </a:pPr>
            <a:r>
              <a:rPr sz="1600" b="0">
                <a:solidFill>
                  <a:srgbClr val="121610"/>
                </a:solidFill>
                <a:latin typeface="Inter"/>
              </a:rPr>
              <a:t>Indexing, kernel and launch</a:t>
            </a:r>
          </a:p>
        </p:txBody>
      </p:sp>
      <p:sp>
        <p:nvSpPr>
          <p:cNvPr id="23" name="TextBox 22"/>
          <p:cNvSpPr txBox="1"/>
          <p:nvPr/>
        </p:nvSpPr>
        <p:spPr>
          <a:xfrm>
            <a:off x="722376" y="4690872"/>
            <a:ext cx="2185416" cy="603503"/>
          </a:xfrm>
          <a:prstGeom prst="rect">
            <a:avLst/>
          </a:prstGeom>
          <a:noFill/>
        </p:spPr>
        <p:txBody>
          <a:bodyPr wrap="square" lIns="0" rIns="0" tIns="0" bIns="0" anchor="t">
            <a:noAutofit/>
          </a:bodyPr>
          <a:lstStyle/>
          <a:p>
            <a:pPr algn="l">
              <a:lnSpc>
                <a:spcPct val="104000"/>
              </a:lnSpc>
              <a:spcBef>
                <a:spcPts val="0"/>
              </a:spcBef>
              <a:spcAft>
                <a:spcPts val="0"/>
              </a:spcAft>
            </a:pPr>
            <a:r>
              <a:rPr sz="1600" b="1">
                <a:solidFill>
                  <a:srgbClr val="466B00"/>
                </a:solidFill>
                <a:latin typeface="Inter"/>
              </a:rPr>
              <a:t>Evidence</a:t>
            </a:r>
          </a:p>
        </p:txBody>
      </p:sp>
      <p:sp>
        <p:nvSpPr>
          <p:cNvPr id="24" name="TextBox 23"/>
          <p:cNvSpPr txBox="1"/>
          <p:nvPr/>
        </p:nvSpPr>
        <p:spPr>
          <a:xfrm>
            <a:off x="3154680" y="4690872"/>
            <a:ext cx="4389120" cy="603503"/>
          </a:xfrm>
          <a:prstGeom prst="rect">
            <a:avLst/>
          </a:prstGeom>
          <a:noFill/>
        </p:spPr>
        <p:txBody>
          <a:bodyPr wrap="square" lIns="0" rIns="0" tIns="0" bIns="0" anchor="t">
            <a:noAutofit/>
          </a:bodyPr>
          <a:lstStyle/>
          <a:p>
            <a:pPr algn="l">
              <a:lnSpc>
                <a:spcPct val="104000"/>
              </a:lnSpc>
              <a:spcBef>
                <a:spcPts val="0"/>
              </a:spcBef>
              <a:spcAft>
                <a:spcPts val="0"/>
              </a:spcAft>
            </a:pPr>
            <a:r>
              <a:rPr sz="1600" b="0">
                <a:solidFill>
                  <a:srgbClr val="121610"/>
                </a:solidFill>
                <a:latin typeface="Inter"/>
              </a:rPr>
              <a:t>gpu/vector_add_test.cc</a:t>
            </a:r>
          </a:p>
        </p:txBody>
      </p:sp>
      <p:sp>
        <p:nvSpPr>
          <p:cNvPr id="25" name="TextBox 24"/>
          <p:cNvSpPr txBox="1"/>
          <p:nvPr/>
        </p:nvSpPr>
        <p:spPr>
          <a:xfrm>
            <a:off x="7790688" y="4690872"/>
            <a:ext cx="3694175" cy="603503"/>
          </a:xfrm>
          <a:prstGeom prst="rect">
            <a:avLst/>
          </a:prstGeom>
          <a:noFill/>
        </p:spPr>
        <p:txBody>
          <a:bodyPr wrap="square" lIns="0" rIns="0" tIns="0" bIns="0" anchor="t">
            <a:noAutofit/>
          </a:bodyPr>
          <a:lstStyle/>
          <a:p>
            <a:pPr algn="l">
              <a:lnSpc>
                <a:spcPct val="104000"/>
              </a:lnSpc>
              <a:spcBef>
                <a:spcPts val="0"/>
              </a:spcBef>
              <a:spcAft>
                <a:spcPts val="0"/>
              </a:spcAft>
            </a:pPr>
            <a:r>
              <a:rPr sz="1600" b="0">
                <a:solidFill>
                  <a:srgbClr val="121610"/>
                </a:solidFill>
                <a:latin typeface="Inter"/>
              </a:rPr>
              <a:t>Compare every result to the CPU</a:t>
            </a:r>
          </a:p>
        </p:txBody>
      </p:sp>
      <p:sp>
        <p:nvSpPr>
          <p:cNvPr id="26" name="Rectangle 25"/>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BUILD.bazel connects the code layers; it does not define the CUDA execution model.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CORRECTNESS</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Test the boundaries—not only a convenient power of two</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Course test additions; guide bounds checking §2.1.2.3.1 and CPU comparison §2.1.5</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23</a:t>
            </a:r>
          </a:p>
        </p:txBody>
      </p:sp>
      <p:sp>
        <p:nvSpPr>
          <p:cNvPr id="8" name="TextBox 7"/>
          <p:cNvSpPr txBox="1"/>
          <p:nvPr/>
        </p:nvSpPr>
        <p:spPr>
          <a:xfrm>
            <a:off x="676656" y="2011680"/>
            <a:ext cx="10908792" cy="576072"/>
          </a:xfrm>
          <a:prstGeom prst="rect">
            <a:avLst/>
          </a:prstGeom>
          <a:noFill/>
        </p:spPr>
        <p:txBody>
          <a:bodyPr wrap="square" lIns="0" rIns="0" tIns="0" bIns="0" anchor="t">
            <a:noAutofit/>
          </a:bodyPr>
          <a:lstStyle/>
          <a:p>
            <a:pPr algn="l">
              <a:lnSpc>
                <a:spcPct val="114000"/>
              </a:lnSpc>
              <a:spcBef>
                <a:spcPts val="0"/>
              </a:spcBef>
              <a:spcAft>
                <a:spcPts val="0"/>
              </a:spcAft>
            </a:pPr>
            <a:r>
              <a:rPr sz="3100" b="1">
                <a:solidFill>
                  <a:srgbClr val="121610"/>
                </a:solidFill>
                <a:latin typeface="Inter"/>
              </a:rPr>
              <a:t>N = 0, 1, 255, 256, 257, 1,000</a:t>
            </a:r>
          </a:p>
        </p:txBody>
      </p:sp>
      <p:sp>
        <p:nvSpPr>
          <p:cNvPr id="9" name="TextBox 8"/>
          <p:cNvSpPr txBox="1"/>
          <p:nvPr/>
        </p:nvSpPr>
        <p:spPr>
          <a:xfrm>
            <a:off x="758952" y="3081528"/>
            <a:ext cx="1069848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INPUT CONTRACT</a:t>
            </a:r>
          </a:p>
        </p:txBody>
      </p:sp>
      <p:sp>
        <p:nvSpPr>
          <p:cNvPr id="10" name="TextBox 9"/>
          <p:cNvSpPr txBox="1"/>
          <p:nvPr/>
        </p:nvSpPr>
        <p:spPr>
          <a:xfrm>
            <a:off x="758952" y="3392424"/>
            <a:ext cx="10698480" cy="941831"/>
          </a:xfrm>
          <a:prstGeom prst="rect">
            <a:avLst/>
          </a:prstGeom>
          <a:noFill/>
        </p:spPr>
        <p:txBody>
          <a:bodyPr wrap="square" lIns="0" rIns="0" tIns="0" bIns="0" anchor="t">
            <a:noAutofit/>
          </a:bodyPr>
          <a:lstStyle/>
          <a:p>
            <a:pPr algn="l">
              <a:lnSpc>
                <a:spcPct val="114000"/>
              </a:lnSpc>
              <a:spcBef>
                <a:spcPts val="0"/>
              </a:spcBef>
              <a:spcAft>
                <a:spcPts val="0"/>
              </a:spcAft>
            </a:pPr>
            <a:r>
              <a:rPr sz="2300" b="0">
                <a:solidFill>
                  <a:srgbClr val="121610"/>
                </a:solidFill>
                <a:latin typeface="Inter"/>
              </a:rPr>
              <a:t>Reject mismatched sizes.</a:t>
            </a:r>
          </a:p>
          <a:p>
            <a:pPr algn="l">
              <a:lnSpc>
                <a:spcPct val="114000"/>
              </a:lnSpc>
              <a:spcBef>
                <a:spcPts val="0"/>
              </a:spcBef>
              <a:spcAft>
                <a:spcPts val="0"/>
              </a:spcAft>
            </a:pPr>
            <a:r>
              <a:rPr sz="2300" b="0">
                <a:solidFill>
                  <a:srgbClr val="121610"/>
                </a:solidFill>
                <a:latin typeface="Inter"/>
              </a:rPr>
              <a:t>Handle empty inputs explicitly.</a:t>
            </a:r>
          </a:p>
        </p:txBody>
      </p:sp>
      <p:sp>
        <p:nvSpPr>
          <p:cNvPr id="11" name="TextBox 10"/>
          <p:cNvSpPr txBox="1"/>
          <p:nvPr/>
        </p:nvSpPr>
        <p:spPr>
          <a:xfrm>
            <a:off x="758952" y="4343400"/>
            <a:ext cx="1069848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VALUE CONTRACT</a:t>
            </a:r>
          </a:p>
        </p:txBody>
      </p:sp>
      <p:sp>
        <p:nvSpPr>
          <p:cNvPr id="12" name="TextBox 11"/>
          <p:cNvSpPr txBox="1"/>
          <p:nvPr/>
        </p:nvSpPr>
        <p:spPr>
          <a:xfrm>
            <a:off x="758952" y="4654296"/>
            <a:ext cx="10698480" cy="941831"/>
          </a:xfrm>
          <a:prstGeom prst="rect">
            <a:avLst/>
          </a:prstGeom>
          <a:noFill/>
        </p:spPr>
        <p:txBody>
          <a:bodyPr wrap="square" lIns="0" rIns="0" tIns="0" bIns="0" anchor="t">
            <a:noAutofit/>
          </a:bodyPr>
          <a:lstStyle/>
          <a:p>
            <a:pPr algn="l">
              <a:lnSpc>
                <a:spcPct val="114000"/>
              </a:lnSpc>
              <a:spcBef>
                <a:spcPts val="0"/>
              </a:spcBef>
              <a:spcAft>
                <a:spcPts val="0"/>
              </a:spcAft>
            </a:pPr>
            <a:r>
              <a:rPr sz="2300" b="0">
                <a:solidFill>
                  <a:srgbClr val="121610"/>
                </a:solidFill>
                <a:latin typeface="Inter"/>
              </a:rPr>
              <a:t>Use signed and non-integer values.</a:t>
            </a:r>
          </a:p>
          <a:p>
            <a:pPr algn="l">
              <a:lnSpc>
                <a:spcPct val="114000"/>
              </a:lnSpc>
              <a:spcBef>
                <a:spcPts val="0"/>
              </a:spcBef>
              <a:spcAft>
                <a:spcPts val="0"/>
              </a:spcAft>
            </a:pPr>
            <a:r>
              <a:rPr sz="2300" b="0">
                <a:solidFill>
                  <a:srgbClr val="121610"/>
                </a:solidFill>
                <a:latin typeface="Inter"/>
              </a:rPr>
              <a:t>Compare the whole output, not one sample.</a:t>
            </a:r>
          </a:p>
        </p:txBody>
      </p:sp>
      <p:sp>
        <p:nvSpPr>
          <p:cNvPr id="13" name="Rectangle 12"/>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A passing aligned-size test is not evidence that partial blocks are safe.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DEBUGGING</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Check launch submission and execution separately</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Guide §2.1.7.1–2.1.7.2, pp. 35–36 / PDF pp. 53–54; existing diagnostic commands retained.</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24</a:t>
            </a:r>
          </a:p>
        </p:txBody>
      </p:sp>
      <p:sp>
        <p:nvSpPr>
          <p:cNvPr id="8" name="Rectangle 7"/>
          <p:cNvSpPr/>
          <p:nvPr/>
        </p:nvSpPr>
        <p:spPr>
          <a:xfrm>
            <a:off x="594360" y="1837943"/>
            <a:ext cx="10972800" cy="1600200"/>
          </a:xfrm>
          <a:prstGeom prst="rect">
            <a:avLst/>
          </a:prstGeom>
          <a:solidFill>
            <a:srgbClr val="11170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77240" y="1993391"/>
            <a:ext cx="10607040" cy="210312"/>
          </a:xfrm>
          <a:prstGeom prst="rect">
            <a:avLst/>
          </a:prstGeom>
          <a:noFill/>
        </p:spPr>
        <p:txBody>
          <a:bodyPr wrap="square" lIns="0" rIns="0" tIns="0" bIns="0" anchor="t">
            <a:noAutofit/>
          </a:bodyPr>
          <a:lstStyle/>
          <a:p>
            <a:pPr algn="l">
              <a:lnSpc>
                <a:spcPct val="114000"/>
              </a:lnSpc>
              <a:spcBef>
                <a:spcPts val="0"/>
              </a:spcBef>
              <a:spcAft>
                <a:spcPts val="0"/>
              </a:spcAft>
            </a:pPr>
            <a:r>
              <a:rPr sz="900" b="1">
                <a:solidFill>
                  <a:srgbClr val="76B900"/>
                </a:solidFill>
                <a:latin typeface="Inter"/>
              </a:rPr>
              <a:t>TWO ERROR-OBSERVATION POINTS</a:t>
            </a:r>
          </a:p>
        </p:txBody>
      </p:sp>
      <p:sp>
        <p:nvSpPr>
          <p:cNvPr id="10" name="TextBox 9"/>
          <p:cNvSpPr txBox="1"/>
          <p:nvPr/>
        </p:nvSpPr>
        <p:spPr>
          <a:xfrm>
            <a:off x="777240" y="2350008"/>
            <a:ext cx="10607040" cy="960120"/>
          </a:xfrm>
          <a:prstGeom prst="rect">
            <a:avLst/>
          </a:prstGeom>
          <a:noFill/>
        </p:spPr>
        <p:txBody>
          <a:bodyPr wrap="none" lIns="0" rIns="0" tIns="0" bIns="0">
            <a:noAutofit/>
          </a:bodyPr>
          <a:lstStyle/>
          <a:p>
            <a:pPr>
              <a:lnSpc>
                <a:spcPts val="2431"/>
              </a:lnSpc>
              <a:spcBef>
                <a:spcPts val="0"/>
              </a:spcBef>
              <a:spcAft>
                <a:spcPts val="0"/>
              </a:spcAft>
            </a:pPr>
            <a:r>
              <a:rPr sz="2026">
                <a:solidFill>
                  <a:srgbClr val="EDF3E6"/>
                </a:solidFill>
                <a:latin typeface="DejaVu Sans Mono"/>
              </a:rPr>
              <a:t>kernel</a:t>
            </a:r>
            <a:r>
              <a:rPr sz="2026">
                <a:solidFill>
                  <a:srgbClr val="EDF3E6"/>
                </a:solidFill>
                <a:latin typeface="DejaVu Sans Mono"/>
              </a:rPr>
              <a:t>&lt;</a:t>
            </a:r>
            <a:r>
              <a:rPr sz="2026">
                <a:solidFill>
                  <a:srgbClr val="EDF3E6"/>
                </a:solidFill>
                <a:latin typeface="DejaVu Sans Mono"/>
              </a:rPr>
              <a:t>&lt;</a:t>
            </a:r>
            <a:r>
              <a:rPr sz="2026">
                <a:solidFill>
                  <a:srgbClr val="EDF3E6"/>
                </a:solidFill>
                <a:latin typeface="DejaVu Sans Mono"/>
              </a:rPr>
              <a:t>&lt;</a:t>
            </a:r>
            <a:r>
              <a:rPr sz="2026">
                <a:solidFill>
                  <a:srgbClr val="EDF3E6"/>
                </a:solidFill>
                <a:latin typeface="DejaVu Sans Mono"/>
              </a:rPr>
              <a:t>grid</a:t>
            </a:r>
            <a:r>
              <a:rPr sz="2026">
                <a:solidFill>
                  <a:srgbClr val="EDF3E6"/>
                </a:solidFill>
                <a:latin typeface="DejaVu Sans Mono"/>
              </a:rPr>
              <a:t>,</a:t>
            </a:r>
            <a:r>
              <a:rPr sz="2026">
                <a:solidFill>
                  <a:srgbClr val="EDF3E6"/>
                </a:solidFill>
                <a:latin typeface="DejaVu Sans Mono"/>
              </a:rPr>
              <a:t> </a:t>
            </a:r>
            <a:r>
              <a:rPr sz="2026">
                <a:solidFill>
                  <a:srgbClr val="EDF3E6"/>
                </a:solidFill>
                <a:latin typeface="DejaVu Sans Mono"/>
              </a:rPr>
              <a:t>block</a:t>
            </a:r>
            <a:r>
              <a:rPr sz="2026">
                <a:solidFill>
                  <a:srgbClr val="EDF3E6"/>
                </a:solidFill>
                <a:latin typeface="DejaVu Sans Mono"/>
              </a:rPr>
              <a:t>,</a:t>
            </a:r>
            <a:r>
              <a:rPr sz="2026">
                <a:solidFill>
                  <a:srgbClr val="EDF3E6"/>
                </a:solidFill>
                <a:latin typeface="DejaVu Sans Mono"/>
              </a:rPr>
              <a:t> </a:t>
            </a:r>
            <a:r>
              <a:rPr sz="2026">
                <a:solidFill>
                  <a:srgbClr val="C0E579"/>
                </a:solidFill>
                <a:latin typeface="DejaVu Sans Mono"/>
              </a:rPr>
              <a:t>0</a:t>
            </a:r>
            <a:r>
              <a:rPr sz="2026">
                <a:solidFill>
                  <a:srgbClr val="EDF3E6"/>
                </a:solidFill>
                <a:latin typeface="DejaVu Sans Mono"/>
              </a:rPr>
              <a:t>,</a:t>
            </a:r>
            <a:r>
              <a:rPr sz="2026">
                <a:solidFill>
                  <a:srgbClr val="EDF3E6"/>
                </a:solidFill>
                <a:latin typeface="DejaVu Sans Mono"/>
              </a:rPr>
              <a:t> </a:t>
            </a:r>
            <a:r>
              <a:rPr sz="2026">
                <a:solidFill>
                  <a:srgbClr val="EDF3E6"/>
                </a:solidFill>
                <a:latin typeface="DejaVu Sans Mono"/>
              </a:rPr>
              <a:t>stream</a:t>
            </a:r>
            <a:r>
              <a:rPr sz="2026">
                <a:solidFill>
                  <a:srgbClr val="EDF3E6"/>
                </a:solidFill>
                <a:latin typeface="DejaVu Sans Mono"/>
              </a:rPr>
              <a:t>&gt;</a:t>
            </a:r>
            <a:r>
              <a:rPr sz="2026">
                <a:solidFill>
                  <a:srgbClr val="EDF3E6"/>
                </a:solidFill>
                <a:latin typeface="DejaVu Sans Mono"/>
              </a:rPr>
              <a:t>&gt;</a:t>
            </a:r>
            <a:r>
              <a:rPr sz="2026">
                <a:solidFill>
                  <a:srgbClr val="EDF3E6"/>
                </a:solidFill>
                <a:latin typeface="DejaVu Sans Mono"/>
              </a:rPr>
              <a:t>&gt;</a:t>
            </a:r>
            <a:r>
              <a:rPr sz="2026">
                <a:solidFill>
                  <a:srgbClr val="EDF3E6"/>
                </a:solidFill>
                <a:latin typeface="DejaVu Sans Mono"/>
              </a:rPr>
              <a:t>(</a:t>
            </a:r>
            <a:r>
              <a:rPr sz="2026">
                <a:solidFill>
                  <a:srgbClr val="EDF3E6"/>
                </a:solidFill>
                <a:latin typeface="DejaVu Sans Mono"/>
              </a:rPr>
              <a:t>.</a:t>
            </a:r>
            <a:r>
              <a:rPr sz="2026">
                <a:solidFill>
                  <a:srgbClr val="EDF3E6"/>
                </a:solidFill>
                <a:latin typeface="DejaVu Sans Mono"/>
              </a:rPr>
              <a:t>.</a:t>
            </a:r>
            <a:r>
              <a:rPr sz="2026">
                <a:solidFill>
                  <a:srgbClr val="EDF3E6"/>
                </a:solidFill>
                <a:latin typeface="DejaVu Sans Mono"/>
              </a:rPr>
              <a:t>.</a:t>
            </a:r>
            <a:r>
              <a:rPr sz="2026">
                <a:solidFill>
                  <a:srgbClr val="EDF3E6"/>
                </a:solidFill>
                <a:latin typeface="DejaVu Sans Mono"/>
              </a:rPr>
              <a:t>)</a:t>
            </a:r>
            <a:r>
              <a:rPr sz="2026">
                <a:solidFill>
                  <a:srgbClr val="EDF3E6"/>
                </a:solidFill>
                <a:latin typeface="DejaVu Sans Mono"/>
              </a:rPr>
              <a:t>;</a:t>
            </a:r>
          </a:p>
          <a:p>
            <a:pPr>
              <a:lnSpc>
                <a:spcPts val="2431"/>
              </a:lnSpc>
              <a:spcBef>
                <a:spcPts val="0"/>
              </a:spcBef>
              <a:spcAft>
                <a:spcPts val="0"/>
              </a:spcAft>
            </a:pPr>
            <a:r>
              <a:rPr sz="2026">
                <a:solidFill>
                  <a:srgbClr val="EDF3E6"/>
                </a:solidFill>
                <a:latin typeface="DejaVu Sans Mono"/>
              </a:rPr>
              <a:t>CUDA_CHECK</a:t>
            </a:r>
            <a:r>
              <a:rPr sz="2026">
                <a:solidFill>
                  <a:srgbClr val="EDF3E6"/>
                </a:solidFill>
                <a:latin typeface="DejaVu Sans Mono"/>
              </a:rPr>
              <a:t>(</a:t>
            </a:r>
            <a:r>
              <a:rPr sz="2026">
                <a:solidFill>
                  <a:srgbClr val="EDF3E6"/>
                </a:solidFill>
                <a:latin typeface="DejaVu Sans Mono"/>
              </a:rPr>
              <a:t>cudaGetLastError</a:t>
            </a:r>
            <a:r>
              <a:rPr sz="2026">
                <a:solidFill>
                  <a:srgbClr val="EDF3E6"/>
                </a:solidFill>
                <a:latin typeface="DejaVu Sans Mono"/>
              </a:rPr>
              <a:t>(</a:t>
            </a:r>
            <a:r>
              <a:rPr sz="2026">
                <a:solidFill>
                  <a:srgbClr val="EDF3E6"/>
                </a:solidFill>
                <a:latin typeface="DejaVu Sans Mono"/>
              </a:rPr>
              <a:t>)</a:t>
            </a:r>
            <a:r>
              <a:rPr sz="2026">
                <a:solidFill>
                  <a:srgbClr val="EDF3E6"/>
                </a:solidFill>
                <a:latin typeface="DejaVu Sans Mono"/>
              </a:rPr>
              <a:t>)</a:t>
            </a:r>
            <a:r>
              <a:rPr sz="2026">
                <a:solidFill>
                  <a:srgbClr val="EDF3E6"/>
                </a:solidFill>
                <a:latin typeface="DejaVu Sans Mono"/>
              </a:rPr>
              <a:t>;</a:t>
            </a:r>
          </a:p>
          <a:p>
            <a:pPr>
              <a:lnSpc>
                <a:spcPts val="2431"/>
              </a:lnSpc>
              <a:spcBef>
                <a:spcPts val="0"/>
              </a:spcBef>
              <a:spcAft>
                <a:spcPts val="0"/>
              </a:spcAft>
            </a:pPr>
            <a:r>
              <a:rPr sz="2026">
                <a:solidFill>
                  <a:srgbClr val="EDF3E6"/>
                </a:solidFill>
                <a:latin typeface="DejaVu Sans Mono"/>
              </a:rPr>
              <a:t>CUDA_CHECK</a:t>
            </a:r>
            <a:r>
              <a:rPr sz="2026">
                <a:solidFill>
                  <a:srgbClr val="EDF3E6"/>
                </a:solidFill>
                <a:latin typeface="DejaVu Sans Mono"/>
              </a:rPr>
              <a:t>(</a:t>
            </a:r>
            <a:r>
              <a:rPr sz="2026">
                <a:solidFill>
                  <a:srgbClr val="EDF3E6"/>
                </a:solidFill>
                <a:latin typeface="DejaVu Sans Mono"/>
              </a:rPr>
              <a:t>cudaStreamSynchronize</a:t>
            </a:r>
            <a:r>
              <a:rPr sz="2026">
                <a:solidFill>
                  <a:srgbClr val="EDF3E6"/>
                </a:solidFill>
                <a:latin typeface="DejaVu Sans Mono"/>
              </a:rPr>
              <a:t>(</a:t>
            </a:r>
            <a:r>
              <a:rPr sz="2026">
                <a:solidFill>
                  <a:srgbClr val="EDF3E6"/>
                </a:solidFill>
                <a:latin typeface="DejaVu Sans Mono"/>
              </a:rPr>
              <a:t>stream</a:t>
            </a:r>
            <a:r>
              <a:rPr sz="2026">
                <a:solidFill>
                  <a:srgbClr val="EDF3E6"/>
                </a:solidFill>
                <a:latin typeface="DejaVu Sans Mono"/>
              </a:rPr>
              <a:t>)</a:t>
            </a:r>
            <a:r>
              <a:rPr sz="2026">
                <a:solidFill>
                  <a:srgbClr val="EDF3E6"/>
                </a:solidFill>
                <a:latin typeface="DejaVu Sans Mono"/>
              </a:rPr>
              <a:t>)</a:t>
            </a:r>
            <a:r>
              <a:rPr sz="2026">
                <a:solidFill>
                  <a:srgbClr val="EDF3E6"/>
                </a:solidFill>
                <a:latin typeface="DejaVu Sans Mono"/>
              </a:rPr>
              <a:t>;</a:t>
            </a:r>
          </a:p>
        </p:txBody>
      </p:sp>
      <p:sp>
        <p:nvSpPr>
          <p:cNvPr id="11" name="TextBox 10"/>
          <p:cNvSpPr txBox="1"/>
          <p:nvPr/>
        </p:nvSpPr>
        <p:spPr>
          <a:xfrm>
            <a:off x="740664" y="3730752"/>
            <a:ext cx="10744200" cy="438912"/>
          </a:xfrm>
          <a:prstGeom prst="rect">
            <a:avLst/>
          </a:prstGeom>
          <a:noFill/>
        </p:spPr>
        <p:txBody>
          <a:bodyPr wrap="square" lIns="0" rIns="0" tIns="0" bIns="0" anchor="t">
            <a:noAutofit/>
          </a:bodyPr>
          <a:lstStyle/>
          <a:p>
            <a:pPr algn="l">
              <a:lnSpc>
                <a:spcPct val="114000"/>
              </a:lnSpc>
              <a:spcBef>
                <a:spcPts val="0"/>
              </a:spcBef>
              <a:spcAft>
                <a:spcPts val="0"/>
              </a:spcAft>
            </a:pPr>
            <a:r>
              <a:rPr sz="2500" b="1">
                <a:solidFill>
                  <a:srgbClr val="121610"/>
                </a:solidFill>
                <a:latin typeface="Inter"/>
              </a:rPr>
              <a:t>Launch accepted ≠ kernel completed successfully</a:t>
            </a:r>
          </a:p>
        </p:txBody>
      </p:sp>
      <p:sp>
        <p:nvSpPr>
          <p:cNvPr id="12" name="Rectangle 11"/>
          <p:cNvSpPr/>
          <p:nvPr/>
        </p:nvSpPr>
        <p:spPr>
          <a:xfrm>
            <a:off x="603504" y="4343400"/>
            <a:ext cx="10972800" cy="1261872"/>
          </a:xfrm>
          <a:prstGeom prst="rect">
            <a:avLst/>
          </a:prstGeom>
          <a:solidFill>
            <a:srgbClr val="11170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86384" y="4498848"/>
            <a:ext cx="10607040" cy="210312"/>
          </a:xfrm>
          <a:prstGeom prst="rect">
            <a:avLst/>
          </a:prstGeom>
          <a:noFill/>
        </p:spPr>
        <p:txBody>
          <a:bodyPr wrap="square" lIns="0" rIns="0" tIns="0" bIns="0" anchor="t">
            <a:noAutofit/>
          </a:bodyPr>
          <a:lstStyle/>
          <a:p>
            <a:pPr algn="l">
              <a:lnSpc>
                <a:spcPct val="114000"/>
              </a:lnSpc>
              <a:spcBef>
                <a:spcPts val="0"/>
              </a:spcBef>
              <a:spcAft>
                <a:spcPts val="0"/>
              </a:spcAft>
            </a:pPr>
            <a:r>
              <a:rPr sz="900" b="1">
                <a:solidFill>
                  <a:srgbClr val="76B900"/>
                </a:solidFill>
                <a:latin typeface="Inter"/>
              </a:rPr>
              <a:t>RETAINED COURSE TOOLING · NOT A PERFORMANCE RUN</a:t>
            </a:r>
          </a:p>
        </p:txBody>
      </p:sp>
      <p:sp>
        <p:nvSpPr>
          <p:cNvPr id="14" name="TextBox 13"/>
          <p:cNvSpPr txBox="1"/>
          <p:nvPr/>
        </p:nvSpPr>
        <p:spPr>
          <a:xfrm>
            <a:off x="786384" y="4855464"/>
            <a:ext cx="10607040" cy="621792"/>
          </a:xfrm>
          <a:prstGeom prst="rect">
            <a:avLst/>
          </a:prstGeom>
          <a:noFill/>
        </p:spPr>
        <p:txBody>
          <a:bodyPr wrap="none" lIns="0" rIns="0" tIns="0" bIns="0">
            <a:noAutofit/>
          </a:bodyPr>
          <a:lstStyle/>
          <a:p>
            <a:pPr>
              <a:lnSpc>
                <a:spcPts val="1800"/>
              </a:lnSpc>
              <a:spcBef>
                <a:spcPts val="0"/>
              </a:spcBef>
              <a:spcAft>
                <a:spcPts val="0"/>
              </a:spcAft>
            </a:pPr>
            <a:r>
              <a:rPr sz="1500">
                <a:solidFill>
                  <a:srgbClr val="EDF3E6"/>
                </a:solidFill>
                <a:latin typeface="DejaVu Sans Mono"/>
              </a:rPr>
              <a:t>compute-sanitizer</a:t>
            </a:r>
            <a:r>
              <a:rPr sz="1500">
                <a:solidFill>
                  <a:srgbClr val="EDF3E6"/>
                </a:solidFill>
                <a:latin typeface="DejaVu Sans Mono"/>
              </a:rPr>
              <a:t> </a:t>
            </a:r>
            <a:r>
              <a:rPr sz="1500">
                <a:solidFill>
                  <a:srgbClr val="EDF3E6"/>
                </a:solidFill>
                <a:latin typeface="DejaVu Sans Mono"/>
              </a:rPr>
              <a:t>--tool</a:t>
            </a:r>
            <a:r>
              <a:rPr sz="1500">
                <a:solidFill>
                  <a:srgbClr val="EDF3E6"/>
                </a:solidFill>
                <a:latin typeface="DejaVu Sans Mono"/>
              </a:rPr>
              <a:t> </a:t>
            </a:r>
            <a:r>
              <a:rPr sz="1500">
                <a:solidFill>
                  <a:srgbClr val="EDF3E6"/>
                </a:solidFill>
                <a:latin typeface="DejaVu Sans Mono"/>
              </a:rPr>
              <a:t>memcheck</a:t>
            </a:r>
            <a:r>
              <a:rPr sz="1500">
                <a:solidFill>
                  <a:srgbClr val="EDF3E6"/>
                </a:solidFill>
                <a:latin typeface="DejaVu Sans Mono"/>
              </a:rPr>
              <a:t> </a:t>
            </a:r>
            <a:r>
              <a:rPr sz="1500">
                <a:solidFill>
                  <a:srgbClr val="EDF3E6"/>
                </a:solidFill>
                <a:latin typeface="DejaVu Sans Mono"/>
              </a:rPr>
              <a:t>&lt;</a:t>
            </a:r>
            <a:r>
              <a:rPr sz="1500">
                <a:solidFill>
                  <a:srgbClr val="EDF3E6"/>
                </a:solidFill>
                <a:latin typeface="DejaVu Sans Mono"/>
              </a:rPr>
              <a:t>binary&gt;</a:t>
            </a:r>
          </a:p>
          <a:p>
            <a:pPr>
              <a:lnSpc>
                <a:spcPts val="1800"/>
              </a:lnSpc>
              <a:spcBef>
                <a:spcPts val="0"/>
              </a:spcBef>
              <a:spcAft>
                <a:spcPts val="0"/>
              </a:spcAft>
            </a:pPr>
            <a:r>
              <a:rPr sz="1500">
                <a:solidFill>
                  <a:srgbClr val="EDF3E6"/>
                </a:solidFill>
                <a:latin typeface="DejaVu Sans Mono"/>
              </a:rPr>
              <a:t>compute-sanitizer</a:t>
            </a:r>
            <a:r>
              <a:rPr sz="1500">
                <a:solidFill>
                  <a:srgbClr val="EDF3E6"/>
                </a:solidFill>
                <a:latin typeface="DejaVu Sans Mono"/>
              </a:rPr>
              <a:t> </a:t>
            </a:r>
            <a:r>
              <a:rPr sz="1500">
                <a:solidFill>
                  <a:srgbClr val="EDF3E6"/>
                </a:solidFill>
                <a:latin typeface="DejaVu Sans Mono"/>
              </a:rPr>
              <a:t>--tool</a:t>
            </a:r>
            <a:r>
              <a:rPr sz="1500">
                <a:solidFill>
                  <a:srgbClr val="EDF3E6"/>
                </a:solidFill>
                <a:latin typeface="DejaVu Sans Mono"/>
              </a:rPr>
              <a:t> </a:t>
            </a:r>
            <a:r>
              <a:rPr sz="1500">
                <a:solidFill>
                  <a:srgbClr val="EDF3E6"/>
                </a:solidFill>
                <a:latin typeface="DejaVu Sans Mono"/>
              </a:rPr>
              <a:t>racecheck</a:t>
            </a:r>
            <a:r>
              <a:rPr sz="1500">
                <a:solidFill>
                  <a:srgbClr val="EDF3E6"/>
                </a:solidFill>
                <a:latin typeface="DejaVu Sans Mono"/>
              </a:rPr>
              <a:t> </a:t>
            </a:r>
            <a:r>
              <a:rPr sz="1500">
                <a:solidFill>
                  <a:srgbClr val="EDF3E6"/>
                </a:solidFill>
                <a:latin typeface="DejaVu Sans Mono"/>
              </a:rPr>
              <a:t>&lt;</a:t>
            </a:r>
            <a:r>
              <a:rPr sz="1500">
                <a:solidFill>
                  <a:srgbClr val="EDF3E6"/>
                </a:solidFill>
                <a:latin typeface="DejaVu Sans Mono"/>
              </a:rPr>
              <a:t>binary&gt;</a:t>
            </a:r>
          </a:p>
        </p:txBody>
      </p:sp>
      <p:sp>
        <p:nvSpPr>
          <p:cNvPr id="15" name="Rectangle 14"/>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Check errors close to the operation, then check the completion point.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55-MINUTE LAB</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Lab 2 · Implement, test, then explain the first kernel</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Existing exercise module; guide §2.1 supplies the CUDA concepts, not the Bazel target names.</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25</a:t>
            </a:r>
          </a:p>
        </p:txBody>
      </p:sp>
      <p:sp>
        <p:nvSpPr>
          <p:cNvPr id="8" name="Rectangle 7"/>
          <p:cNvSpPr/>
          <p:nvPr/>
        </p:nvSpPr>
        <p:spPr>
          <a:xfrm>
            <a:off x="521207" y="1773936"/>
            <a:ext cx="3090672" cy="283464"/>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30936" y="1833372"/>
            <a:ext cx="2907791" cy="182880"/>
          </a:xfrm>
          <a:prstGeom prst="rect">
            <a:avLst/>
          </a:prstGeom>
          <a:noFill/>
        </p:spPr>
        <p:txBody>
          <a:bodyPr wrap="square" lIns="0" rIns="0" tIns="0" bIns="0" anchor="t">
            <a:noAutofit/>
          </a:bodyPr>
          <a:lstStyle/>
          <a:p>
            <a:pPr algn="l">
              <a:lnSpc>
                <a:spcPct val="114000"/>
              </a:lnSpc>
              <a:spcBef>
                <a:spcPts val="0"/>
              </a:spcBef>
              <a:spcAft>
                <a:spcPts val="0"/>
              </a:spcAft>
            </a:pPr>
            <a:r>
              <a:rPr sz="950" b="1">
                <a:solidFill>
                  <a:srgbClr val="4C7000"/>
                </a:solidFill>
                <a:latin typeface="Inter"/>
              </a:rPr>
              <a:t>HANDS-ON / COURSE EXERCISE</a:t>
            </a:r>
          </a:p>
        </p:txBody>
      </p:sp>
      <p:sp>
        <p:nvSpPr>
          <p:cNvPr id="10" name="Rectangle 9"/>
          <p:cNvSpPr/>
          <p:nvPr/>
        </p:nvSpPr>
        <p:spPr>
          <a:xfrm>
            <a:off x="521207" y="2286000"/>
            <a:ext cx="7406640" cy="2414016"/>
          </a:xfrm>
          <a:prstGeom prst="rect">
            <a:avLst/>
          </a:prstGeom>
          <a:solidFill>
            <a:srgbClr val="11170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04088" y="2441448"/>
            <a:ext cx="7040879" cy="210312"/>
          </a:xfrm>
          <a:prstGeom prst="rect">
            <a:avLst/>
          </a:prstGeom>
          <a:noFill/>
        </p:spPr>
        <p:txBody>
          <a:bodyPr wrap="square" lIns="0" rIns="0" tIns="0" bIns="0" anchor="t">
            <a:noAutofit/>
          </a:bodyPr>
          <a:lstStyle/>
          <a:p>
            <a:pPr algn="l">
              <a:lnSpc>
                <a:spcPct val="114000"/>
              </a:lnSpc>
              <a:spcBef>
                <a:spcPts val="0"/>
              </a:spcBef>
              <a:spcAft>
                <a:spcPts val="0"/>
              </a:spcAft>
            </a:pPr>
            <a:r>
              <a:rPr sz="900" b="1">
                <a:solidFill>
                  <a:srgbClr val="76B900"/>
                </a:solidFill>
                <a:latin typeface="Inter"/>
              </a:rPr>
              <a:t>RUN FROM THE MODULE SHOWN</a:t>
            </a:r>
          </a:p>
        </p:txBody>
      </p:sp>
      <p:sp>
        <p:nvSpPr>
          <p:cNvPr id="12" name="TextBox 11"/>
          <p:cNvSpPr txBox="1"/>
          <p:nvPr/>
        </p:nvSpPr>
        <p:spPr>
          <a:xfrm>
            <a:off x="704088" y="2798064"/>
            <a:ext cx="7040879" cy="1773936"/>
          </a:xfrm>
          <a:prstGeom prst="rect">
            <a:avLst/>
          </a:prstGeom>
          <a:noFill/>
        </p:spPr>
        <p:txBody>
          <a:bodyPr wrap="none" lIns="0" rIns="0" tIns="0" bIns="0">
            <a:noAutofit/>
          </a:bodyPr>
          <a:lstStyle/>
          <a:p>
            <a:pPr>
              <a:lnSpc>
                <a:spcPts val="2039"/>
              </a:lnSpc>
              <a:spcBef>
                <a:spcPts val="0"/>
              </a:spcBef>
              <a:spcAft>
                <a:spcPts val="0"/>
              </a:spcAft>
            </a:pPr>
            <a:r>
              <a:rPr sz="1700">
                <a:solidFill>
                  <a:srgbClr val="EDF3E6"/>
                </a:solidFill>
                <a:latin typeface="DejaVu Sans Mono"/>
              </a:rPr>
              <a:t>cd</a:t>
            </a:r>
            <a:r>
              <a:rPr sz="1700">
                <a:solidFill>
                  <a:srgbClr val="EDF3E6"/>
                </a:solidFill>
                <a:latin typeface="DejaVu Sans Mono"/>
              </a:rPr>
              <a:t> </a:t>
            </a:r>
            <a:r>
              <a:rPr sz="1700">
                <a:solidFill>
                  <a:srgbClr val="EDF3E6"/>
                </a:solidFill>
                <a:latin typeface="DejaVu Sans Mono"/>
              </a:rPr>
              <a:t>formation/tp/day1/ex04_cuda_vector_add</a:t>
            </a:r>
          </a:p>
          <a:p>
            <a:pPr>
              <a:lnSpc>
                <a:spcPts val="2039"/>
              </a:lnSpc>
              <a:spcBef>
                <a:spcPts val="0"/>
              </a:spcBef>
              <a:spcAft>
                <a:spcPts val="0"/>
              </a:spcAft>
            </a:pPr>
            <a:r>
              <a:rPr sz="1700">
                <a:solidFill>
                  <a:srgbClr val="EDF3E6"/>
                </a:solidFill>
                <a:latin typeface="DejaVu Sans Mono"/>
              </a:rPr>
              <a:t>bazel</a:t>
            </a:r>
            <a:r>
              <a:rPr sz="1700">
                <a:solidFill>
                  <a:srgbClr val="EDF3E6"/>
                </a:solidFill>
                <a:latin typeface="DejaVu Sans Mono"/>
              </a:rPr>
              <a:t> </a:t>
            </a:r>
            <a:r>
              <a:rPr sz="1700">
                <a:solidFill>
                  <a:srgbClr val="EDF3E6"/>
                </a:solidFill>
                <a:latin typeface="DejaVu Sans Mono"/>
              </a:rPr>
              <a:t>build</a:t>
            </a:r>
            <a:r>
              <a:rPr sz="1700">
                <a:solidFill>
                  <a:srgbClr val="EDF3E6"/>
                </a:solidFill>
                <a:latin typeface="DejaVu Sans Mono"/>
              </a:rPr>
              <a:t> </a:t>
            </a:r>
            <a:r>
              <a:rPr sz="1700">
                <a:solidFill>
                  <a:srgbClr val="EDF3E6"/>
                </a:solidFill>
                <a:latin typeface="DejaVu Sans Mono"/>
              </a:rPr>
              <a:t>//...</a:t>
            </a:r>
          </a:p>
          <a:p>
            <a:pPr>
              <a:lnSpc>
                <a:spcPts val="2039"/>
              </a:lnSpc>
              <a:spcBef>
                <a:spcPts val="0"/>
              </a:spcBef>
              <a:spcAft>
                <a:spcPts val="0"/>
              </a:spcAft>
            </a:pPr>
            <a:r>
              <a:rPr sz="1700">
                <a:solidFill>
                  <a:srgbClr val="EDF3E6"/>
                </a:solidFill>
                <a:latin typeface="DejaVu Sans Mono"/>
              </a:rPr>
              <a:t>bazel</a:t>
            </a:r>
            <a:r>
              <a:rPr sz="1700">
                <a:solidFill>
                  <a:srgbClr val="EDF3E6"/>
                </a:solidFill>
                <a:latin typeface="DejaVu Sans Mono"/>
              </a:rPr>
              <a:t> </a:t>
            </a:r>
            <a:r>
              <a:rPr sz="1700">
                <a:solidFill>
                  <a:srgbClr val="EDF3E6"/>
                </a:solidFill>
                <a:latin typeface="DejaVu Sans Mono"/>
              </a:rPr>
              <a:t>test</a:t>
            </a:r>
            <a:r>
              <a:rPr sz="1700">
                <a:solidFill>
                  <a:srgbClr val="EDF3E6"/>
                </a:solidFill>
                <a:latin typeface="DejaVu Sans Mono"/>
              </a:rPr>
              <a:t> </a:t>
            </a:r>
            <a:r>
              <a:rPr sz="1700">
                <a:solidFill>
                  <a:srgbClr val="EDF3E6"/>
                </a:solidFill>
                <a:latin typeface="DejaVu Sans Mono"/>
              </a:rPr>
              <a:t>//src:vector_add_test</a:t>
            </a:r>
          </a:p>
        </p:txBody>
      </p:sp>
      <p:sp>
        <p:nvSpPr>
          <p:cNvPr id="13" name="TextBox 12"/>
          <p:cNvSpPr txBox="1"/>
          <p:nvPr/>
        </p:nvSpPr>
        <p:spPr>
          <a:xfrm>
            <a:off x="8339327" y="1938528"/>
            <a:ext cx="320040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IMPLEMENT</a:t>
            </a:r>
          </a:p>
        </p:txBody>
      </p:sp>
      <p:sp>
        <p:nvSpPr>
          <p:cNvPr id="14" name="TextBox 13"/>
          <p:cNvSpPr txBox="1"/>
          <p:nvPr/>
        </p:nvSpPr>
        <p:spPr>
          <a:xfrm>
            <a:off x="8339327" y="2249424"/>
            <a:ext cx="3200400" cy="704088"/>
          </a:xfrm>
          <a:prstGeom prst="rect">
            <a:avLst/>
          </a:prstGeom>
          <a:noFill/>
        </p:spPr>
        <p:txBody>
          <a:bodyPr wrap="square" lIns="0" rIns="0" tIns="0" bIns="0" anchor="t">
            <a:noAutofit/>
          </a:bodyPr>
          <a:lstStyle/>
          <a:p>
            <a:pPr algn="l">
              <a:lnSpc>
                <a:spcPct val="114000"/>
              </a:lnSpc>
              <a:spcBef>
                <a:spcPts val="0"/>
              </a:spcBef>
              <a:spcAft>
                <a:spcPts val="0"/>
              </a:spcAft>
            </a:pPr>
            <a:r>
              <a:rPr sz="1900" b="0">
                <a:solidFill>
                  <a:srgbClr val="121610"/>
                </a:solidFill>
                <a:latin typeface="Inter"/>
              </a:rPr>
              <a:t>Finish the starter TODOs.</a:t>
            </a:r>
          </a:p>
        </p:txBody>
      </p:sp>
      <p:sp>
        <p:nvSpPr>
          <p:cNvPr id="15" name="TextBox 14"/>
          <p:cNvSpPr txBox="1"/>
          <p:nvPr/>
        </p:nvSpPr>
        <p:spPr>
          <a:xfrm>
            <a:off x="8339327" y="2962656"/>
            <a:ext cx="320040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VERIFY</a:t>
            </a:r>
          </a:p>
        </p:txBody>
      </p:sp>
      <p:sp>
        <p:nvSpPr>
          <p:cNvPr id="16" name="TextBox 15"/>
          <p:cNvSpPr txBox="1"/>
          <p:nvPr/>
        </p:nvSpPr>
        <p:spPr>
          <a:xfrm>
            <a:off x="8339327" y="3273552"/>
            <a:ext cx="3200400" cy="704088"/>
          </a:xfrm>
          <a:prstGeom prst="rect">
            <a:avLst/>
          </a:prstGeom>
          <a:noFill/>
        </p:spPr>
        <p:txBody>
          <a:bodyPr wrap="square" lIns="0" rIns="0" tIns="0" bIns="0" anchor="t">
            <a:noAutofit/>
          </a:bodyPr>
          <a:lstStyle/>
          <a:p>
            <a:pPr algn="l">
              <a:lnSpc>
                <a:spcPct val="114000"/>
              </a:lnSpc>
              <a:spcBef>
                <a:spcPts val="0"/>
              </a:spcBef>
              <a:spcAft>
                <a:spcPts val="0"/>
              </a:spcAft>
            </a:pPr>
            <a:r>
              <a:rPr sz="1900" b="0">
                <a:solidFill>
                  <a:srgbClr val="121610"/>
                </a:solidFill>
                <a:latin typeface="Inter"/>
              </a:rPr>
              <a:t>Add boundary cases.</a:t>
            </a:r>
          </a:p>
        </p:txBody>
      </p:sp>
      <p:sp>
        <p:nvSpPr>
          <p:cNvPr id="17" name="TextBox 16"/>
          <p:cNvSpPr txBox="1"/>
          <p:nvPr/>
        </p:nvSpPr>
        <p:spPr>
          <a:xfrm>
            <a:off x="8339327" y="3986784"/>
            <a:ext cx="320040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EXPLAIN</a:t>
            </a:r>
          </a:p>
        </p:txBody>
      </p:sp>
      <p:sp>
        <p:nvSpPr>
          <p:cNvPr id="18" name="TextBox 17"/>
          <p:cNvSpPr txBox="1"/>
          <p:nvPr/>
        </p:nvSpPr>
        <p:spPr>
          <a:xfrm>
            <a:off x="8339327" y="4297680"/>
            <a:ext cx="3200400" cy="704088"/>
          </a:xfrm>
          <a:prstGeom prst="rect">
            <a:avLst/>
          </a:prstGeom>
          <a:noFill/>
        </p:spPr>
        <p:txBody>
          <a:bodyPr wrap="square" lIns="0" rIns="0" tIns="0" bIns="0" anchor="t">
            <a:noAutofit/>
          </a:bodyPr>
          <a:lstStyle/>
          <a:p>
            <a:pPr algn="l">
              <a:lnSpc>
                <a:spcPct val="114000"/>
              </a:lnSpc>
              <a:spcBef>
                <a:spcPts val="0"/>
              </a:spcBef>
              <a:spcAft>
                <a:spcPts val="0"/>
              </a:spcAft>
            </a:pPr>
            <a:r>
              <a:rPr sz="1900" b="0">
                <a:solidFill>
                  <a:srgbClr val="121610"/>
                </a:solidFill>
                <a:latin typeface="Inter"/>
              </a:rPr>
              <a:t>Trace one complete output element.</a:t>
            </a:r>
          </a:p>
        </p:txBody>
      </p:sp>
      <p:sp>
        <p:nvSpPr>
          <p:cNvPr id="19" name="TextBox 18"/>
          <p:cNvSpPr txBox="1"/>
          <p:nvPr/>
        </p:nvSpPr>
        <p:spPr>
          <a:xfrm>
            <a:off x="594360" y="5056632"/>
            <a:ext cx="10936224" cy="438912"/>
          </a:xfrm>
          <a:prstGeom prst="rect">
            <a:avLst/>
          </a:prstGeom>
          <a:noFill/>
        </p:spPr>
        <p:txBody>
          <a:bodyPr wrap="square" lIns="0" rIns="0" tIns="0" bIns="0" anchor="t">
            <a:noAutofit/>
          </a:bodyPr>
          <a:lstStyle/>
          <a:p>
            <a:pPr algn="l">
              <a:lnSpc>
                <a:spcPct val="114000"/>
              </a:lnSpc>
              <a:spcBef>
                <a:spcPts val="0"/>
              </a:spcBef>
              <a:spcAft>
                <a:spcPts val="0"/>
              </a:spcAft>
            </a:pPr>
            <a:r>
              <a:rPr sz="1800" b="1">
                <a:solidFill>
                  <a:srgbClr val="121610"/>
                </a:solidFill>
                <a:latin typeface="Inter"/>
              </a:rPr>
              <a:t>Reference: tp/solutions/day1/ex04_cuda_vector_add</a:t>
            </a:r>
          </a:p>
        </p:txBody>
      </p:sp>
      <p:sp>
        <p:nvSpPr>
          <p:cNvPr id="20" name="Rectangle 19"/>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Record what you tested, why you trust the result, and what remains unverified.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FIRST CUDA FEATURE</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Two launch styles. One algorithm.</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Course: gpu/vector_add_device.cu and vector_launch_benchmark.cc</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26</a:t>
            </a:r>
          </a:p>
        </p:txBody>
      </p:sp>
      <p:sp>
        <p:nvSpPr>
          <p:cNvPr id="8" name="Rectangle 7"/>
          <p:cNvSpPr/>
          <p:nvPr/>
        </p:nvSpPr>
        <p:spPr>
          <a:xfrm>
            <a:off x="640080" y="2002536"/>
            <a:ext cx="10890504" cy="1097280"/>
          </a:xfrm>
          <a:prstGeom prst="rect">
            <a:avLst/>
          </a:prstGeom>
          <a:solidFill>
            <a:srgbClr val="11170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22959" y="2157984"/>
            <a:ext cx="10524744" cy="210312"/>
          </a:xfrm>
          <a:prstGeom prst="rect">
            <a:avLst/>
          </a:prstGeom>
          <a:noFill/>
        </p:spPr>
        <p:txBody>
          <a:bodyPr wrap="square" lIns="0" rIns="0" tIns="0" bIns="0" anchor="t">
            <a:noAutofit/>
          </a:bodyPr>
          <a:lstStyle/>
          <a:p>
            <a:pPr algn="l">
              <a:lnSpc>
                <a:spcPct val="114000"/>
              </a:lnSpc>
              <a:spcBef>
                <a:spcPts val="0"/>
              </a:spcBef>
              <a:spcAft>
                <a:spcPts val="0"/>
              </a:spcAft>
            </a:pPr>
            <a:r>
              <a:rPr sz="900" b="1">
                <a:solidFill>
                  <a:srgbClr val="76B900"/>
                </a:solidFill>
                <a:latin typeface="Inter"/>
              </a:rPr>
              <a:t>CUDA C++ LAUNCH SYNTAX</a:t>
            </a:r>
          </a:p>
        </p:txBody>
      </p:sp>
      <p:sp>
        <p:nvSpPr>
          <p:cNvPr id="10" name="TextBox 9"/>
          <p:cNvSpPr txBox="1"/>
          <p:nvPr/>
        </p:nvSpPr>
        <p:spPr>
          <a:xfrm>
            <a:off x="822959" y="2514600"/>
            <a:ext cx="10524744" cy="457200"/>
          </a:xfrm>
          <a:prstGeom prst="rect">
            <a:avLst/>
          </a:prstGeom>
          <a:noFill/>
        </p:spPr>
        <p:txBody>
          <a:bodyPr wrap="none" lIns="0" rIns="0" tIns="0" bIns="0">
            <a:noAutofit/>
          </a:bodyPr>
          <a:lstStyle/>
          <a:p>
            <a:pPr>
              <a:lnSpc>
                <a:spcPts val="2640"/>
              </a:lnSpc>
              <a:spcBef>
                <a:spcPts val="0"/>
              </a:spcBef>
              <a:spcAft>
                <a:spcPts val="0"/>
              </a:spcAft>
            </a:pPr>
            <a:r>
              <a:rPr sz="2200">
                <a:solidFill>
                  <a:srgbClr val="EDF3E6"/>
                </a:solidFill>
                <a:latin typeface="DejaVu Sans Mono"/>
              </a:rPr>
              <a:t>kernel</a:t>
            </a:r>
            <a:r>
              <a:rPr sz="2200">
                <a:solidFill>
                  <a:srgbClr val="EDF3E6"/>
                </a:solidFill>
                <a:latin typeface="DejaVu Sans Mono"/>
              </a:rPr>
              <a:t>&lt;</a:t>
            </a:r>
            <a:r>
              <a:rPr sz="2200">
                <a:solidFill>
                  <a:srgbClr val="EDF3E6"/>
                </a:solidFill>
                <a:latin typeface="DejaVu Sans Mono"/>
              </a:rPr>
              <a:t>&lt;</a:t>
            </a:r>
            <a:r>
              <a:rPr sz="2200">
                <a:solidFill>
                  <a:srgbClr val="EDF3E6"/>
                </a:solidFill>
                <a:latin typeface="DejaVu Sans Mono"/>
              </a:rPr>
              <a:t>&lt;</a:t>
            </a:r>
            <a:r>
              <a:rPr sz="2200">
                <a:solidFill>
                  <a:srgbClr val="EDF3E6"/>
                </a:solidFill>
                <a:latin typeface="DejaVu Sans Mono"/>
              </a:rPr>
              <a:t>grid</a:t>
            </a:r>
            <a:r>
              <a:rPr sz="2200">
                <a:solidFill>
                  <a:srgbClr val="EDF3E6"/>
                </a:solidFill>
                <a:latin typeface="DejaVu Sans Mono"/>
              </a:rPr>
              <a:t>,</a:t>
            </a:r>
            <a:r>
              <a:rPr sz="2200">
                <a:solidFill>
                  <a:srgbClr val="EDF3E6"/>
                </a:solidFill>
                <a:latin typeface="DejaVu Sans Mono"/>
              </a:rPr>
              <a:t> </a:t>
            </a:r>
            <a:r>
              <a:rPr sz="2200">
                <a:solidFill>
                  <a:srgbClr val="EDF3E6"/>
                </a:solidFill>
                <a:latin typeface="DejaVu Sans Mono"/>
              </a:rPr>
              <a:t>block</a:t>
            </a:r>
            <a:r>
              <a:rPr sz="2200">
                <a:solidFill>
                  <a:srgbClr val="EDF3E6"/>
                </a:solidFill>
                <a:latin typeface="DejaVu Sans Mono"/>
              </a:rPr>
              <a:t>,</a:t>
            </a:r>
            <a:r>
              <a:rPr sz="2200">
                <a:solidFill>
                  <a:srgbClr val="EDF3E6"/>
                </a:solidFill>
                <a:latin typeface="DejaVu Sans Mono"/>
              </a:rPr>
              <a:t> </a:t>
            </a:r>
            <a:r>
              <a:rPr sz="2200">
                <a:solidFill>
                  <a:srgbClr val="C0E579"/>
                </a:solidFill>
                <a:latin typeface="DejaVu Sans Mono"/>
              </a:rPr>
              <a:t>0</a:t>
            </a:r>
            <a:r>
              <a:rPr sz="2200">
                <a:solidFill>
                  <a:srgbClr val="EDF3E6"/>
                </a:solidFill>
                <a:latin typeface="DejaVu Sans Mono"/>
              </a:rPr>
              <a:t>,</a:t>
            </a:r>
            <a:r>
              <a:rPr sz="2200">
                <a:solidFill>
                  <a:srgbClr val="EDF3E6"/>
                </a:solidFill>
                <a:latin typeface="DejaVu Sans Mono"/>
              </a:rPr>
              <a:t> </a:t>
            </a:r>
            <a:r>
              <a:rPr sz="2200">
                <a:solidFill>
                  <a:srgbClr val="EDF3E6"/>
                </a:solidFill>
                <a:latin typeface="DejaVu Sans Mono"/>
              </a:rPr>
              <a:t>stream</a:t>
            </a:r>
            <a:r>
              <a:rPr sz="2200">
                <a:solidFill>
                  <a:srgbClr val="EDF3E6"/>
                </a:solidFill>
                <a:latin typeface="DejaVu Sans Mono"/>
              </a:rPr>
              <a:t>&gt;</a:t>
            </a:r>
            <a:r>
              <a:rPr sz="2200">
                <a:solidFill>
                  <a:srgbClr val="EDF3E6"/>
                </a:solidFill>
                <a:latin typeface="DejaVu Sans Mono"/>
              </a:rPr>
              <a:t>&gt;</a:t>
            </a:r>
            <a:r>
              <a:rPr sz="2200">
                <a:solidFill>
                  <a:srgbClr val="EDF3E6"/>
                </a:solidFill>
                <a:latin typeface="DejaVu Sans Mono"/>
              </a:rPr>
              <a:t>&gt;</a:t>
            </a:r>
            <a:r>
              <a:rPr sz="2200">
                <a:solidFill>
                  <a:srgbClr val="EDF3E6"/>
                </a:solidFill>
                <a:latin typeface="DejaVu Sans Mono"/>
              </a:rPr>
              <a:t>(</a:t>
            </a:r>
            <a:r>
              <a:rPr sz="2200">
                <a:solidFill>
                  <a:srgbClr val="EDF3E6"/>
                </a:solidFill>
                <a:latin typeface="DejaVu Sans Mono"/>
              </a:rPr>
              <a:t>.</a:t>
            </a:r>
            <a:r>
              <a:rPr sz="2200">
                <a:solidFill>
                  <a:srgbClr val="EDF3E6"/>
                </a:solidFill>
                <a:latin typeface="DejaVu Sans Mono"/>
              </a:rPr>
              <a:t>.</a:t>
            </a:r>
            <a:r>
              <a:rPr sz="2200">
                <a:solidFill>
                  <a:srgbClr val="EDF3E6"/>
                </a:solidFill>
                <a:latin typeface="DejaVu Sans Mono"/>
              </a:rPr>
              <a:t>.</a:t>
            </a:r>
            <a:r>
              <a:rPr sz="2200">
                <a:solidFill>
                  <a:srgbClr val="EDF3E6"/>
                </a:solidFill>
                <a:latin typeface="DejaVu Sans Mono"/>
              </a:rPr>
              <a:t>)</a:t>
            </a:r>
            <a:r>
              <a:rPr sz="2200">
                <a:solidFill>
                  <a:srgbClr val="EDF3E6"/>
                </a:solidFill>
                <a:latin typeface="DejaVu Sans Mono"/>
              </a:rPr>
              <a:t>;</a:t>
            </a:r>
          </a:p>
        </p:txBody>
      </p:sp>
      <p:sp>
        <p:nvSpPr>
          <p:cNvPr id="11" name="Rectangle 10"/>
          <p:cNvSpPr/>
          <p:nvPr/>
        </p:nvSpPr>
        <p:spPr>
          <a:xfrm>
            <a:off x="640080" y="3483864"/>
            <a:ext cx="10890504" cy="1097280"/>
          </a:xfrm>
          <a:prstGeom prst="rect">
            <a:avLst/>
          </a:prstGeom>
          <a:solidFill>
            <a:srgbClr val="11170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22959" y="3639312"/>
            <a:ext cx="10524744" cy="210312"/>
          </a:xfrm>
          <a:prstGeom prst="rect">
            <a:avLst/>
          </a:prstGeom>
          <a:noFill/>
        </p:spPr>
        <p:txBody>
          <a:bodyPr wrap="square" lIns="0" rIns="0" tIns="0" bIns="0" anchor="t">
            <a:noAutofit/>
          </a:bodyPr>
          <a:lstStyle/>
          <a:p>
            <a:pPr algn="l">
              <a:lnSpc>
                <a:spcPct val="114000"/>
              </a:lnSpc>
              <a:spcBef>
                <a:spcPts val="0"/>
              </a:spcBef>
              <a:spcAft>
                <a:spcPts val="0"/>
              </a:spcAft>
            </a:pPr>
            <a:r>
              <a:rPr sz="900" b="1">
                <a:solidFill>
                  <a:srgbClr val="76B900"/>
                </a:solidFill>
                <a:latin typeface="Inter"/>
              </a:rPr>
              <a:t>CUDA RUNTIME API · REPOSITORY COMPARISON</a:t>
            </a:r>
          </a:p>
        </p:txBody>
      </p:sp>
      <p:sp>
        <p:nvSpPr>
          <p:cNvPr id="13" name="TextBox 12"/>
          <p:cNvSpPr txBox="1"/>
          <p:nvPr/>
        </p:nvSpPr>
        <p:spPr>
          <a:xfrm>
            <a:off x="822959" y="3995928"/>
            <a:ext cx="10524744" cy="457200"/>
          </a:xfrm>
          <a:prstGeom prst="rect">
            <a:avLst/>
          </a:prstGeom>
          <a:noFill/>
        </p:spPr>
        <p:txBody>
          <a:bodyPr wrap="none" lIns="0" rIns="0" tIns="0" bIns="0">
            <a:noAutofit/>
          </a:bodyPr>
          <a:lstStyle/>
          <a:p>
            <a:pPr>
              <a:lnSpc>
                <a:spcPts val="2640"/>
              </a:lnSpc>
              <a:spcBef>
                <a:spcPts val="0"/>
              </a:spcBef>
              <a:spcAft>
                <a:spcPts val="0"/>
              </a:spcAft>
            </a:pPr>
            <a:r>
              <a:rPr sz="2200">
                <a:solidFill>
                  <a:srgbClr val="EDF3E6"/>
                </a:solidFill>
                <a:latin typeface="DejaVu Sans Mono"/>
              </a:rPr>
              <a:t>cudaLaunchKernel</a:t>
            </a:r>
            <a:r>
              <a:rPr sz="2200">
                <a:solidFill>
                  <a:srgbClr val="EDF3E6"/>
                </a:solidFill>
                <a:latin typeface="DejaVu Sans Mono"/>
              </a:rPr>
              <a:t>(</a:t>
            </a:r>
            <a:r>
              <a:rPr sz="2200">
                <a:solidFill>
                  <a:srgbClr val="EDF3E6"/>
                </a:solidFill>
                <a:latin typeface="DejaVu Sans Mono"/>
              </a:rPr>
              <a:t>.</a:t>
            </a:r>
            <a:r>
              <a:rPr sz="2200">
                <a:solidFill>
                  <a:srgbClr val="EDF3E6"/>
                </a:solidFill>
                <a:latin typeface="DejaVu Sans Mono"/>
              </a:rPr>
              <a:t>.</a:t>
            </a:r>
            <a:r>
              <a:rPr sz="2200">
                <a:solidFill>
                  <a:srgbClr val="EDF3E6"/>
                </a:solidFill>
                <a:latin typeface="DejaVu Sans Mono"/>
              </a:rPr>
              <a:t>.</a:t>
            </a:r>
            <a:r>
              <a:rPr sz="2200">
                <a:solidFill>
                  <a:srgbClr val="EDF3E6"/>
                </a:solidFill>
                <a:latin typeface="DejaVu Sans Mono"/>
              </a:rPr>
              <a:t>)</a:t>
            </a:r>
            <a:r>
              <a:rPr sz="2200">
                <a:solidFill>
                  <a:srgbClr val="EDF3E6"/>
                </a:solidFill>
                <a:latin typeface="DejaVu Sans Mono"/>
              </a:rPr>
              <a:t>;</a:t>
            </a:r>
          </a:p>
        </p:txBody>
      </p:sp>
      <p:sp>
        <p:nvSpPr>
          <p:cNvPr id="14" name="TextBox 13"/>
          <p:cNvSpPr txBox="1"/>
          <p:nvPr/>
        </p:nvSpPr>
        <p:spPr>
          <a:xfrm>
            <a:off x="722376" y="4983480"/>
            <a:ext cx="10698480" cy="411480"/>
          </a:xfrm>
          <a:prstGeom prst="rect">
            <a:avLst/>
          </a:prstGeom>
          <a:noFill/>
        </p:spPr>
        <p:txBody>
          <a:bodyPr wrap="square" lIns="0" rIns="0" tIns="0" bIns="0" anchor="t">
            <a:noAutofit/>
          </a:bodyPr>
          <a:lstStyle/>
          <a:p>
            <a:pPr algn="l">
              <a:lnSpc>
                <a:spcPct val="114000"/>
              </a:lnSpc>
              <a:spcBef>
                <a:spcPts val="0"/>
              </a:spcBef>
              <a:spcAft>
                <a:spcPts val="0"/>
              </a:spcAft>
            </a:pPr>
            <a:r>
              <a:rPr sz="2300" b="1">
                <a:solidFill>
                  <a:srgbClr val="121610"/>
                </a:solidFill>
                <a:latin typeface="Inter"/>
              </a:rPr>
              <a:t>Both paths execute vector_add_kernel.</a:t>
            </a:r>
          </a:p>
        </p:txBody>
      </p:sp>
      <p:sp>
        <p:nvSpPr>
          <p:cNvPr id="15" name="Rectangle 14"/>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Do not compare a cold first call with a warm second call and call it a syntax speedup.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90C08"/>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C2CBB8"/>
                </a:solidFill>
                <a:latin typeface="Inter"/>
              </a:rPr>
              <a:t>DAY 1 / 03</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FFFFFF"/>
                </a:solidFill>
                <a:latin typeface="Inter"/>
              </a:rPr>
              <a:t>Make memory access visible</a:t>
            </a:r>
          </a:p>
        </p:txBody>
      </p:sp>
      <p:sp>
        <p:nvSpPr>
          <p:cNvPr id="4" name="Rectangle 3"/>
          <p:cNvSpPr/>
          <p:nvPr/>
        </p:nvSpPr>
        <p:spPr>
          <a:xfrm>
            <a:off x="502920" y="6432804"/>
            <a:ext cx="11173968" cy="8229"/>
          </a:xfrm>
          <a:prstGeom prst="rect">
            <a:avLst/>
          </a:prstGeom>
          <a:solidFill>
            <a:srgbClr val="3A45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C2CBB8"/>
                </a:solidFill>
                <a:latin typeface="Inter"/>
              </a:rPr>
              <a:t>NVIDIA Figure 12 · §2.3.4.1, p. 59 / PDF p. 77</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C2CBB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FFFFFF"/>
                </a:solidFill>
                <a:latin typeface="Inter"/>
              </a:rPr>
              <a:t>27</a:t>
            </a:r>
          </a:p>
        </p:txBody>
      </p:sp>
      <p:sp>
        <p:nvSpPr>
          <p:cNvPr id="8" name="TextBox 7"/>
          <p:cNvSpPr txBox="1"/>
          <p:nvPr/>
        </p:nvSpPr>
        <p:spPr>
          <a:xfrm>
            <a:off x="521207" y="2103120"/>
            <a:ext cx="3566160" cy="1115568"/>
          </a:xfrm>
          <a:prstGeom prst="rect">
            <a:avLst/>
          </a:prstGeom>
          <a:noFill/>
        </p:spPr>
        <p:txBody>
          <a:bodyPr wrap="square" lIns="0" rIns="0" tIns="0" bIns="0" anchor="t">
            <a:noAutofit/>
          </a:bodyPr>
          <a:lstStyle/>
          <a:p>
            <a:pPr algn="l">
              <a:lnSpc>
                <a:spcPct val="114000"/>
              </a:lnSpc>
              <a:spcBef>
                <a:spcPts val="0"/>
              </a:spcBef>
              <a:spcAft>
                <a:spcPts val="0"/>
              </a:spcAft>
            </a:pPr>
            <a:r>
              <a:rPr sz="6600" b="1">
                <a:solidFill>
                  <a:srgbClr val="76B900"/>
                </a:solidFill>
                <a:latin typeface="Inter"/>
              </a:rPr>
              <a:t>03</a:t>
            </a:r>
          </a:p>
        </p:txBody>
      </p:sp>
      <p:sp>
        <p:nvSpPr>
          <p:cNvPr id="9" name="TextBox 8"/>
          <p:cNvSpPr txBox="1"/>
          <p:nvPr/>
        </p:nvSpPr>
        <p:spPr>
          <a:xfrm>
            <a:off x="530352" y="3438144"/>
            <a:ext cx="4069080" cy="1325880"/>
          </a:xfrm>
          <a:prstGeom prst="rect">
            <a:avLst/>
          </a:prstGeom>
          <a:noFill/>
        </p:spPr>
        <p:txBody>
          <a:bodyPr wrap="square" lIns="0" rIns="0" tIns="0" bIns="0" anchor="t">
            <a:noAutofit/>
          </a:bodyPr>
          <a:lstStyle/>
          <a:p>
            <a:pPr algn="l">
              <a:lnSpc>
                <a:spcPct val="114000"/>
              </a:lnSpc>
              <a:spcBef>
                <a:spcPts val="0"/>
              </a:spcBef>
              <a:spcAft>
                <a:spcPts val="0"/>
              </a:spcAft>
            </a:pPr>
            <a:r>
              <a:rPr sz="2200" b="0">
                <a:solidFill>
                  <a:srgbClr val="FFFFFF"/>
                </a:solidFill>
                <a:latin typeface="Inter"/>
              </a:rPr>
              <a:t>Predict the addresses first.</a:t>
            </a:r>
          </a:p>
          <a:p>
            <a:pPr algn="l">
              <a:lnSpc>
                <a:spcPct val="114000"/>
              </a:lnSpc>
              <a:spcBef>
                <a:spcPts val="0"/>
              </a:spcBef>
              <a:spcAft>
                <a:spcPts val="0"/>
              </a:spcAft>
            </a:pPr>
            <a:r>
              <a:rPr sz="2200" b="0">
                <a:solidFill>
                  <a:srgbClr val="FFFFFF"/>
                </a:solidFill>
                <a:latin typeface="Inter"/>
              </a:rPr>
              <a:t>Then measure the implementation.</a:t>
            </a:r>
          </a:p>
        </p:txBody>
      </p:sp>
      <p:sp>
        <p:nvSpPr>
          <p:cNvPr id="10" name="Rectangle 9"/>
          <p:cNvSpPr/>
          <p:nvPr/>
        </p:nvSpPr>
        <p:spPr>
          <a:xfrm>
            <a:off x="5065776" y="1865376"/>
            <a:ext cx="6611112" cy="360273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5276088" y="2881293"/>
            <a:ext cx="6172200" cy="1260005"/>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ORIGINAL_NVIDIA_fig12_coalesced_PDF_page_77" descr="NVIDIA Figure 12; CUDA Programming Guide 13.4.2, PDF page 77, printed page 59. Extracted from embedded image xref 1199; original colors and aspect ratio preserved."/>
          <p:cNvPicPr>
            <a:picLocks noChangeAspect="1"/>
          </p:cNvPicPr>
          <p:nvPr/>
        </p:nvPicPr>
        <p:blipFill>
          <a:blip r:embed="rId2"/>
          <a:stretch>
            <a:fillRect/>
          </a:stretch>
        </p:blipFill>
        <p:spPr>
          <a:xfrm>
            <a:off x="5276088" y="2881293"/>
            <a:ext cx="6172200" cy="1260005"/>
          </a:xfrm>
          <a:prstGeom prst="rect">
            <a:avLst/>
          </a:prstGeom>
        </p:spPr>
      </p:pic>
      <p:sp>
        <p:nvSpPr>
          <p:cNvPr id="13" name="TextBox 12"/>
          <p:cNvSpPr txBox="1"/>
          <p:nvPr/>
        </p:nvSpPr>
        <p:spPr>
          <a:xfrm>
            <a:off x="5276088" y="5084064"/>
            <a:ext cx="6172200" cy="210312"/>
          </a:xfrm>
          <a:prstGeom prst="rect">
            <a:avLst/>
          </a:prstGeom>
          <a:noFill/>
        </p:spPr>
        <p:txBody>
          <a:bodyPr wrap="square" lIns="0" rIns="0" tIns="0" bIns="0" anchor="t">
            <a:noAutofit/>
          </a:bodyPr>
          <a:lstStyle/>
          <a:p>
            <a:pPr algn="ctr">
              <a:lnSpc>
                <a:spcPct val="114000"/>
              </a:lnSpc>
              <a:spcBef>
                <a:spcPts val="0"/>
              </a:spcBef>
              <a:spcAft>
                <a:spcPts val="0"/>
              </a:spcAft>
            </a:pPr>
            <a:r>
              <a:rPr sz="919" b="0">
                <a:solidFill>
                  <a:srgbClr val="5A6358"/>
                </a:solidFill>
                <a:latin typeface="Inter"/>
              </a:rPr>
              <a:t>NVIDIA Figure 12 · Guide p. 59 / PDF p. 77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MEMORY ACCESS</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For row-major matrices, x follows the column index</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Guide §2.3.2 and §2.3.4.1.1, pp. 48 and 60–62 / PDF pp. 66 and 78–80</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28</a:t>
            </a:r>
          </a:p>
        </p:txBody>
      </p:sp>
      <p:sp>
        <p:nvSpPr>
          <p:cNvPr id="8" name="Rectangle 7"/>
          <p:cNvSpPr/>
          <p:nvPr/>
        </p:nvSpPr>
        <p:spPr>
          <a:xfrm>
            <a:off x="621792" y="1938528"/>
            <a:ext cx="5340096" cy="3145536"/>
          </a:xfrm>
          <a:prstGeom prst="rect">
            <a:avLst/>
          </a:prstGeom>
          <a:solidFill>
            <a:srgbClr val="11170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04672" y="2093976"/>
            <a:ext cx="4974336" cy="210312"/>
          </a:xfrm>
          <a:prstGeom prst="rect">
            <a:avLst/>
          </a:prstGeom>
          <a:noFill/>
        </p:spPr>
        <p:txBody>
          <a:bodyPr wrap="square" lIns="0" rIns="0" tIns="0" bIns="0" anchor="t">
            <a:noAutofit/>
          </a:bodyPr>
          <a:lstStyle/>
          <a:p>
            <a:pPr algn="l">
              <a:lnSpc>
                <a:spcPct val="114000"/>
              </a:lnSpc>
              <a:spcBef>
                <a:spcPts val="0"/>
              </a:spcBef>
              <a:spcAft>
                <a:spcPts val="0"/>
              </a:spcAft>
            </a:pPr>
            <a:r>
              <a:rPr sz="900" b="1">
                <a:solidFill>
                  <a:srgbClr val="76B900"/>
                </a:solidFill>
                <a:latin typeface="Inter"/>
              </a:rPr>
              <a:t>ROW-MAJOR ADDRESS EXPRESSION</a:t>
            </a:r>
          </a:p>
        </p:txBody>
      </p:sp>
      <p:sp>
        <p:nvSpPr>
          <p:cNvPr id="10" name="TextBox 9"/>
          <p:cNvSpPr txBox="1"/>
          <p:nvPr/>
        </p:nvSpPr>
        <p:spPr>
          <a:xfrm>
            <a:off x="804672" y="2450592"/>
            <a:ext cx="4974336" cy="2505456"/>
          </a:xfrm>
          <a:prstGeom prst="rect">
            <a:avLst/>
          </a:prstGeom>
          <a:noFill/>
        </p:spPr>
        <p:txBody>
          <a:bodyPr wrap="none" lIns="0" rIns="0" tIns="0" bIns="0">
            <a:noAutofit/>
          </a:bodyPr>
          <a:lstStyle/>
          <a:p>
            <a:pPr>
              <a:lnSpc>
                <a:spcPts val="2160"/>
              </a:lnSpc>
              <a:spcBef>
                <a:spcPts val="0"/>
              </a:spcBef>
              <a:spcAft>
                <a:spcPts val="0"/>
              </a:spcAft>
            </a:pPr>
            <a:r>
              <a:rPr sz="1800">
                <a:solidFill>
                  <a:srgbClr val="EDF3E6"/>
                </a:solidFill>
                <a:latin typeface="DejaVu Sans Mono"/>
              </a:rPr>
              <a:t>col</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blockIdx</a:t>
            </a:r>
            <a:r>
              <a:rPr sz="1800">
                <a:solidFill>
                  <a:srgbClr val="EDF3E6"/>
                </a:solidFill>
                <a:latin typeface="DejaVu Sans Mono"/>
              </a:rPr>
              <a:t>.</a:t>
            </a:r>
            <a:r>
              <a:rPr sz="1800">
                <a:solidFill>
                  <a:srgbClr val="EDF3E6"/>
                </a:solidFill>
                <a:latin typeface="DejaVu Sans Mono"/>
              </a:rPr>
              <a:t>x</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blockDim</a:t>
            </a:r>
            <a:r>
              <a:rPr sz="1800">
                <a:solidFill>
                  <a:srgbClr val="EDF3E6"/>
                </a:solidFill>
                <a:latin typeface="DejaVu Sans Mono"/>
              </a:rPr>
              <a:t>.</a:t>
            </a:r>
            <a:r>
              <a:rPr sz="1800">
                <a:solidFill>
                  <a:srgbClr val="EDF3E6"/>
                </a:solidFill>
                <a:latin typeface="DejaVu Sans Mono"/>
              </a:rPr>
              <a:t>x</a:t>
            </a:r>
          </a:p>
          <a:p>
            <a:pPr>
              <a:lnSpc>
                <a:spcPts val="2160"/>
              </a:lnSpc>
              <a:spcBef>
                <a:spcPts val="0"/>
              </a:spcBef>
              <a:spcAft>
                <a:spcPts val="0"/>
              </a:spcAft>
            </a:pP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threadIdx</a:t>
            </a:r>
            <a:r>
              <a:rPr sz="1800">
                <a:solidFill>
                  <a:srgbClr val="EDF3E6"/>
                </a:solidFill>
                <a:latin typeface="DejaVu Sans Mono"/>
              </a:rPr>
              <a:t>.</a:t>
            </a:r>
            <a:r>
              <a:rPr sz="1800">
                <a:solidFill>
                  <a:srgbClr val="EDF3E6"/>
                </a:solidFill>
                <a:latin typeface="DejaVu Sans Mono"/>
              </a:rPr>
              <a:t>x</a:t>
            </a:r>
            <a:r>
              <a:rPr sz="1800">
                <a:solidFill>
                  <a:srgbClr val="EDF3E6"/>
                </a:solidFill>
                <a:latin typeface="DejaVu Sans Mono"/>
              </a:rPr>
              <a:t>;</a:t>
            </a:r>
          </a:p>
          <a:p>
            <a:pPr>
              <a:lnSpc>
                <a:spcPts val="2160"/>
              </a:lnSpc>
              <a:spcBef>
                <a:spcPts val="0"/>
              </a:spcBef>
              <a:spcAft>
                <a:spcPts val="0"/>
              </a:spcAft>
            </a:pPr>
            <a:r>
              <a:rPr sz="1800">
                <a:solidFill>
                  <a:srgbClr val="EDF3E6"/>
                </a:solidFill>
                <a:latin typeface="DejaVu Sans Mono"/>
              </a:rPr>
              <a:t>row</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blockIdx</a:t>
            </a:r>
            <a:r>
              <a:rPr sz="1800">
                <a:solidFill>
                  <a:srgbClr val="EDF3E6"/>
                </a:solidFill>
                <a:latin typeface="DejaVu Sans Mono"/>
              </a:rPr>
              <a:t>.</a:t>
            </a:r>
            <a:r>
              <a:rPr sz="1800">
                <a:solidFill>
                  <a:srgbClr val="EDF3E6"/>
                </a:solidFill>
                <a:latin typeface="DejaVu Sans Mono"/>
              </a:rPr>
              <a:t>y</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blockDim</a:t>
            </a:r>
            <a:r>
              <a:rPr sz="1800">
                <a:solidFill>
                  <a:srgbClr val="EDF3E6"/>
                </a:solidFill>
                <a:latin typeface="DejaVu Sans Mono"/>
              </a:rPr>
              <a:t>.</a:t>
            </a:r>
            <a:r>
              <a:rPr sz="1800">
                <a:solidFill>
                  <a:srgbClr val="EDF3E6"/>
                </a:solidFill>
                <a:latin typeface="DejaVu Sans Mono"/>
              </a:rPr>
              <a:t>y</a:t>
            </a:r>
          </a:p>
          <a:p>
            <a:pPr>
              <a:lnSpc>
                <a:spcPts val="2160"/>
              </a:lnSpc>
              <a:spcBef>
                <a:spcPts val="0"/>
              </a:spcBef>
              <a:spcAft>
                <a:spcPts val="0"/>
              </a:spcAft>
            </a:pP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threadIdx</a:t>
            </a:r>
            <a:r>
              <a:rPr sz="1800">
                <a:solidFill>
                  <a:srgbClr val="EDF3E6"/>
                </a:solidFill>
                <a:latin typeface="DejaVu Sans Mono"/>
              </a:rPr>
              <a:t>.</a:t>
            </a:r>
            <a:r>
              <a:rPr sz="1800">
                <a:solidFill>
                  <a:srgbClr val="EDF3E6"/>
                </a:solidFill>
                <a:latin typeface="DejaVu Sans Mono"/>
              </a:rPr>
              <a:t>y</a:t>
            </a:r>
            <a:r>
              <a:rPr sz="1800">
                <a:solidFill>
                  <a:srgbClr val="EDF3E6"/>
                </a:solidFill>
                <a:latin typeface="DejaVu Sans Mono"/>
              </a:rPr>
              <a:t>;</a:t>
            </a:r>
          </a:p>
          <a:p>
            <a:pPr>
              <a:lnSpc>
                <a:spcPts val="2160"/>
              </a:lnSpc>
              <a:spcBef>
                <a:spcPts val="0"/>
              </a:spcBef>
              <a:spcAft>
                <a:spcPts val="0"/>
              </a:spcAft>
            </a:pPr>
          </a:p>
          <a:p>
            <a:pPr>
              <a:lnSpc>
                <a:spcPts val="2160"/>
              </a:lnSpc>
              <a:spcBef>
                <a:spcPts val="0"/>
              </a:spcBef>
              <a:spcAft>
                <a:spcPts val="0"/>
              </a:spcAft>
            </a:pPr>
            <a:r>
              <a:rPr sz="1800">
                <a:solidFill>
                  <a:srgbClr val="EDF3E6"/>
                </a:solidFill>
                <a:latin typeface="DejaVu Sans Mono"/>
              </a:rPr>
              <a:t>A</a:t>
            </a:r>
            <a:r>
              <a:rPr sz="1800">
                <a:solidFill>
                  <a:srgbClr val="EDF3E6"/>
                </a:solidFill>
                <a:latin typeface="DejaVu Sans Mono"/>
              </a:rPr>
              <a:t>[</a:t>
            </a:r>
            <a:r>
              <a:rPr sz="1800">
                <a:solidFill>
                  <a:srgbClr val="EDF3E6"/>
                </a:solidFill>
                <a:latin typeface="DejaVu Sans Mono"/>
              </a:rPr>
              <a:t>row</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width</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col</a:t>
            </a:r>
            <a:r>
              <a:rPr sz="1800">
                <a:solidFill>
                  <a:srgbClr val="EDF3E6"/>
                </a:solidFill>
                <a:latin typeface="DejaVu Sans Mono"/>
              </a:rPr>
              <a:t>]</a:t>
            </a:r>
          </a:p>
        </p:txBody>
      </p:sp>
      <p:sp>
        <p:nvSpPr>
          <p:cNvPr id="11" name="Rectangle 10"/>
          <p:cNvSpPr/>
          <p:nvPr/>
        </p:nvSpPr>
        <p:spPr>
          <a:xfrm>
            <a:off x="6419088" y="2292764"/>
            <a:ext cx="5056632" cy="215359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ORIGINAL_NVIDIA_fig14_transpose_PDF_page_79" descr="NVIDIA Figure 14; CUDA Programming Guide 13.4.2, PDF page 79, printed page 61. Extracted from embedded image xref 1211; original colors and aspect ratio preserved."/>
          <p:cNvPicPr>
            <a:picLocks noChangeAspect="1"/>
          </p:cNvPicPr>
          <p:nvPr/>
        </p:nvPicPr>
        <p:blipFill>
          <a:blip r:embed="rId2"/>
          <a:stretch>
            <a:fillRect/>
          </a:stretch>
        </p:blipFill>
        <p:spPr>
          <a:xfrm>
            <a:off x="6419088" y="2292764"/>
            <a:ext cx="5056632" cy="2153598"/>
          </a:xfrm>
          <a:prstGeom prst="rect">
            <a:avLst/>
          </a:prstGeom>
        </p:spPr>
      </p:pic>
      <p:sp>
        <p:nvSpPr>
          <p:cNvPr id="13" name="TextBox 12"/>
          <p:cNvSpPr txBox="1"/>
          <p:nvPr/>
        </p:nvSpPr>
        <p:spPr>
          <a:xfrm>
            <a:off x="6419088" y="4965192"/>
            <a:ext cx="5056632" cy="210312"/>
          </a:xfrm>
          <a:prstGeom prst="rect">
            <a:avLst/>
          </a:prstGeom>
          <a:noFill/>
        </p:spPr>
        <p:txBody>
          <a:bodyPr wrap="square" lIns="0" rIns="0" tIns="0" bIns="0" anchor="t">
            <a:noAutofit/>
          </a:bodyPr>
          <a:lstStyle/>
          <a:p>
            <a:pPr algn="ctr">
              <a:lnSpc>
                <a:spcPct val="114000"/>
              </a:lnSpc>
              <a:spcBef>
                <a:spcPts val="0"/>
              </a:spcBef>
              <a:spcAft>
                <a:spcPts val="0"/>
              </a:spcAft>
            </a:pPr>
            <a:r>
              <a:rPr sz="919" b="0">
                <a:solidFill>
                  <a:srgbClr val="5A6358"/>
                </a:solidFill>
                <a:latin typeface="Inter"/>
              </a:rPr>
              <a:t>NVIDIA Figure 14 · Guide p. 61 / PDF p. 79</a:t>
            </a:r>
          </a:p>
        </p:txBody>
      </p:sp>
      <p:sp>
        <p:nvSpPr>
          <p:cNvPr id="14" name="Rectangle 13"/>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Consecutive x indices can address consecutive columns; inspect the actual array expression.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MEMORY ACCESS</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Coalescing combines addresses requested by a warp</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NVIDIA Figure 12 · §2.3.4.1, p. 59 / PDF p. 77</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29</a:t>
            </a:r>
          </a:p>
        </p:txBody>
      </p:sp>
      <p:sp>
        <p:nvSpPr>
          <p:cNvPr id="8" name="Rectangle 7"/>
          <p:cNvSpPr/>
          <p:nvPr/>
        </p:nvSpPr>
        <p:spPr>
          <a:xfrm>
            <a:off x="867023" y="1883664"/>
            <a:ext cx="10436617" cy="213055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ORIGINAL_NVIDIA_fig12_coalesced_PDF_page_77" descr="NVIDIA Figure 12; CUDA Programming Guide 13.4.2, PDF page 77, printed page 59. Extracted from embedded image xref 1199; original colors and aspect ratio preserved."/>
          <p:cNvPicPr>
            <a:picLocks noChangeAspect="1"/>
          </p:cNvPicPr>
          <p:nvPr/>
        </p:nvPicPr>
        <p:blipFill>
          <a:blip r:embed="rId2"/>
          <a:stretch>
            <a:fillRect/>
          </a:stretch>
        </p:blipFill>
        <p:spPr>
          <a:xfrm>
            <a:off x="867023" y="1883664"/>
            <a:ext cx="10436617" cy="2130552"/>
          </a:xfrm>
          <a:prstGeom prst="rect">
            <a:avLst/>
          </a:prstGeom>
        </p:spPr>
      </p:pic>
      <p:sp>
        <p:nvSpPr>
          <p:cNvPr id="10" name="TextBox 9"/>
          <p:cNvSpPr txBox="1"/>
          <p:nvPr/>
        </p:nvSpPr>
        <p:spPr>
          <a:xfrm>
            <a:off x="731520" y="4087368"/>
            <a:ext cx="10707624" cy="210312"/>
          </a:xfrm>
          <a:prstGeom prst="rect">
            <a:avLst/>
          </a:prstGeom>
          <a:noFill/>
        </p:spPr>
        <p:txBody>
          <a:bodyPr wrap="square" lIns="0" rIns="0" tIns="0" bIns="0" anchor="t">
            <a:noAutofit/>
          </a:bodyPr>
          <a:lstStyle/>
          <a:p>
            <a:pPr algn="ctr">
              <a:lnSpc>
                <a:spcPct val="114000"/>
              </a:lnSpc>
              <a:spcBef>
                <a:spcPts val="0"/>
              </a:spcBef>
              <a:spcAft>
                <a:spcPts val="0"/>
              </a:spcAft>
            </a:pPr>
            <a:r>
              <a:rPr sz="919" b="0">
                <a:solidFill>
                  <a:srgbClr val="5A6358"/>
                </a:solidFill>
                <a:latin typeface="Inter"/>
              </a:rPr>
              <a:t>NVIDIA Figure 12 · Guide p. 59 / PDF p. 77</a:t>
            </a:r>
          </a:p>
        </p:txBody>
      </p:sp>
      <p:sp>
        <p:nvSpPr>
          <p:cNvPr id="11" name="TextBox 10"/>
          <p:cNvSpPr txBox="1"/>
          <p:nvPr/>
        </p:nvSpPr>
        <p:spPr>
          <a:xfrm>
            <a:off x="795528" y="4517136"/>
            <a:ext cx="10625328" cy="548640"/>
          </a:xfrm>
          <a:prstGeom prst="rect">
            <a:avLst/>
          </a:prstGeom>
          <a:noFill/>
        </p:spPr>
        <p:txBody>
          <a:bodyPr wrap="square" lIns="0" rIns="0" tIns="0" bIns="0" anchor="t">
            <a:noAutofit/>
          </a:bodyPr>
          <a:lstStyle/>
          <a:p>
            <a:pPr algn="l">
              <a:lnSpc>
                <a:spcPct val="114000"/>
              </a:lnSpc>
              <a:spcBef>
                <a:spcPts val="0"/>
              </a:spcBef>
              <a:spcAft>
                <a:spcPts val="0"/>
              </a:spcAft>
            </a:pPr>
            <a:r>
              <a:rPr sz="2900" b="1">
                <a:solidFill>
                  <a:srgbClr val="121610"/>
                </a:solidFill>
                <a:latin typeface="Inter"/>
              </a:rPr>
              <a:t>32 threads × 4 bytes = 128 useful bytes</a:t>
            </a:r>
          </a:p>
        </p:txBody>
      </p:sp>
      <p:sp>
        <p:nvSpPr>
          <p:cNvPr id="12" name="TextBox 11"/>
          <p:cNvSpPr txBox="1"/>
          <p:nvPr/>
        </p:nvSpPr>
        <p:spPr>
          <a:xfrm>
            <a:off x="813816" y="5239512"/>
            <a:ext cx="10616184" cy="347472"/>
          </a:xfrm>
          <a:prstGeom prst="rect">
            <a:avLst/>
          </a:prstGeom>
          <a:noFill/>
        </p:spPr>
        <p:txBody>
          <a:bodyPr wrap="square" lIns="0" rIns="0" tIns="0" bIns="0" anchor="t">
            <a:noAutofit/>
          </a:bodyPr>
          <a:lstStyle/>
          <a:p>
            <a:pPr algn="l">
              <a:lnSpc>
                <a:spcPct val="114000"/>
              </a:lnSpc>
              <a:spcBef>
                <a:spcPts val="0"/>
              </a:spcBef>
              <a:spcAft>
                <a:spcPts val="0"/>
              </a:spcAft>
            </a:pPr>
            <a:r>
              <a:rPr sz="1900" b="0">
                <a:solidFill>
                  <a:srgbClr val="5A6358"/>
                </a:solidFill>
                <a:latin typeface="Inter"/>
              </a:rPr>
              <a:t>Four 32-byte transactions in the guide’s aligned example.</a:t>
            </a:r>
          </a:p>
        </p:txBody>
      </p:sp>
      <p:sp>
        <p:nvSpPr>
          <p:cNvPr id="13" name="Rectangle 12"/>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Reason about the full set of addresses requested by the warp.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MEMORY ACCESS</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Scattered addresses can waste most transferred bytes</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NVIDIA Figure 13 · §2.3.4.1, p. 59 / PDF p. 77; original custom chart removed.</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30</a:t>
            </a:r>
          </a:p>
        </p:txBody>
      </p:sp>
      <p:sp>
        <p:nvSpPr>
          <p:cNvPr id="8" name="Rectangle 7"/>
          <p:cNvSpPr/>
          <p:nvPr/>
        </p:nvSpPr>
        <p:spPr>
          <a:xfrm>
            <a:off x="731520" y="1919360"/>
            <a:ext cx="10707624" cy="205915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ORIGINAL_NVIDIA_fig13_uncoalesced_PDF_page_77" descr="NVIDIA Figure 13; CUDA Programming Guide 13.4.2, PDF page 77, printed page 59. Extracted from embedded image xref 1202; original colors and aspect ratio preserved."/>
          <p:cNvPicPr>
            <a:picLocks noChangeAspect="1"/>
          </p:cNvPicPr>
          <p:nvPr/>
        </p:nvPicPr>
        <p:blipFill>
          <a:blip r:embed="rId2"/>
          <a:stretch>
            <a:fillRect/>
          </a:stretch>
        </p:blipFill>
        <p:spPr>
          <a:xfrm>
            <a:off x="731520" y="1919360"/>
            <a:ext cx="10707624" cy="2059158"/>
          </a:xfrm>
          <a:prstGeom prst="rect">
            <a:avLst/>
          </a:prstGeom>
        </p:spPr>
      </p:pic>
      <p:sp>
        <p:nvSpPr>
          <p:cNvPr id="10" name="TextBox 9"/>
          <p:cNvSpPr txBox="1"/>
          <p:nvPr/>
        </p:nvSpPr>
        <p:spPr>
          <a:xfrm>
            <a:off x="731520" y="4087368"/>
            <a:ext cx="10707624" cy="210312"/>
          </a:xfrm>
          <a:prstGeom prst="rect">
            <a:avLst/>
          </a:prstGeom>
          <a:noFill/>
        </p:spPr>
        <p:txBody>
          <a:bodyPr wrap="square" lIns="0" rIns="0" tIns="0" bIns="0" anchor="t">
            <a:noAutofit/>
          </a:bodyPr>
          <a:lstStyle/>
          <a:p>
            <a:pPr algn="ctr">
              <a:lnSpc>
                <a:spcPct val="114000"/>
              </a:lnSpc>
              <a:spcBef>
                <a:spcPts val="0"/>
              </a:spcBef>
              <a:spcAft>
                <a:spcPts val="0"/>
              </a:spcAft>
            </a:pPr>
            <a:r>
              <a:rPr sz="919" b="0">
                <a:solidFill>
                  <a:srgbClr val="5A6358"/>
                </a:solidFill>
                <a:latin typeface="Inter"/>
              </a:rPr>
              <a:t>NVIDIA Figure 13 · Guide p. 59 / PDF p. 77</a:t>
            </a:r>
          </a:p>
        </p:txBody>
      </p:sp>
      <p:sp>
        <p:nvSpPr>
          <p:cNvPr id="11" name="TextBox 10"/>
          <p:cNvSpPr txBox="1"/>
          <p:nvPr/>
        </p:nvSpPr>
        <p:spPr>
          <a:xfrm>
            <a:off x="795528" y="4453128"/>
            <a:ext cx="10625328" cy="484632"/>
          </a:xfrm>
          <a:prstGeom prst="rect">
            <a:avLst/>
          </a:prstGeom>
          <a:noFill/>
        </p:spPr>
        <p:txBody>
          <a:bodyPr wrap="square" lIns="0" rIns="0" tIns="0" bIns="0" anchor="t">
            <a:noAutofit/>
          </a:bodyPr>
          <a:lstStyle/>
          <a:p>
            <a:pPr algn="l">
              <a:lnSpc>
                <a:spcPct val="114000"/>
              </a:lnSpc>
              <a:spcBef>
                <a:spcPts val="0"/>
              </a:spcBef>
              <a:spcAft>
                <a:spcPts val="0"/>
              </a:spcAft>
            </a:pPr>
            <a:r>
              <a:rPr sz="2600" b="1">
                <a:solidFill>
                  <a:srgbClr val="121610"/>
                </a:solidFill>
                <a:latin typeface="Inter"/>
              </a:rPr>
              <a:t>128 useful bytes / 1,024 transaction bytes</a:t>
            </a:r>
          </a:p>
        </p:txBody>
      </p:sp>
      <p:sp>
        <p:nvSpPr>
          <p:cNvPr id="12" name="TextBox 11"/>
          <p:cNvSpPr txBox="1"/>
          <p:nvPr/>
        </p:nvSpPr>
        <p:spPr>
          <a:xfrm>
            <a:off x="804672" y="5102352"/>
            <a:ext cx="10616184" cy="420624"/>
          </a:xfrm>
          <a:prstGeom prst="rect">
            <a:avLst/>
          </a:prstGeom>
          <a:noFill/>
        </p:spPr>
        <p:txBody>
          <a:bodyPr wrap="square" lIns="0" rIns="0" tIns="0" bIns="0" anchor="t">
            <a:noAutofit/>
          </a:bodyPr>
          <a:lstStyle/>
          <a:p>
            <a:pPr algn="l">
              <a:lnSpc>
                <a:spcPct val="114000"/>
              </a:lnSpc>
              <a:spcBef>
                <a:spcPts val="0"/>
              </a:spcBef>
              <a:spcAft>
                <a:spcPts val="0"/>
              </a:spcAft>
            </a:pPr>
            <a:r>
              <a:rPr sz="2300" b="1">
                <a:solidFill>
                  <a:srgbClr val="4E7900"/>
                </a:solidFill>
                <a:latin typeface="Inter"/>
              </a:rPr>
              <a:t>12.5% utilization in this access example</a:t>
            </a:r>
          </a:p>
        </p:txBody>
      </p:sp>
      <p:sp>
        <p:nvSpPr>
          <p:cNvPr id="13" name="Rectangle 12"/>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This is NVIDIA’s transaction-accounting example—not benchmark data or an application speedup.</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MEMORY ACCESS</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Transpose moves values to different coordinates</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NVIDIA Figure 14 · §2.3.4.1.1, pp. 60–61 / PDF pp. 78–79</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31</a:t>
            </a:r>
          </a:p>
        </p:txBody>
      </p:sp>
      <p:sp>
        <p:nvSpPr>
          <p:cNvPr id="8" name="Rectangle 7"/>
          <p:cNvSpPr/>
          <p:nvPr/>
        </p:nvSpPr>
        <p:spPr>
          <a:xfrm>
            <a:off x="2584124" y="1810512"/>
            <a:ext cx="7020703" cy="299008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ORIGINAL_NVIDIA_fig14_transpose_PDF_page_79" descr="NVIDIA Figure 14; CUDA Programming Guide 13.4.2, PDF page 79, printed page 61. Extracted from embedded image xref 1211; original colors and aspect ratio preserved."/>
          <p:cNvPicPr>
            <a:picLocks noChangeAspect="1"/>
          </p:cNvPicPr>
          <p:nvPr/>
        </p:nvPicPr>
        <p:blipFill>
          <a:blip r:embed="rId2"/>
          <a:stretch>
            <a:fillRect/>
          </a:stretch>
        </p:blipFill>
        <p:spPr>
          <a:xfrm>
            <a:off x="2584124" y="1810512"/>
            <a:ext cx="7020703" cy="2990088"/>
          </a:xfrm>
          <a:prstGeom prst="rect">
            <a:avLst/>
          </a:prstGeom>
        </p:spPr>
      </p:pic>
      <p:sp>
        <p:nvSpPr>
          <p:cNvPr id="10" name="TextBox 9"/>
          <p:cNvSpPr txBox="1"/>
          <p:nvPr/>
        </p:nvSpPr>
        <p:spPr>
          <a:xfrm>
            <a:off x="832104" y="4873752"/>
            <a:ext cx="10524744" cy="210312"/>
          </a:xfrm>
          <a:prstGeom prst="rect">
            <a:avLst/>
          </a:prstGeom>
          <a:noFill/>
        </p:spPr>
        <p:txBody>
          <a:bodyPr wrap="square" lIns="0" rIns="0" tIns="0" bIns="0" anchor="t">
            <a:noAutofit/>
          </a:bodyPr>
          <a:lstStyle/>
          <a:p>
            <a:pPr algn="ctr">
              <a:lnSpc>
                <a:spcPct val="114000"/>
              </a:lnSpc>
              <a:spcBef>
                <a:spcPts val="0"/>
              </a:spcBef>
              <a:spcAft>
                <a:spcPts val="0"/>
              </a:spcAft>
            </a:pPr>
            <a:r>
              <a:rPr sz="919" b="0">
                <a:solidFill>
                  <a:srgbClr val="5A6358"/>
                </a:solidFill>
                <a:latin typeface="Inter"/>
              </a:rPr>
              <a:t>NVIDIA Figure 14 · Guide p. 61 / PDF p. 79</a:t>
            </a:r>
          </a:p>
        </p:txBody>
      </p:sp>
      <p:sp>
        <p:nvSpPr>
          <p:cNvPr id="11" name="TextBox 10"/>
          <p:cNvSpPr txBox="1"/>
          <p:nvPr/>
        </p:nvSpPr>
        <p:spPr>
          <a:xfrm>
            <a:off x="758952" y="5212080"/>
            <a:ext cx="10698480" cy="420624"/>
          </a:xfrm>
          <a:prstGeom prst="rect">
            <a:avLst/>
          </a:prstGeom>
          <a:noFill/>
        </p:spPr>
        <p:txBody>
          <a:bodyPr wrap="square" lIns="0" rIns="0" tIns="0" bIns="0" anchor="t">
            <a:noAutofit/>
          </a:bodyPr>
          <a:lstStyle/>
          <a:p>
            <a:pPr algn="l">
              <a:lnSpc>
                <a:spcPct val="114000"/>
              </a:lnSpc>
              <a:spcBef>
                <a:spcPts val="0"/>
              </a:spcBef>
              <a:spcAft>
                <a:spcPts val="0"/>
              </a:spcAft>
            </a:pPr>
            <a:r>
              <a:rPr sz="2600" b="1">
                <a:solidFill>
                  <a:srgbClr val="121610"/>
                </a:solidFill>
                <a:latin typeface="Inter"/>
              </a:rPr>
              <a:t>A[row, col] becomes B[col, row].</a:t>
            </a:r>
          </a:p>
        </p:txBody>
      </p:sp>
      <p:sp>
        <p:nvSpPr>
          <p:cNvPr id="12" name="Rectangle 11"/>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NVIDIA’s picture is square. The companion lab also tests rectangular and partial-tile shapes.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MEMORY ACCESS</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A naive transpose has easy loads and strided stores</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Course rectangular extension; concept: guide §2.3.4.1.1, pp. 60–62 / PDF pp. 78–80</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32</a:t>
            </a:r>
          </a:p>
        </p:txBody>
      </p:sp>
      <p:sp>
        <p:nvSpPr>
          <p:cNvPr id="8" name="Rectangle 7"/>
          <p:cNvSpPr/>
          <p:nvPr/>
        </p:nvSpPr>
        <p:spPr>
          <a:xfrm>
            <a:off x="585216" y="1865376"/>
            <a:ext cx="8293608" cy="3593592"/>
          </a:xfrm>
          <a:prstGeom prst="rect">
            <a:avLst/>
          </a:prstGeom>
          <a:solidFill>
            <a:srgbClr val="11170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68096" y="2020824"/>
            <a:ext cx="7927848" cy="210312"/>
          </a:xfrm>
          <a:prstGeom prst="rect">
            <a:avLst/>
          </a:prstGeom>
          <a:noFill/>
        </p:spPr>
        <p:txBody>
          <a:bodyPr wrap="square" lIns="0" rIns="0" tIns="0" bIns="0" anchor="t">
            <a:noAutofit/>
          </a:bodyPr>
          <a:lstStyle/>
          <a:p>
            <a:pPr algn="l">
              <a:lnSpc>
                <a:spcPct val="114000"/>
              </a:lnSpc>
              <a:spcBef>
                <a:spcPts val="0"/>
              </a:spcBef>
              <a:spcAft>
                <a:spcPts val="0"/>
              </a:spcAft>
            </a:pPr>
            <a:r>
              <a:rPr sz="900" b="1">
                <a:solidFill>
                  <a:srgbClr val="76B900"/>
                </a:solidFill>
                <a:latin typeface="Inter"/>
              </a:rPr>
              <a:t>COMPANION LAB · RECTANGULAR EXTENSION</a:t>
            </a:r>
          </a:p>
        </p:txBody>
      </p:sp>
      <p:sp>
        <p:nvSpPr>
          <p:cNvPr id="10" name="TextBox 9"/>
          <p:cNvSpPr txBox="1"/>
          <p:nvPr/>
        </p:nvSpPr>
        <p:spPr>
          <a:xfrm>
            <a:off x="768096" y="2377440"/>
            <a:ext cx="7927848" cy="2953512"/>
          </a:xfrm>
          <a:prstGeom prst="rect">
            <a:avLst/>
          </a:prstGeom>
          <a:noFill/>
        </p:spPr>
        <p:txBody>
          <a:bodyPr wrap="none" lIns="0" rIns="0" tIns="0" bIns="0">
            <a:noAutofit/>
          </a:bodyPr>
          <a:lstStyle/>
          <a:p>
            <a:pPr>
              <a:lnSpc>
                <a:spcPts val="2280"/>
              </a:lnSpc>
              <a:spcBef>
                <a:spcPts val="0"/>
              </a:spcBef>
              <a:spcAft>
                <a:spcPts val="0"/>
              </a:spcAft>
            </a:pPr>
            <a:r>
              <a:rPr sz="1900">
                <a:solidFill>
                  <a:srgbClr val="EDF3E6"/>
                </a:solidFill>
                <a:latin typeface="DejaVu Sans Mono"/>
              </a:rPr>
              <a:t>__global__</a:t>
            </a:r>
            <a:r>
              <a:rPr sz="1900">
                <a:solidFill>
                  <a:srgbClr val="EDF3E6"/>
                </a:solidFill>
                <a:latin typeface="DejaVu Sans Mono"/>
              </a:rPr>
              <a:t> </a:t>
            </a:r>
            <a:r>
              <a:rPr sz="1900" b="1">
                <a:solidFill>
                  <a:srgbClr val="AADA57"/>
                </a:solidFill>
                <a:latin typeface="DejaVu Sans Mono"/>
              </a:rPr>
              <a:t>void</a:t>
            </a:r>
            <a:r>
              <a:rPr sz="1900">
                <a:solidFill>
                  <a:srgbClr val="EDF3E6"/>
                </a:solidFill>
                <a:latin typeface="DejaVu Sans Mono"/>
              </a:rPr>
              <a:t> </a:t>
            </a:r>
            <a:r>
              <a:rPr sz="1900">
                <a:solidFill>
                  <a:srgbClr val="EDF3E6"/>
                </a:solidFill>
                <a:latin typeface="DejaVu Sans Mono"/>
              </a:rPr>
              <a:t>transpose_naive</a:t>
            </a:r>
            <a:r>
              <a:rPr sz="1900">
                <a:solidFill>
                  <a:srgbClr val="EDF3E6"/>
                </a:solidFill>
                <a:latin typeface="DejaVu Sans Mono"/>
              </a:rPr>
              <a:t>(</a:t>
            </a:r>
          </a:p>
          <a:p>
            <a:pPr>
              <a:lnSpc>
                <a:spcPts val="2280"/>
              </a:lnSpc>
              <a:spcBef>
                <a:spcPts val="0"/>
              </a:spcBef>
              <a:spcAft>
                <a:spcPts val="0"/>
              </a:spcAft>
            </a:pPr>
            <a:r>
              <a:rPr sz="1900">
                <a:solidFill>
                  <a:srgbClr val="EDF3E6"/>
                </a:solidFill>
                <a:latin typeface="DejaVu Sans Mono"/>
              </a:rPr>
              <a:t>    </a:t>
            </a:r>
            <a:r>
              <a:rPr sz="1900" b="1">
                <a:solidFill>
                  <a:srgbClr val="AADA57"/>
                </a:solidFill>
                <a:latin typeface="DejaVu Sans Mono"/>
              </a:rPr>
              <a:t>const</a:t>
            </a:r>
            <a:r>
              <a:rPr sz="1900">
                <a:solidFill>
                  <a:srgbClr val="EDF3E6"/>
                </a:solidFill>
                <a:latin typeface="DejaVu Sans Mono"/>
              </a:rPr>
              <a:t> </a:t>
            </a:r>
            <a:r>
              <a:rPr sz="1900" b="1">
                <a:solidFill>
                  <a:srgbClr val="AADA57"/>
                </a:solidFill>
                <a:latin typeface="DejaVu Sans Mono"/>
              </a:rPr>
              <a:t>float</a:t>
            </a:r>
            <a:r>
              <a:rPr sz="1900">
                <a:solidFill>
                  <a:srgbClr val="EDF3E6"/>
                </a:solidFill>
                <a:latin typeface="DejaVu Sans Mono"/>
              </a:rPr>
              <a:t>*</a:t>
            </a:r>
            <a:r>
              <a:rPr sz="1900">
                <a:solidFill>
                  <a:srgbClr val="EDF3E6"/>
                </a:solidFill>
                <a:latin typeface="DejaVu Sans Mono"/>
              </a:rPr>
              <a:t> </a:t>
            </a:r>
            <a:r>
              <a:rPr sz="1900">
                <a:solidFill>
                  <a:srgbClr val="EDF3E6"/>
                </a:solidFill>
                <a:latin typeface="DejaVu Sans Mono"/>
              </a:rPr>
              <a:t>in</a:t>
            </a:r>
            <a:r>
              <a:rPr sz="1900">
                <a:solidFill>
                  <a:srgbClr val="EDF3E6"/>
                </a:solidFill>
                <a:latin typeface="DejaVu Sans Mono"/>
              </a:rPr>
              <a:t>,</a:t>
            </a:r>
            <a:r>
              <a:rPr sz="1900">
                <a:solidFill>
                  <a:srgbClr val="EDF3E6"/>
                </a:solidFill>
                <a:latin typeface="DejaVu Sans Mono"/>
              </a:rPr>
              <a:t> </a:t>
            </a:r>
            <a:r>
              <a:rPr sz="1900" b="1">
                <a:solidFill>
                  <a:srgbClr val="AADA57"/>
                </a:solidFill>
                <a:latin typeface="DejaVu Sans Mono"/>
              </a:rPr>
              <a:t>float</a:t>
            </a:r>
            <a:r>
              <a:rPr sz="1900">
                <a:solidFill>
                  <a:srgbClr val="EDF3E6"/>
                </a:solidFill>
                <a:latin typeface="DejaVu Sans Mono"/>
              </a:rPr>
              <a:t>*</a:t>
            </a:r>
            <a:r>
              <a:rPr sz="1900">
                <a:solidFill>
                  <a:srgbClr val="EDF3E6"/>
                </a:solidFill>
                <a:latin typeface="DejaVu Sans Mono"/>
              </a:rPr>
              <a:t> </a:t>
            </a:r>
            <a:r>
              <a:rPr sz="1900">
                <a:solidFill>
                  <a:srgbClr val="EDF3E6"/>
                </a:solidFill>
                <a:latin typeface="DejaVu Sans Mono"/>
              </a:rPr>
              <a:t>out</a:t>
            </a:r>
            <a:r>
              <a:rPr sz="1900">
                <a:solidFill>
                  <a:srgbClr val="EDF3E6"/>
                </a:solidFill>
                <a:latin typeface="DejaVu Sans Mono"/>
              </a:rPr>
              <a:t>,</a:t>
            </a:r>
            <a:r>
              <a:rPr sz="1900">
                <a:solidFill>
                  <a:srgbClr val="EDF3E6"/>
                </a:solidFill>
                <a:latin typeface="DejaVu Sans Mono"/>
              </a:rPr>
              <a:t> </a:t>
            </a:r>
            <a:r>
              <a:rPr sz="1900" b="1">
                <a:solidFill>
                  <a:srgbClr val="AADA57"/>
                </a:solidFill>
                <a:latin typeface="DejaVu Sans Mono"/>
              </a:rPr>
              <a:t>int</a:t>
            </a:r>
            <a:r>
              <a:rPr sz="1900">
                <a:solidFill>
                  <a:srgbClr val="EDF3E6"/>
                </a:solidFill>
                <a:latin typeface="DejaVu Sans Mono"/>
              </a:rPr>
              <a:t> </a:t>
            </a:r>
            <a:r>
              <a:rPr sz="1900">
                <a:solidFill>
                  <a:srgbClr val="EDF3E6"/>
                </a:solidFill>
                <a:latin typeface="DejaVu Sans Mono"/>
              </a:rPr>
              <a:t>rows</a:t>
            </a:r>
            <a:r>
              <a:rPr sz="1900">
                <a:solidFill>
                  <a:srgbClr val="EDF3E6"/>
                </a:solidFill>
                <a:latin typeface="DejaVu Sans Mono"/>
              </a:rPr>
              <a:t>,</a:t>
            </a:r>
            <a:r>
              <a:rPr sz="1900">
                <a:solidFill>
                  <a:srgbClr val="EDF3E6"/>
                </a:solidFill>
                <a:latin typeface="DejaVu Sans Mono"/>
              </a:rPr>
              <a:t> </a:t>
            </a:r>
            <a:r>
              <a:rPr sz="1900" b="1">
                <a:solidFill>
                  <a:srgbClr val="AADA57"/>
                </a:solidFill>
                <a:latin typeface="DejaVu Sans Mono"/>
              </a:rPr>
              <a:t>int</a:t>
            </a:r>
            <a:r>
              <a:rPr sz="1900">
                <a:solidFill>
                  <a:srgbClr val="EDF3E6"/>
                </a:solidFill>
                <a:latin typeface="DejaVu Sans Mono"/>
              </a:rPr>
              <a:t> </a:t>
            </a:r>
            <a:r>
              <a:rPr sz="1900">
                <a:solidFill>
                  <a:srgbClr val="EDF3E6"/>
                </a:solidFill>
                <a:latin typeface="DejaVu Sans Mono"/>
              </a:rPr>
              <a:t>cols</a:t>
            </a:r>
            <a:r>
              <a:rPr sz="1900">
                <a:solidFill>
                  <a:srgbClr val="EDF3E6"/>
                </a:solidFill>
                <a:latin typeface="DejaVu Sans Mono"/>
              </a:rPr>
              <a:t>)</a:t>
            </a:r>
            <a:r>
              <a:rPr sz="1900">
                <a:solidFill>
                  <a:srgbClr val="EDF3E6"/>
                </a:solidFill>
                <a:latin typeface="DejaVu Sans Mono"/>
              </a:rPr>
              <a:t> </a:t>
            </a:r>
            <a:r>
              <a:rPr sz="1900">
                <a:solidFill>
                  <a:srgbClr val="EDF3E6"/>
                </a:solidFill>
                <a:latin typeface="DejaVu Sans Mono"/>
              </a:rPr>
              <a:t>{</a:t>
            </a:r>
          </a:p>
          <a:p>
            <a:pPr>
              <a:lnSpc>
                <a:spcPts val="2280"/>
              </a:lnSpc>
              <a:spcBef>
                <a:spcPts val="0"/>
              </a:spcBef>
              <a:spcAft>
                <a:spcPts val="0"/>
              </a:spcAft>
            </a:pPr>
            <a:r>
              <a:rPr sz="1900">
                <a:solidFill>
                  <a:srgbClr val="EDF3E6"/>
                </a:solidFill>
                <a:latin typeface="DejaVu Sans Mono"/>
              </a:rPr>
              <a:t>  </a:t>
            </a:r>
            <a:r>
              <a:rPr sz="1900" b="1">
                <a:solidFill>
                  <a:srgbClr val="AADA57"/>
                </a:solidFill>
                <a:latin typeface="DejaVu Sans Mono"/>
              </a:rPr>
              <a:t>int</a:t>
            </a:r>
            <a:r>
              <a:rPr sz="1900">
                <a:solidFill>
                  <a:srgbClr val="EDF3E6"/>
                </a:solidFill>
                <a:latin typeface="DejaVu Sans Mono"/>
              </a:rPr>
              <a:t> </a:t>
            </a:r>
            <a:r>
              <a:rPr sz="1900">
                <a:solidFill>
                  <a:srgbClr val="EDF3E6"/>
                </a:solidFill>
                <a:latin typeface="DejaVu Sans Mono"/>
              </a:rPr>
              <a:t>x</a:t>
            </a:r>
            <a:r>
              <a:rPr sz="1900">
                <a:solidFill>
                  <a:srgbClr val="EDF3E6"/>
                </a:solidFill>
                <a:latin typeface="DejaVu Sans Mono"/>
              </a:rPr>
              <a:t> </a:t>
            </a:r>
            <a:r>
              <a:rPr sz="1900">
                <a:solidFill>
                  <a:srgbClr val="EDF3E6"/>
                </a:solidFill>
                <a:latin typeface="DejaVu Sans Mono"/>
              </a:rPr>
              <a:t>=</a:t>
            </a:r>
            <a:r>
              <a:rPr sz="1900">
                <a:solidFill>
                  <a:srgbClr val="EDF3E6"/>
                </a:solidFill>
                <a:latin typeface="DejaVu Sans Mono"/>
              </a:rPr>
              <a:t> </a:t>
            </a:r>
            <a:r>
              <a:rPr sz="1900">
                <a:solidFill>
                  <a:srgbClr val="EDF3E6"/>
                </a:solidFill>
                <a:latin typeface="DejaVu Sans Mono"/>
              </a:rPr>
              <a:t>blockIdx</a:t>
            </a:r>
            <a:r>
              <a:rPr sz="1900">
                <a:solidFill>
                  <a:srgbClr val="EDF3E6"/>
                </a:solidFill>
                <a:latin typeface="DejaVu Sans Mono"/>
              </a:rPr>
              <a:t>.</a:t>
            </a:r>
            <a:r>
              <a:rPr sz="1900">
                <a:solidFill>
                  <a:srgbClr val="EDF3E6"/>
                </a:solidFill>
                <a:latin typeface="DejaVu Sans Mono"/>
              </a:rPr>
              <a:t>x</a:t>
            </a:r>
            <a:r>
              <a:rPr sz="1900">
                <a:solidFill>
                  <a:srgbClr val="EDF3E6"/>
                </a:solidFill>
                <a:latin typeface="DejaVu Sans Mono"/>
              </a:rPr>
              <a:t> </a:t>
            </a:r>
            <a:r>
              <a:rPr sz="1900">
                <a:solidFill>
                  <a:srgbClr val="EDF3E6"/>
                </a:solidFill>
                <a:latin typeface="DejaVu Sans Mono"/>
              </a:rPr>
              <a:t>*</a:t>
            </a:r>
            <a:r>
              <a:rPr sz="1900">
                <a:solidFill>
                  <a:srgbClr val="EDF3E6"/>
                </a:solidFill>
                <a:latin typeface="DejaVu Sans Mono"/>
              </a:rPr>
              <a:t> </a:t>
            </a:r>
            <a:r>
              <a:rPr sz="1900">
                <a:solidFill>
                  <a:srgbClr val="EDF3E6"/>
                </a:solidFill>
                <a:latin typeface="DejaVu Sans Mono"/>
              </a:rPr>
              <a:t>blockDim</a:t>
            </a:r>
            <a:r>
              <a:rPr sz="1900">
                <a:solidFill>
                  <a:srgbClr val="EDF3E6"/>
                </a:solidFill>
                <a:latin typeface="DejaVu Sans Mono"/>
              </a:rPr>
              <a:t>.</a:t>
            </a:r>
            <a:r>
              <a:rPr sz="1900">
                <a:solidFill>
                  <a:srgbClr val="EDF3E6"/>
                </a:solidFill>
                <a:latin typeface="DejaVu Sans Mono"/>
              </a:rPr>
              <a:t>x</a:t>
            </a:r>
            <a:r>
              <a:rPr sz="1900">
                <a:solidFill>
                  <a:srgbClr val="EDF3E6"/>
                </a:solidFill>
                <a:latin typeface="DejaVu Sans Mono"/>
              </a:rPr>
              <a:t> </a:t>
            </a:r>
            <a:r>
              <a:rPr sz="1900">
                <a:solidFill>
                  <a:srgbClr val="EDF3E6"/>
                </a:solidFill>
                <a:latin typeface="DejaVu Sans Mono"/>
              </a:rPr>
              <a:t>+</a:t>
            </a:r>
            <a:r>
              <a:rPr sz="1900">
                <a:solidFill>
                  <a:srgbClr val="EDF3E6"/>
                </a:solidFill>
                <a:latin typeface="DejaVu Sans Mono"/>
              </a:rPr>
              <a:t> </a:t>
            </a:r>
            <a:r>
              <a:rPr sz="1900">
                <a:solidFill>
                  <a:srgbClr val="EDF3E6"/>
                </a:solidFill>
                <a:latin typeface="DejaVu Sans Mono"/>
              </a:rPr>
              <a:t>threadIdx</a:t>
            </a:r>
            <a:r>
              <a:rPr sz="1900">
                <a:solidFill>
                  <a:srgbClr val="EDF3E6"/>
                </a:solidFill>
                <a:latin typeface="DejaVu Sans Mono"/>
              </a:rPr>
              <a:t>.</a:t>
            </a:r>
            <a:r>
              <a:rPr sz="1900">
                <a:solidFill>
                  <a:srgbClr val="EDF3E6"/>
                </a:solidFill>
                <a:latin typeface="DejaVu Sans Mono"/>
              </a:rPr>
              <a:t>x</a:t>
            </a:r>
            <a:r>
              <a:rPr sz="1900">
                <a:solidFill>
                  <a:srgbClr val="EDF3E6"/>
                </a:solidFill>
                <a:latin typeface="DejaVu Sans Mono"/>
              </a:rPr>
              <a:t>;</a:t>
            </a:r>
          </a:p>
          <a:p>
            <a:pPr>
              <a:lnSpc>
                <a:spcPts val="2280"/>
              </a:lnSpc>
              <a:spcBef>
                <a:spcPts val="0"/>
              </a:spcBef>
              <a:spcAft>
                <a:spcPts val="0"/>
              </a:spcAft>
            </a:pPr>
            <a:r>
              <a:rPr sz="1900">
                <a:solidFill>
                  <a:srgbClr val="EDF3E6"/>
                </a:solidFill>
                <a:latin typeface="DejaVu Sans Mono"/>
              </a:rPr>
              <a:t>  </a:t>
            </a:r>
            <a:r>
              <a:rPr sz="1900" b="1">
                <a:solidFill>
                  <a:srgbClr val="AADA57"/>
                </a:solidFill>
                <a:latin typeface="DejaVu Sans Mono"/>
              </a:rPr>
              <a:t>int</a:t>
            </a:r>
            <a:r>
              <a:rPr sz="1900">
                <a:solidFill>
                  <a:srgbClr val="EDF3E6"/>
                </a:solidFill>
                <a:latin typeface="DejaVu Sans Mono"/>
              </a:rPr>
              <a:t> </a:t>
            </a:r>
            <a:r>
              <a:rPr sz="1900">
                <a:solidFill>
                  <a:srgbClr val="EDF3E6"/>
                </a:solidFill>
                <a:latin typeface="DejaVu Sans Mono"/>
              </a:rPr>
              <a:t>y</a:t>
            </a:r>
            <a:r>
              <a:rPr sz="1900">
                <a:solidFill>
                  <a:srgbClr val="EDF3E6"/>
                </a:solidFill>
                <a:latin typeface="DejaVu Sans Mono"/>
              </a:rPr>
              <a:t> </a:t>
            </a:r>
            <a:r>
              <a:rPr sz="1900">
                <a:solidFill>
                  <a:srgbClr val="EDF3E6"/>
                </a:solidFill>
                <a:latin typeface="DejaVu Sans Mono"/>
              </a:rPr>
              <a:t>=</a:t>
            </a:r>
            <a:r>
              <a:rPr sz="1900">
                <a:solidFill>
                  <a:srgbClr val="EDF3E6"/>
                </a:solidFill>
                <a:latin typeface="DejaVu Sans Mono"/>
              </a:rPr>
              <a:t> </a:t>
            </a:r>
            <a:r>
              <a:rPr sz="1900">
                <a:solidFill>
                  <a:srgbClr val="EDF3E6"/>
                </a:solidFill>
                <a:latin typeface="DejaVu Sans Mono"/>
              </a:rPr>
              <a:t>blockIdx</a:t>
            </a:r>
            <a:r>
              <a:rPr sz="1900">
                <a:solidFill>
                  <a:srgbClr val="EDF3E6"/>
                </a:solidFill>
                <a:latin typeface="DejaVu Sans Mono"/>
              </a:rPr>
              <a:t>.</a:t>
            </a:r>
            <a:r>
              <a:rPr sz="1900">
                <a:solidFill>
                  <a:srgbClr val="EDF3E6"/>
                </a:solidFill>
                <a:latin typeface="DejaVu Sans Mono"/>
              </a:rPr>
              <a:t>y</a:t>
            </a:r>
            <a:r>
              <a:rPr sz="1900">
                <a:solidFill>
                  <a:srgbClr val="EDF3E6"/>
                </a:solidFill>
                <a:latin typeface="DejaVu Sans Mono"/>
              </a:rPr>
              <a:t> </a:t>
            </a:r>
            <a:r>
              <a:rPr sz="1900">
                <a:solidFill>
                  <a:srgbClr val="EDF3E6"/>
                </a:solidFill>
                <a:latin typeface="DejaVu Sans Mono"/>
              </a:rPr>
              <a:t>*</a:t>
            </a:r>
            <a:r>
              <a:rPr sz="1900">
                <a:solidFill>
                  <a:srgbClr val="EDF3E6"/>
                </a:solidFill>
                <a:latin typeface="DejaVu Sans Mono"/>
              </a:rPr>
              <a:t> </a:t>
            </a:r>
            <a:r>
              <a:rPr sz="1900">
                <a:solidFill>
                  <a:srgbClr val="EDF3E6"/>
                </a:solidFill>
                <a:latin typeface="DejaVu Sans Mono"/>
              </a:rPr>
              <a:t>blockDim</a:t>
            </a:r>
            <a:r>
              <a:rPr sz="1900">
                <a:solidFill>
                  <a:srgbClr val="EDF3E6"/>
                </a:solidFill>
                <a:latin typeface="DejaVu Sans Mono"/>
              </a:rPr>
              <a:t>.</a:t>
            </a:r>
            <a:r>
              <a:rPr sz="1900">
                <a:solidFill>
                  <a:srgbClr val="EDF3E6"/>
                </a:solidFill>
                <a:latin typeface="DejaVu Sans Mono"/>
              </a:rPr>
              <a:t>y</a:t>
            </a:r>
            <a:r>
              <a:rPr sz="1900">
                <a:solidFill>
                  <a:srgbClr val="EDF3E6"/>
                </a:solidFill>
                <a:latin typeface="DejaVu Sans Mono"/>
              </a:rPr>
              <a:t> </a:t>
            </a:r>
            <a:r>
              <a:rPr sz="1900">
                <a:solidFill>
                  <a:srgbClr val="EDF3E6"/>
                </a:solidFill>
                <a:latin typeface="DejaVu Sans Mono"/>
              </a:rPr>
              <a:t>+</a:t>
            </a:r>
            <a:r>
              <a:rPr sz="1900">
                <a:solidFill>
                  <a:srgbClr val="EDF3E6"/>
                </a:solidFill>
                <a:latin typeface="DejaVu Sans Mono"/>
              </a:rPr>
              <a:t> </a:t>
            </a:r>
            <a:r>
              <a:rPr sz="1900">
                <a:solidFill>
                  <a:srgbClr val="EDF3E6"/>
                </a:solidFill>
                <a:latin typeface="DejaVu Sans Mono"/>
              </a:rPr>
              <a:t>threadIdx</a:t>
            </a:r>
            <a:r>
              <a:rPr sz="1900">
                <a:solidFill>
                  <a:srgbClr val="EDF3E6"/>
                </a:solidFill>
                <a:latin typeface="DejaVu Sans Mono"/>
              </a:rPr>
              <a:t>.</a:t>
            </a:r>
            <a:r>
              <a:rPr sz="1900">
                <a:solidFill>
                  <a:srgbClr val="EDF3E6"/>
                </a:solidFill>
                <a:latin typeface="DejaVu Sans Mono"/>
              </a:rPr>
              <a:t>y</a:t>
            </a:r>
            <a:r>
              <a:rPr sz="1900">
                <a:solidFill>
                  <a:srgbClr val="EDF3E6"/>
                </a:solidFill>
                <a:latin typeface="DejaVu Sans Mono"/>
              </a:rPr>
              <a:t>;</a:t>
            </a:r>
          </a:p>
          <a:p>
            <a:pPr>
              <a:lnSpc>
                <a:spcPts val="2280"/>
              </a:lnSpc>
              <a:spcBef>
                <a:spcPts val="0"/>
              </a:spcBef>
              <a:spcAft>
                <a:spcPts val="0"/>
              </a:spcAft>
            </a:pPr>
            <a:r>
              <a:rPr sz="1900">
                <a:solidFill>
                  <a:srgbClr val="EDF3E6"/>
                </a:solidFill>
                <a:latin typeface="DejaVu Sans Mono"/>
              </a:rPr>
              <a:t>  </a:t>
            </a:r>
            <a:r>
              <a:rPr sz="1900" b="1">
                <a:solidFill>
                  <a:srgbClr val="AADA57"/>
                </a:solidFill>
                <a:latin typeface="DejaVu Sans Mono"/>
              </a:rPr>
              <a:t>if</a:t>
            </a:r>
            <a:r>
              <a:rPr sz="1900">
                <a:solidFill>
                  <a:srgbClr val="EDF3E6"/>
                </a:solidFill>
                <a:latin typeface="DejaVu Sans Mono"/>
              </a:rPr>
              <a:t> </a:t>
            </a:r>
            <a:r>
              <a:rPr sz="1900">
                <a:solidFill>
                  <a:srgbClr val="EDF3E6"/>
                </a:solidFill>
                <a:latin typeface="DejaVu Sans Mono"/>
              </a:rPr>
              <a:t>(</a:t>
            </a:r>
            <a:r>
              <a:rPr sz="1900">
                <a:solidFill>
                  <a:srgbClr val="EDF3E6"/>
                </a:solidFill>
                <a:latin typeface="DejaVu Sans Mono"/>
              </a:rPr>
              <a:t>x</a:t>
            </a:r>
            <a:r>
              <a:rPr sz="1900">
                <a:solidFill>
                  <a:srgbClr val="EDF3E6"/>
                </a:solidFill>
                <a:latin typeface="DejaVu Sans Mono"/>
              </a:rPr>
              <a:t> </a:t>
            </a:r>
            <a:r>
              <a:rPr sz="1900">
                <a:solidFill>
                  <a:srgbClr val="EDF3E6"/>
                </a:solidFill>
                <a:latin typeface="DejaVu Sans Mono"/>
              </a:rPr>
              <a:t>&lt;</a:t>
            </a:r>
            <a:r>
              <a:rPr sz="1900">
                <a:solidFill>
                  <a:srgbClr val="EDF3E6"/>
                </a:solidFill>
                <a:latin typeface="DejaVu Sans Mono"/>
              </a:rPr>
              <a:t> </a:t>
            </a:r>
            <a:r>
              <a:rPr sz="1900">
                <a:solidFill>
                  <a:srgbClr val="EDF3E6"/>
                </a:solidFill>
                <a:latin typeface="DejaVu Sans Mono"/>
              </a:rPr>
              <a:t>cols</a:t>
            </a:r>
            <a:r>
              <a:rPr sz="1900">
                <a:solidFill>
                  <a:srgbClr val="EDF3E6"/>
                </a:solidFill>
                <a:latin typeface="DejaVu Sans Mono"/>
              </a:rPr>
              <a:t> </a:t>
            </a:r>
            <a:r>
              <a:rPr sz="1900">
                <a:solidFill>
                  <a:srgbClr val="EDF3E6"/>
                </a:solidFill>
                <a:latin typeface="DejaVu Sans Mono"/>
              </a:rPr>
              <a:t>&amp;</a:t>
            </a:r>
            <a:r>
              <a:rPr sz="1900">
                <a:solidFill>
                  <a:srgbClr val="EDF3E6"/>
                </a:solidFill>
                <a:latin typeface="DejaVu Sans Mono"/>
              </a:rPr>
              <a:t>&amp;</a:t>
            </a:r>
            <a:r>
              <a:rPr sz="1900">
                <a:solidFill>
                  <a:srgbClr val="EDF3E6"/>
                </a:solidFill>
                <a:latin typeface="DejaVu Sans Mono"/>
              </a:rPr>
              <a:t> </a:t>
            </a:r>
            <a:r>
              <a:rPr sz="1900">
                <a:solidFill>
                  <a:srgbClr val="EDF3E6"/>
                </a:solidFill>
                <a:latin typeface="DejaVu Sans Mono"/>
              </a:rPr>
              <a:t>y</a:t>
            </a:r>
            <a:r>
              <a:rPr sz="1900">
                <a:solidFill>
                  <a:srgbClr val="EDF3E6"/>
                </a:solidFill>
                <a:latin typeface="DejaVu Sans Mono"/>
              </a:rPr>
              <a:t> </a:t>
            </a:r>
            <a:r>
              <a:rPr sz="1900">
                <a:solidFill>
                  <a:srgbClr val="EDF3E6"/>
                </a:solidFill>
                <a:latin typeface="DejaVu Sans Mono"/>
              </a:rPr>
              <a:t>&lt;</a:t>
            </a:r>
            <a:r>
              <a:rPr sz="1900">
                <a:solidFill>
                  <a:srgbClr val="EDF3E6"/>
                </a:solidFill>
                <a:latin typeface="DejaVu Sans Mono"/>
              </a:rPr>
              <a:t> </a:t>
            </a:r>
            <a:r>
              <a:rPr sz="1900">
                <a:solidFill>
                  <a:srgbClr val="EDF3E6"/>
                </a:solidFill>
                <a:latin typeface="DejaVu Sans Mono"/>
              </a:rPr>
              <a:t>rows</a:t>
            </a:r>
            <a:r>
              <a:rPr sz="1900">
                <a:solidFill>
                  <a:srgbClr val="EDF3E6"/>
                </a:solidFill>
                <a:latin typeface="DejaVu Sans Mono"/>
              </a:rPr>
              <a:t>)</a:t>
            </a:r>
          </a:p>
          <a:p>
            <a:pPr>
              <a:lnSpc>
                <a:spcPts val="2280"/>
              </a:lnSpc>
              <a:spcBef>
                <a:spcPts val="0"/>
              </a:spcBef>
              <a:spcAft>
                <a:spcPts val="0"/>
              </a:spcAft>
            </a:pPr>
            <a:r>
              <a:rPr sz="1900">
                <a:solidFill>
                  <a:srgbClr val="EDF3E6"/>
                </a:solidFill>
                <a:latin typeface="DejaVu Sans Mono"/>
              </a:rPr>
              <a:t>    </a:t>
            </a:r>
            <a:r>
              <a:rPr sz="1900">
                <a:solidFill>
                  <a:srgbClr val="EDF3E6"/>
                </a:solidFill>
                <a:latin typeface="DejaVu Sans Mono"/>
              </a:rPr>
              <a:t>out</a:t>
            </a:r>
            <a:r>
              <a:rPr sz="1900">
                <a:solidFill>
                  <a:srgbClr val="EDF3E6"/>
                </a:solidFill>
                <a:latin typeface="DejaVu Sans Mono"/>
              </a:rPr>
              <a:t>[</a:t>
            </a:r>
            <a:r>
              <a:rPr sz="1900">
                <a:solidFill>
                  <a:srgbClr val="EDF3E6"/>
                </a:solidFill>
                <a:latin typeface="DejaVu Sans Mono"/>
              </a:rPr>
              <a:t>x</a:t>
            </a:r>
            <a:r>
              <a:rPr sz="1900">
                <a:solidFill>
                  <a:srgbClr val="EDF3E6"/>
                </a:solidFill>
                <a:latin typeface="DejaVu Sans Mono"/>
              </a:rPr>
              <a:t> </a:t>
            </a:r>
            <a:r>
              <a:rPr sz="1900">
                <a:solidFill>
                  <a:srgbClr val="EDF3E6"/>
                </a:solidFill>
                <a:latin typeface="DejaVu Sans Mono"/>
              </a:rPr>
              <a:t>*</a:t>
            </a:r>
            <a:r>
              <a:rPr sz="1900">
                <a:solidFill>
                  <a:srgbClr val="EDF3E6"/>
                </a:solidFill>
                <a:latin typeface="DejaVu Sans Mono"/>
              </a:rPr>
              <a:t> </a:t>
            </a:r>
            <a:r>
              <a:rPr sz="1900">
                <a:solidFill>
                  <a:srgbClr val="EDF3E6"/>
                </a:solidFill>
                <a:latin typeface="DejaVu Sans Mono"/>
              </a:rPr>
              <a:t>rows</a:t>
            </a:r>
            <a:r>
              <a:rPr sz="1900">
                <a:solidFill>
                  <a:srgbClr val="EDF3E6"/>
                </a:solidFill>
                <a:latin typeface="DejaVu Sans Mono"/>
              </a:rPr>
              <a:t> </a:t>
            </a:r>
            <a:r>
              <a:rPr sz="1900">
                <a:solidFill>
                  <a:srgbClr val="EDF3E6"/>
                </a:solidFill>
                <a:latin typeface="DejaVu Sans Mono"/>
              </a:rPr>
              <a:t>+</a:t>
            </a:r>
            <a:r>
              <a:rPr sz="1900">
                <a:solidFill>
                  <a:srgbClr val="EDF3E6"/>
                </a:solidFill>
                <a:latin typeface="DejaVu Sans Mono"/>
              </a:rPr>
              <a:t> </a:t>
            </a:r>
            <a:r>
              <a:rPr sz="1900">
                <a:solidFill>
                  <a:srgbClr val="EDF3E6"/>
                </a:solidFill>
                <a:latin typeface="DejaVu Sans Mono"/>
              </a:rPr>
              <a:t>y</a:t>
            </a:r>
            <a:r>
              <a:rPr sz="1900">
                <a:solidFill>
                  <a:srgbClr val="EDF3E6"/>
                </a:solidFill>
                <a:latin typeface="DejaVu Sans Mono"/>
              </a:rPr>
              <a:t>]</a:t>
            </a:r>
            <a:r>
              <a:rPr sz="1900">
                <a:solidFill>
                  <a:srgbClr val="EDF3E6"/>
                </a:solidFill>
                <a:latin typeface="DejaVu Sans Mono"/>
              </a:rPr>
              <a:t> </a:t>
            </a:r>
            <a:r>
              <a:rPr sz="1900">
                <a:solidFill>
                  <a:srgbClr val="EDF3E6"/>
                </a:solidFill>
                <a:latin typeface="DejaVu Sans Mono"/>
              </a:rPr>
              <a:t>=</a:t>
            </a:r>
            <a:r>
              <a:rPr sz="1900">
                <a:solidFill>
                  <a:srgbClr val="EDF3E6"/>
                </a:solidFill>
                <a:latin typeface="DejaVu Sans Mono"/>
              </a:rPr>
              <a:t> </a:t>
            </a:r>
            <a:r>
              <a:rPr sz="1900">
                <a:solidFill>
                  <a:srgbClr val="EDF3E6"/>
                </a:solidFill>
                <a:latin typeface="DejaVu Sans Mono"/>
              </a:rPr>
              <a:t>in</a:t>
            </a:r>
            <a:r>
              <a:rPr sz="1900">
                <a:solidFill>
                  <a:srgbClr val="EDF3E6"/>
                </a:solidFill>
                <a:latin typeface="DejaVu Sans Mono"/>
              </a:rPr>
              <a:t>[</a:t>
            </a:r>
            <a:r>
              <a:rPr sz="1900">
                <a:solidFill>
                  <a:srgbClr val="EDF3E6"/>
                </a:solidFill>
                <a:latin typeface="DejaVu Sans Mono"/>
              </a:rPr>
              <a:t>y</a:t>
            </a:r>
            <a:r>
              <a:rPr sz="1900">
                <a:solidFill>
                  <a:srgbClr val="EDF3E6"/>
                </a:solidFill>
                <a:latin typeface="DejaVu Sans Mono"/>
              </a:rPr>
              <a:t> </a:t>
            </a:r>
            <a:r>
              <a:rPr sz="1900">
                <a:solidFill>
                  <a:srgbClr val="EDF3E6"/>
                </a:solidFill>
                <a:latin typeface="DejaVu Sans Mono"/>
              </a:rPr>
              <a:t>*</a:t>
            </a:r>
            <a:r>
              <a:rPr sz="1900">
                <a:solidFill>
                  <a:srgbClr val="EDF3E6"/>
                </a:solidFill>
                <a:latin typeface="DejaVu Sans Mono"/>
              </a:rPr>
              <a:t> </a:t>
            </a:r>
            <a:r>
              <a:rPr sz="1900">
                <a:solidFill>
                  <a:srgbClr val="EDF3E6"/>
                </a:solidFill>
                <a:latin typeface="DejaVu Sans Mono"/>
              </a:rPr>
              <a:t>cols</a:t>
            </a:r>
            <a:r>
              <a:rPr sz="1900">
                <a:solidFill>
                  <a:srgbClr val="EDF3E6"/>
                </a:solidFill>
                <a:latin typeface="DejaVu Sans Mono"/>
              </a:rPr>
              <a:t> </a:t>
            </a:r>
            <a:r>
              <a:rPr sz="1900">
                <a:solidFill>
                  <a:srgbClr val="EDF3E6"/>
                </a:solidFill>
                <a:latin typeface="DejaVu Sans Mono"/>
              </a:rPr>
              <a:t>+</a:t>
            </a:r>
            <a:r>
              <a:rPr sz="1900">
                <a:solidFill>
                  <a:srgbClr val="EDF3E6"/>
                </a:solidFill>
                <a:latin typeface="DejaVu Sans Mono"/>
              </a:rPr>
              <a:t> </a:t>
            </a:r>
            <a:r>
              <a:rPr sz="1900">
                <a:solidFill>
                  <a:srgbClr val="EDF3E6"/>
                </a:solidFill>
                <a:latin typeface="DejaVu Sans Mono"/>
              </a:rPr>
              <a:t>x</a:t>
            </a:r>
            <a:r>
              <a:rPr sz="1900">
                <a:solidFill>
                  <a:srgbClr val="EDF3E6"/>
                </a:solidFill>
                <a:latin typeface="DejaVu Sans Mono"/>
              </a:rPr>
              <a:t>]</a:t>
            </a:r>
            <a:r>
              <a:rPr sz="1900">
                <a:solidFill>
                  <a:srgbClr val="EDF3E6"/>
                </a:solidFill>
                <a:latin typeface="DejaVu Sans Mono"/>
              </a:rPr>
              <a:t>;</a:t>
            </a:r>
          </a:p>
          <a:p>
            <a:pPr>
              <a:lnSpc>
                <a:spcPts val="2280"/>
              </a:lnSpc>
              <a:spcBef>
                <a:spcPts val="0"/>
              </a:spcBef>
              <a:spcAft>
                <a:spcPts val="0"/>
              </a:spcAft>
            </a:pPr>
            <a:r>
              <a:rPr sz="1900">
                <a:solidFill>
                  <a:srgbClr val="EDF3E6"/>
                </a:solidFill>
                <a:latin typeface="DejaVu Sans Mono"/>
              </a:rPr>
              <a:t>}</a:t>
            </a:r>
          </a:p>
        </p:txBody>
      </p:sp>
      <p:sp>
        <p:nvSpPr>
          <p:cNvPr id="11" name="TextBox 10"/>
          <p:cNvSpPr txBox="1"/>
          <p:nvPr/>
        </p:nvSpPr>
        <p:spPr>
          <a:xfrm>
            <a:off x="9144000" y="2423160"/>
            <a:ext cx="2322576"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LOAD</a:t>
            </a:r>
          </a:p>
        </p:txBody>
      </p:sp>
      <p:sp>
        <p:nvSpPr>
          <p:cNvPr id="12" name="TextBox 11"/>
          <p:cNvSpPr txBox="1"/>
          <p:nvPr/>
        </p:nvSpPr>
        <p:spPr>
          <a:xfrm>
            <a:off x="9144000" y="2734056"/>
            <a:ext cx="2322576" cy="1069848"/>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Adjacent x:</a:t>
            </a:r>
          </a:p>
          <a:p>
            <a:pPr algn="l">
              <a:lnSpc>
                <a:spcPct val="114000"/>
              </a:lnSpc>
              <a:spcBef>
                <a:spcPts val="0"/>
              </a:spcBef>
              <a:spcAft>
                <a:spcPts val="0"/>
              </a:spcAft>
            </a:pPr>
            <a:r>
              <a:rPr sz="2000" b="0">
                <a:solidFill>
                  <a:srgbClr val="121610"/>
                </a:solidFill>
                <a:latin typeface="Inter"/>
              </a:rPr>
              <a:t>adjacent input.</a:t>
            </a:r>
          </a:p>
        </p:txBody>
      </p:sp>
      <p:sp>
        <p:nvSpPr>
          <p:cNvPr id="13" name="TextBox 12"/>
          <p:cNvSpPr txBox="1"/>
          <p:nvPr/>
        </p:nvSpPr>
        <p:spPr>
          <a:xfrm>
            <a:off x="9144000" y="3813048"/>
            <a:ext cx="2322576"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STORE</a:t>
            </a:r>
          </a:p>
        </p:txBody>
      </p:sp>
      <p:sp>
        <p:nvSpPr>
          <p:cNvPr id="14" name="TextBox 13"/>
          <p:cNvSpPr txBox="1"/>
          <p:nvPr/>
        </p:nvSpPr>
        <p:spPr>
          <a:xfrm>
            <a:off x="9144000" y="4123944"/>
            <a:ext cx="2322576" cy="1069848"/>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Adjacent x:</a:t>
            </a:r>
          </a:p>
          <a:p>
            <a:pPr algn="l">
              <a:lnSpc>
                <a:spcPct val="114000"/>
              </a:lnSpc>
              <a:spcBef>
                <a:spcPts val="0"/>
              </a:spcBef>
              <a:spcAft>
                <a:spcPts val="0"/>
              </a:spcAft>
            </a:pPr>
            <a:r>
              <a:rPr sz="2000" b="0">
                <a:solidFill>
                  <a:srgbClr val="121610"/>
                </a:solidFill>
                <a:latin typeface="Inter"/>
              </a:rPr>
              <a:t>strided output.</a:t>
            </a:r>
          </a:p>
        </p:txBody>
      </p:sp>
      <p:sp>
        <p:nvSpPr>
          <p:cNvPr id="15" name="Rectangle 14"/>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The arithmetic is tiny. The mapping of memory addresses is the lesson.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MEMORY ACCESS</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Shared memory lets threads exchange staged data</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Concept: guide §2.3.4.2.1, pp. 65–67 / PDF pp. 83–85; course pattern below.</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33</a:t>
            </a:r>
          </a:p>
        </p:txBody>
      </p:sp>
      <p:sp>
        <p:nvSpPr>
          <p:cNvPr id="8" name="Rectangle 7"/>
          <p:cNvSpPr/>
          <p:nvPr/>
        </p:nvSpPr>
        <p:spPr>
          <a:xfrm>
            <a:off x="640080" y="1938528"/>
            <a:ext cx="7242048" cy="3136392"/>
          </a:xfrm>
          <a:prstGeom prst="rect">
            <a:avLst/>
          </a:prstGeom>
          <a:solidFill>
            <a:srgbClr val="11170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22959" y="2093976"/>
            <a:ext cx="6876288" cy="210312"/>
          </a:xfrm>
          <a:prstGeom prst="rect">
            <a:avLst/>
          </a:prstGeom>
          <a:noFill/>
        </p:spPr>
        <p:txBody>
          <a:bodyPr wrap="square" lIns="0" rIns="0" tIns="0" bIns="0" anchor="t">
            <a:noAutofit/>
          </a:bodyPr>
          <a:lstStyle/>
          <a:p>
            <a:pPr algn="l">
              <a:lnSpc>
                <a:spcPct val="114000"/>
              </a:lnSpc>
              <a:spcBef>
                <a:spcPts val="0"/>
              </a:spcBef>
              <a:spcAft>
                <a:spcPts val="0"/>
              </a:spcAft>
            </a:pPr>
            <a:r>
              <a:rPr sz="900" b="1">
                <a:solidFill>
                  <a:srgbClr val="76B900"/>
                </a:solidFill>
                <a:latin typeface="Inter"/>
              </a:rPr>
              <a:t>CONCEPTUAL COURSE PATTERN · INDICES OMITTED</a:t>
            </a:r>
          </a:p>
        </p:txBody>
      </p:sp>
      <p:sp>
        <p:nvSpPr>
          <p:cNvPr id="10" name="TextBox 9"/>
          <p:cNvSpPr txBox="1"/>
          <p:nvPr/>
        </p:nvSpPr>
        <p:spPr>
          <a:xfrm>
            <a:off x="822959" y="2450592"/>
            <a:ext cx="6876288" cy="2496312"/>
          </a:xfrm>
          <a:prstGeom prst="rect">
            <a:avLst/>
          </a:prstGeom>
          <a:noFill/>
        </p:spPr>
        <p:txBody>
          <a:bodyPr wrap="none" lIns="0" rIns="0" tIns="0" bIns="0">
            <a:noAutofit/>
          </a:bodyPr>
          <a:lstStyle/>
          <a:p>
            <a:pPr>
              <a:lnSpc>
                <a:spcPts val="2760"/>
              </a:lnSpc>
              <a:spcBef>
                <a:spcPts val="0"/>
              </a:spcBef>
              <a:spcAft>
                <a:spcPts val="0"/>
              </a:spcAft>
            </a:pPr>
            <a:r>
              <a:rPr sz="2300">
                <a:solidFill>
                  <a:srgbClr val="EDF3E6"/>
                </a:solidFill>
                <a:latin typeface="DejaVu Sans Mono"/>
              </a:rPr>
              <a:t>tile</a:t>
            </a:r>
            <a:r>
              <a:rPr sz="2300">
                <a:solidFill>
                  <a:srgbClr val="EDF3E6"/>
                </a:solidFill>
                <a:latin typeface="DejaVu Sans Mono"/>
              </a:rPr>
              <a:t>[</a:t>
            </a:r>
            <a:r>
              <a:rPr sz="2300">
                <a:solidFill>
                  <a:srgbClr val="EDF3E6"/>
                </a:solidFill>
                <a:latin typeface="DejaVu Sans Mono"/>
              </a:rPr>
              <a:t>ty</a:t>
            </a:r>
            <a:r>
              <a:rPr sz="2300">
                <a:solidFill>
                  <a:srgbClr val="EDF3E6"/>
                </a:solidFill>
                <a:latin typeface="DejaVu Sans Mono"/>
              </a:rPr>
              <a:t>]</a:t>
            </a:r>
            <a:r>
              <a:rPr sz="2300">
                <a:solidFill>
                  <a:srgbClr val="EDF3E6"/>
                </a:solidFill>
                <a:latin typeface="DejaVu Sans Mono"/>
              </a:rPr>
              <a:t>[</a:t>
            </a:r>
            <a:r>
              <a:rPr sz="2300">
                <a:solidFill>
                  <a:srgbClr val="EDF3E6"/>
                </a:solidFill>
                <a:latin typeface="DejaVu Sans Mono"/>
              </a:rPr>
              <a:t>tx</a:t>
            </a:r>
            <a:r>
              <a:rPr sz="2300">
                <a:solidFill>
                  <a:srgbClr val="EDF3E6"/>
                </a:solidFill>
                <a:latin typeface="DejaVu Sans Mono"/>
              </a:rPr>
              <a:t>]</a:t>
            </a:r>
            <a:r>
              <a:rPr sz="2300">
                <a:solidFill>
                  <a:srgbClr val="EDF3E6"/>
                </a:solidFill>
                <a:latin typeface="DejaVu Sans Mono"/>
              </a:rPr>
              <a:t> </a:t>
            </a:r>
            <a:r>
              <a:rPr sz="2300">
                <a:solidFill>
                  <a:srgbClr val="EDF3E6"/>
                </a:solidFill>
                <a:latin typeface="DejaVu Sans Mono"/>
              </a:rPr>
              <a:t>=</a:t>
            </a:r>
            <a:r>
              <a:rPr sz="2300">
                <a:solidFill>
                  <a:srgbClr val="EDF3E6"/>
                </a:solidFill>
                <a:latin typeface="DejaVu Sans Mono"/>
              </a:rPr>
              <a:t> </a:t>
            </a:r>
            <a:r>
              <a:rPr sz="2300">
                <a:solidFill>
                  <a:srgbClr val="EDF3E6"/>
                </a:solidFill>
                <a:latin typeface="DejaVu Sans Mono"/>
              </a:rPr>
              <a:t>in</a:t>
            </a:r>
            <a:r>
              <a:rPr sz="2300">
                <a:solidFill>
                  <a:srgbClr val="EDF3E6"/>
                </a:solidFill>
                <a:latin typeface="DejaVu Sans Mono"/>
              </a:rPr>
              <a:t>[</a:t>
            </a:r>
            <a:r>
              <a:rPr sz="2300">
                <a:solidFill>
                  <a:srgbClr val="EDF3E6"/>
                </a:solidFill>
                <a:latin typeface="DejaVu Sans Mono"/>
              </a:rPr>
              <a:t>.</a:t>
            </a:r>
            <a:r>
              <a:rPr sz="2300">
                <a:solidFill>
                  <a:srgbClr val="EDF3E6"/>
                </a:solidFill>
                <a:latin typeface="DejaVu Sans Mono"/>
              </a:rPr>
              <a:t>.</a:t>
            </a:r>
            <a:r>
              <a:rPr sz="2300">
                <a:solidFill>
                  <a:srgbClr val="EDF3E6"/>
                </a:solidFill>
                <a:latin typeface="DejaVu Sans Mono"/>
              </a:rPr>
              <a:t>.</a:t>
            </a:r>
            <a:r>
              <a:rPr sz="2300">
                <a:solidFill>
                  <a:srgbClr val="EDF3E6"/>
                </a:solidFill>
                <a:latin typeface="DejaVu Sans Mono"/>
              </a:rPr>
              <a:t>]</a:t>
            </a:r>
            <a:r>
              <a:rPr sz="2300">
                <a:solidFill>
                  <a:srgbClr val="EDF3E6"/>
                </a:solidFill>
                <a:latin typeface="DejaVu Sans Mono"/>
              </a:rPr>
              <a:t>;</a:t>
            </a:r>
          </a:p>
          <a:p>
            <a:pPr>
              <a:lnSpc>
                <a:spcPts val="2760"/>
              </a:lnSpc>
              <a:spcBef>
                <a:spcPts val="0"/>
              </a:spcBef>
              <a:spcAft>
                <a:spcPts val="0"/>
              </a:spcAft>
            </a:pPr>
          </a:p>
          <a:p>
            <a:pPr>
              <a:lnSpc>
                <a:spcPts val="2760"/>
              </a:lnSpc>
              <a:spcBef>
                <a:spcPts val="0"/>
              </a:spcBef>
              <a:spcAft>
                <a:spcPts val="0"/>
              </a:spcAft>
            </a:pPr>
            <a:r>
              <a:rPr sz="2300">
                <a:solidFill>
                  <a:srgbClr val="EDF3E6"/>
                </a:solidFill>
                <a:latin typeface="DejaVu Sans Mono"/>
              </a:rPr>
              <a:t>__syncthreads</a:t>
            </a:r>
            <a:r>
              <a:rPr sz="2300">
                <a:solidFill>
                  <a:srgbClr val="EDF3E6"/>
                </a:solidFill>
                <a:latin typeface="DejaVu Sans Mono"/>
              </a:rPr>
              <a:t>(</a:t>
            </a:r>
            <a:r>
              <a:rPr sz="2300">
                <a:solidFill>
                  <a:srgbClr val="EDF3E6"/>
                </a:solidFill>
                <a:latin typeface="DejaVu Sans Mono"/>
              </a:rPr>
              <a:t>)</a:t>
            </a:r>
            <a:r>
              <a:rPr sz="2300">
                <a:solidFill>
                  <a:srgbClr val="EDF3E6"/>
                </a:solidFill>
                <a:latin typeface="DejaVu Sans Mono"/>
              </a:rPr>
              <a:t>;</a:t>
            </a:r>
          </a:p>
          <a:p>
            <a:pPr>
              <a:lnSpc>
                <a:spcPts val="2760"/>
              </a:lnSpc>
              <a:spcBef>
                <a:spcPts val="0"/>
              </a:spcBef>
              <a:spcAft>
                <a:spcPts val="0"/>
              </a:spcAft>
            </a:pPr>
          </a:p>
          <a:p>
            <a:pPr>
              <a:lnSpc>
                <a:spcPts val="2760"/>
              </a:lnSpc>
              <a:spcBef>
                <a:spcPts val="0"/>
              </a:spcBef>
              <a:spcAft>
                <a:spcPts val="0"/>
              </a:spcAft>
            </a:pPr>
            <a:r>
              <a:rPr sz="2300">
                <a:solidFill>
                  <a:srgbClr val="EDF3E6"/>
                </a:solidFill>
                <a:latin typeface="DejaVu Sans Mono"/>
              </a:rPr>
              <a:t>out</a:t>
            </a:r>
            <a:r>
              <a:rPr sz="2300">
                <a:solidFill>
                  <a:srgbClr val="EDF3E6"/>
                </a:solidFill>
                <a:latin typeface="DejaVu Sans Mono"/>
              </a:rPr>
              <a:t>[</a:t>
            </a:r>
            <a:r>
              <a:rPr sz="2300">
                <a:solidFill>
                  <a:srgbClr val="EDF3E6"/>
                </a:solidFill>
                <a:latin typeface="DejaVu Sans Mono"/>
              </a:rPr>
              <a:t>.</a:t>
            </a:r>
            <a:r>
              <a:rPr sz="2300">
                <a:solidFill>
                  <a:srgbClr val="EDF3E6"/>
                </a:solidFill>
                <a:latin typeface="DejaVu Sans Mono"/>
              </a:rPr>
              <a:t>.</a:t>
            </a:r>
            <a:r>
              <a:rPr sz="2300">
                <a:solidFill>
                  <a:srgbClr val="EDF3E6"/>
                </a:solidFill>
                <a:latin typeface="DejaVu Sans Mono"/>
              </a:rPr>
              <a:t>.</a:t>
            </a:r>
            <a:r>
              <a:rPr sz="2300">
                <a:solidFill>
                  <a:srgbClr val="EDF3E6"/>
                </a:solidFill>
                <a:latin typeface="DejaVu Sans Mono"/>
              </a:rPr>
              <a:t>]</a:t>
            </a:r>
            <a:r>
              <a:rPr sz="2300">
                <a:solidFill>
                  <a:srgbClr val="EDF3E6"/>
                </a:solidFill>
                <a:latin typeface="DejaVu Sans Mono"/>
              </a:rPr>
              <a:t> </a:t>
            </a:r>
            <a:r>
              <a:rPr sz="2300">
                <a:solidFill>
                  <a:srgbClr val="EDF3E6"/>
                </a:solidFill>
                <a:latin typeface="DejaVu Sans Mono"/>
              </a:rPr>
              <a:t>=</a:t>
            </a:r>
            <a:r>
              <a:rPr sz="2300">
                <a:solidFill>
                  <a:srgbClr val="EDF3E6"/>
                </a:solidFill>
                <a:latin typeface="DejaVu Sans Mono"/>
              </a:rPr>
              <a:t> </a:t>
            </a:r>
            <a:r>
              <a:rPr sz="2300">
                <a:solidFill>
                  <a:srgbClr val="EDF3E6"/>
                </a:solidFill>
                <a:latin typeface="DejaVu Sans Mono"/>
              </a:rPr>
              <a:t>tile</a:t>
            </a:r>
            <a:r>
              <a:rPr sz="2300">
                <a:solidFill>
                  <a:srgbClr val="EDF3E6"/>
                </a:solidFill>
                <a:latin typeface="DejaVu Sans Mono"/>
              </a:rPr>
              <a:t>[</a:t>
            </a:r>
            <a:r>
              <a:rPr sz="2300">
                <a:solidFill>
                  <a:srgbClr val="EDF3E6"/>
                </a:solidFill>
                <a:latin typeface="DejaVu Sans Mono"/>
              </a:rPr>
              <a:t>tx</a:t>
            </a:r>
            <a:r>
              <a:rPr sz="2300">
                <a:solidFill>
                  <a:srgbClr val="EDF3E6"/>
                </a:solidFill>
                <a:latin typeface="DejaVu Sans Mono"/>
              </a:rPr>
              <a:t>]</a:t>
            </a:r>
            <a:r>
              <a:rPr sz="2300">
                <a:solidFill>
                  <a:srgbClr val="EDF3E6"/>
                </a:solidFill>
                <a:latin typeface="DejaVu Sans Mono"/>
              </a:rPr>
              <a:t>[</a:t>
            </a:r>
            <a:r>
              <a:rPr sz="2300">
                <a:solidFill>
                  <a:srgbClr val="EDF3E6"/>
                </a:solidFill>
                <a:latin typeface="DejaVu Sans Mono"/>
              </a:rPr>
              <a:t>ty</a:t>
            </a:r>
            <a:r>
              <a:rPr sz="2300">
                <a:solidFill>
                  <a:srgbClr val="EDF3E6"/>
                </a:solidFill>
                <a:latin typeface="DejaVu Sans Mono"/>
              </a:rPr>
              <a:t>]</a:t>
            </a:r>
            <a:r>
              <a:rPr sz="2300">
                <a:solidFill>
                  <a:srgbClr val="EDF3E6"/>
                </a:solidFill>
                <a:latin typeface="DejaVu Sans Mono"/>
              </a:rPr>
              <a:t>;</a:t>
            </a:r>
          </a:p>
        </p:txBody>
      </p:sp>
      <p:sp>
        <p:nvSpPr>
          <p:cNvPr id="11" name="TextBox 10"/>
          <p:cNvSpPr txBox="1"/>
          <p:nvPr/>
        </p:nvSpPr>
        <p:spPr>
          <a:xfrm>
            <a:off x="8238744" y="2103120"/>
            <a:ext cx="3136392"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STAGE</a:t>
            </a:r>
          </a:p>
        </p:txBody>
      </p:sp>
      <p:sp>
        <p:nvSpPr>
          <p:cNvPr id="12" name="TextBox 11"/>
          <p:cNvSpPr txBox="1"/>
          <p:nvPr/>
        </p:nvSpPr>
        <p:spPr>
          <a:xfrm>
            <a:off x="8238744" y="2414015"/>
            <a:ext cx="3136392" cy="704088"/>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Threads load a shared tile.</a:t>
            </a:r>
          </a:p>
        </p:txBody>
      </p:sp>
      <p:sp>
        <p:nvSpPr>
          <p:cNvPr id="13" name="TextBox 12"/>
          <p:cNvSpPr txBox="1"/>
          <p:nvPr/>
        </p:nvSpPr>
        <p:spPr>
          <a:xfrm>
            <a:off x="8238744" y="3127248"/>
            <a:ext cx="3136392"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WAIT</a:t>
            </a:r>
          </a:p>
        </p:txBody>
      </p:sp>
      <p:sp>
        <p:nvSpPr>
          <p:cNvPr id="14" name="TextBox 13"/>
          <p:cNvSpPr txBox="1"/>
          <p:nvPr/>
        </p:nvSpPr>
        <p:spPr>
          <a:xfrm>
            <a:off x="8238744" y="3438144"/>
            <a:ext cx="3136392" cy="704088"/>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Peers finish producing values.</a:t>
            </a:r>
          </a:p>
        </p:txBody>
      </p:sp>
      <p:sp>
        <p:nvSpPr>
          <p:cNvPr id="15" name="TextBox 14"/>
          <p:cNvSpPr txBox="1"/>
          <p:nvPr/>
        </p:nvSpPr>
        <p:spPr>
          <a:xfrm>
            <a:off x="8238744" y="4151376"/>
            <a:ext cx="3136392"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STORE</a:t>
            </a:r>
          </a:p>
        </p:txBody>
      </p:sp>
      <p:sp>
        <p:nvSpPr>
          <p:cNvPr id="16" name="TextBox 15"/>
          <p:cNvSpPr txBox="1"/>
          <p:nvPr/>
        </p:nvSpPr>
        <p:spPr>
          <a:xfrm>
            <a:off x="8238744" y="4462272"/>
            <a:ext cx="3136392" cy="704088"/>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Threads read exchanged values.</a:t>
            </a:r>
          </a:p>
        </p:txBody>
      </p:sp>
      <p:sp>
        <p:nvSpPr>
          <p:cNvPr id="17" name="Rectangle 16"/>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Shared memory enables cooperation; it still needs a correct access pattern and synchronization.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SYNCHRONIZATION</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Guard the data access, not a block-wide barrier</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Guide block synchronization: §§2.1.5 and 2.3.3.2; course patterns shown.</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34</a:t>
            </a:r>
          </a:p>
        </p:txBody>
      </p:sp>
      <p:sp>
        <p:nvSpPr>
          <p:cNvPr id="8" name="Rectangle 7"/>
          <p:cNvSpPr/>
          <p:nvPr/>
        </p:nvSpPr>
        <p:spPr>
          <a:xfrm>
            <a:off x="594360" y="1947672"/>
            <a:ext cx="5358384" cy="3337560"/>
          </a:xfrm>
          <a:prstGeom prst="rect">
            <a:avLst/>
          </a:prstGeom>
          <a:solidFill>
            <a:srgbClr val="11170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77240" y="2103120"/>
            <a:ext cx="4992624" cy="210312"/>
          </a:xfrm>
          <a:prstGeom prst="rect">
            <a:avLst/>
          </a:prstGeom>
          <a:noFill/>
        </p:spPr>
        <p:txBody>
          <a:bodyPr wrap="square" lIns="0" rIns="0" tIns="0" bIns="0" anchor="t">
            <a:noAutofit/>
          </a:bodyPr>
          <a:lstStyle/>
          <a:p>
            <a:pPr algn="l">
              <a:lnSpc>
                <a:spcPct val="114000"/>
              </a:lnSpc>
              <a:spcBef>
                <a:spcPts val="0"/>
              </a:spcBef>
              <a:spcAft>
                <a:spcPts val="0"/>
              </a:spcAft>
            </a:pPr>
            <a:r>
              <a:rPr sz="900" b="1">
                <a:solidFill>
                  <a:srgbClr val="76B900"/>
                </a:solidFill>
                <a:latin typeface="Inter"/>
              </a:rPr>
              <a:t>DO NOT STRUCTURE THIS LAB THIS WAY</a:t>
            </a:r>
          </a:p>
        </p:txBody>
      </p:sp>
      <p:sp>
        <p:nvSpPr>
          <p:cNvPr id="10" name="TextBox 9"/>
          <p:cNvSpPr txBox="1"/>
          <p:nvPr/>
        </p:nvSpPr>
        <p:spPr>
          <a:xfrm>
            <a:off x="777240" y="2459736"/>
            <a:ext cx="4992624" cy="2697480"/>
          </a:xfrm>
          <a:prstGeom prst="rect">
            <a:avLst/>
          </a:prstGeom>
          <a:noFill/>
        </p:spPr>
        <p:txBody>
          <a:bodyPr wrap="none" lIns="0" rIns="0" tIns="0" bIns="0">
            <a:noAutofit/>
          </a:bodyPr>
          <a:lstStyle/>
          <a:p>
            <a:pPr>
              <a:lnSpc>
                <a:spcPts val="2100"/>
              </a:lnSpc>
              <a:spcBef>
                <a:spcPts val="0"/>
              </a:spcBef>
              <a:spcAft>
                <a:spcPts val="0"/>
              </a:spcAft>
            </a:pPr>
            <a:r>
              <a:rPr sz="1750">
                <a:solidFill>
                  <a:srgbClr val="96A58B"/>
                </a:solidFill>
                <a:latin typeface="DejaVu Sans Mono"/>
              </a:rPr>
              <a:t>// Nonuniform control flow</a:t>
            </a:r>
          </a:p>
          <a:p>
            <a:pPr>
              <a:lnSpc>
                <a:spcPts val="2100"/>
              </a:lnSpc>
              <a:spcBef>
                <a:spcPts val="0"/>
              </a:spcBef>
              <a:spcAft>
                <a:spcPts val="0"/>
              </a:spcAft>
            </a:pPr>
            <a:r>
              <a:rPr sz="1750" b="1">
                <a:solidFill>
                  <a:srgbClr val="AADA57"/>
                </a:solidFill>
                <a:latin typeface="DejaVu Sans Mono"/>
              </a:rPr>
              <a:t>if</a:t>
            </a:r>
            <a:r>
              <a:rPr sz="1750">
                <a:solidFill>
                  <a:srgbClr val="EDF3E6"/>
                </a:solidFill>
                <a:latin typeface="DejaVu Sans Mono"/>
              </a:rPr>
              <a:t> </a:t>
            </a:r>
            <a:r>
              <a:rPr sz="1750">
                <a:solidFill>
                  <a:srgbClr val="EDF3E6"/>
                </a:solidFill>
                <a:latin typeface="DejaVu Sans Mono"/>
              </a:rPr>
              <a:t>(</a:t>
            </a:r>
            <a:r>
              <a:rPr sz="1750">
                <a:solidFill>
                  <a:srgbClr val="EDF3E6"/>
                </a:solidFill>
                <a:latin typeface="DejaVu Sans Mono"/>
              </a:rPr>
              <a:t>i</a:t>
            </a:r>
            <a:r>
              <a:rPr sz="1750">
                <a:solidFill>
                  <a:srgbClr val="EDF3E6"/>
                </a:solidFill>
                <a:latin typeface="DejaVu Sans Mono"/>
              </a:rPr>
              <a:t> </a:t>
            </a:r>
            <a:r>
              <a:rPr sz="1750">
                <a:solidFill>
                  <a:srgbClr val="EDF3E6"/>
                </a:solidFill>
                <a:latin typeface="DejaVu Sans Mono"/>
              </a:rPr>
              <a:t>&lt;</a:t>
            </a:r>
            <a:r>
              <a:rPr sz="1750">
                <a:solidFill>
                  <a:srgbClr val="EDF3E6"/>
                </a:solidFill>
                <a:latin typeface="DejaVu Sans Mono"/>
              </a:rPr>
              <a:t> </a:t>
            </a:r>
            <a:r>
              <a:rPr sz="1750">
                <a:solidFill>
                  <a:srgbClr val="EDF3E6"/>
                </a:solidFill>
                <a:latin typeface="DejaVu Sans Mono"/>
              </a:rPr>
              <a:t>n</a:t>
            </a:r>
            <a:r>
              <a:rPr sz="1750">
                <a:solidFill>
                  <a:srgbClr val="EDF3E6"/>
                </a:solidFill>
                <a:latin typeface="DejaVu Sans Mono"/>
              </a:rPr>
              <a:t>)</a:t>
            </a:r>
            <a:r>
              <a:rPr sz="1750">
                <a:solidFill>
                  <a:srgbClr val="EDF3E6"/>
                </a:solidFill>
                <a:latin typeface="DejaVu Sans Mono"/>
              </a:rPr>
              <a:t> </a:t>
            </a:r>
            <a:r>
              <a:rPr sz="1750">
                <a:solidFill>
                  <a:srgbClr val="EDF3E6"/>
                </a:solidFill>
                <a:latin typeface="DejaVu Sans Mono"/>
              </a:rPr>
              <a:t>{</a:t>
            </a:r>
          </a:p>
          <a:p>
            <a:pPr>
              <a:lnSpc>
                <a:spcPts val="2100"/>
              </a:lnSpc>
              <a:spcBef>
                <a:spcPts val="0"/>
              </a:spcBef>
              <a:spcAft>
                <a:spcPts val="0"/>
              </a:spcAft>
            </a:pPr>
            <a:r>
              <a:rPr sz="1750">
                <a:solidFill>
                  <a:srgbClr val="EDF3E6"/>
                </a:solidFill>
                <a:latin typeface="DejaVu Sans Mono"/>
              </a:rPr>
              <a:t>  </a:t>
            </a:r>
            <a:r>
              <a:rPr sz="1750">
                <a:solidFill>
                  <a:srgbClr val="EDF3E6"/>
                </a:solidFill>
                <a:latin typeface="DejaVu Sans Mono"/>
              </a:rPr>
              <a:t>tile</a:t>
            </a:r>
            <a:r>
              <a:rPr sz="1750">
                <a:solidFill>
                  <a:srgbClr val="EDF3E6"/>
                </a:solidFill>
                <a:latin typeface="DejaVu Sans Mono"/>
              </a:rPr>
              <a:t>[</a:t>
            </a:r>
            <a:r>
              <a:rPr sz="1750">
                <a:solidFill>
                  <a:srgbClr val="EDF3E6"/>
                </a:solidFill>
                <a:latin typeface="DejaVu Sans Mono"/>
              </a:rPr>
              <a:t>t</a:t>
            </a:r>
            <a:r>
              <a:rPr sz="1750">
                <a:solidFill>
                  <a:srgbClr val="EDF3E6"/>
                </a:solidFill>
                <a:latin typeface="DejaVu Sans Mono"/>
              </a:rPr>
              <a:t>]</a:t>
            </a:r>
            <a:r>
              <a:rPr sz="1750">
                <a:solidFill>
                  <a:srgbClr val="EDF3E6"/>
                </a:solidFill>
                <a:latin typeface="DejaVu Sans Mono"/>
              </a:rPr>
              <a:t> </a:t>
            </a:r>
            <a:r>
              <a:rPr sz="1750">
                <a:solidFill>
                  <a:srgbClr val="EDF3E6"/>
                </a:solidFill>
                <a:latin typeface="DejaVu Sans Mono"/>
              </a:rPr>
              <a:t>=</a:t>
            </a:r>
            <a:r>
              <a:rPr sz="1750">
                <a:solidFill>
                  <a:srgbClr val="EDF3E6"/>
                </a:solidFill>
                <a:latin typeface="DejaVu Sans Mono"/>
              </a:rPr>
              <a:t> </a:t>
            </a:r>
            <a:r>
              <a:rPr sz="1750">
                <a:solidFill>
                  <a:srgbClr val="EDF3E6"/>
                </a:solidFill>
                <a:latin typeface="DejaVu Sans Mono"/>
              </a:rPr>
              <a:t>input</a:t>
            </a:r>
            <a:r>
              <a:rPr sz="1750">
                <a:solidFill>
                  <a:srgbClr val="EDF3E6"/>
                </a:solidFill>
                <a:latin typeface="DejaVu Sans Mono"/>
              </a:rPr>
              <a:t>[</a:t>
            </a:r>
            <a:r>
              <a:rPr sz="1750">
                <a:solidFill>
                  <a:srgbClr val="EDF3E6"/>
                </a:solidFill>
                <a:latin typeface="DejaVu Sans Mono"/>
              </a:rPr>
              <a:t>i</a:t>
            </a:r>
            <a:r>
              <a:rPr sz="1750">
                <a:solidFill>
                  <a:srgbClr val="EDF3E6"/>
                </a:solidFill>
                <a:latin typeface="DejaVu Sans Mono"/>
              </a:rPr>
              <a:t>]</a:t>
            </a:r>
            <a:r>
              <a:rPr sz="1750">
                <a:solidFill>
                  <a:srgbClr val="EDF3E6"/>
                </a:solidFill>
                <a:latin typeface="DejaVu Sans Mono"/>
              </a:rPr>
              <a:t>;</a:t>
            </a:r>
          </a:p>
          <a:p>
            <a:pPr>
              <a:lnSpc>
                <a:spcPts val="2100"/>
              </a:lnSpc>
              <a:spcBef>
                <a:spcPts val="0"/>
              </a:spcBef>
              <a:spcAft>
                <a:spcPts val="0"/>
              </a:spcAft>
            </a:pPr>
            <a:r>
              <a:rPr sz="1750">
                <a:solidFill>
                  <a:srgbClr val="EDF3E6"/>
                </a:solidFill>
                <a:latin typeface="DejaVu Sans Mono"/>
              </a:rPr>
              <a:t>  </a:t>
            </a:r>
            <a:r>
              <a:rPr sz="1750">
                <a:solidFill>
                  <a:srgbClr val="EDF3E6"/>
                </a:solidFill>
                <a:latin typeface="DejaVu Sans Mono"/>
              </a:rPr>
              <a:t>__syncthreads</a:t>
            </a:r>
            <a:r>
              <a:rPr sz="1750">
                <a:solidFill>
                  <a:srgbClr val="EDF3E6"/>
                </a:solidFill>
                <a:latin typeface="DejaVu Sans Mono"/>
              </a:rPr>
              <a:t>(</a:t>
            </a:r>
            <a:r>
              <a:rPr sz="1750">
                <a:solidFill>
                  <a:srgbClr val="EDF3E6"/>
                </a:solidFill>
                <a:latin typeface="DejaVu Sans Mono"/>
              </a:rPr>
              <a:t>)</a:t>
            </a:r>
            <a:r>
              <a:rPr sz="1750">
                <a:solidFill>
                  <a:srgbClr val="EDF3E6"/>
                </a:solidFill>
                <a:latin typeface="DejaVu Sans Mono"/>
              </a:rPr>
              <a:t>;</a:t>
            </a:r>
          </a:p>
          <a:p>
            <a:pPr>
              <a:lnSpc>
                <a:spcPts val="2100"/>
              </a:lnSpc>
              <a:spcBef>
                <a:spcPts val="0"/>
              </a:spcBef>
              <a:spcAft>
                <a:spcPts val="0"/>
              </a:spcAft>
            </a:pPr>
            <a:r>
              <a:rPr sz="1750">
                <a:solidFill>
                  <a:srgbClr val="EDF3E6"/>
                </a:solidFill>
                <a:latin typeface="DejaVu Sans Mono"/>
              </a:rPr>
              <a:t>  </a:t>
            </a:r>
            <a:r>
              <a:rPr sz="1750">
                <a:solidFill>
                  <a:srgbClr val="EDF3E6"/>
                </a:solidFill>
                <a:latin typeface="DejaVu Sans Mono"/>
              </a:rPr>
              <a:t>use</a:t>
            </a:r>
            <a:r>
              <a:rPr sz="1750">
                <a:solidFill>
                  <a:srgbClr val="EDF3E6"/>
                </a:solidFill>
                <a:latin typeface="DejaVu Sans Mono"/>
              </a:rPr>
              <a:t>(</a:t>
            </a:r>
            <a:r>
              <a:rPr sz="1750">
                <a:solidFill>
                  <a:srgbClr val="EDF3E6"/>
                </a:solidFill>
                <a:latin typeface="DejaVu Sans Mono"/>
              </a:rPr>
              <a:t>tile</a:t>
            </a:r>
            <a:r>
              <a:rPr sz="1750">
                <a:solidFill>
                  <a:srgbClr val="EDF3E6"/>
                </a:solidFill>
                <a:latin typeface="DejaVu Sans Mono"/>
              </a:rPr>
              <a:t>)</a:t>
            </a:r>
            <a:r>
              <a:rPr sz="1750">
                <a:solidFill>
                  <a:srgbClr val="EDF3E6"/>
                </a:solidFill>
                <a:latin typeface="DejaVu Sans Mono"/>
              </a:rPr>
              <a:t>;</a:t>
            </a:r>
          </a:p>
          <a:p>
            <a:pPr>
              <a:lnSpc>
                <a:spcPts val="2100"/>
              </a:lnSpc>
              <a:spcBef>
                <a:spcPts val="0"/>
              </a:spcBef>
              <a:spcAft>
                <a:spcPts val="0"/>
              </a:spcAft>
            </a:pPr>
            <a:r>
              <a:rPr sz="1750">
                <a:solidFill>
                  <a:srgbClr val="EDF3E6"/>
                </a:solidFill>
                <a:latin typeface="DejaVu Sans Mono"/>
              </a:rPr>
              <a:t>}</a:t>
            </a:r>
          </a:p>
        </p:txBody>
      </p:sp>
      <p:sp>
        <p:nvSpPr>
          <p:cNvPr id="11" name="Rectangle 10"/>
          <p:cNvSpPr/>
          <p:nvPr/>
        </p:nvSpPr>
        <p:spPr>
          <a:xfrm>
            <a:off x="6190488" y="1947672"/>
            <a:ext cx="5367528" cy="3337560"/>
          </a:xfrm>
          <a:prstGeom prst="rect">
            <a:avLst/>
          </a:prstGeom>
          <a:solidFill>
            <a:srgbClr val="11170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373368" y="2103120"/>
            <a:ext cx="5001768" cy="210312"/>
          </a:xfrm>
          <a:prstGeom prst="rect">
            <a:avLst/>
          </a:prstGeom>
          <a:noFill/>
        </p:spPr>
        <p:txBody>
          <a:bodyPr wrap="square" lIns="0" rIns="0" tIns="0" bIns="0" anchor="t">
            <a:noAutofit/>
          </a:bodyPr>
          <a:lstStyle/>
          <a:p>
            <a:pPr algn="l">
              <a:lnSpc>
                <a:spcPct val="114000"/>
              </a:lnSpc>
              <a:spcBef>
                <a:spcPts val="0"/>
              </a:spcBef>
              <a:spcAft>
                <a:spcPts val="0"/>
              </a:spcAft>
            </a:pPr>
            <a:r>
              <a:rPr sz="900" b="1">
                <a:solidFill>
                  <a:srgbClr val="76B900"/>
                </a:solidFill>
                <a:latin typeface="Inter"/>
              </a:rPr>
              <a:t>COORDINATE PARTICIPATING THREADS</a:t>
            </a:r>
          </a:p>
        </p:txBody>
      </p:sp>
      <p:sp>
        <p:nvSpPr>
          <p:cNvPr id="13" name="TextBox 12"/>
          <p:cNvSpPr txBox="1"/>
          <p:nvPr/>
        </p:nvSpPr>
        <p:spPr>
          <a:xfrm>
            <a:off x="6373368" y="2459736"/>
            <a:ext cx="5001768" cy="2697480"/>
          </a:xfrm>
          <a:prstGeom prst="rect">
            <a:avLst/>
          </a:prstGeom>
          <a:noFill/>
        </p:spPr>
        <p:txBody>
          <a:bodyPr wrap="none" lIns="0" rIns="0" tIns="0" bIns="0">
            <a:noAutofit/>
          </a:bodyPr>
          <a:lstStyle/>
          <a:p>
            <a:pPr>
              <a:lnSpc>
                <a:spcPts val="2100"/>
              </a:lnSpc>
              <a:spcBef>
                <a:spcPts val="0"/>
              </a:spcBef>
              <a:spcAft>
                <a:spcPts val="0"/>
              </a:spcAft>
            </a:pPr>
            <a:r>
              <a:rPr sz="1750">
                <a:solidFill>
                  <a:srgbClr val="96A58B"/>
                </a:solidFill>
                <a:latin typeface="DejaVu Sans Mono"/>
              </a:rPr>
              <a:t>// Uniform barrier structure</a:t>
            </a:r>
          </a:p>
          <a:p>
            <a:pPr>
              <a:lnSpc>
                <a:spcPts val="2100"/>
              </a:lnSpc>
              <a:spcBef>
                <a:spcPts val="0"/>
              </a:spcBef>
              <a:spcAft>
                <a:spcPts val="0"/>
              </a:spcAft>
            </a:pPr>
            <a:r>
              <a:rPr sz="1750">
                <a:solidFill>
                  <a:srgbClr val="EDF3E6"/>
                </a:solidFill>
                <a:latin typeface="DejaVu Sans Mono"/>
              </a:rPr>
              <a:t>tile</a:t>
            </a:r>
            <a:r>
              <a:rPr sz="1750">
                <a:solidFill>
                  <a:srgbClr val="EDF3E6"/>
                </a:solidFill>
                <a:latin typeface="DejaVu Sans Mono"/>
              </a:rPr>
              <a:t>[</a:t>
            </a:r>
            <a:r>
              <a:rPr sz="1750">
                <a:solidFill>
                  <a:srgbClr val="EDF3E6"/>
                </a:solidFill>
                <a:latin typeface="DejaVu Sans Mono"/>
              </a:rPr>
              <a:t>t</a:t>
            </a:r>
            <a:r>
              <a:rPr sz="1750">
                <a:solidFill>
                  <a:srgbClr val="EDF3E6"/>
                </a:solidFill>
                <a:latin typeface="DejaVu Sans Mono"/>
              </a:rPr>
              <a:t>]</a:t>
            </a:r>
            <a:r>
              <a:rPr sz="1750">
                <a:solidFill>
                  <a:srgbClr val="EDF3E6"/>
                </a:solidFill>
                <a:latin typeface="DejaVu Sans Mono"/>
              </a:rPr>
              <a:t> </a:t>
            </a:r>
            <a:r>
              <a:rPr sz="1750">
                <a:solidFill>
                  <a:srgbClr val="EDF3E6"/>
                </a:solidFill>
                <a:latin typeface="DejaVu Sans Mono"/>
              </a:rPr>
              <a:t>=</a:t>
            </a:r>
            <a:r>
              <a:rPr sz="1750">
                <a:solidFill>
                  <a:srgbClr val="EDF3E6"/>
                </a:solidFill>
                <a:latin typeface="DejaVu Sans Mono"/>
              </a:rPr>
              <a:t> </a:t>
            </a:r>
            <a:r>
              <a:rPr sz="1750">
                <a:solidFill>
                  <a:srgbClr val="EDF3E6"/>
                </a:solidFill>
                <a:latin typeface="DejaVu Sans Mono"/>
              </a:rPr>
              <a:t>(</a:t>
            </a:r>
            <a:r>
              <a:rPr sz="1750">
                <a:solidFill>
                  <a:srgbClr val="EDF3E6"/>
                </a:solidFill>
                <a:latin typeface="DejaVu Sans Mono"/>
              </a:rPr>
              <a:t>i</a:t>
            </a:r>
            <a:r>
              <a:rPr sz="1750">
                <a:solidFill>
                  <a:srgbClr val="EDF3E6"/>
                </a:solidFill>
                <a:latin typeface="DejaVu Sans Mono"/>
              </a:rPr>
              <a:t> </a:t>
            </a:r>
            <a:r>
              <a:rPr sz="1750">
                <a:solidFill>
                  <a:srgbClr val="EDF3E6"/>
                </a:solidFill>
                <a:latin typeface="DejaVu Sans Mono"/>
              </a:rPr>
              <a:t>&lt;</a:t>
            </a:r>
            <a:r>
              <a:rPr sz="1750">
                <a:solidFill>
                  <a:srgbClr val="EDF3E6"/>
                </a:solidFill>
                <a:latin typeface="DejaVu Sans Mono"/>
              </a:rPr>
              <a:t> </a:t>
            </a:r>
            <a:r>
              <a:rPr sz="1750">
                <a:solidFill>
                  <a:srgbClr val="EDF3E6"/>
                </a:solidFill>
                <a:latin typeface="DejaVu Sans Mono"/>
              </a:rPr>
              <a:t>n</a:t>
            </a:r>
            <a:r>
              <a:rPr sz="1750">
                <a:solidFill>
                  <a:srgbClr val="EDF3E6"/>
                </a:solidFill>
                <a:latin typeface="DejaVu Sans Mono"/>
              </a:rPr>
              <a:t>)</a:t>
            </a:r>
            <a:r>
              <a:rPr sz="1750">
                <a:solidFill>
                  <a:srgbClr val="EDF3E6"/>
                </a:solidFill>
                <a:latin typeface="DejaVu Sans Mono"/>
              </a:rPr>
              <a:t> </a:t>
            </a:r>
            <a:r>
              <a:rPr sz="1750">
                <a:solidFill>
                  <a:srgbClr val="EDF3E6"/>
                </a:solidFill>
                <a:latin typeface="DejaVu Sans Mono"/>
              </a:rPr>
              <a:t>?</a:t>
            </a:r>
            <a:r>
              <a:rPr sz="1750">
                <a:solidFill>
                  <a:srgbClr val="EDF3E6"/>
                </a:solidFill>
                <a:latin typeface="DejaVu Sans Mono"/>
              </a:rPr>
              <a:t> </a:t>
            </a:r>
            <a:r>
              <a:rPr sz="1750">
                <a:solidFill>
                  <a:srgbClr val="EDF3E6"/>
                </a:solidFill>
                <a:latin typeface="DejaVu Sans Mono"/>
              </a:rPr>
              <a:t>input</a:t>
            </a:r>
            <a:r>
              <a:rPr sz="1750">
                <a:solidFill>
                  <a:srgbClr val="EDF3E6"/>
                </a:solidFill>
                <a:latin typeface="DejaVu Sans Mono"/>
              </a:rPr>
              <a:t>[</a:t>
            </a:r>
            <a:r>
              <a:rPr sz="1750">
                <a:solidFill>
                  <a:srgbClr val="EDF3E6"/>
                </a:solidFill>
                <a:latin typeface="DejaVu Sans Mono"/>
              </a:rPr>
              <a:t>i</a:t>
            </a:r>
            <a:r>
              <a:rPr sz="1750">
                <a:solidFill>
                  <a:srgbClr val="EDF3E6"/>
                </a:solidFill>
                <a:latin typeface="DejaVu Sans Mono"/>
              </a:rPr>
              <a:t>]</a:t>
            </a:r>
            <a:r>
              <a:rPr sz="1750">
                <a:solidFill>
                  <a:srgbClr val="EDF3E6"/>
                </a:solidFill>
                <a:latin typeface="DejaVu Sans Mono"/>
              </a:rPr>
              <a:t> </a:t>
            </a:r>
            <a:r>
              <a:rPr sz="1750">
                <a:solidFill>
                  <a:srgbClr val="EDF3E6"/>
                </a:solidFill>
                <a:latin typeface="DejaVu Sans Mono"/>
              </a:rPr>
              <a:t>:</a:t>
            </a:r>
            <a:r>
              <a:rPr sz="1750">
                <a:solidFill>
                  <a:srgbClr val="EDF3E6"/>
                </a:solidFill>
                <a:latin typeface="DejaVu Sans Mono"/>
              </a:rPr>
              <a:t> </a:t>
            </a:r>
            <a:r>
              <a:rPr sz="1750">
                <a:solidFill>
                  <a:srgbClr val="C0E579"/>
                </a:solidFill>
                <a:latin typeface="DejaVu Sans Mono"/>
              </a:rPr>
              <a:t>0.0f</a:t>
            </a:r>
            <a:r>
              <a:rPr sz="1750">
                <a:solidFill>
                  <a:srgbClr val="EDF3E6"/>
                </a:solidFill>
                <a:latin typeface="DejaVu Sans Mono"/>
              </a:rPr>
              <a:t>;</a:t>
            </a:r>
          </a:p>
          <a:p>
            <a:pPr>
              <a:lnSpc>
                <a:spcPts val="2100"/>
              </a:lnSpc>
              <a:spcBef>
                <a:spcPts val="0"/>
              </a:spcBef>
              <a:spcAft>
                <a:spcPts val="0"/>
              </a:spcAft>
            </a:pPr>
            <a:r>
              <a:rPr sz="1750">
                <a:solidFill>
                  <a:srgbClr val="EDF3E6"/>
                </a:solidFill>
                <a:latin typeface="DejaVu Sans Mono"/>
              </a:rPr>
              <a:t>__syncthreads</a:t>
            </a:r>
            <a:r>
              <a:rPr sz="1750">
                <a:solidFill>
                  <a:srgbClr val="EDF3E6"/>
                </a:solidFill>
                <a:latin typeface="DejaVu Sans Mono"/>
              </a:rPr>
              <a:t>(</a:t>
            </a:r>
            <a:r>
              <a:rPr sz="1750">
                <a:solidFill>
                  <a:srgbClr val="EDF3E6"/>
                </a:solidFill>
                <a:latin typeface="DejaVu Sans Mono"/>
              </a:rPr>
              <a:t>)</a:t>
            </a:r>
            <a:r>
              <a:rPr sz="1750">
                <a:solidFill>
                  <a:srgbClr val="EDF3E6"/>
                </a:solidFill>
                <a:latin typeface="DejaVu Sans Mono"/>
              </a:rPr>
              <a:t>;</a:t>
            </a:r>
          </a:p>
          <a:p>
            <a:pPr>
              <a:lnSpc>
                <a:spcPts val="2100"/>
              </a:lnSpc>
              <a:spcBef>
                <a:spcPts val="0"/>
              </a:spcBef>
              <a:spcAft>
                <a:spcPts val="0"/>
              </a:spcAft>
            </a:pPr>
            <a:r>
              <a:rPr sz="1750" b="1">
                <a:solidFill>
                  <a:srgbClr val="AADA57"/>
                </a:solidFill>
                <a:latin typeface="DejaVu Sans Mono"/>
              </a:rPr>
              <a:t>if</a:t>
            </a:r>
            <a:r>
              <a:rPr sz="1750">
                <a:solidFill>
                  <a:srgbClr val="EDF3E6"/>
                </a:solidFill>
                <a:latin typeface="DejaVu Sans Mono"/>
              </a:rPr>
              <a:t> </a:t>
            </a:r>
            <a:r>
              <a:rPr sz="1750">
                <a:solidFill>
                  <a:srgbClr val="EDF3E6"/>
                </a:solidFill>
                <a:latin typeface="DejaVu Sans Mono"/>
              </a:rPr>
              <a:t>(</a:t>
            </a:r>
            <a:r>
              <a:rPr sz="1750">
                <a:solidFill>
                  <a:srgbClr val="EDF3E6"/>
                </a:solidFill>
                <a:latin typeface="DejaVu Sans Mono"/>
              </a:rPr>
              <a:t>valid_output</a:t>
            </a:r>
            <a:r>
              <a:rPr sz="1750">
                <a:solidFill>
                  <a:srgbClr val="EDF3E6"/>
                </a:solidFill>
                <a:latin typeface="DejaVu Sans Mono"/>
              </a:rPr>
              <a:t>)</a:t>
            </a:r>
            <a:r>
              <a:rPr sz="1750">
                <a:solidFill>
                  <a:srgbClr val="EDF3E6"/>
                </a:solidFill>
                <a:latin typeface="DejaVu Sans Mono"/>
              </a:rPr>
              <a:t> </a:t>
            </a:r>
            <a:r>
              <a:rPr sz="1750">
                <a:solidFill>
                  <a:srgbClr val="EDF3E6"/>
                </a:solidFill>
                <a:latin typeface="DejaVu Sans Mono"/>
              </a:rPr>
              <a:t>{</a:t>
            </a:r>
          </a:p>
          <a:p>
            <a:pPr>
              <a:lnSpc>
                <a:spcPts val="2100"/>
              </a:lnSpc>
              <a:spcBef>
                <a:spcPts val="0"/>
              </a:spcBef>
              <a:spcAft>
                <a:spcPts val="0"/>
              </a:spcAft>
            </a:pPr>
            <a:r>
              <a:rPr sz="1750">
                <a:solidFill>
                  <a:srgbClr val="EDF3E6"/>
                </a:solidFill>
                <a:latin typeface="DejaVu Sans Mono"/>
              </a:rPr>
              <a:t>  </a:t>
            </a:r>
            <a:r>
              <a:rPr sz="1750">
                <a:solidFill>
                  <a:srgbClr val="EDF3E6"/>
                </a:solidFill>
                <a:latin typeface="DejaVu Sans Mono"/>
              </a:rPr>
              <a:t>write_result</a:t>
            </a:r>
            <a:r>
              <a:rPr sz="1750">
                <a:solidFill>
                  <a:srgbClr val="EDF3E6"/>
                </a:solidFill>
                <a:latin typeface="DejaVu Sans Mono"/>
              </a:rPr>
              <a:t>(</a:t>
            </a:r>
            <a:r>
              <a:rPr sz="1750">
                <a:solidFill>
                  <a:srgbClr val="EDF3E6"/>
                </a:solidFill>
                <a:latin typeface="DejaVu Sans Mono"/>
              </a:rPr>
              <a:t>.</a:t>
            </a:r>
            <a:r>
              <a:rPr sz="1750">
                <a:solidFill>
                  <a:srgbClr val="EDF3E6"/>
                </a:solidFill>
                <a:latin typeface="DejaVu Sans Mono"/>
              </a:rPr>
              <a:t>.</a:t>
            </a:r>
            <a:r>
              <a:rPr sz="1750">
                <a:solidFill>
                  <a:srgbClr val="EDF3E6"/>
                </a:solidFill>
                <a:latin typeface="DejaVu Sans Mono"/>
              </a:rPr>
              <a:t>.</a:t>
            </a:r>
            <a:r>
              <a:rPr sz="1750">
                <a:solidFill>
                  <a:srgbClr val="EDF3E6"/>
                </a:solidFill>
                <a:latin typeface="DejaVu Sans Mono"/>
              </a:rPr>
              <a:t>)</a:t>
            </a:r>
            <a:r>
              <a:rPr sz="1750">
                <a:solidFill>
                  <a:srgbClr val="EDF3E6"/>
                </a:solidFill>
                <a:latin typeface="DejaVu Sans Mono"/>
              </a:rPr>
              <a:t>;</a:t>
            </a:r>
          </a:p>
          <a:p>
            <a:pPr>
              <a:lnSpc>
                <a:spcPts val="2100"/>
              </a:lnSpc>
              <a:spcBef>
                <a:spcPts val="0"/>
              </a:spcBef>
              <a:spcAft>
                <a:spcPts val="0"/>
              </a:spcAft>
            </a:pPr>
            <a:r>
              <a:rPr sz="1750">
                <a:solidFill>
                  <a:srgbClr val="EDF3E6"/>
                </a:solidFill>
                <a:latin typeface="DejaVu Sans Mono"/>
              </a:rPr>
              <a:t>}</a:t>
            </a:r>
          </a:p>
        </p:txBody>
      </p:sp>
      <p:sp>
        <p:nvSpPr>
          <p:cNvPr id="14" name="Rectangle 13"/>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The participating threads must follow a compatible barrier sequence.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MEMORY ACCESS</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One padding column changes the bank mapping</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NVIDIA Figures 17–18 · §2.3.4.2.2, pp. 68–70 / PDF pp. 86–88</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35</a:t>
            </a:r>
          </a:p>
        </p:txBody>
      </p:sp>
      <p:sp>
        <p:nvSpPr>
          <p:cNvPr id="8" name="TextBox 7"/>
          <p:cNvSpPr txBox="1"/>
          <p:nvPr/>
        </p:nvSpPr>
        <p:spPr>
          <a:xfrm>
            <a:off x="768096" y="1892807"/>
            <a:ext cx="5020056" cy="384048"/>
          </a:xfrm>
          <a:prstGeom prst="rect">
            <a:avLst/>
          </a:prstGeom>
          <a:noFill/>
        </p:spPr>
        <p:txBody>
          <a:bodyPr wrap="square" lIns="0" rIns="0" tIns="0" bIns="0" anchor="t">
            <a:noAutofit/>
          </a:bodyPr>
          <a:lstStyle/>
          <a:p>
            <a:pPr algn="l">
              <a:lnSpc>
                <a:spcPct val="114000"/>
              </a:lnSpc>
              <a:spcBef>
                <a:spcPts val="0"/>
              </a:spcBef>
              <a:spcAft>
                <a:spcPts val="0"/>
              </a:spcAft>
            </a:pPr>
            <a:r>
              <a:rPr sz="2300" b="1">
                <a:solidFill>
                  <a:srgbClr val="121610"/>
                </a:solidFill>
                <a:latin typeface="DejaVu Sans Mono"/>
              </a:rPr>
              <a:t>float tile[32][32]</a:t>
            </a:r>
          </a:p>
        </p:txBody>
      </p:sp>
      <p:sp>
        <p:nvSpPr>
          <p:cNvPr id="9" name="TextBox 8"/>
          <p:cNvSpPr txBox="1"/>
          <p:nvPr/>
        </p:nvSpPr>
        <p:spPr>
          <a:xfrm>
            <a:off x="6419088" y="1892807"/>
            <a:ext cx="5020056" cy="384048"/>
          </a:xfrm>
          <a:prstGeom prst="rect">
            <a:avLst/>
          </a:prstGeom>
          <a:noFill/>
        </p:spPr>
        <p:txBody>
          <a:bodyPr wrap="square" lIns="0" rIns="0" tIns="0" bIns="0" anchor="t">
            <a:noAutofit/>
          </a:bodyPr>
          <a:lstStyle/>
          <a:p>
            <a:pPr algn="l">
              <a:lnSpc>
                <a:spcPct val="114000"/>
              </a:lnSpc>
              <a:spcBef>
                <a:spcPts val="0"/>
              </a:spcBef>
              <a:spcAft>
                <a:spcPts val="0"/>
              </a:spcAft>
            </a:pPr>
            <a:r>
              <a:rPr sz="2300" b="1">
                <a:solidFill>
                  <a:srgbClr val="121610"/>
                </a:solidFill>
                <a:latin typeface="DejaVu Sans Mono"/>
              </a:rPr>
              <a:t>float tile[32][33]</a:t>
            </a:r>
          </a:p>
        </p:txBody>
      </p:sp>
      <p:sp>
        <p:nvSpPr>
          <p:cNvPr id="10" name="Rectangle 9"/>
          <p:cNvSpPr/>
          <p:nvPr/>
        </p:nvSpPr>
        <p:spPr>
          <a:xfrm>
            <a:off x="897736" y="2542032"/>
            <a:ext cx="4788206" cy="235000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ORIGINAL_NVIDIA_fig17_conflicts_PDF_page_86" descr="NVIDIA Figure 17; CUDA Programming Guide 13.4.2, PDF page 86, printed page 68. Extracted from embedded image xref 1246; original colors and aspect ratio preserved."/>
          <p:cNvPicPr>
            <a:picLocks noChangeAspect="1"/>
          </p:cNvPicPr>
          <p:nvPr/>
        </p:nvPicPr>
        <p:blipFill>
          <a:blip r:embed="rId2"/>
          <a:stretch>
            <a:fillRect/>
          </a:stretch>
        </p:blipFill>
        <p:spPr>
          <a:xfrm>
            <a:off x="897736" y="2542032"/>
            <a:ext cx="4788206" cy="2350008"/>
          </a:xfrm>
          <a:prstGeom prst="rect">
            <a:avLst/>
          </a:prstGeom>
        </p:spPr>
      </p:pic>
      <p:sp>
        <p:nvSpPr>
          <p:cNvPr id="12" name="TextBox 11"/>
          <p:cNvSpPr txBox="1"/>
          <p:nvPr/>
        </p:nvSpPr>
        <p:spPr>
          <a:xfrm>
            <a:off x="694944" y="4965192"/>
            <a:ext cx="5193792" cy="210312"/>
          </a:xfrm>
          <a:prstGeom prst="rect">
            <a:avLst/>
          </a:prstGeom>
          <a:noFill/>
        </p:spPr>
        <p:txBody>
          <a:bodyPr wrap="square" lIns="0" rIns="0" tIns="0" bIns="0" anchor="t">
            <a:noAutofit/>
          </a:bodyPr>
          <a:lstStyle/>
          <a:p>
            <a:pPr algn="ctr">
              <a:lnSpc>
                <a:spcPct val="114000"/>
              </a:lnSpc>
              <a:spcBef>
                <a:spcPts val="0"/>
              </a:spcBef>
              <a:spcAft>
                <a:spcPts val="0"/>
              </a:spcAft>
            </a:pPr>
            <a:r>
              <a:rPr sz="919" b="0">
                <a:solidFill>
                  <a:srgbClr val="5A6358"/>
                </a:solidFill>
                <a:latin typeface="Inter"/>
              </a:rPr>
              <a:t>NVIDIA Figure 17 · Guide p. 68 / PDF p. 86</a:t>
            </a:r>
          </a:p>
        </p:txBody>
      </p:sp>
      <p:sp>
        <p:nvSpPr>
          <p:cNvPr id="13" name="Rectangle 12"/>
          <p:cNvSpPr/>
          <p:nvPr/>
        </p:nvSpPr>
        <p:spPr>
          <a:xfrm>
            <a:off x="6345936" y="2615610"/>
            <a:ext cx="5148072" cy="220285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4" name="ORIGINAL_NVIDIA_fig18_padding_PDF_page_88" descr="NVIDIA Figure 18; CUDA Programming Guide 13.4.2, PDF page 88, printed page 70. Extracted from embedded image xref 1260; original colors and aspect ratio preserved."/>
          <p:cNvPicPr>
            <a:picLocks noChangeAspect="1"/>
          </p:cNvPicPr>
          <p:nvPr/>
        </p:nvPicPr>
        <p:blipFill>
          <a:blip r:embed="rId3"/>
          <a:stretch>
            <a:fillRect/>
          </a:stretch>
        </p:blipFill>
        <p:spPr>
          <a:xfrm>
            <a:off x="6345936" y="2615610"/>
            <a:ext cx="5148072" cy="2202850"/>
          </a:xfrm>
          <a:prstGeom prst="rect">
            <a:avLst/>
          </a:prstGeom>
        </p:spPr>
      </p:pic>
      <p:sp>
        <p:nvSpPr>
          <p:cNvPr id="15" name="TextBox 14"/>
          <p:cNvSpPr txBox="1"/>
          <p:nvPr/>
        </p:nvSpPr>
        <p:spPr>
          <a:xfrm>
            <a:off x="6345936" y="4965192"/>
            <a:ext cx="5148072" cy="210312"/>
          </a:xfrm>
          <a:prstGeom prst="rect">
            <a:avLst/>
          </a:prstGeom>
          <a:noFill/>
        </p:spPr>
        <p:txBody>
          <a:bodyPr wrap="square" lIns="0" rIns="0" tIns="0" bIns="0" anchor="t">
            <a:noAutofit/>
          </a:bodyPr>
          <a:lstStyle/>
          <a:p>
            <a:pPr algn="ctr">
              <a:lnSpc>
                <a:spcPct val="114000"/>
              </a:lnSpc>
              <a:spcBef>
                <a:spcPts val="0"/>
              </a:spcBef>
              <a:spcAft>
                <a:spcPts val="0"/>
              </a:spcAft>
            </a:pPr>
            <a:r>
              <a:rPr sz="919" b="0">
                <a:solidFill>
                  <a:srgbClr val="5A6358"/>
                </a:solidFill>
                <a:latin typeface="Inter"/>
              </a:rPr>
              <a:t>NVIDIA Figure 18 · Guide p. 70 / PDF p. 88</a:t>
            </a:r>
          </a:p>
        </p:txBody>
      </p:sp>
      <p:sp>
        <p:nvSpPr>
          <p:cNvPr id="16" name="Rectangle 15"/>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Padding changes the shared-memory layout without adding values to the matrix.</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MEMORY ACCESS</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Resource use limits the number of active warps</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NVIDIA Figure 4; guide §2.3.7 and register discussion §2.3.3.3, pp. 53 and 72–74.</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36</a:t>
            </a:r>
          </a:p>
        </p:txBody>
      </p:sp>
      <p:sp>
        <p:nvSpPr>
          <p:cNvPr id="8" name="Rectangle 7"/>
          <p:cNvSpPr/>
          <p:nvPr/>
        </p:nvSpPr>
        <p:spPr>
          <a:xfrm>
            <a:off x="1138463" y="1819656"/>
            <a:ext cx="2359081" cy="3429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ORIGINAL_NVIDIA_fig04_scheduling_PDF_page_26" descr="NVIDIA Figure 4; CUDA Programming Guide 13.4.2, PDF page 26, printed page 8. Extracted from embedded image xref 870; original colors and aspect ratio preserved."/>
          <p:cNvPicPr>
            <a:picLocks noChangeAspect="1"/>
          </p:cNvPicPr>
          <p:nvPr/>
        </p:nvPicPr>
        <p:blipFill>
          <a:blip r:embed="rId2"/>
          <a:stretch>
            <a:fillRect/>
          </a:stretch>
        </p:blipFill>
        <p:spPr>
          <a:xfrm>
            <a:off x="1138463" y="1819656"/>
            <a:ext cx="2359081" cy="3429000"/>
          </a:xfrm>
          <a:prstGeom prst="rect">
            <a:avLst/>
          </a:prstGeom>
        </p:spPr>
      </p:pic>
      <p:sp>
        <p:nvSpPr>
          <p:cNvPr id="10" name="TextBox 9"/>
          <p:cNvSpPr txBox="1"/>
          <p:nvPr/>
        </p:nvSpPr>
        <p:spPr>
          <a:xfrm>
            <a:off x="667512" y="5321808"/>
            <a:ext cx="3300984" cy="210312"/>
          </a:xfrm>
          <a:prstGeom prst="rect">
            <a:avLst/>
          </a:prstGeom>
          <a:noFill/>
        </p:spPr>
        <p:txBody>
          <a:bodyPr wrap="square" lIns="0" rIns="0" tIns="0" bIns="0" anchor="t">
            <a:noAutofit/>
          </a:bodyPr>
          <a:lstStyle/>
          <a:p>
            <a:pPr algn="ctr">
              <a:lnSpc>
                <a:spcPct val="114000"/>
              </a:lnSpc>
              <a:spcBef>
                <a:spcPts val="0"/>
              </a:spcBef>
              <a:spcAft>
                <a:spcPts val="0"/>
              </a:spcAft>
            </a:pPr>
            <a:r>
              <a:rPr sz="919" b="0">
                <a:solidFill>
                  <a:srgbClr val="5A6358"/>
                </a:solidFill>
                <a:latin typeface="Inter"/>
              </a:rPr>
              <a:t>NVIDIA Figure 4 · Guide p. 8 / PDF p. 26</a:t>
            </a:r>
          </a:p>
        </p:txBody>
      </p:sp>
      <p:sp>
        <p:nvSpPr>
          <p:cNvPr id="11" name="TextBox 10"/>
          <p:cNvSpPr txBox="1"/>
          <p:nvPr/>
        </p:nvSpPr>
        <p:spPr>
          <a:xfrm>
            <a:off x="4654296" y="1984248"/>
            <a:ext cx="6821424"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PER THREAD</a:t>
            </a:r>
          </a:p>
        </p:txBody>
      </p:sp>
      <p:sp>
        <p:nvSpPr>
          <p:cNvPr id="12" name="TextBox 11"/>
          <p:cNvSpPr txBox="1"/>
          <p:nvPr/>
        </p:nvSpPr>
        <p:spPr>
          <a:xfrm>
            <a:off x="4654296" y="2295144"/>
            <a:ext cx="6821424" cy="822960"/>
          </a:xfrm>
          <a:prstGeom prst="rect">
            <a:avLst/>
          </a:prstGeom>
          <a:noFill/>
        </p:spPr>
        <p:txBody>
          <a:bodyPr wrap="square" lIns="0" rIns="0" tIns="0" bIns="0" anchor="t">
            <a:noAutofit/>
          </a:bodyPr>
          <a:lstStyle/>
          <a:p>
            <a:pPr algn="l">
              <a:lnSpc>
                <a:spcPct val="114000"/>
              </a:lnSpc>
              <a:spcBef>
                <a:spcPts val="0"/>
              </a:spcBef>
              <a:spcAft>
                <a:spcPts val="0"/>
              </a:spcAft>
            </a:pPr>
            <a:r>
              <a:rPr sz="2200" b="0">
                <a:solidFill>
                  <a:srgbClr val="121610"/>
                </a:solidFill>
                <a:latin typeface="Inter"/>
              </a:rPr>
              <a:t>Register demand can limit residency.</a:t>
            </a:r>
          </a:p>
        </p:txBody>
      </p:sp>
      <p:sp>
        <p:nvSpPr>
          <p:cNvPr id="13" name="TextBox 12"/>
          <p:cNvSpPr txBox="1"/>
          <p:nvPr/>
        </p:nvSpPr>
        <p:spPr>
          <a:xfrm>
            <a:off x="4654296" y="3127248"/>
            <a:ext cx="6821424"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PER BLOCK</a:t>
            </a:r>
          </a:p>
        </p:txBody>
      </p:sp>
      <p:sp>
        <p:nvSpPr>
          <p:cNvPr id="14" name="TextBox 13"/>
          <p:cNvSpPr txBox="1"/>
          <p:nvPr/>
        </p:nvSpPr>
        <p:spPr>
          <a:xfrm>
            <a:off x="4654296" y="3438144"/>
            <a:ext cx="6821424" cy="822960"/>
          </a:xfrm>
          <a:prstGeom prst="rect">
            <a:avLst/>
          </a:prstGeom>
          <a:noFill/>
        </p:spPr>
        <p:txBody>
          <a:bodyPr wrap="square" lIns="0" rIns="0" tIns="0" bIns="0" anchor="t">
            <a:noAutofit/>
          </a:bodyPr>
          <a:lstStyle/>
          <a:p>
            <a:pPr algn="l">
              <a:lnSpc>
                <a:spcPct val="114000"/>
              </a:lnSpc>
              <a:spcBef>
                <a:spcPts val="0"/>
              </a:spcBef>
              <a:spcAft>
                <a:spcPts val="0"/>
              </a:spcAft>
            </a:pPr>
            <a:r>
              <a:rPr sz="2200" b="0">
                <a:solidFill>
                  <a:srgbClr val="121610"/>
                </a:solidFill>
                <a:latin typeface="Inter"/>
              </a:rPr>
              <a:t>Shared-memory demand can limit residency.</a:t>
            </a:r>
          </a:p>
        </p:txBody>
      </p:sp>
      <p:sp>
        <p:nvSpPr>
          <p:cNvPr id="15" name="TextBox 14"/>
          <p:cNvSpPr txBox="1"/>
          <p:nvPr/>
        </p:nvSpPr>
        <p:spPr>
          <a:xfrm>
            <a:off x="4654296" y="4270248"/>
            <a:ext cx="6821424"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LAUNCH CONFIGURATION</a:t>
            </a:r>
          </a:p>
        </p:txBody>
      </p:sp>
      <p:sp>
        <p:nvSpPr>
          <p:cNvPr id="16" name="TextBox 15"/>
          <p:cNvSpPr txBox="1"/>
          <p:nvPr/>
        </p:nvSpPr>
        <p:spPr>
          <a:xfrm>
            <a:off x="4654296" y="4581144"/>
            <a:ext cx="6821424" cy="822960"/>
          </a:xfrm>
          <a:prstGeom prst="rect">
            <a:avLst/>
          </a:prstGeom>
          <a:noFill/>
        </p:spPr>
        <p:txBody>
          <a:bodyPr wrap="square" lIns="0" rIns="0" tIns="0" bIns="0" anchor="t">
            <a:noAutofit/>
          </a:bodyPr>
          <a:lstStyle/>
          <a:p>
            <a:pPr algn="l">
              <a:lnSpc>
                <a:spcPct val="114000"/>
              </a:lnSpc>
              <a:spcBef>
                <a:spcPts val="0"/>
              </a:spcBef>
              <a:spcAft>
                <a:spcPts val="0"/>
              </a:spcAft>
            </a:pPr>
            <a:r>
              <a:rPr sz="2200" b="0">
                <a:solidFill>
                  <a:srgbClr val="121610"/>
                </a:solidFill>
                <a:latin typeface="Inter"/>
              </a:rPr>
              <a:t>Block size also consumes finite SM resources.</a:t>
            </a:r>
          </a:p>
        </p:txBody>
      </p:sp>
      <p:sp>
        <p:nvSpPr>
          <p:cNvPr id="17" name="Rectangle 16"/>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Calculate resource limits, then measure the implementation you actually intend to run.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40-MINUTE LAB</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Lab 3 · Predict, implement and verify a transpose</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Existing companion pack: starter/day1_extensions; source concepts: guide §2.3.4.</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37</a:t>
            </a:r>
          </a:p>
        </p:txBody>
      </p:sp>
      <p:sp>
        <p:nvSpPr>
          <p:cNvPr id="8" name="Rectangle 7"/>
          <p:cNvSpPr/>
          <p:nvPr/>
        </p:nvSpPr>
        <p:spPr>
          <a:xfrm>
            <a:off x="521207" y="1773936"/>
            <a:ext cx="3090672" cy="283464"/>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30936" y="1833372"/>
            <a:ext cx="2907791" cy="182880"/>
          </a:xfrm>
          <a:prstGeom prst="rect">
            <a:avLst/>
          </a:prstGeom>
          <a:noFill/>
        </p:spPr>
        <p:txBody>
          <a:bodyPr wrap="square" lIns="0" rIns="0" tIns="0" bIns="0" anchor="t">
            <a:noAutofit/>
          </a:bodyPr>
          <a:lstStyle/>
          <a:p>
            <a:pPr algn="l">
              <a:lnSpc>
                <a:spcPct val="114000"/>
              </a:lnSpc>
              <a:spcBef>
                <a:spcPts val="0"/>
              </a:spcBef>
              <a:spcAft>
                <a:spcPts val="0"/>
              </a:spcAft>
            </a:pPr>
            <a:r>
              <a:rPr sz="950" b="1">
                <a:solidFill>
                  <a:srgbClr val="4C7000"/>
                </a:solidFill>
                <a:latin typeface="Inter"/>
              </a:rPr>
              <a:t>HANDS-ON / COURSE EXERCISE</a:t>
            </a:r>
          </a:p>
        </p:txBody>
      </p:sp>
      <p:sp>
        <p:nvSpPr>
          <p:cNvPr id="10" name="Rectangle 9"/>
          <p:cNvSpPr/>
          <p:nvPr/>
        </p:nvSpPr>
        <p:spPr>
          <a:xfrm>
            <a:off x="521207" y="2286000"/>
            <a:ext cx="7406640" cy="2414016"/>
          </a:xfrm>
          <a:prstGeom prst="rect">
            <a:avLst/>
          </a:prstGeom>
          <a:solidFill>
            <a:srgbClr val="11170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04088" y="2441448"/>
            <a:ext cx="7040879" cy="210312"/>
          </a:xfrm>
          <a:prstGeom prst="rect">
            <a:avLst/>
          </a:prstGeom>
          <a:noFill/>
        </p:spPr>
        <p:txBody>
          <a:bodyPr wrap="square" lIns="0" rIns="0" tIns="0" bIns="0" anchor="t">
            <a:noAutofit/>
          </a:bodyPr>
          <a:lstStyle/>
          <a:p>
            <a:pPr algn="l">
              <a:lnSpc>
                <a:spcPct val="114000"/>
              </a:lnSpc>
              <a:spcBef>
                <a:spcPts val="0"/>
              </a:spcBef>
              <a:spcAft>
                <a:spcPts val="0"/>
              </a:spcAft>
            </a:pPr>
            <a:r>
              <a:rPr sz="900" b="1">
                <a:solidFill>
                  <a:srgbClr val="76B900"/>
                </a:solidFill>
                <a:latin typeface="Inter"/>
              </a:rPr>
              <a:t>RUN FROM THE MODULE SHOWN</a:t>
            </a:r>
          </a:p>
        </p:txBody>
      </p:sp>
      <p:sp>
        <p:nvSpPr>
          <p:cNvPr id="12" name="TextBox 11"/>
          <p:cNvSpPr txBox="1"/>
          <p:nvPr/>
        </p:nvSpPr>
        <p:spPr>
          <a:xfrm>
            <a:off x="704088" y="2798064"/>
            <a:ext cx="7040879" cy="1773936"/>
          </a:xfrm>
          <a:prstGeom prst="rect">
            <a:avLst/>
          </a:prstGeom>
          <a:noFill/>
        </p:spPr>
        <p:txBody>
          <a:bodyPr wrap="none" lIns="0" rIns="0" tIns="0" bIns="0">
            <a:noAutofit/>
          </a:bodyPr>
          <a:lstStyle/>
          <a:p>
            <a:pPr>
              <a:lnSpc>
                <a:spcPts val="2039"/>
              </a:lnSpc>
              <a:spcBef>
                <a:spcPts val="0"/>
              </a:spcBef>
              <a:spcAft>
                <a:spcPts val="0"/>
              </a:spcAft>
            </a:pPr>
            <a:r>
              <a:rPr sz="1700">
                <a:solidFill>
                  <a:srgbClr val="96A58B"/>
                </a:solidFill>
                <a:latin typeface="DejaVu Sans Mono"/>
              </a:rPr>
              <a:t># After installing the supplied starter:</a:t>
            </a:r>
          </a:p>
          <a:p>
            <a:pPr>
              <a:lnSpc>
                <a:spcPts val="2039"/>
              </a:lnSpc>
              <a:spcBef>
                <a:spcPts val="0"/>
              </a:spcBef>
              <a:spcAft>
                <a:spcPts val="0"/>
              </a:spcAft>
            </a:pPr>
            <a:r>
              <a:rPr sz="1700">
                <a:solidFill>
                  <a:srgbClr val="EDF3E6"/>
                </a:solidFill>
                <a:latin typeface="DejaVu Sans Mono"/>
              </a:rPr>
              <a:t>cd</a:t>
            </a:r>
            <a:r>
              <a:rPr sz="1700">
                <a:solidFill>
                  <a:srgbClr val="EDF3E6"/>
                </a:solidFill>
                <a:latin typeface="DejaVu Sans Mono"/>
              </a:rPr>
              <a:t> </a:t>
            </a:r>
            <a:r>
              <a:rPr sz="1700">
                <a:solidFill>
                  <a:srgbClr val="EDF3E6"/>
                </a:solidFill>
                <a:latin typeface="DejaVu Sans Mono"/>
              </a:rPr>
              <a:t>formation/projects/detailed</a:t>
            </a:r>
          </a:p>
          <a:p>
            <a:pPr>
              <a:lnSpc>
                <a:spcPts val="2039"/>
              </a:lnSpc>
              <a:spcBef>
                <a:spcPts val="0"/>
              </a:spcBef>
              <a:spcAft>
                <a:spcPts val="0"/>
              </a:spcAft>
            </a:pPr>
            <a:r>
              <a:rPr sz="1700">
                <a:solidFill>
                  <a:srgbClr val="EDF3E6"/>
                </a:solidFill>
                <a:latin typeface="DejaVu Sans Mono"/>
              </a:rPr>
              <a:t>bazel</a:t>
            </a:r>
            <a:r>
              <a:rPr sz="1700">
                <a:solidFill>
                  <a:srgbClr val="EDF3E6"/>
                </a:solidFill>
                <a:latin typeface="DejaVu Sans Mono"/>
              </a:rPr>
              <a:t> </a:t>
            </a:r>
            <a:r>
              <a:rPr sz="1700">
                <a:solidFill>
                  <a:srgbClr val="EDF3E6"/>
                </a:solidFill>
                <a:latin typeface="DejaVu Sans Mono"/>
              </a:rPr>
              <a:t>test</a:t>
            </a:r>
            <a:r>
              <a:rPr sz="1700">
                <a:solidFill>
                  <a:srgbClr val="EDF3E6"/>
                </a:solidFill>
                <a:latin typeface="DejaVu Sans Mono"/>
              </a:rPr>
              <a:t> </a:t>
            </a:r>
            <a:r>
              <a:rPr sz="1700">
                <a:solidFill>
                  <a:srgbClr val="EDF3E6"/>
                </a:solidFill>
                <a:latin typeface="DejaVu Sans Mono"/>
              </a:rPr>
              <a:t>//day1_extensions:transpose_test</a:t>
            </a:r>
          </a:p>
          <a:p>
            <a:pPr>
              <a:lnSpc>
                <a:spcPts val="2039"/>
              </a:lnSpc>
              <a:spcBef>
                <a:spcPts val="0"/>
              </a:spcBef>
              <a:spcAft>
                <a:spcPts val="0"/>
              </a:spcAft>
            </a:pPr>
            <a:r>
              <a:rPr sz="1700">
                <a:solidFill>
                  <a:srgbClr val="EDF3E6"/>
                </a:solidFill>
                <a:latin typeface="DejaVu Sans Mono"/>
              </a:rPr>
              <a:t>bazel</a:t>
            </a:r>
            <a:r>
              <a:rPr sz="1700">
                <a:solidFill>
                  <a:srgbClr val="EDF3E6"/>
                </a:solidFill>
                <a:latin typeface="DejaVu Sans Mono"/>
              </a:rPr>
              <a:t> </a:t>
            </a:r>
            <a:r>
              <a:rPr sz="1700">
                <a:solidFill>
                  <a:srgbClr val="EDF3E6"/>
                </a:solidFill>
                <a:latin typeface="DejaVu Sans Mono"/>
              </a:rPr>
              <a:t>run</a:t>
            </a:r>
            <a:r>
              <a:rPr sz="1700">
                <a:solidFill>
                  <a:srgbClr val="EDF3E6"/>
                </a:solidFill>
                <a:latin typeface="DejaVu Sans Mono"/>
              </a:rPr>
              <a:t> </a:t>
            </a:r>
            <a:r>
              <a:rPr sz="1700">
                <a:solidFill>
                  <a:srgbClr val="EDF3E6"/>
                </a:solidFill>
                <a:latin typeface="DejaVu Sans Mono"/>
              </a:rPr>
              <a:t>-c</a:t>
            </a:r>
            <a:r>
              <a:rPr sz="1700">
                <a:solidFill>
                  <a:srgbClr val="EDF3E6"/>
                </a:solidFill>
                <a:latin typeface="DejaVu Sans Mono"/>
              </a:rPr>
              <a:t> </a:t>
            </a:r>
            <a:r>
              <a:rPr sz="1700">
                <a:solidFill>
                  <a:srgbClr val="EDF3E6"/>
                </a:solidFill>
                <a:latin typeface="DejaVu Sans Mono"/>
              </a:rPr>
              <a:t>opt</a:t>
            </a:r>
            <a:r>
              <a:rPr sz="1700">
                <a:solidFill>
                  <a:srgbClr val="EDF3E6"/>
                </a:solidFill>
                <a:latin typeface="DejaVu Sans Mono"/>
              </a:rPr>
              <a:t> </a:t>
            </a:r>
            <a:r>
              <a:rPr sz="1700">
                <a:solidFill>
                  <a:srgbClr val="EDF3E6"/>
                </a:solidFill>
                <a:latin typeface="DejaVu Sans Mono"/>
              </a:rPr>
              <a:t>//day1_extensions:transpose_lab</a:t>
            </a:r>
          </a:p>
        </p:txBody>
      </p:sp>
      <p:sp>
        <p:nvSpPr>
          <p:cNvPr id="13" name="TextBox 12"/>
          <p:cNvSpPr txBox="1"/>
          <p:nvPr/>
        </p:nvSpPr>
        <p:spPr>
          <a:xfrm>
            <a:off x="8339327" y="1938528"/>
            <a:ext cx="320040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COMPARE</a:t>
            </a:r>
          </a:p>
        </p:txBody>
      </p:sp>
      <p:sp>
        <p:nvSpPr>
          <p:cNvPr id="14" name="TextBox 13"/>
          <p:cNvSpPr txBox="1"/>
          <p:nvPr/>
        </p:nvSpPr>
        <p:spPr>
          <a:xfrm>
            <a:off x="8339327" y="2249424"/>
            <a:ext cx="3200400" cy="704088"/>
          </a:xfrm>
          <a:prstGeom prst="rect">
            <a:avLst/>
          </a:prstGeom>
          <a:noFill/>
        </p:spPr>
        <p:txBody>
          <a:bodyPr wrap="square" lIns="0" rIns="0" tIns="0" bIns="0" anchor="t">
            <a:noAutofit/>
          </a:bodyPr>
          <a:lstStyle/>
          <a:p>
            <a:pPr algn="l">
              <a:lnSpc>
                <a:spcPct val="114000"/>
              </a:lnSpc>
              <a:spcBef>
                <a:spcPts val="0"/>
              </a:spcBef>
              <a:spcAft>
                <a:spcPts val="0"/>
              </a:spcAft>
            </a:pPr>
            <a:r>
              <a:rPr sz="1900" b="0">
                <a:solidFill>
                  <a:srgbClr val="121610"/>
                </a:solidFill>
                <a:latin typeface="Inter"/>
              </a:rPr>
              <a:t>Naive, tiled and padded.</a:t>
            </a:r>
          </a:p>
        </p:txBody>
      </p:sp>
      <p:sp>
        <p:nvSpPr>
          <p:cNvPr id="15" name="TextBox 14"/>
          <p:cNvSpPr txBox="1"/>
          <p:nvPr/>
        </p:nvSpPr>
        <p:spPr>
          <a:xfrm>
            <a:off x="8339327" y="2962656"/>
            <a:ext cx="320040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CHECK</a:t>
            </a:r>
          </a:p>
        </p:txBody>
      </p:sp>
      <p:sp>
        <p:nvSpPr>
          <p:cNvPr id="16" name="TextBox 15"/>
          <p:cNvSpPr txBox="1"/>
          <p:nvPr/>
        </p:nvSpPr>
        <p:spPr>
          <a:xfrm>
            <a:off x="8339327" y="3273552"/>
            <a:ext cx="3200400" cy="704088"/>
          </a:xfrm>
          <a:prstGeom prst="rect">
            <a:avLst/>
          </a:prstGeom>
          <a:noFill/>
        </p:spPr>
        <p:txBody>
          <a:bodyPr wrap="square" lIns="0" rIns="0" tIns="0" bIns="0" anchor="t">
            <a:noAutofit/>
          </a:bodyPr>
          <a:lstStyle/>
          <a:p>
            <a:pPr algn="l">
              <a:lnSpc>
                <a:spcPct val="114000"/>
              </a:lnSpc>
              <a:spcBef>
                <a:spcPts val="0"/>
              </a:spcBef>
              <a:spcAft>
                <a:spcPts val="0"/>
              </a:spcAft>
            </a:pPr>
            <a:r>
              <a:rPr sz="1900" b="0">
                <a:solidFill>
                  <a:srgbClr val="121610"/>
                </a:solidFill>
                <a:latin typeface="Inter"/>
              </a:rPr>
              <a:t>Rectangular and partial tiles.</a:t>
            </a:r>
          </a:p>
        </p:txBody>
      </p:sp>
      <p:sp>
        <p:nvSpPr>
          <p:cNvPr id="17" name="TextBox 16"/>
          <p:cNvSpPr txBox="1"/>
          <p:nvPr/>
        </p:nvSpPr>
        <p:spPr>
          <a:xfrm>
            <a:off x="8339327" y="3986784"/>
            <a:ext cx="320040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REPORT</a:t>
            </a:r>
          </a:p>
        </p:txBody>
      </p:sp>
      <p:sp>
        <p:nvSpPr>
          <p:cNvPr id="18" name="TextBox 17"/>
          <p:cNvSpPr txBox="1"/>
          <p:nvPr/>
        </p:nvSpPr>
        <p:spPr>
          <a:xfrm>
            <a:off x="8339327" y="4297680"/>
            <a:ext cx="3200400" cy="704088"/>
          </a:xfrm>
          <a:prstGeom prst="rect">
            <a:avLst/>
          </a:prstGeom>
          <a:noFill/>
        </p:spPr>
        <p:txBody>
          <a:bodyPr wrap="square" lIns="0" rIns="0" tIns="0" bIns="0" anchor="t">
            <a:noAutofit/>
          </a:bodyPr>
          <a:lstStyle/>
          <a:p>
            <a:pPr algn="l">
              <a:lnSpc>
                <a:spcPct val="114000"/>
              </a:lnSpc>
              <a:spcBef>
                <a:spcPts val="0"/>
              </a:spcBef>
              <a:spcAft>
                <a:spcPts val="0"/>
              </a:spcAft>
            </a:pPr>
            <a:r>
              <a:rPr sz="1900" b="0">
                <a:solidFill>
                  <a:srgbClr val="121610"/>
                </a:solidFill>
                <a:latin typeface="Inter"/>
              </a:rPr>
              <a:t>Prediction and measured outcome.</a:t>
            </a:r>
          </a:p>
        </p:txBody>
      </p:sp>
      <p:sp>
        <p:nvSpPr>
          <p:cNvPr id="19" name="TextBox 18"/>
          <p:cNvSpPr txBox="1"/>
          <p:nvPr/>
        </p:nvSpPr>
        <p:spPr>
          <a:xfrm>
            <a:off x="594360" y="5056632"/>
            <a:ext cx="10936224" cy="438912"/>
          </a:xfrm>
          <a:prstGeom prst="rect">
            <a:avLst/>
          </a:prstGeom>
          <a:noFill/>
        </p:spPr>
        <p:txBody>
          <a:bodyPr wrap="square" lIns="0" rIns="0" tIns="0" bIns="0" anchor="t">
            <a:noAutofit/>
          </a:bodyPr>
          <a:lstStyle/>
          <a:p>
            <a:pPr algn="l">
              <a:lnSpc>
                <a:spcPct val="114000"/>
              </a:lnSpc>
              <a:spcBef>
                <a:spcPts val="0"/>
              </a:spcBef>
              <a:spcAft>
                <a:spcPts val="0"/>
              </a:spcAft>
            </a:pPr>
            <a:r>
              <a:rPr sz="1800" b="1">
                <a:solidFill>
                  <a:srgbClr val="121610"/>
                </a:solidFill>
                <a:latin typeface="Inter"/>
              </a:rPr>
              <a:t>Deliverable: correct outputs and an explanation of the observed access behavior.</a:t>
            </a:r>
          </a:p>
        </p:txBody>
      </p:sp>
      <p:sp>
        <p:nvSpPr>
          <p:cNvPr id="20" name="Rectangle 19"/>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Record what you tested, why you trust the result, and what remains unverified.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MEMORY-ACCESS DEBRIEF</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Describe useful traffic before interpreting the timing</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Course arithmetic for the retained float32 transpose lab; guide §2.3.4 motivates access efficiency.</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38</a:t>
            </a:r>
          </a:p>
        </p:txBody>
      </p:sp>
      <p:sp>
        <p:nvSpPr>
          <p:cNvPr id="8" name="TextBox 7"/>
          <p:cNvSpPr txBox="1"/>
          <p:nvPr/>
        </p:nvSpPr>
        <p:spPr>
          <a:xfrm>
            <a:off x="740664" y="2057400"/>
            <a:ext cx="10735056" cy="539496"/>
          </a:xfrm>
          <a:prstGeom prst="rect">
            <a:avLst/>
          </a:prstGeom>
          <a:noFill/>
        </p:spPr>
        <p:txBody>
          <a:bodyPr wrap="square" lIns="0" rIns="0" tIns="0" bIns="0" anchor="t">
            <a:noAutofit/>
          </a:bodyPr>
          <a:lstStyle/>
          <a:p>
            <a:pPr algn="l">
              <a:lnSpc>
                <a:spcPct val="114000"/>
              </a:lnSpc>
              <a:spcBef>
                <a:spcPts val="0"/>
              </a:spcBef>
              <a:spcAft>
                <a:spcPts val="0"/>
              </a:spcAft>
            </a:pPr>
            <a:r>
              <a:rPr sz="2900" b="1">
                <a:solidFill>
                  <a:srgbClr val="121610"/>
                </a:solidFill>
                <a:latin typeface="Inter"/>
              </a:rPr>
              <a:t>Read M × N floats + write M × N floats</a:t>
            </a:r>
          </a:p>
        </p:txBody>
      </p:sp>
      <p:sp>
        <p:nvSpPr>
          <p:cNvPr id="9" name="TextBox 8"/>
          <p:cNvSpPr txBox="1"/>
          <p:nvPr/>
        </p:nvSpPr>
        <p:spPr>
          <a:xfrm>
            <a:off x="749808" y="3035808"/>
            <a:ext cx="10625328" cy="868680"/>
          </a:xfrm>
          <a:prstGeom prst="rect">
            <a:avLst/>
          </a:prstGeom>
          <a:noFill/>
        </p:spPr>
        <p:txBody>
          <a:bodyPr wrap="square" lIns="0" rIns="0" tIns="0" bIns="0" anchor="t">
            <a:noAutofit/>
          </a:bodyPr>
          <a:lstStyle/>
          <a:p>
            <a:pPr algn="l">
              <a:lnSpc>
                <a:spcPct val="114000"/>
              </a:lnSpc>
              <a:spcBef>
                <a:spcPts val="0"/>
              </a:spcBef>
              <a:spcAft>
                <a:spcPts val="0"/>
              </a:spcAft>
            </a:pPr>
            <a:r>
              <a:rPr sz="4600" b="1">
                <a:solidFill>
                  <a:srgbClr val="76B900"/>
                </a:solidFill>
                <a:latin typeface="Inter"/>
              </a:rPr>
              <a:t>8 × M × N bytes</a:t>
            </a:r>
          </a:p>
        </p:txBody>
      </p:sp>
      <p:sp>
        <p:nvSpPr>
          <p:cNvPr id="10" name="TextBox 9"/>
          <p:cNvSpPr txBox="1"/>
          <p:nvPr/>
        </p:nvSpPr>
        <p:spPr>
          <a:xfrm>
            <a:off x="777240" y="4334256"/>
            <a:ext cx="10671048" cy="484632"/>
          </a:xfrm>
          <a:prstGeom prst="rect">
            <a:avLst/>
          </a:prstGeom>
          <a:noFill/>
        </p:spPr>
        <p:txBody>
          <a:bodyPr wrap="square" lIns="0" rIns="0" tIns="0" bIns="0" anchor="t">
            <a:noAutofit/>
          </a:bodyPr>
          <a:lstStyle/>
          <a:p>
            <a:pPr algn="l">
              <a:lnSpc>
                <a:spcPct val="114000"/>
              </a:lnSpc>
              <a:spcBef>
                <a:spcPts val="0"/>
              </a:spcBef>
              <a:spcAft>
                <a:spcPts val="0"/>
              </a:spcAft>
            </a:pPr>
            <a:r>
              <a:rPr sz="2500" b="0">
                <a:solidFill>
                  <a:srgbClr val="121610"/>
                </a:solidFill>
                <a:latin typeface="Inter"/>
              </a:rPr>
              <a:t>Effective bandwidth = useful bytes / elapsed time</a:t>
            </a:r>
          </a:p>
        </p:txBody>
      </p:sp>
      <p:sp>
        <p:nvSpPr>
          <p:cNvPr id="11" name="TextBox 10"/>
          <p:cNvSpPr txBox="1"/>
          <p:nvPr/>
        </p:nvSpPr>
        <p:spPr>
          <a:xfrm>
            <a:off x="795528" y="5111496"/>
            <a:ext cx="10616184" cy="393192"/>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5A6358"/>
                </a:solidFill>
                <a:latin typeface="Inter"/>
              </a:rPr>
              <a:t>Keep cache residency and timing scope in the report.</a:t>
            </a:r>
          </a:p>
        </p:txBody>
      </p:sp>
      <p:sp>
        <p:nvSpPr>
          <p:cNvPr id="12" name="Rectangle 11"/>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Useful traffic is an algorithmic count—not a direct measurement of DRAM transfers.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90C08"/>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C2CBB8"/>
                </a:solidFill>
                <a:latin typeface="Inter"/>
              </a:rPr>
              <a:t>DAY 1 / 04</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FFFFFF"/>
                </a:solidFill>
                <a:latin typeface="Inter"/>
              </a:rPr>
              <a:t>Cooperate safely</a:t>
            </a:r>
          </a:p>
        </p:txBody>
      </p:sp>
      <p:sp>
        <p:nvSpPr>
          <p:cNvPr id="4" name="Rectangle 3"/>
          <p:cNvSpPr/>
          <p:nvPr/>
        </p:nvSpPr>
        <p:spPr>
          <a:xfrm>
            <a:off x="502920" y="6432804"/>
            <a:ext cx="11173968" cy="8229"/>
          </a:xfrm>
          <a:prstGeom prst="rect">
            <a:avLst/>
          </a:prstGeom>
          <a:solidFill>
            <a:srgbClr val="3A45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C2CBB8"/>
                </a:solidFill>
                <a:latin typeface="Inter"/>
              </a:rPr>
              <a:t>NVIDIA Figure 3 · cooperative work: guide §§2.3.3.2 and 2.3.5</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C2CBB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FFFFFF"/>
                </a:solidFill>
                <a:latin typeface="Inter"/>
              </a:rPr>
              <a:t>39</a:t>
            </a:r>
          </a:p>
        </p:txBody>
      </p:sp>
      <p:sp>
        <p:nvSpPr>
          <p:cNvPr id="8" name="TextBox 7"/>
          <p:cNvSpPr txBox="1"/>
          <p:nvPr/>
        </p:nvSpPr>
        <p:spPr>
          <a:xfrm>
            <a:off x="521207" y="2103120"/>
            <a:ext cx="3566160" cy="1115568"/>
          </a:xfrm>
          <a:prstGeom prst="rect">
            <a:avLst/>
          </a:prstGeom>
          <a:noFill/>
        </p:spPr>
        <p:txBody>
          <a:bodyPr wrap="square" lIns="0" rIns="0" tIns="0" bIns="0" anchor="t">
            <a:noAutofit/>
          </a:bodyPr>
          <a:lstStyle/>
          <a:p>
            <a:pPr algn="l">
              <a:lnSpc>
                <a:spcPct val="114000"/>
              </a:lnSpc>
              <a:spcBef>
                <a:spcPts val="0"/>
              </a:spcBef>
              <a:spcAft>
                <a:spcPts val="0"/>
              </a:spcAft>
            </a:pPr>
            <a:r>
              <a:rPr sz="6600" b="1">
                <a:solidFill>
                  <a:srgbClr val="76B900"/>
                </a:solidFill>
                <a:latin typeface="Inter"/>
              </a:rPr>
              <a:t>04</a:t>
            </a:r>
          </a:p>
        </p:txBody>
      </p:sp>
      <p:sp>
        <p:nvSpPr>
          <p:cNvPr id="9" name="TextBox 8"/>
          <p:cNvSpPr txBox="1"/>
          <p:nvPr/>
        </p:nvSpPr>
        <p:spPr>
          <a:xfrm>
            <a:off x="530352" y="3438144"/>
            <a:ext cx="4069080" cy="1325880"/>
          </a:xfrm>
          <a:prstGeom prst="rect">
            <a:avLst/>
          </a:prstGeom>
          <a:noFill/>
        </p:spPr>
        <p:txBody>
          <a:bodyPr wrap="square" lIns="0" rIns="0" tIns="0" bIns="0" anchor="t">
            <a:noAutofit/>
          </a:bodyPr>
          <a:lstStyle/>
          <a:p>
            <a:pPr algn="l">
              <a:lnSpc>
                <a:spcPct val="114000"/>
              </a:lnSpc>
              <a:spcBef>
                <a:spcPts val="0"/>
              </a:spcBef>
              <a:spcAft>
                <a:spcPts val="0"/>
              </a:spcAft>
            </a:pPr>
            <a:r>
              <a:rPr sz="2200" b="0">
                <a:solidFill>
                  <a:srgbClr val="FFFFFF"/>
                </a:solidFill>
                <a:latin typeface="Inter"/>
              </a:rPr>
              <a:t>When many inputs produce fewer outputs,</a:t>
            </a:r>
          </a:p>
          <a:p>
            <a:pPr algn="l">
              <a:lnSpc>
                <a:spcPct val="114000"/>
              </a:lnSpc>
              <a:spcBef>
                <a:spcPts val="0"/>
              </a:spcBef>
              <a:spcAft>
                <a:spcPts val="0"/>
              </a:spcAft>
            </a:pPr>
            <a:r>
              <a:rPr sz="2200" b="0">
                <a:solidFill>
                  <a:srgbClr val="FFFFFF"/>
                </a:solidFill>
                <a:latin typeface="Inter"/>
              </a:rPr>
              <a:t>independent writes are not enough.</a:t>
            </a:r>
          </a:p>
        </p:txBody>
      </p:sp>
      <p:sp>
        <p:nvSpPr>
          <p:cNvPr id="10" name="Rectangle 9"/>
          <p:cNvSpPr/>
          <p:nvPr/>
        </p:nvSpPr>
        <p:spPr>
          <a:xfrm>
            <a:off x="5065776" y="1865376"/>
            <a:ext cx="6611112" cy="360273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5276088" y="2044972"/>
            <a:ext cx="6172200" cy="293264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ORIGINAL_NVIDIA_fig03_grid_PDF_page_24" descr="NVIDIA Figure 3; CUDA Programming Guide 13.4.2, PDF page 24, printed page 6. Extracted from embedded image xref 853; original colors and aspect ratio preserved."/>
          <p:cNvPicPr>
            <a:picLocks noChangeAspect="1"/>
          </p:cNvPicPr>
          <p:nvPr/>
        </p:nvPicPr>
        <p:blipFill>
          <a:blip r:embed="rId2"/>
          <a:stretch>
            <a:fillRect/>
          </a:stretch>
        </p:blipFill>
        <p:spPr>
          <a:xfrm>
            <a:off x="5276088" y="2044972"/>
            <a:ext cx="6172200" cy="2932647"/>
          </a:xfrm>
          <a:prstGeom prst="rect">
            <a:avLst/>
          </a:prstGeom>
        </p:spPr>
      </p:pic>
      <p:sp>
        <p:nvSpPr>
          <p:cNvPr id="13" name="TextBox 12"/>
          <p:cNvSpPr txBox="1"/>
          <p:nvPr/>
        </p:nvSpPr>
        <p:spPr>
          <a:xfrm>
            <a:off x="5276088" y="5084064"/>
            <a:ext cx="6172200" cy="210312"/>
          </a:xfrm>
          <a:prstGeom prst="rect">
            <a:avLst/>
          </a:prstGeom>
          <a:noFill/>
        </p:spPr>
        <p:txBody>
          <a:bodyPr wrap="square" lIns="0" rIns="0" tIns="0" bIns="0" anchor="t">
            <a:noAutofit/>
          </a:bodyPr>
          <a:lstStyle/>
          <a:p>
            <a:pPr algn="ctr">
              <a:lnSpc>
                <a:spcPct val="114000"/>
              </a:lnSpc>
              <a:spcBef>
                <a:spcPts val="0"/>
              </a:spcBef>
              <a:spcAft>
                <a:spcPts val="0"/>
              </a:spcAft>
            </a:pPr>
            <a:r>
              <a:rPr sz="919" b="0">
                <a:solidFill>
                  <a:srgbClr val="5A6358"/>
                </a:solidFill>
                <a:latin typeface="Inter"/>
              </a:rPr>
              <a:t>NVIDIA Figure 3 · Guide p. 6 / PDF p. 24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THREAD COOPERATION</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A reduction changes ownership of the result</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NVIDIA Figure 3; reduction and shared-memory concepts: §§2.3.3.2 and 2.3.5.</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40</a:t>
            </a:r>
          </a:p>
        </p:txBody>
      </p:sp>
      <p:sp>
        <p:nvSpPr>
          <p:cNvPr id="8" name="TextBox 7"/>
          <p:cNvSpPr txBox="1"/>
          <p:nvPr/>
        </p:nvSpPr>
        <p:spPr>
          <a:xfrm>
            <a:off x="731520" y="1911095"/>
            <a:ext cx="10753344" cy="585216"/>
          </a:xfrm>
          <a:prstGeom prst="rect">
            <a:avLst/>
          </a:prstGeom>
          <a:noFill/>
        </p:spPr>
        <p:txBody>
          <a:bodyPr wrap="square" lIns="0" rIns="0" tIns="0" bIns="0" anchor="t">
            <a:noAutofit/>
          </a:bodyPr>
          <a:lstStyle/>
          <a:p>
            <a:pPr algn="l">
              <a:lnSpc>
                <a:spcPct val="114000"/>
              </a:lnSpc>
              <a:spcBef>
                <a:spcPts val="0"/>
              </a:spcBef>
              <a:spcAft>
                <a:spcPts val="0"/>
              </a:spcAft>
            </a:pPr>
            <a:r>
              <a:rPr sz="3100" b="1">
                <a:solidFill>
                  <a:srgbClr val="121610"/>
                </a:solidFill>
                <a:latin typeface="Inter"/>
              </a:rPr>
              <a:t>1 + 2 + 3 + 4 + 5 + 6 + 7 + 8 = 36</a:t>
            </a:r>
          </a:p>
        </p:txBody>
      </p:sp>
      <p:sp>
        <p:nvSpPr>
          <p:cNvPr id="9" name="Rectangle 8"/>
          <p:cNvSpPr/>
          <p:nvPr/>
        </p:nvSpPr>
        <p:spPr>
          <a:xfrm>
            <a:off x="1780634" y="2907792"/>
            <a:ext cx="4695762" cy="223113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ORIGINAL_NVIDIA_fig03_grid_PDF_page_24" descr="NVIDIA Figure 3; CUDA Programming Guide 13.4.2, PDF page 24, printed page 6. Extracted from embedded image xref 853; original colors and aspect ratio preserved."/>
          <p:cNvPicPr>
            <a:picLocks noChangeAspect="1"/>
          </p:cNvPicPr>
          <p:nvPr/>
        </p:nvPicPr>
        <p:blipFill>
          <a:blip r:embed="rId2"/>
          <a:stretch>
            <a:fillRect/>
          </a:stretch>
        </p:blipFill>
        <p:spPr>
          <a:xfrm>
            <a:off x="1780634" y="2907792"/>
            <a:ext cx="4695762" cy="2231136"/>
          </a:xfrm>
          <a:prstGeom prst="rect">
            <a:avLst/>
          </a:prstGeom>
        </p:spPr>
      </p:pic>
      <p:sp>
        <p:nvSpPr>
          <p:cNvPr id="11" name="TextBox 10"/>
          <p:cNvSpPr txBox="1"/>
          <p:nvPr/>
        </p:nvSpPr>
        <p:spPr>
          <a:xfrm>
            <a:off x="859536" y="5212079"/>
            <a:ext cx="6537960" cy="210312"/>
          </a:xfrm>
          <a:prstGeom prst="rect">
            <a:avLst/>
          </a:prstGeom>
          <a:noFill/>
        </p:spPr>
        <p:txBody>
          <a:bodyPr wrap="square" lIns="0" rIns="0" tIns="0" bIns="0" anchor="t">
            <a:noAutofit/>
          </a:bodyPr>
          <a:lstStyle/>
          <a:p>
            <a:pPr algn="ctr">
              <a:lnSpc>
                <a:spcPct val="114000"/>
              </a:lnSpc>
              <a:spcBef>
                <a:spcPts val="0"/>
              </a:spcBef>
              <a:spcAft>
                <a:spcPts val="0"/>
              </a:spcAft>
            </a:pPr>
            <a:r>
              <a:rPr sz="919" b="0">
                <a:solidFill>
                  <a:srgbClr val="5A6358"/>
                </a:solidFill>
                <a:latin typeface="Inter"/>
              </a:rPr>
              <a:t>NVIDIA Figure 3 · Guide p. 6 / PDF p. 24</a:t>
            </a:r>
          </a:p>
        </p:txBody>
      </p:sp>
      <p:sp>
        <p:nvSpPr>
          <p:cNvPr id="12" name="TextBox 11"/>
          <p:cNvSpPr txBox="1"/>
          <p:nvPr/>
        </p:nvSpPr>
        <p:spPr>
          <a:xfrm>
            <a:off x="7799831" y="3072384"/>
            <a:ext cx="3648456" cy="2029968"/>
          </a:xfrm>
          <a:prstGeom prst="rect">
            <a:avLst/>
          </a:prstGeom>
          <a:noFill/>
        </p:spPr>
        <p:txBody>
          <a:bodyPr wrap="square" lIns="0" rIns="0" tIns="0" bIns="0" anchor="t">
            <a:noAutofit/>
          </a:bodyPr>
          <a:lstStyle/>
          <a:p>
            <a:pPr algn="l">
              <a:lnSpc>
                <a:spcPct val="114000"/>
              </a:lnSpc>
              <a:spcBef>
                <a:spcPts val="0"/>
              </a:spcBef>
              <a:spcAft>
                <a:spcPts val="0"/>
              </a:spcAft>
            </a:pPr>
            <a:r>
              <a:rPr sz="2100" b="0">
                <a:solidFill>
                  <a:srgbClr val="121610"/>
                </a:solidFill>
                <a:latin typeface="Inter"/>
              </a:rPr>
              <a:t>Several contributors,</a:t>
            </a:r>
          </a:p>
          <a:p>
            <a:pPr algn="l">
              <a:lnSpc>
                <a:spcPct val="114000"/>
              </a:lnSpc>
              <a:spcBef>
                <a:spcPts val="0"/>
              </a:spcBef>
              <a:spcAft>
                <a:spcPts val="0"/>
              </a:spcAft>
            </a:pPr>
            <a:r>
              <a:rPr sz="2100" b="0">
                <a:solidFill>
                  <a:srgbClr val="121610"/>
                </a:solidFill>
                <a:latin typeface="Inter"/>
              </a:rPr>
              <a:t>one final answer.</a:t>
            </a:r>
          </a:p>
          <a:p>
            <a:pPr algn="l">
              <a:lnSpc>
                <a:spcPct val="114000"/>
              </a:lnSpc>
              <a:spcBef>
                <a:spcPts val="0"/>
              </a:spcBef>
              <a:spcAft>
                <a:spcPts val="0"/>
              </a:spcAft>
            </a:pPr>
          </a:p>
          <a:p>
            <a:pPr algn="l">
              <a:lnSpc>
                <a:spcPct val="114000"/>
              </a:lnSpc>
              <a:spcBef>
                <a:spcPts val="0"/>
              </a:spcBef>
              <a:spcAft>
                <a:spcPts val="0"/>
              </a:spcAft>
            </a:pPr>
            <a:r>
              <a:rPr sz="2100" b="0">
                <a:solidFill>
                  <a:srgbClr val="121610"/>
                </a:solidFill>
                <a:latin typeface="Inter"/>
              </a:rPr>
              <a:t>Who combines each partial,</a:t>
            </a:r>
          </a:p>
          <a:p>
            <a:pPr algn="l">
              <a:lnSpc>
                <a:spcPct val="114000"/>
              </a:lnSpc>
              <a:spcBef>
                <a:spcPts val="0"/>
              </a:spcBef>
              <a:spcAft>
                <a:spcPts val="0"/>
              </a:spcAft>
            </a:pPr>
            <a:r>
              <a:rPr sz="2100" b="0">
                <a:solidFill>
                  <a:srgbClr val="121610"/>
                </a:solidFill>
                <a:latin typeface="Inter"/>
              </a:rPr>
              <a:t>and when is it ready?</a:t>
            </a:r>
          </a:p>
        </p:txBody>
      </p:sp>
      <p:sp>
        <p:nvSpPr>
          <p:cNvPr id="13" name="Rectangle 12"/>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Each shared result needs a defined producer, consumer and ordering relationship.</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THREAD COOPERATION</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An atomic update protects one read–modify–write</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Course atomicAdd baseline; guide §§2.3.5 and 5.4.5.1. Floating-point ordering: §5.5.1.4.</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41</a:t>
            </a:r>
          </a:p>
        </p:txBody>
      </p:sp>
      <p:sp>
        <p:nvSpPr>
          <p:cNvPr id="8" name="Rectangle 7"/>
          <p:cNvSpPr/>
          <p:nvPr/>
        </p:nvSpPr>
        <p:spPr>
          <a:xfrm>
            <a:off x="658368" y="1929384"/>
            <a:ext cx="10844784" cy="1389888"/>
          </a:xfrm>
          <a:prstGeom prst="rect">
            <a:avLst/>
          </a:prstGeom>
          <a:solidFill>
            <a:srgbClr val="11170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41247" y="2084831"/>
            <a:ext cx="10479024" cy="210312"/>
          </a:xfrm>
          <a:prstGeom prst="rect">
            <a:avLst/>
          </a:prstGeom>
          <a:noFill/>
        </p:spPr>
        <p:txBody>
          <a:bodyPr wrap="square" lIns="0" rIns="0" tIns="0" bIns="0" anchor="t">
            <a:noAutofit/>
          </a:bodyPr>
          <a:lstStyle/>
          <a:p>
            <a:pPr algn="l">
              <a:lnSpc>
                <a:spcPct val="114000"/>
              </a:lnSpc>
              <a:spcBef>
                <a:spcPts val="0"/>
              </a:spcBef>
              <a:spcAft>
                <a:spcPts val="0"/>
              </a:spcAft>
            </a:pPr>
            <a:r>
              <a:rPr sz="900" b="1">
                <a:solidFill>
                  <a:srgbClr val="76B900"/>
                </a:solidFill>
                <a:latin typeface="Inter"/>
              </a:rPr>
              <a:t>COMPANION BASELINE · LEGACY atomicAdd</a:t>
            </a:r>
          </a:p>
        </p:txBody>
      </p:sp>
      <p:sp>
        <p:nvSpPr>
          <p:cNvPr id="10" name="TextBox 9"/>
          <p:cNvSpPr txBox="1"/>
          <p:nvPr/>
        </p:nvSpPr>
        <p:spPr>
          <a:xfrm>
            <a:off x="841247" y="2441448"/>
            <a:ext cx="10479024" cy="749808"/>
          </a:xfrm>
          <a:prstGeom prst="rect">
            <a:avLst/>
          </a:prstGeom>
          <a:noFill/>
        </p:spPr>
        <p:txBody>
          <a:bodyPr wrap="none" lIns="0" rIns="0" tIns="0" bIns="0">
            <a:noAutofit/>
          </a:bodyPr>
          <a:lstStyle/>
          <a:p>
            <a:pPr>
              <a:lnSpc>
                <a:spcPts val="2832"/>
              </a:lnSpc>
              <a:spcBef>
                <a:spcPts val="0"/>
              </a:spcBef>
              <a:spcAft>
                <a:spcPts val="0"/>
              </a:spcAft>
            </a:pPr>
            <a:r>
              <a:rPr sz="2360" b="1">
                <a:solidFill>
                  <a:srgbClr val="AADA57"/>
                </a:solidFill>
                <a:latin typeface="DejaVu Sans Mono"/>
              </a:rPr>
              <a:t>if</a:t>
            </a:r>
            <a:r>
              <a:rPr sz="2360">
                <a:solidFill>
                  <a:srgbClr val="EDF3E6"/>
                </a:solidFill>
                <a:latin typeface="DejaVu Sans Mono"/>
              </a:rPr>
              <a:t> </a:t>
            </a:r>
            <a:r>
              <a:rPr sz="2360">
                <a:solidFill>
                  <a:srgbClr val="EDF3E6"/>
                </a:solidFill>
                <a:latin typeface="DejaVu Sans Mono"/>
              </a:rPr>
              <a:t>(</a:t>
            </a:r>
            <a:r>
              <a:rPr sz="2360">
                <a:solidFill>
                  <a:srgbClr val="EDF3E6"/>
                </a:solidFill>
                <a:latin typeface="DejaVu Sans Mono"/>
              </a:rPr>
              <a:t>i</a:t>
            </a:r>
            <a:r>
              <a:rPr sz="2360">
                <a:solidFill>
                  <a:srgbClr val="EDF3E6"/>
                </a:solidFill>
                <a:latin typeface="DejaVu Sans Mono"/>
              </a:rPr>
              <a:t> </a:t>
            </a:r>
            <a:r>
              <a:rPr sz="2360">
                <a:solidFill>
                  <a:srgbClr val="EDF3E6"/>
                </a:solidFill>
                <a:latin typeface="DejaVu Sans Mono"/>
              </a:rPr>
              <a:t>&lt;</a:t>
            </a:r>
            <a:r>
              <a:rPr sz="2360">
                <a:solidFill>
                  <a:srgbClr val="EDF3E6"/>
                </a:solidFill>
                <a:latin typeface="DejaVu Sans Mono"/>
              </a:rPr>
              <a:t> </a:t>
            </a:r>
            <a:r>
              <a:rPr sz="2360">
                <a:solidFill>
                  <a:srgbClr val="EDF3E6"/>
                </a:solidFill>
                <a:latin typeface="DejaVu Sans Mono"/>
              </a:rPr>
              <a:t>n</a:t>
            </a:r>
            <a:r>
              <a:rPr sz="2360">
                <a:solidFill>
                  <a:srgbClr val="EDF3E6"/>
                </a:solidFill>
                <a:latin typeface="DejaVu Sans Mono"/>
              </a:rPr>
              <a:t>)</a:t>
            </a:r>
          </a:p>
          <a:p>
            <a:pPr>
              <a:lnSpc>
                <a:spcPts val="2832"/>
              </a:lnSpc>
              <a:spcBef>
                <a:spcPts val="0"/>
              </a:spcBef>
              <a:spcAft>
                <a:spcPts val="0"/>
              </a:spcAft>
            </a:pPr>
            <a:r>
              <a:rPr sz="2360">
                <a:solidFill>
                  <a:srgbClr val="EDF3E6"/>
                </a:solidFill>
                <a:latin typeface="DejaVu Sans Mono"/>
              </a:rPr>
              <a:t>  </a:t>
            </a:r>
            <a:r>
              <a:rPr sz="2360">
                <a:solidFill>
                  <a:srgbClr val="EDF3E6"/>
                </a:solidFill>
                <a:latin typeface="DejaVu Sans Mono"/>
              </a:rPr>
              <a:t>atomicAdd</a:t>
            </a:r>
            <a:r>
              <a:rPr sz="2360">
                <a:solidFill>
                  <a:srgbClr val="EDF3E6"/>
                </a:solidFill>
                <a:latin typeface="DejaVu Sans Mono"/>
              </a:rPr>
              <a:t>(</a:t>
            </a:r>
            <a:r>
              <a:rPr sz="2360">
                <a:solidFill>
                  <a:srgbClr val="EDF3E6"/>
                </a:solidFill>
                <a:latin typeface="DejaVu Sans Mono"/>
              </a:rPr>
              <a:t>total</a:t>
            </a:r>
            <a:r>
              <a:rPr sz="2360">
                <a:solidFill>
                  <a:srgbClr val="EDF3E6"/>
                </a:solidFill>
                <a:latin typeface="DejaVu Sans Mono"/>
              </a:rPr>
              <a:t>,</a:t>
            </a:r>
            <a:r>
              <a:rPr sz="2360">
                <a:solidFill>
                  <a:srgbClr val="EDF3E6"/>
                </a:solidFill>
                <a:latin typeface="DejaVu Sans Mono"/>
              </a:rPr>
              <a:t> </a:t>
            </a:r>
            <a:r>
              <a:rPr sz="2360">
                <a:solidFill>
                  <a:srgbClr val="EDF3E6"/>
                </a:solidFill>
                <a:latin typeface="DejaVu Sans Mono"/>
              </a:rPr>
              <a:t>input</a:t>
            </a:r>
            <a:r>
              <a:rPr sz="2360">
                <a:solidFill>
                  <a:srgbClr val="EDF3E6"/>
                </a:solidFill>
                <a:latin typeface="DejaVu Sans Mono"/>
              </a:rPr>
              <a:t>[</a:t>
            </a:r>
            <a:r>
              <a:rPr sz="2360">
                <a:solidFill>
                  <a:srgbClr val="EDF3E6"/>
                </a:solidFill>
                <a:latin typeface="DejaVu Sans Mono"/>
              </a:rPr>
              <a:t>i</a:t>
            </a:r>
            <a:r>
              <a:rPr sz="2360">
                <a:solidFill>
                  <a:srgbClr val="EDF3E6"/>
                </a:solidFill>
                <a:latin typeface="DejaVu Sans Mono"/>
              </a:rPr>
              <a:t>]</a:t>
            </a:r>
            <a:r>
              <a:rPr sz="2360">
                <a:solidFill>
                  <a:srgbClr val="EDF3E6"/>
                </a:solidFill>
                <a:latin typeface="DejaVu Sans Mono"/>
              </a:rPr>
              <a:t>)</a:t>
            </a:r>
            <a:r>
              <a:rPr sz="2360">
                <a:solidFill>
                  <a:srgbClr val="EDF3E6"/>
                </a:solidFill>
                <a:latin typeface="DejaVu Sans Mono"/>
              </a:rPr>
              <a:t>;</a:t>
            </a:r>
          </a:p>
        </p:txBody>
      </p:sp>
      <p:sp>
        <p:nvSpPr>
          <p:cNvPr id="11" name="TextBox 10"/>
          <p:cNvSpPr txBox="1"/>
          <p:nvPr/>
        </p:nvSpPr>
        <p:spPr>
          <a:xfrm>
            <a:off x="795528" y="3474720"/>
            <a:ext cx="10570464"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INITIALIZE</a:t>
            </a:r>
          </a:p>
        </p:txBody>
      </p:sp>
      <p:sp>
        <p:nvSpPr>
          <p:cNvPr id="12" name="TextBox 11"/>
          <p:cNvSpPr txBox="1"/>
          <p:nvPr/>
        </p:nvSpPr>
        <p:spPr>
          <a:xfrm>
            <a:off x="795528" y="3785615"/>
            <a:ext cx="10570464" cy="420624"/>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Set total to the initial value before launch.</a:t>
            </a:r>
          </a:p>
        </p:txBody>
      </p:sp>
      <p:sp>
        <p:nvSpPr>
          <p:cNvPr id="13" name="TextBox 12"/>
          <p:cNvSpPr txBox="1"/>
          <p:nvPr/>
        </p:nvSpPr>
        <p:spPr>
          <a:xfrm>
            <a:off x="795528" y="4215383"/>
            <a:ext cx="10570464"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INTERPRET</a:t>
            </a:r>
          </a:p>
        </p:txBody>
      </p:sp>
      <p:sp>
        <p:nvSpPr>
          <p:cNvPr id="14" name="TextBox 13"/>
          <p:cNvSpPr txBox="1"/>
          <p:nvPr/>
        </p:nvSpPr>
        <p:spPr>
          <a:xfrm>
            <a:off x="795528" y="4526279"/>
            <a:ext cx="10570464" cy="420624"/>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Many threads contend for the same location.</a:t>
            </a:r>
          </a:p>
        </p:txBody>
      </p:sp>
      <p:sp>
        <p:nvSpPr>
          <p:cNvPr id="15" name="TextBox 14"/>
          <p:cNvSpPr txBox="1"/>
          <p:nvPr/>
        </p:nvSpPr>
        <p:spPr>
          <a:xfrm>
            <a:off x="795528" y="4956048"/>
            <a:ext cx="10570464"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DO NOT INFER</a:t>
            </a:r>
          </a:p>
        </p:txBody>
      </p:sp>
      <p:sp>
        <p:nvSpPr>
          <p:cNvPr id="16" name="TextBox 15"/>
          <p:cNvSpPr txBox="1"/>
          <p:nvPr/>
        </p:nvSpPr>
        <p:spPr>
          <a:xfrm>
            <a:off x="795528" y="5266944"/>
            <a:ext cx="10570464" cy="420624"/>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An atomic update is not a grid-wide barrier.</a:t>
            </a:r>
          </a:p>
        </p:txBody>
      </p:sp>
      <p:sp>
        <p:nvSpPr>
          <p:cNvPr id="17" name="Rectangle 16"/>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Atomicity of the update does not replace the rest of the synchronization contract.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THREAD COOPERATION</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Reduce in a block, then emit one partial result</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Retained companion implementation; source concepts: guide §§2.3.3.2 and 2.3.5.</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42</a:t>
            </a:r>
          </a:p>
        </p:txBody>
      </p:sp>
      <p:sp>
        <p:nvSpPr>
          <p:cNvPr id="8" name="Rectangle 7"/>
          <p:cNvSpPr/>
          <p:nvPr/>
        </p:nvSpPr>
        <p:spPr>
          <a:xfrm>
            <a:off x="557784" y="1847088"/>
            <a:ext cx="8677656" cy="3694176"/>
          </a:xfrm>
          <a:prstGeom prst="rect">
            <a:avLst/>
          </a:prstGeom>
          <a:solidFill>
            <a:srgbClr val="11170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40664" y="2002536"/>
            <a:ext cx="8311896" cy="210312"/>
          </a:xfrm>
          <a:prstGeom prst="rect">
            <a:avLst/>
          </a:prstGeom>
          <a:noFill/>
        </p:spPr>
        <p:txBody>
          <a:bodyPr wrap="square" lIns="0" rIns="0" tIns="0" bIns="0" anchor="t">
            <a:noAutofit/>
          </a:bodyPr>
          <a:lstStyle/>
          <a:p>
            <a:pPr algn="l">
              <a:lnSpc>
                <a:spcPct val="114000"/>
              </a:lnSpc>
              <a:spcBef>
                <a:spcPts val="0"/>
              </a:spcBef>
              <a:spcAft>
                <a:spcPts val="0"/>
              </a:spcAft>
            </a:pPr>
            <a:r>
              <a:rPr sz="900" b="1">
                <a:solidFill>
                  <a:srgbClr val="76B900"/>
                </a:solidFill>
                <a:latin typeface="Inter"/>
              </a:rPr>
              <a:t>COURSE KERNEL BODY · EXACTLY 256 THREADS PER BLOCK</a:t>
            </a:r>
          </a:p>
        </p:txBody>
      </p:sp>
      <p:sp>
        <p:nvSpPr>
          <p:cNvPr id="10" name="TextBox 9"/>
          <p:cNvSpPr txBox="1"/>
          <p:nvPr/>
        </p:nvSpPr>
        <p:spPr>
          <a:xfrm>
            <a:off x="740664" y="2359152"/>
            <a:ext cx="8311896" cy="3054096"/>
          </a:xfrm>
          <a:prstGeom prst="rect">
            <a:avLst/>
          </a:prstGeom>
          <a:noFill/>
        </p:spPr>
        <p:txBody>
          <a:bodyPr wrap="none" lIns="0" rIns="0" tIns="0" bIns="0">
            <a:noAutofit/>
          </a:bodyPr>
          <a:lstStyle/>
          <a:p>
            <a:pPr>
              <a:lnSpc>
                <a:spcPts val="2160"/>
              </a:lnSpc>
              <a:spcBef>
                <a:spcPts val="0"/>
              </a:spcBef>
              <a:spcAft>
                <a:spcPts val="0"/>
              </a:spcAft>
            </a:pPr>
            <a:r>
              <a:rPr sz="1800">
                <a:solidFill>
                  <a:srgbClr val="EDF3E6"/>
                </a:solidFill>
                <a:latin typeface="DejaVu Sans Mono"/>
              </a:rPr>
              <a:t>__shared__</a:t>
            </a:r>
            <a:r>
              <a:rPr sz="1800">
                <a:solidFill>
                  <a:srgbClr val="EDF3E6"/>
                </a:solidFill>
                <a:latin typeface="DejaVu Sans Mono"/>
              </a:rPr>
              <a:t> </a:t>
            </a:r>
            <a:r>
              <a:rPr sz="1800" b="1">
                <a:solidFill>
                  <a:srgbClr val="AADA57"/>
                </a:solidFill>
                <a:latin typeface="DejaVu Sans Mono"/>
              </a:rPr>
              <a:t>float</a:t>
            </a:r>
            <a:r>
              <a:rPr sz="1800">
                <a:solidFill>
                  <a:srgbClr val="EDF3E6"/>
                </a:solidFill>
                <a:latin typeface="DejaVu Sans Mono"/>
              </a:rPr>
              <a:t> </a:t>
            </a:r>
            <a:r>
              <a:rPr sz="1800">
                <a:solidFill>
                  <a:srgbClr val="EDF3E6"/>
                </a:solidFill>
                <a:latin typeface="DejaVu Sans Mono"/>
              </a:rPr>
              <a:t>s</a:t>
            </a:r>
            <a:r>
              <a:rPr sz="1800">
                <a:solidFill>
                  <a:srgbClr val="EDF3E6"/>
                </a:solidFill>
                <a:latin typeface="DejaVu Sans Mono"/>
              </a:rPr>
              <a:t>[</a:t>
            </a:r>
            <a:r>
              <a:rPr sz="1800">
                <a:solidFill>
                  <a:srgbClr val="C0E579"/>
                </a:solidFill>
                <a:latin typeface="DejaVu Sans Mono"/>
              </a:rPr>
              <a:t>256</a:t>
            </a:r>
            <a:r>
              <a:rPr sz="1800">
                <a:solidFill>
                  <a:srgbClr val="EDF3E6"/>
                </a:solidFill>
                <a:latin typeface="DejaVu Sans Mono"/>
              </a:rPr>
              <a:t>]</a:t>
            </a:r>
            <a:r>
              <a:rPr sz="1800">
                <a:solidFill>
                  <a:srgbClr val="EDF3E6"/>
                </a:solidFill>
                <a:latin typeface="DejaVu Sans Mono"/>
              </a:rPr>
              <a:t>;</a:t>
            </a:r>
          </a:p>
          <a:p>
            <a:pPr>
              <a:lnSpc>
                <a:spcPts val="2160"/>
              </a:lnSpc>
              <a:spcBef>
                <a:spcPts val="0"/>
              </a:spcBef>
              <a:spcAft>
                <a:spcPts val="0"/>
              </a:spcAft>
            </a:pPr>
            <a:r>
              <a:rPr sz="1800" b="1">
                <a:solidFill>
                  <a:srgbClr val="AADA57"/>
                </a:solidFill>
                <a:latin typeface="DejaVu Sans Mono"/>
              </a:rPr>
              <a:t>int</a:t>
            </a:r>
            <a:r>
              <a:rPr sz="1800">
                <a:solidFill>
                  <a:srgbClr val="EDF3E6"/>
                </a:solidFill>
                <a:latin typeface="DejaVu Sans Mono"/>
              </a:rPr>
              <a:t> </a:t>
            </a:r>
            <a:r>
              <a:rPr sz="1800">
                <a:solidFill>
                  <a:srgbClr val="EDF3E6"/>
                </a:solidFill>
                <a:latin typeface="DejaVu Sans Mono"/>
              </a:rPr>
              <a:t>t</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threadIdx</a:t>
            </a:r>
            <a:r>
              <a:rPr sz="1800">
                <a:solidFill>
                  <a:srgbClr val="EDF3E6"/>
                </a:solidFill>
                <a:latin typeface="DejaVu Sans Mono"/>
              </a:rPr>
              <a:t>.</a:t>
            </a:r>
            <a:r>
              <a:rPr sz="1800">
                <a:solidFill>
                  <a:srgbClr val="EDF3E6"/>
                </a:solidFill>
                <a:latin typeface="DejaVu Sans Mono"/>
              </a:rPr>
              <a:t>x</a:t>
            </a:r>
            <a:r>
              <a:rPr sz="1800">
                <a:solidFill>
                  <a:srgbClr val="EDF3E6"/>
                </a:solidFill>
                <a:latin typeface="DejaVu Sans Mono"/>
              </a:rPr>
              <a:t>;</a:t>
            </a:r>
          </a:p>
          <a:p>
            <a:pPr>
              <a:lnSpc>
                <a:spcPts val="2160"/>
              </a:lnSpc>
              <a:spcBef>
                <a:spcPts val="0"/>
              </a:spcBef>
              <a:spcAft>
                <a:spcPts val="0"/>
              </a:spcAft>
            </a:pPr>
            <a:r>
              <a:rPr sz="1800" b="1">
                <a:solidFill>
                  <a:srgbClr val="AADA57"/>
                </a:solidFill>
                <a:latin typeface="DejaVu Sans Mono"/>
              </a:rPr>
              <a:t>int</a:t>
            </a:r>
            <a:r>
              <a:rPr sz="1800">
                <a:solidFill>
                  <a:srgbClr val="EDF3E6"/>
                </a:solidFill>
                <a:latin typeface="DejaVu Sans Mono"/>
              </a:rPr>
              <a:t> </a:t>
            </a:r>
            <a:r>
              <a:rPr sz="1800">
                <a:solidFill>
                  <a:srgbClr val="EDF3E6"/>
                </a:solidFill>
                <a:latin typeface="DejaVu Sans Mono"/>
              </a:rPr>
              <a:t>i</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blockIdx</a:t>
            </a:r>
            <a:r>
              <a:rPr sz="1800">
                <a:solidFill>
                  <a:srgbClr val="EDF3E6"/>
                </a:solidFill>
                <a:latin typeface="DejaVu Sans Mono"/>
              </a:rPr>
              <a:t>.</a:t>
            </a:r>
            <a:r>
              <a:rPr sz="1800">
                <a:solidFill>
                  <a:srgbClr val="EDF3E6"/>
                </a:solidFill>
                <a:latin typeface="DejaVu Sans Mono"/>
              </a:rPr>
              <a:t>x</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 </a:t>
            </a:r>
            <a:r>
              <a:rPr sz="1800">
                <a:solidFill>
                  <a:srgbClr val="C0E579"/>
                </a:solidFill>
                <a:latin typeface="DejaVu Sans Mono"/>
              </a:rPr>
              <a:t>256</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t</a:t>
            </a:r>
            <a:r>
              <a:rPr sz="1800">
                <a:solidFill>
                  <a:srgbClr val="EDF3E6"/>
                </a:solidFill>
                <a:latin typeface="DejaVu Sans Mono"/>
              </a:rPr>
              <a:t>;</a:t>
            </a:r>
          </a:p>
          <a:p>
            <a:pPr>
              <a:lnSpc>
                <a:spcPts val="2160"/>
              </a:lnSpc>
              <a:spcBef>
                <a:spcPts val="0"/>
              </a:spcBef>
              <a:spcAft>
                <a:spcPts val="0"/>
              </a:spcAft>
            </a:pPr>
            <a:r>
              <a:rPr sz="1800">
                <a:solidFill>
                  <a:srgbClr val="EDF3E6"/>
                </a:solidFill>
                <a:latin typeface="DejaVu Sans Mono"/>
              </a:rPr>
              <a:t>s</a:t>
            </a:r>
            <a:r>
              <a:rPr sz="1800">
                <a:solidFill>
                  <a:srgbClr val="EDF3E6"/>
                </a:solidFill>
                <a:latin typeface="DejaVu Sans Mono"/>
              </a:rPr>
              <a:t>[</a:t>
            </a:r>
            <a:r>
              <a:rPr sz="1800">
                <a:solidFill>
                  <a:srgbClr val="EDF3E6"/>
                </a:solidFill>
                <a:latin typeface="DejaVu Sans Mono"/>
              </a:rPr>
              <a:t>t</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i</a:t>
            </a:r>
            <a:r>
              <a:rPr sz="1800">
                <a:solidFill>
                  <a:srgbClr val="EDF3E6"/>
                </a:solidFill>
                <a:latin typeface="DejaVu Sans Mono"/>
              </a:rPr>
              <a:t> </a:t>
            </a:r>
            <a:r>
              <a:rPr sz="1800">
                <a:solidFill>
                  <a:srgbClr val="EDF3E6"/>
                </a:solidFill>
                <a:latin typeface="DejaVu Sans Mono"/>
              </a:rPr>
              <a:t>&lt;</a:t>
            </a:r>
            <a:r>
              <a:rPr sz="1800">
                <a:solidFill>
                  <a:srgbClr val="EDF3E6"/>
                </a:solidFill>
                <a:latin typeface="DejaVu Sans Mono"/>
              </a:rPr>
              <a:t> </a:t>
            </a:r>
            <a:r>
              <a:rPr sz="1800">
                <a:solidFill>
                  <a:srgbClr val="EDF3E6"/>
                </a:solidFill>
                <a:latin typeface="DejaVu Sans Mono"/>
              </a:rPr>
              <a:t>n</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input</a:t>
            </a:r>
            <a:r>
              <a:rPr sz="1800">
                <a:solidFill>
                  <a:srgbClr val="EDF3E6"/>
                </a:solidFill>
                <a:latin typeface="DejaVu Sans Mono"/>
              </a:rPr>
              <a:t>[</a:t>
            </a:r>
            <a:r>
              <a:rPr sz="1800">
                <a:solidFill>
                  <a:srgbClr val="EDF3E6"/>
                </a:solidFill>
                <a:latin typeface="DejaVu Sans Mono"/>
              </a:rPr>
              <a:t>i</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 </a:t>
            </a:r>
            <a:r>
              <a:rPr sz="1800">
                <a:solidFill>
                  <a:srgbClr val="C0E579"/>
                </a:solidFill>
                <a:latin typeface="DejaVu Sans Mono"/>
              </a:rPr>
              <a:t>0.0f</a:t>
            </a:r>
            <a:r>
              <a:rPr sz="1800">
                <a:solidFill>
                  <a:srgbClr val="EDF3E6"/>
                </a:solidFill>
                <a:latin typeface="DejaVu Sans Mono"/>
              </a:rPr>
              <a:t>;</a:t>
            </a:r>
          </a:p>
          <a:p>
            <a:pPr>
              <a:lnSpc>
                <a:spcPts val="2160"/>
              </a:lnSpc>
              <a:spcBef>
                <a:spcPts val="0"/>
              </a:spcBef>
              <a:spcAft>
                <a:spcPts val="0"/>
              </a:spcAft>
            </a:pPr>
            <a:r>
              <a:rPr sz="1800">
                <a:solidFill>
                  <a:srgbClr val="EDF3E6"/>
                </a:solidFill>
                <a:latin typeface="DejaVu Sans Mono"/>
              </a:rPr>
              <a:t>__syncthreads</a:t>
            </a:r>
            <a:r>
              <a:rPr sz="1800">
                <a:solidFill>
                  <a:srgbClr val="EDF3E6"/>
                </a:solidFill>
                <a:latin typeface="DejaVu Sans Mono"/>
              </a:rPr>
              <a:t>(</a:t>
            </a:r>
            <a:r>
              <a:rPr sz="1800">
                <a:solidFill>
                  <a:srgbClr val="EDF3E6"/>
                </a:solidFill>
                <a:latin typeface="DejaVu Sans Mono"/>
              </a:rPr>
              <a:t>)</a:t>
            </a:r>
            <a:r>
              <a:rPr sz="1800">
                <a:solidFill>
                  <a:srgbClr val="EDF3E6"/>
                </a:solidFill>
                <a:latin typeface="DejaVu Sans Mono"/>
              </a:rPr>
              <a:t>;</a:t>
            </a:r>
          </a:p>
          <a:p>
            <a:pPr>
              <a:lnSpc>
                <a:spcPts val="2160"/>
              </a:lnSpc>
              <a:spcBef>
                <a:spcPts val="0"/>
              </a:spcBef>
              <a:spcAft>
                <a:spcPts val="0"/>
              </a:spcAft>
            </a:pPr>
            <a:r>
              <a:rPr sz="1800" b="1">
                <a:solidFill>
                  <a:srgbClr val="AADA57"/>
                </a:solidFill>
                <a:latin typeface="DejaVu Sans Mono"/>
              </a:rPr>
              <a:t>for</a:t>
            </a:r>
            <a:r>
              <a:rPr sz="1800">
                <a:solidFill>
                  <a:srgbClr val="EDF3E6"/>
                </a:solidFill>
                <a:latin typeface="DejaVu Sans Mono"/>
              </a:rPr>
              <a:t> </a:t>
            </a:r>
            <a:r>
              <a:rPr sz="1800">
                <a:solidFill>
                  <a:srgbClr val="EDF3E6"/>
                </a:solidFill>
                <a:latin typeface="DejaVu Sans Mono"/>
              </a:rPr>
              <a:t>(</a:t>
            </a:r>
            <a:r>
              <a:rPr sz="1800" b="1">
                <a:solidFill>
                  <a:srgbClr val="AADA57"/>
                </a:solidFill>
                <a:latin typeface="DejaVu Sans Mono"/>
              </a:rPr>
              <a:t>int</a:t>
            </a:r>
            <a:r>
              <a:rPr sz="1800">
                <a:solidFill>
                  <a:srgbClr val="EDF3E6"/>
                </a:solidFill>
                <a:latin typeface="DejaVu Sans Mono"/>
              </a:rPr>
              <a:t> </a:t>
            </a:r>
            <a:r>
              <a:rPr sz="1800">
                <a:solidFill>
                  <a:srgbClr val="EDF3E6"/>
                </a:solidFill>
                <a:latin typeface="DejaVu Sans Mono"/>
              </a:rPr>
              <a:t>stride</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 </a:t>
            </a:r>
            <a:r>
              <a:rPr sz="1800">
                <a:solidFill>
                  <a:srgbClr val="C0E579"/>
                </a:solidFill>
                <a:latin typeface="DejaVu Sans Mono"/>
              </a:rPr>
              <a:t>128</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stride</a:t>
            </a:r>
            <a:r>
              <a:rPr sz="1800">
                <a:solidFill>
                  <a:srgbClr val="EDF3E6"/>
                </a:solidFill>
                <a:latin typeface="DejaVu Sans Mono"/>
              </a:rPr>
              <a:t> </a:t>
            </a:r>
            <a:r>
              <a:rPr sz="1800">
                <a:solidFill>
                  <a:srgbClr val="EDF3E6"/>
                </a:solidFill>
                <a:latin typeface="DejaVu Sans Mono"/>
              </a:rPr>
              <a:t>&gt;</a:t>
            </a:r>
            <a:r>
              <a:rPr sz="1800">
                <a:solidFill>
                  <a:srgbClr val="EDF3E6"/>
                </a:solidFill>
                <a:latin typeface="DejaVu Sans Mono"/>
              </a:rPr>
              <a:t> </a:t>
            </a:r>
            <a:r>
              <a:rPr sz="1800">
                <a:solidFill>
                  <a:srgbClr val="C0E579"/>
                </a:solidFill>
                <a:latin typeface="DejaVu Sans Mono"/>
              </a:rPr>
              <a:t>0</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stride</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a:t>
            </a:r>
            <a:r>
              <a:rPr sz="1800">
                <a:solidFill>
                  <a:srgbClr val="EDF3E6"/>
                </a:solidFill>
                <a:latin typeface="DejaVu Sans Mono"/>
              </a:rPr>
              <a:t> </a:t>
            </a:r>
            <a:r>
              <a:rPr sz="1800">
                <a:solidFill>
                  <a:srgbClr val="C0E579"/>
                </a:solidFill>
                <a:latin typeface="DejaVu Sans Mono"/>
              </a:rPr>
              <a:t>2</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a:t>
            </a:r>
          </a:p>
          <a:p>
            <a:pPr>
              <a:lnSpc>
                <a:spcPts val="2160"/>
              </a:lnSpc>
              <a:spcBef>
                <a:spcPts val="0"/>
              </a:spcBef>
              <a:spcAft>
                <a:spcPts val="0"/>
              </a:spcAft>
            </a:pPr>
            <a:r>
              <a:rPr sz="1800">
                <a:solidFill>
                  <a:srgbClr val="EDF3E6"/>
                </a:solidFill>
                <a:latin typeface="DejaVu Sans Mono"/>
              </a:rPr>
              <a:t>  </a:t>
            </a:r>
            <a:r>
              <a:rPr sz="1800" b="1">
                <a:solidFill>
                  <a:srgbClr val="AADA57"/>
                </a:solidFill>
                <a:latin typeface="DejaVu Sans Mono"/>
              </a:rPr>
              <a:t>if</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t</a:t>
            </a:r>
            <a:r>
              <a:rPr sz="1800">
                <a:solidFill>
                  <a:srgbClr val="EDF3E6"/>
                </a:solidFill>
                <a:latin typeface="DejaVu Sans Mono"/>
              </a:rPr>
              <a:t> </a:t>
            </a:r>
            <a:r>
              <a:rPr sz="1800">
                <a:solidFill>
                  <a:srgbClr val="EDF3E6"/>
                </a:solidFill>
                <a:latin typeface="DejaVu Sans Mono"/>
              </a:rPr>
              <a:t>&lt;</a:t>
            </a:r>
            <a:r>
              <a:rPr sz="1800">
                <a:solidFill>
                  <a:srgbClr val="EDF3E6"/>
                </a:solidFill>
                <a:latin typeface="DejaVu Sans Mono"/>
              </a:rPr>
              <a:t> </a:t>
            </a:r>
            <a:r>
              <a:rPr sz="1800">
                <a:solidFill>
                  <a:srgbClr val="EDF3E6"/>
                </a:solidFill>
                <a:latin typeface="DejaVu Sans Mono"/>
              </a:rPr>
              <a:t>stride</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s</a:t>
            </a:r>
            <a:r>
              <a:rPr sz="1800">
                <a:solidFill>
                  <a:srgbClr val="EDF3E6"/>
                </a:solidFill>
                <a:latin typeface="DejaVu Sans Mono"/>
              </a:rPr>
              <a:t>[</a:t>
            </a:r>
            <a:r>
              <a:rPr sz="1800">
                <a:solidFill>
                  <a:srgbClr val="EDF3E6"/>
                </a:solidFill>
                <a:latin typeface="DejaVu Sans Mono"/>
              </a:rPr>
              <a:t>t</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s</a:t>
            </a:r>
            <a:r>
              <a:rPr sz="1800">
                <a:solidFill>
                  <a:srgbClr val="EDF3E6"/>
                </a:solidFill>
                <a:latin typeface="DejaVu Sans Mono"/>
              </a:rPr>
              <a:t>[</a:t>
            </a:r>
            <a:r>
              <a:rPr sz="1800">
                <a:solidFill>
                  <a:srgbClr val="EDF3E6"/>
                </a:solidFill>
                <a:latin typeface="DejaVu Sans Mono"/>
              </a:rPr>
              <a:t>t</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stride</a:t>
            </a:r>
            <a:r>
              <a:rPr sz="1800">
                <a:solidFill>
                  <a:srgbClr val="EDF3E6"/>
                </a:solidFill>
                <a:latin typeface="DejaVu Sans Mono"/>
              </a:rPr>
              <a:t>]</a:t>
            </a:r>
            <a:r>
              <a:rPr sz="1800">
                <a:solidFill>
                  <a:srgbClr val="EDF3E6"/>
                </a:solidFill>
                <a:latin typeface="DejaVu Sans Mono"/>
              </a:rPr>
              <a:t>;</a:t>
            </a:r>
          </a:p>
          <a:p>
            <a:pPr>
              <a:lnSpc>
                <a:spcPts val="2160"/>
              </a:lnSpc>
              <a:spcBef>
                <a:spcPts val="0"/>
              </a:spcBef>
              <a:spcAft>
                <a:spcPts val="0"/>
              </a:spcAft>
            </a:pPr>
            <a:r>
              <a:rPr sz="1800">
                <a:solidFill>
                  <a:srgbClr val="EDF3E6"/>
                </a:solidFill>
                <a:latin typeface="DejaVu Sans Mono"/>
              </a:rPr>
              <a:t>  </a:t>
            </a:r>
            <a:r>
              <a:rPr sz="1800">
                <a:solidFill>
                  <a:srgbClr val="EDF3E6"/>
                </a:solidFill>
                <a:latin typeface="DejaVu Sans Mono"/>
              </a:rPr>
              <a:t>__syncthreads</a:t>
            </a:r>
            <a:r>
              <a:rPr sz="1800">
                <a:solidFill>
                  <a:srgbClr val="EDF3E6"/>
                </a:solidFill>
                <a:latin typeface="DejaVu Sans Mono"/>
              </a:rPr>
              <a:t>(</a:t>
            </a:r>
            <a:r>
              <a:rPr sz="1800">
                <a:solidFill>
                  <a:srgbClr val="EDF3E6"/>
                </a:solidFill>
                <a:latin typeface="DejaVu Sans Mono"/>
              </a:rPr>
              <a:t>)</a:t>
            </a:r>
            <a:r>
              <a:rPr sz="1800">
                <a:solidFill>
                  <a:srgbClr val="EDF3E6"/>
                </a:solidFill>
                <a:latin typeface="DejaVu Sans Mono"/>
              </a:rPr>
              <a:t>;</a:t>
            </a:r>
          </a:p>
          <a:p>
            <a:pPr>
              <a:lnSpc>
                <a:spcPts val="2160"/>
              </a:lnSpc>
              <a:spcBef>
                <a:spcPts val="0"/>
              </a:spcBef>
              <a:spcAft>
                <a:spcPts val="0"/>
              </a:spcAft>
            </a:pPr>
            <a:r>
              <a:rPr sz="1800">
                <a:solidFill>
                  <a:srgbClr val="EDF3E6"/>
                </a:solidFill>
                <a:latin typeface="DejaVu Sans Mono"/>
              </a:rPr>
              <a:t>}</a:t>
            </a:r>
          </a:p>
          <a:p>
            <a:pPr>
              <a:lnSpc>
                <a:spcPts val="2160"/>
              </a:lnSpc>
              <a:spcBef>
                <a:spcPts val="0"/>
              </a:spcBef>
              <a:spcAft>
                <a:spcPts val="0"/>
              </a:spcAft>
            </a:pPr>
            <a:r>
              <a:rPr sz="1800" b="1">
                <a:solidFill>
                  <a:srgbClr val="AADA57"/>
                </a:solidFill>
                <a:latin typeface="DejaVu Sans Mono"/>
              </a:rPr>
              <a:t>if</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t</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a:t>
            </a:r>
            <a:r>
              <a:rPr sz="1800">
                <a:solidFill>
                  <a:srgbClr val="EDF3E6"/>
                </a:solidFill>
                <a:latin typeface="DejaVu Sans Mono"/>
              </a:rPr>
              <a:t> </a:t>
            </a:r>
            <a:r>
              <a:rPr sz="1800">
                <a:solidFill>
                  <a:srgbClr val="C0E579"/>
                </a:solidFill>
                <a:latin typeface="DejaVu Sans Mono"/>
              </a:rPr>
              <a:t>0</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partial</a:t>
            </a:r>
            <a:r>
              <a:rPr sz="1800">
                <a:solidFill>
                  <a:srgbClr val="EDF3E6"/>
                </a:solidFill>
                <a:latin typeface="DejaVu Sans Mono"/>
              </a:rPr>
              <a:t>[</a:t>
            </a:r>
            <a:r>
              <a:rPr sz="1800">
                <a:solidFill>
                  <a:srgbClr val="EDF3E6"/>
                </a:solidFill>
                <a:latin typeface="DejaVu Sans Mono"/>
              </a:rPr>
              <a:t>blockIdx</a:t>
            </a:r>
            <a:r>
              <a:rPr sz="1800">
                <a:solidFill>
                  <a:srgbClr val="EDF3E6"/>
                </a:solidFill>
                <a:latin typeface="DejaVu Sans Mono"/>
              </a:rPr>
              <a:t>.</a:t>
            </a:r>
            <a:r>
              <a:rPr sz="1800">
                <a:solidFill>
                  <a:srgbClr val="EDF3E6"/>
                </a:solidFill>
                <a:latin typeface="DejaVu Sans Mono"/>
              </a:rPr>
              <a:t>x</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a:t>
            </a:r>
            <a:r>
              <a:rPr sz="1800">
                <a:solidFill>
                  <a:srgbClr val="EDF3E6"/>
                </a:solidFill>
                <a:latin typeface="DejaVu Sans Mono"/>
              </a:rPr>
              <a:t> </a:t>
            </a:r>
            <a:r>
              <a:rPr sz="1800">
                <a:solidFill>
                  <a:srgbClr val="EDF3E6"/>
                </a:solidFill>
                <a:latin typeface="DejaVu Sans Mono"/>
              </a:rPr>
              <a:t>s</a:t>
            </a:r>
            <a:r>
              <a:rPr sz="1800">
                <a:solidFill>
                  <a:srgbClr val="EDF3E6"/>
                </a:solidFill>
                <a:latin typeface="DejaVu Sans Mono"/>
              </a:rPr>
              <a:t>[</a:t>
            </a:r>
            <a:r>
              <a:rPr sz="1800">
                <a:solidFill>
                  <a:srgbClr val="C0E579"/>
                </a:solidFill>
                <a:latin typeface="DejaVu Sans Mono"/>
              </a:rPr>
              <a:t>0</a:t>
            </a:r>
            <a:r>
              <a:rPr sz="1800">
                <a:solidFill>
                  <a:srgbClr val="EDF3E6"/>
                </a:solidFill>
                <a:latin typeface="DejaVu Sans Mono"/>
              </a:rPr>
              <a:t>]</a:t>
            </a:r>
            <a:r>
              <a:rPr sz="1800">
                <a:solidFill>
                  <a:srgbClr val="EDF3E6"/>
                </a:solidFill>
                <a:latin typeface="DejaVu Sans Mono"/>
              </a:rPr>
              <a:t>;</a:t>
            </a:r>
          </a:p>
        </p:txBody>
      </p:sp>
      <p:sp>
        <p:nvSpPr>
          <p:cNvPr id="11" name="TextBox 10"/>
          <p:cNvSpPr txBox="1"/>
          <p:nvPr/>
        </p:nvSpPr>
        <p:spPr>
          <a:xfrm>
            <a:off x="9555480" y="2057400"/>
            <a:ext cx="201168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LOAD</a:t>
            </a:r>
          </a:p>
        </p:txBody>
      </p:sp>
      <p:sp>
        <p:nvSpPr>
          <p:cNvPr id="12" name="TextBox 11"/>
          <p:cNvSpPr txBox="1"/>
          <p:nvPr/>
        </p:nvSpPr>
        <p:spPr>
          <a:xfrm>
            <a:off x="9555480" y="2368296"/>
            <a:ext cx="2011680" cy="731519"/>
          </a:xfrm>
          <a:prstGeom prst="rect">
            <a:avLst/>
          </a:prstGeom>
          <a:noFill/>
        </p:spPr>
        <p:txBody>
          <a:bodyPr wrap="square" lIns="0" rIns="0" tIns="0" bIns="0" anchor="t">
            <a:noAutofit/>
          </a:bodyPr>
          <a:lstStyle/>
          <a:p>
            <a:pPr algn="l">
              <a:lnSpc>
                <a:spcPct val="114000"/>
              </a:lnSpc>
              <a:spcBef>
                <a:spcPts val="0"/>
              </a:spcBef>
              <a:spcAft>
                <a:spcPts val="0"/>
              </a:spcAft>
            </a:pPr>
            <a:r>
              <a:rPr sz="1750" b="0">
                <a:solidFill>
                  <a:srgbClr val="121610"/>
                </a:solidFill>
                <a:latin typeface="Inter"/>
              </a:rPr>
              <a:t>Missing input</a:t>
            </a:r>
          </a:p>
          <a:p>
            <a:pPr algn="l">
              <a:lnSpc>
                <a:spcPct val="114000"/>
              </a:lnSpc>
              <a:spcBef>
                <a:spcPts val="0"/>
              </a:spcBef>
              <a:spcAft>
                <a:spcPts val="0"/>
              </a:spcAft>
            </a:pPr>
            <a:r>
              <a:rPr sz="1750" b="0">
                <a:solidFill>
                  <a:srgbClr val="121610"/>
                </a:solidFill>
                <a:latin typeface="Inter"/>
              </a:rPr>
              <a:t>becomes zero.</a:t>
            </a:r>
          </a:p>
        </p:txBody>
      </p:sp>
      <p:sp>
        <p:nvSpPr>
          <p:cNvPr id="13" name="TextBox 12"/>
          <p:cNvSpPr txBox="1"/>
          <p:nvPr/>
        </p:nvSpPr>
        <p:spPr>
          <a:xfrm>
            <a:off x="9555480" y="3108960"/>
            <a:ext cx="201168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COOPERATE</a:t>
            </a:r>
          </a:p>
        </p:txBody>
      </p:sp>
      <p:sp>
        <p:nvSpPr>
          <p:cNvPr id="14" name="TextBox 13"/>
          <p:cNvSpPr txBox="1"/>
          <p:nvPr/>
        </p:nvSpPr>
        <p:spPr>
          <a:xfrm>
            <a:off x="9555480" y="3419856"/>
            <a:ext cx="2011680" cy="731519"/>
          </a:xfrm>
          <a:prstGeom prst="rect">
            <a:avLst/>
          </a:prstGeom>
          <a:noFill/>
        </p:spPr>
        <p:txBody>
          <a:bodyPr wrap="square" lIns="0" rIns="0" tIns="0" bIns="0" anchor="t">
            <a:noAutofit/>
          </a:bodyPr>
          <a:lstStyle/>
          <a:p>
            <a:pPr algn="l">
              <a:lnSpc>
                <a:spcPct val="114000"/>
              </a:lnSpc>
              <a:spcBef>
                <a:spcPts val="0"/>
              </a:spcBef>
              <a:spcAft>
                <a:spcPts val="0"/>
              </a:spcAft>
            </a:pPr>
            <a:r>
              <a:rPr sz="1750" b="0">
                <a:solidFill>
                  <a:srgbClr val="121610"/>
                </a:solidFill>
                <a:latin typeface="Inter"/>
              </a:rPr>
              <a:t>Follow the same</a:t>
            </a:r>
          </a:p>
          <a:p>
            <a:pPr algn="l">
              <a:lnSpc>
                <a:spcPct val="114000"/>
              </a:lnSpc>
              <a:spcBef>
                <a:spcPts val="0"/>
              </a:spcBef>
              <a:spcAft>
                <a:spcPts val="0"/>
              </a:spcAft>
            </a:pPr>
            <a:r>
              <a:rPr sz="1750" b="0">
                <a:solidFill>
                  <a:srgbClr val="121610"/>
                </a:solidFill>
                <a:latin typeface="Inter"/>
              </a:rPr>
              <a:t>barrier sequence.</a:t>
            </a:r>
          </a:p>
        </p:txBody>
      </p:sp>
      <p:sp>
        <p:nvSpPr>
          <p:cNvPr id="15" name="TextBox 14"/>
          <p:cNvSpPr txBox="1"/>
          <p:nvPr/>
        </p:nvSpPr>
        <p:spPr>
          <a:xfrm>
            <a:off x="9555480" y="4160520"/>
            <a:ext cx="201168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EMIT</a:t>
            </a:r>
          </a:p>
        </p:txBody>
      </p:sp>
      <p:sp>
        <p:nvSpPr>
          <p:cNvPr id="16" name="TextBox 15"/>
          <p:cNvSpPr txBox="1"/>
          <p:nvPr/>
        </p:nvSpPr>
        <p:spPr>
          <a:xfrm>
            <a:off x="9555480" y="4471416"/>
            <a:ext cx="2011680" cy="731519"/>
          </a:xfrm>
          <a:prstGeom prst="rect">
            <a:avLst/>
          </a:prstGeom>
          <a:noFill/>
        </p:spPr>
        <p:txBody>
          <a:bodyPr wrap="square" lIns="0" rIns="0" tIns="0" bIns="0" anchor="t">
            <a:noAutofit/>
          </a:bodyPr>
          <a:lstStyle/>
          <a:p>
            <a:pPr algn="l">
              <a:lnSpc>
                <a:spcPct val="114000"/>
              </a:lnSpc>
              <a:spcBef>
                <a:spcPts val="0"/>
              </a:spcBef>
              <a:spcAft>
                <a:spcPts val="0"/>
              </a:spcAft>
            </a:pPr>
            <a:r>
              <a:rPr sz="1750" b="0">
                <a:solidFill>
                  <a:srgbClr val="121610"/>
                </a:solidFill>
                <a:latin typeface="Inter"/>
              </a:rPr>
              <a:t>One partial</a:t>
            </a:r>
          </a:p>
          <a:p>
            <a:pPr algn="l">
              <a:lnSpc>
                <a:spcPct val="114000"/>
              </a:lnSpc>
              <a:spcBef>
                <a:spcPts val="0"/>
              </a:spcBef>
              <a:spcAft>
                <a:spcPts val="0"/>
              </a:spcAft>
            </a:pPr>
            <a:r>
              <a:rPr sz="1750" b="0">
                <a:solidFill>
                  <a:srgbClr val="121610"/>
                </a:solidFill>
                <a:latin typeface="Inter"/>
              </a:rPr>
              <a:t>per block.</a:t>
            </a:r>
          </a:p>
        </p:txBody>
      </p:sp>
      <p:sp>
        <p:nvSpPr>
          <p:cNvPr id="17" name="Rectangle 16"/>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The supplied lab combines block partials on the host after the GPU work completes.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THREAD COOPERATION</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Use a stage boundary to consume other blocks’ results</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NVIDIA Figure 4; ordinary block independence §1.2.2.1; completion and streams §§2.1.4, 2.5.</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43</a:t>
            </a:r>
          </a:p>
        </p:txBody>
      </p:sp>
      <p:sp>
        <p:nvSpPr>
          <p:cNvPr id="8" name="Rectangle 7"/>
          <p:cNvSpPr/>
          <p:nvPr/>
        </p:nvSpPr>
        <p:spPr>
          <a:xfrm>
            <a:off x="1152471" y="1847088"/>
            <a:ext cx="2340209" cy="340156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ORIGINAL_NVIDIA_fig04_scheduling_PDF_page_26" descr="NVIDIA Figure 4; CUDA Programming Guide 13.4.2, PDF page 26, printed page 8. Extracted from embedded image xref 870; original colors and aspect ratio preserved."/>
          <p:cNvPicPr>
            <a:picLocks noChangeAspect="1"/>
          </p:cNvPicPr>
          <p:nvPr/>
        </p:nvPicPr>
        <p:blipFill>
          <a:blip r:embed="rId2"/>
          <a:stretch>
            <a:fillRect/>
          </a:stretch>
        </p:blipFill>
        <p:spPr>
          <a:xfrm>
            <a:off x="1152471" y="1847088"/>
            <a:ext cx="2340209" cy="3401568"/>
          </a:xfrm>
          <a:prstGeom prst="rect">
            <a:avLst/>
          </a:prstGeom>
        </p:spPr>
      </p:pic>
      <p:sp>
        <p:nvSpPr>
          <p:cNvPr id="10" name="TextBox 9"/>
          <p:cNvSpPr txBox="1"/>
          <p:nvPr/>
        </p:nvSpPr>
        <p:spPr>
          <a:xfrm>
            <a:off x="640080" y="5321808"/>
            <a:ext cx="3364992" cy="210312"/>
          </a:xfrm>
          <a:prstGeom prst="rect">
            <a:avLst/>
          </a:prstGeom>
          <a:noFill/>
        </p:spPr>
        <p:txBody>
          <a:bodyPr wrap="square" lIns="0" rIns="0" tIns="0" bIns="0" anchor="t">
            <a:noAutofit/>
          </a:bodyPr>
          <a:lstStyle/>
          <a:p>
            <a:pPr algn="ctr">
              <a:lnSpc>
                <a:spcPct val="114000"/>
              </a:lnSpc>
              <a:spcBef>
                <a:spcPts val="0"/>
              </a:spcBef>
              <a:spcAft>
                <a:spcPts val="0"/>
              </a:spcAft>
            </a:pPr>
            <a:r>
              <a:rPr sz="919" b="0">
                <a:solidFill>
                  <a:srgbClr val="5A6358"/>
                </a:solidFill>
                <a:latin typeface="Inter"/>
              </a:rPr>
              <a:t>NVIDIA Figure 4 · Guide p. 8 / PDF p. 26</a:t>
            </a:r>
          </a:p>
        </p:txBody>
      </p:sp>
      <p:sp>
        <p:nvSpPr>
          <p:cNvPr id="11" name="TextBox 10"/>
          <p:cNvSpPr txBox="1"/>
          <p:nvPr/>
        </p:nvSpPr>
        <p:spPr>
          <a:xfrm>
            <a:off x="4626864" y="2020824"/>
            <a:ext cx="681228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GPU STAGE</a:t>
            </a:r>
          </a:p>
        </p:txBody>
      </p:sp>
      <p:sp>
        <p:nvSpPr>
          <p:cNvPr id="12" name="TextBox 11"/>
          <p:cNvSpPr txBox="1"/>
          <p:nvPr/>
        </p:nvSpPr>
        <p:spPr>
          <a:xfrm>
            <a:off x="4626864" y="2331720"/>
            <a:ext cx="6812280" cy="813816"/>
          </a:xfrm>
          <a:prstGeom prst="rect">
            <a:avLst/>
          </a:prstGeom>
          <a:noFill/>
        </p:spPr>
        <p:txBody>
          <a:bodyPr wrap="square" lIns="0" rIns="0" tIns="0" bIns="0" anchor="t">
            <a:noAutofit/>
          </a:bodyPr>
          <a:lstStyle/>
          <a:p>
            <a:pPr algn="l">
              <a:lnSpc>
                <a:spcPct val="114000"/>
              </a:lnSpc>
              <a:spcBef>
                <a:spcPts val="0"/>
              </a:spcBef>
              <a:spcAft>
                <a:spcPts val="0"/>
              </a:spcAft>
            </a:pPr>
            <a:r>
              <a:rPr sz="2200" b="0">
                <a:solidFill>
                  <a:srgbClr val="121610"/>
                </a:solidFill>
                <a:latin typeface="Inter"/>
              </a:rPr>
              <a:t>Kernel A writes independent block partials.</a:t>
            </a:r>
          </a:p>
        </p:txBody>
      </p:sp>
      <p:sp>
        <p:nvSpPr>
          <p:cNvPr id="13" name="TextBox 12"/>
          <p:cNvSpPr txBox="1"/>
          <p:nvPr/>
        </p:nvSpPr>
        <p:spPr>
          <a:xfrm>
            <a:off x="4626864" y="3154680"/>
            <a:ext cx="681228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COMPLETION</a:t>
            </a:r>
          </a:p>
        </p:txBody>
      </p:sp>
      <p:sp>
        <p:nvSpPr>
          <p:cNvPr id="14" name="TextBox 13"/>
          <p:cNvSpPr txBox="1"/>
          <p:nvPr/>
        </p:nvSpPr>
        <p:spPr>
          <a:xfrm>
            <a:off x="4626864" y="3465576"/>
            <a:ext cx="6812280" cy="813816"/>
          </a:xfrm>
          <a:prstGeom prst="rect">
            <a:avLst/>
          </a:prstGeom>
          <a:noFill/>
        </p:spPr>
        <p:txBody>
          <a:bodyPr wrap="square" lIns="0" rIns="0" tIns="0" bIns="0" anchor="t">
            <a:noAutofit/>
          </a:bodyPr>
          <a:lstStyle/>
          <a:p>
            <a:pPr algn="l">
              <a:lnSpc>
                <a:spcPct val="114000"/>
              </a:lnSpc>
              <a:spcBef>
                <a:spcPts val="0"/>
              </a:spcBef>
              <a:spcAft>
                <a:spcPts val="0"/>
              </a:spcAft>
            </a:pPr>
            <a:r>
              <a:rPr sz="2200" b="0">
                <a:solidFill>
                  <a:srgbClr val="121610"/>
                </a:solidFill>
                <a:latin typeface="Inter"/>
              </a:rPr>
              <a:t>Wait for the required work and transfer.</a:t>
            </a:r>
          </a:p>
        </p:txBody>
      </p:sp>
      <p:sp>
        <p:nvSpPr>
          <p:cNvPr id="15" name="TextBox 14"/>
          <p:cNvSpPr txBox="1"/>
          <p:nvPr/>
        </p:nvSpPr>
        <p:spPr>
          <a:xfrm>
            <a:off x="4626864" y="4288536"/>
            <a:ext cx="681228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NEXT STAGE</a:t>
            </a:r>
          </a:p>
        </p:txBody>
      </p:sp>
      <p:sp>
        <p:nvSpPr>
          <p:cNvPr id="16" name="TextBox 15"/>
          <p:cNvSpPr txBox="1"/>
          <p:nvPr/>
        </p:nvSpPr>
        <p:spPr>
          <a:xfrm>
            <a:off x="4626864" y="4599431"/>
            <a:ext cx="6812280" cy="813816"/>
          </a:xfrm>
          <a:prstGeom prst="rect">
            <a:avLst/>
          </a:prstGeom>
          <a:noFill/>
        </p:spPr>
        <p:txBody>
          <a:bodyPr wrap="square" lIns="0" rIns="0" tIns="0" bIns="0" anchor="t">
            <a:noAutofit/>
          </a:bodyPr>
          <a:lstStyle/>
          <a:p>
            <a:pPr algn="l">
              <a:lnSpc>
                <a:spcPct val="114000"/>
              </a:lnSpc>
              <a:spcBef>
                <a:spcPts val="0"/>
              </a:spcBef>
              <a:spcAft>
                <a:spcPts val="0"/>
              </a:spcAft>
            </a:pPr>
            <a:r>
              <a:rPr sz="2200" b="0">
                <a:solidFill>
                  <a:srgbClr val="121610"/>
                </a:solidFill>
                <a:latin typeface="Inter"/>
              </a:rPr>
              <a:t>The host combines partials in this lab.</a:t>
            </a:r>
          </a:p>
        </p:txBody>
      </p:sp>
      <p:sp>
        <p:nvSpPr>
          <p:cNvPr id="17" name="Rectangle 16"/>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__syncthreads() coordinates a block—not all ordinary blocks in the grid.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35-MINUTE LAB</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Lab 4 · Compare atomic and block-partial reductions</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Existing companion pack: starter/day1_extensions and solution/day1_extensions.</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44</a:t>
            </a:r>
          </a:p>
        </p:txBody>
      </p:sp>
      <p:sp>
        <p:nvSpPr>
          <p:cNvPr id="8" name="Rectangle 7"/>
          <p:cNvSpPr/>
          <p:nvPr/>
        </p:nvSpPr>
        <p:spPr>
          <a:xfrm>
            <a:off x="521207" y="1773936"/>
            <a:ext cx="3090672" cy="283464"/>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30936" y="1833372"/>
            <a:ext cx="2907791" cy="182880"/>
          </a:xfrm>
          <a:prstGeom prst="rect">
            <a:avLst/>
          </a:prstGeom>
          <a:noFill/>
        </p:spPr>
        <p:txBody>
          <a:bodyPr wrap="square" lIns="0" rIns="0" tIns="0" bIns="0" anchor="t">
            <a:noAutofit/>
          </a:bodyPr>
          <a:lstStyle/>
          <a:p>
            <a:pPr algn="l">
              <a:lnSpc>
                <a:spcPct val="114000"/>
              </a:lnSpc>
              <a:spcBef>
                <a:spcPts val="0"/>
              </a:spcBef>
              <a:spcAft>
                <a:spcPts val="0"/>
              </a:spcAft>
            </a:pPr>
            <a:r>
              <a:rPr sz="950" b="1">
                <a:solidFill>
                  <a:srgbClr val="4C7000"/>
                </a:solidFill>
                <a:latin typeface="Inter"/>
              </a:rPr>
              <a:t>HANDS-ON / COURSE EXERCISE</a:t>
            </a:r>
          </a:p>
        </p:txBody>
      </p:sp>
      <p:sp>
        <p:nvSpPr>
          <p:cNvPr id="10" name="Rectangle 9"/>
          <p:cNvSpPr/>
          <p:nvPr/>
        </p:nvSpPr>
        <p:spPr>
          <a:xfrm>
            <a:off x="521207" y="2286000"/>
            <a:ext cx="7406640" cy="2414016"/>
          </a:xfrm>
          <a:prstGeom prst="rect">
            <a:avLst/>
          </a:prstGeom>
          <a:solidFill>
            <a:srgbClr val="11170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04088" y="2441448"/>
            <a:ext cx="7040879" cy="210312"/>
          </a:xfrm>
          <a:prstGeom prst="rect">
            <a:avLst/>
          </a:prstGeom>
          <a:noFill/>
        </p:spPr>
        <p:txBody>
          <a:bodyPr wrap="square" lIns="0" rIns="0" tIns="0" bIns="0" anchor="t">
            <a:noAutofit/>
          </a:bodyPr>
          <a:lstStyle/>
          <a:p>
            <a:pPr algn="l">
              <a:lnSpc>
                <a:spcPct val="114000"/>
              </a:lnSpc>
              <a:spcBef>
                <a:spcPts val="0"/>
              </a:spcBef>
              <a:spcAft>
                <a:spcPts val="0"/>
              </a:spcAft>
            </a:pPr>
            <a:r>
              <a:rPr sz="900" b="1">
                <a:solidFill>
                  <a:srgbClr val="76B900"/>
                </a:solidFill>
                <a:latin typeface="Inter"/>
              </a:rPr>
              <a:t>RUN FROM THE MODULE SHOWN</a:t>
            </a:r>
          </a:p>
        </p:txBody>
      </p:sp>
      <p:sp>
        <p:nvSpPr>
          <p:cNvPr id="12" name="TextBox 11"/>
          <p:cNvSpPr txBox="1"/>
          <p:nvPr/>
        </p:nvSpPr>
        <p:spPr>
          <a:xfrm>
            <a:off x="704088" y="2798064"/>
            <a:ext cx="7040879" cy="1773936"/>
          </a:xfrm>
          <a:prstGeom prst="rect">
            <a:avLst/>
          </a:prstGeom>
          <a:noFill/>
        </p:spPr>
        <p:txBody>
          <a:bodyPr wrap="none" lIns="0" rIns="0" tIns="0" bIns="0">
            <a:noAutofit/>
          </a:bodyPr>
          <a:lstStyle/>
          <a:p>
            <a:pPr>
              <a:lnSpc>
                <a:spcPts val="2039"/>
              </a:lnSpc>
              <a:spcBef>
                <a:spcPts val="0"/>
              </a:spcBef>
              <a:spcAft>
                <a:spcPts val="0"/>
              </a:spcAft>
            </a:pPr>
            <a:r>
              <a:rPr sz="1700">
                <a:solidFill>
                  <a:srgbClr val="EDF3E6"/>
                </a:solidFill>
                <a:latin typeface="DejaVu Sans Mono"/>
              </a:rPr>
              <a:t>cd</a:t>
            </a:r>
            <a:r>
              <a:rPr sz="1700">
                <a:solidFill>
                  <a:srgbClr val="EDF3E6"/>
                </a:solidFill>
                <a:latin typeface="DejaVu Sans Mono"/>
              </a:rPr>
              <a:t> </a:t>
            </a:r>
            <a:r>
              <a:rPr sz="1700">
                <a:solidFill>
                  <a:srgbClr val="EDF3E6"/>
                </a:solidFill>
                <a:latin typeface="DejaVu Sans Mono"/>
              </a:rPr>
              <a:t>formation/projects/detailed</a:t>
            </a:r>
          </a:p>
          <a:p>
            <a:pPr>
              <a:lnSpc>
                <a:spcPts val="2039"/>
              </a:lnSpc>
              <a:spcBef>
                <a:spcPts val="0"/>
              </a:spcBef>
              <a:spcAft>
                <a:spcPts val="0"/>
              </a:spcAft>
            </a:pPr>
            <a:r>
              <a:rPr sz="1700">
                <a:solidFill>
                  <a:srgbClr val="EDF3E6"/>
                </a:solidFill>
                <a:latin typeface="DejaVu Sans Mono"/>
              </a:rPr>
              <a:t>bazel</a:t>
            </a:r>
            <a:r>
              <a:rPr sz="1700">
                <a:solidFill>
                  <a:srgbClr val="EDF3E6"/>
                </a:solidFill>
                <a:latin typeface="DejaVu Sans Mono"/>
              </a:rPr>
              <a:t> </a:t>
            </a:r>
            <a:r>
              <a:rPr sz="1700">
                <a:solidFill>
                  <a:srgbClr val="EDF3E6"/>
                </a:solidFill>
                <a:latin typeface="DejaVu Sans Mono"/>
              </a:rPr>
              <a:t>test</a:t>
            </a:r>
            <a:r>
              <a:rPr sz="1700">
                <a:solidFill>
                  <a:srgbClr val="EDF3E6"/>
                </a:solidFill>
                <a:latin typeface="DejaVu Sans Mono"/>
              </a:rPr>
              <a:t> </a:t>
            </a:r>
            <a:r>
              <a:rPr sz="1700">
                <a:solidFill>
                  <a:srgbClr val="EDF3E6"/>
                </a:solidFill>
                <a:latin typeface="DejaVu Sans Mono"/>
              </a:rPr>
              <a:t>//day1_extensions:reduction_test</a:t>
            </a:r>
          </a:p>
          <a:p>
            <a:pPr>
              <a:lnSpc>
                <a:spcPts val="2039"/>
              </a:lnSpc>
              <a:spcBef>
                <a:spcPts val="0"/>
              </a:spcBef>
              <a:spcAft>
                <a:spcPts val="0"/>
              </a:spcAft>
            </a:pPr>
            <a:r>
              <a:rPr sz="1700">
                <a:solidFill>
                  <a:srgbClr val="EDF3E6"/>
                </a:solidFill>
                <a:latin typeface="DejaVu Sans Mono"/>
              </a:rPr>
              <a:t>bazel</a:t>
            </a:r>
            <a:r>
              <a:rPr sz="1700">
                <a:solidFill>
                  <a:srgbClr val="EDF3E6"/>
                </a:solidFill>
                <a:latin typeface="DejaVu Sans Mono"/>
              </a:rPr>
              <a:t> </a:t>
            </a:r>
            <a:r>
              <a:rPr sz="1700">
                <a:solidFill>
                  <a:srgbClr val="EDF3E6"/>
                </a:solidFill>
                <a:latin typeface="DejaVu Sans Mono"/>
              </a:rPr>
              <a:t>run</a:t>
            </a:r>
            <a:r>
              <a:rPr sz="1700">
                <a:solidFill>
                  <a:srgbClr val="EDF3E6"/>
                </a:solidFill>
                <a:latin typeface="DejaVu Sans Mono"/>
              </a:rPr>
              <a:t> </a:t>
            </a:r>
            <a:r>
              <a:rPr sz="1700">
                <a:solidFill>
                  <a:srgbClr val="EDF3E6"/>
                </a:solidFill>
                <a:latin typeface="DejaVu Sans Mono"/>
              </a:rPr>
              <a:t>-c</a:t>
            </a:r>
            <a:r>
              <a:rPr sz="1700">
                <a:solidFill>
                  <a:srgbClr val="EDF3E6"/>
                </a:solidFill>
                <a:latin typeface="DejaVu Sans Mono"/>
              </a:rPr>
              <a:t> </a:t>
            </a:r>
            <a:r>
              <a:rPr sz="1700">
                <a:solidFill>
                  <a:srgbClr val="EDF3E6"/>
                </a:solidFill>
                <a:latin typeface="DejaVu Sans Mono"/>
              </a:rPr>
              <a:t>opt</a:t>
            </a:r>
            <a:r>
              <a:rPr sz="1700">
                <a:solidFill>
                  <a:srgbClr val="EDF3E6"/>
                </a:solidFill>
                <a:latin typeface="DejaVu Sans Mono"/>
              </a:rPr>
              <a:t> </a:t>
            </a:r>
            <a:r>
              <a:rPr sz="1700">
                <a:solidFill>
                  <a:srgbClr val="EDF3E6"/>
                </a:solidFill>
                <a:latin typeface="DejaVu Sans Mono"/>
              </a:rPr>
              <a:t>//day1_extensions:reduction_lab</a:t>
            </a:r>
          </a:p>
        </p:txBody>
      </p:sp>
      <p:sp>
        <p:nvSpPr>
          <p:cNvPr id="13" name="TextBox 12"/>
          <p:cNvSpPr txBox="1"/>
          <p:nvPr/>
        </p:nvSpPr>
        <p:spPr>
          <a:xfrm>
            <a:off x="8339327" y="1938528"/>
            <a:ext cx="320040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INPUTS</a:t>
            </a:r>
          </a:p>
        </p:txBody>
      </p:sp>
      <p:sp>
        <p:nvSpPr>
          <p:cNvPr id="14" name="TextBox 13"/>
          <p:cNvSpPr txBox="1"/>
          <p:nvPr/>
        </p:nvSpPr>
        <p:spPr>
          <a:xfrm>
            <a:off x="8339327" y="2249424"/>
            <a:ext cx="3200400" cy="704088"/>
          </a:xfrm>
          <a:prstGeom prst="rect">
            <a:avLst/>
          </a:prstGeom>
          <a:noFill/>
        </p:spPr>
        <p:txBody>
          <a:bodyPr wrap="square" lIns="0" rIns="0" tIns="0" bIns="0" anchor="t">
            <a:noAutofit/>
          </a:bodyPr>
          <a:lstStyle/>
          <a:p>
            <a:pPr algn="l">
              <a:lnSpc>
                <a:spcPct val="114000"/>
              </a:lnSpc>
              <a:spcBef>
                <a:spcPts val="0"/>
              </a:spcBef>
              <a:spcAft>
                <a:spcPts val="0"/>
              </a:spcAft>
            </a:pPr>
            <a:r>
              <a:rPr sz="1900" b="0">
                <a:solidFill>
                  <a:srgbClr val="121610"/>
                </a:solidFill>
                <a:latin typeface="Inter"/>
              </a:rPr>
              <a:t>Empty, partial and signed.</a:t>
            </a:r>
          </a:p>
        </p:txBody>
      </p:sp>
      <p:sp>
        <p:nvSpPr>
          <p:cNvPr id="15" name="TextBox 14"/>
          <p:cNvSpPr txBox="1"/>
          <p:nvPr/>
        </p:nvSpPr>
        <p:spPr>
          <a:xfrm>
            <a:off x="8339327" y="2962656"/>
            <a:ext cx="320040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NUMERICS</a:t>
            </a:r>
          </a:p>
        </p:txBody>
      </p:sp>
      <p:sp>
        <p:nvSpPr>
          <p:cNvPr id="16" name="TextBox 15"/>
          <p:cNvSpPr txBox="1"/>
          <p:nvPr/>
        </p:nvSpPr>
        <p:spPr>
          <a:xfrm>
            <a:off x="8339327" y="3273552"/>
            <a:ext cx="3200400" cy="704088"/>
          </a:xfrm>
          <a:prstGeom prst="rect">
            <a:avLst/>
          </a:prstGeom>
          <a:noFill/>
        </p:spPr>
        <p:txBody>
          <a:bodyPr wrap="square" lIns="0" rIns="0" tIns="0" bIns="0" anchor="t">
            <a:noAutofit/>
          </a:bodyPr>
          <a:lstStyle/>
          <a:p>
            <a:pPr algn="l">
              <a:lnSpc>
                <a:spcPct val="114000"/>
              </a:lnSpc>
              <a:spcBef>
                <a:spcPts val="0"/>
              </a:spcBef>
              <a:spcAft>
                <a:spcPts val="0"/>
              </a:spcAft>
            </a:pPr>
            <a:r>
              <a:rPr sz="1900" b="0">
                <a:solidFill>
                  <a:srgbClr val="121610"/>
                </a:solidFill>
                <a:latin typeface="Inter"/>
              </a:rPr>
              <a:t>Check the error tolerance.</a:t>
            </a:r>
          </a:p>
        </p:txBody>
      </p:sp>
      <p:sp>
        <p:nvSpPr>
          <p:cNvPr id="17" name="TextBox 16"/>
          <p:cNvSpPr txBox="1"/>
          <p:nvPr/>
        </p:nvSpPr>
        <p:spPr>
          <a:xfrm>
            <a:off x="8339327" y="3986784"/>
            <a:ext cx="320040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SCOPE</a:t>
            </a:r>
          </a:p>
        </p:txBody>
      </p:sp>
      <p:sp>
        <p:nvSpPr>
          <p:cNvPr id="18" name="TextBox 17"/>
          <p:cNvSpPr txBox="1"/>
          <p:nvPr/>
        </p:nvSpPr>
        <p:spPr>
          <a:xfrm>
            <a:off x="8339327" y="4297680"/>
            <a:ext cx="3200400" cy="704088"/>
          </a:xfrm>
          <a:prstGeom prst="rect">
            <a:avLst/>
          </a:prstGeom>
          <a:noFill/>
        </p:spPr>
        <p:txBody>
          <a:bodyPr wrap="square" lIns="0" rIns="0" tIns="0" bIns="0" anchor="t">
            <a:noAutofit/>
          </a:bodyPr>
          <a:lstStyle/>
          <a:p>
            <a:pPr algn="l">
              <a:lnSpc>
                <a:spcPct val="114000"/>
              </a:lnSpc>
              <a:spcBef>
                <a:spcPts val="0"/>
              </a:spcBef>
              <a:spcAft>
                <a:spcPts val="0"/>
              </a:spcAft>
            </a:pPr>
            <a:r>
              <a:rPr sz="1900" b="0">
                <a:solidFill>
                  <a:srgbClr val="121610"/>
                </a:solidFill>
                <a:latin typeface="Inter"/>
              </a:rPr>
              <a:t>Separate GPU stage from full result.</a:t>
            </a:r>
          </a:p>
        </p:txBody>
      </p:sp>
      <p:sp>
        <p:nvSpPr>
          <p:cNvPr id="19" name="TextBox 18"/>
          <p:cNvSpPr txBox="1"/>
          <p:nvPr/>
        </p:nvSpPr>
        <p:spPr>
          <a:xfrm>
            <a:off x="594360" y="5056632"/>
            <a:ext cx="10936224" cy="438912"/>
          </a:xfrm>
          <a:prstGeom prst="rect">
            <a:avLst/>
          </a:prstGeom>
          <a:noFill/>
        </p:spPr>
        <p:txBody>
          <a:bodyPr wrap="square" lIns="0" rIns="0" tIns="0" bIns="0" anchor="t">
            <a:noAutofit/>
          </a:bodyPr>
          <a:lstStyle/>
          <a:p>
            <a:pPr algn="l">
              <a:lnSpc>
                <a:spcPct val="114000"/>
              </a:lnSpc>
              <a:spcBef>
                <a:spcPts val="0"/>
              </a:spcBef>
              <a:spcAft>
                <a:spcPts val="0"/>
              </a:spcAft>
            </a:pPr>
            <a:r>
              <a:rPr sz="1800" b="1">
                <a:solidFill>
                  <a:srgbClr val="121610"/>
                </a:solidFill>
                <a:latin typeface="Inter"/>
              </a:rPr>
              <a:t>Deliverable: correct sums and a reason for every synchronization point.</a:t>
            </a:r>
          </a:p>
        </p:txBody>
      </p:sp>
      <p:sp>
        <p:nvSpPr>
          <p:cNvPr id="20" name="Rectangle 19"/>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Record what you tested, why you trust the result, and what remains unverified.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EVIDENCE CHECK</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Explain the result before the next optimization</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Course assessment framework; guide concepts: ownership, synchronization, bounds and memory access.</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45</a:t>
            </a:r>
          </a:p>
        </p:txBody>
      </p:sp>
      <p:sp>
        <p:nvSpPr>
          <p:cNvPr id="8" name="Rectangle 7"/>
          <p:cNvSpPr/>
          <p:nvPr/>
        </p:nvSpPr>
        <p:spPr>
          <a:xfrm>
            <a:off x="676656" y="1938528"/>
            <a:ext cx="10844784" cy="740664"/>
          </a:xfrm>
          <a:prstGeom prst="rect">
            <a:avLst/>
          </a:prstGeom>
          <a:solidFill>
            <a:srgbClr val="F0F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04672" y="2075688"/>
            <a:ext cx="2560320" cy="557784"/>
          </a:xfrm>
          <a:prstGeom prst="rect">
            <a:avLst/>
          </a:prstGeom>
          <a:noFill/>
        </p:spPr>
        <p:txBody>
          <a:bodyPr wrap="square" lIns="0" rIns="0" tIns="0" bIns="0" anchor="t">
            <a:noAutofit/>
          </a:bodyPr>
          <a:lstStyle/>
          <a:p>
            <a:pPr algn="l">
              <a:lnSpc>
                <a:spcPct val="104000"/>
              </a:lnSpc>
              <a:spcBef>
                <a:spcPts val="0"/>
              </a:spcBef>
              <a:spcAft>
                <a:spcPts val="0"/>
              </a:spcAft>
            </a:pPr>
            <a:r>
              <a:rPr sz="2100" b="1">
                <a:solidFill>
                  <a:srgbClr val="466B00"/>
                </a:solidFill>
                <a:latin typeface="Inter"/>
              </a:rPr>
              <a:t>Ownership</a:t>
            </a:r>
          </a:p>
        </p:txBody>
      </p:sp>
      <p:sp>
        <p:nvSpPr>
          <p:cNvPr id="10" name="TextBox 9"/>
          <p:cNvSpPr txBox="1"/>
          <p:nvPr/>
        </p:nvSpPr>
        <p:spPr>
          <a:xfrm>
            <a:off x="3611879" y="2075688"/>
            <a:ext cx="7790688" cy="557784"/>
          </a:xfrm>
          <a:prstGeom prst="rect">
            <a:avLst/>
          </a:prstGeom>
          <a:noFill/>
        </p:spPr>
        <p:txBody>
          <a:bodyPr wrap="square" lIns="0" rIns="0" tIns="0" bIns="0" anchor="t">
            <a:noAutofit/>
          </a:bodyPr>
          <a:lstStyle/>
          <a:p>
            <a:pPr algn="l">
              <a:lnSpc>
                <a:spcPct val="104000"/>
              </a:lnSpc>
              <a:spcBef>
                <a:spcPts val="0"/>
              </a:spcBef>
              <a:spcAft>
                <a:spcPts val="0"/>
              </a:spcAft>
            </a:pPr>
            <a:r>
              <a:rPr sz="2100" b="0">
                <a:solidFill>
                  <a:srgbClr val="121610"/>
                </a:solidFill>
                <a:latin typeface="Inter"/>
              </a:rPr>
              <a:t>Which thread writes each output or partial?</a:t>
            </a:r>
          </a:p>
        </p:txBody>
      </p:sp>
      <p:sp>
        <p:nvSpPr>
          <p:cNvPr id="11" name="TextBox 10"/>
          <p:cNvSpPr txBox="1"/>
          <p:nvPr/>
        </p:nvSpPr>
        <p:spPr>
          <a:xfrm>
            <a:off x="804672" y="2816352"/>
            <a:ext cx="2560320" cy="557784"/>
          </a:xfrm>
          <a:prstGeom prst="rect">
            <a:avLst/>
          </a:prstGeom>
          <a:noFill/>
        </p:spPr>
        <p:txBody>
          <a:bodyPr wrap="square" lIns="0" rIns="0" tIns="0" bIns="0" anchor="t">
            <a:noAutofit/>
          </a:bodyPr>
          <a:lstStyle/>
          <a:p>
            <a:pPr algn="l">
              <a:lnSpc>
                <a:spcPct val="104000"/>
              </a:lnSpc>
              <a:spcBef>
                <a:spcPts val="0"/>
              </a:spcBef>
              <a:spcAft>
                <a:spcPts val="0"/>
              </a:spcAft>
            </a:pPr>
            <a:r>
              <a:rPr sz="2100" b="1">
                <a:solidFill>
                  <a:srgbClr val="466B00"/>
                </a:solidFill>
                <a:latin typeface="Inter"/>
              </a:rPr>
              <a:t>Visibility</a:t>
            </a:r>
          </a:p>
        </p:txBody>
      </p:sp>
      <p:sp>
        <p:nvSpPr>
          <p:cNvPr id="12" name="TextBox 11"/>
          <p:cNvSpPr txBox="1"/>
          <p:nvPr/>
        </p:nvSpPr>
        <p:spPr>
          <a:xfrm>
            <a:off x="3611879" y="2816352"/>
            <a:ext cx="7790688" cy="557784"/>
          </a:xfrm>
          <a:prstGeom prst="rect">
            <a:avLst/>
          </a:prstGeom>
          <a:noFill/>
        </p:spPr>
        <p:txBody>
          <a:bodyPr wrap="square" lIns="0" rIns="0" tIns="0" bIns="0" anchor="t">
            <a:noAutofit/>
          </a:bodyPr>
          <a:lstStyle/>
          <a:p>
            <a:pPr algn="l">
              <a:lnSpc>
                <a:spcPct val="104000"/>
              </a:lnSpc>
              <a:spcBef>
                <a:spcPts val="0"/>
              </a:spcBef>
              <a:spcAft>
                <a:spcPts val="0"/>
              </a:spcAft>
            </a:pPr>
            <a:r>
              <a:rPr sz="2100" b="0">
                <a:solidFill>
                  <a:srgbClr val="121610"/>
                </a:solidFill>
                <a:latin typeface="Inter"/>
              </a:rPr>
              <a:t>Which writes must finish before the next read?</a:t>
            </a:r>
          </a:p>
        </p:txBody>
      </p:sp>
      <p:sp>
        <p:nvSpPr>
          <p:cNvPr id="13" name="Rectangle 12"/>
          <p:cNvSpPr/>
          <p:nvPr/>
        </p:nvSpPr>
        <p:spPr>
          <a:xfrm>
            <a:off x="676656" y="3419856"/>
            <a:ext cx="10844784" cy="740664"/>
          </a:xfrm>
          <a:prstGeom prst="rect">
            <a:avLst/>
          </a:prstGeom>
          <a:solidFill>
            <a:srgbClr val="F0F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04672" y="3557016"/>
            <a:ext cx="2560320" cy="557784"/>
          </a:xfrm>
          <a:prstGeom prst="rect">
            <a:avLst/>
          </a:prstGeom>
          <a:noFill/>
        </p:spPr>
        <p:txBody>
          <a:bodyPr wrap="square" lIns="0" rIns="0" tIns="0" bIns="0" anchor="t">
            <a:noAutofit/>
          </a:bodyPr>
          <a:lstStyle/>
          <a:p>
            <a:pPr algn="l">
              <a:lnSpc>
                <a:spcPct val="104000"/>
              </a:lnSpc>
              <a:spcBef>
                <a:spcPts val="0"/>
              </a:spcBef>
              <a:spcAft>
                <a:spcPts val="0"/>
              </a:spcAft>
            </a:pPr>
            <a:r>
              <a:rPr sz="2100" b="1">
                <a:solidFill>
                  <a:srgbClr val="466B00"/>
                </a:solidFill>
                <a:latin typeface="Inter"/>
              </a:rPr>
              <a:t>Boundaries</a:t>
            </a:r>
          </a:p>
        </p:txBody>
      </p:sp>
      <p:sp>
        <p:nvSpPr>
          <p:cNvPr id="15" name="TextBox 14"/>
          <p:cNvSpPr txBox="1"/>
          <p:nvPr/>
        </p:nvSpPr>
        <p:spPr>
          <a:xfrm>
            <a:off x="3611879" y="3557016"/>
            <a:ext cx="7790688" cy="557784"/>
          </a:xfrm>
          <a:prstGeom prst="rect">
            <a:avLst/>
          </a:prstGeom>
          <a:noFill/>
        </p:spPr>
        <p:txBody>
          <a:bodyPr wrap="square" lIns="0" rIns="0" tIns="0" bIns="0" anchor="t">
            <a:noAutofit/>
          </a:bodyPr>
          <a:lstStyle/>
          <a:p>
            <a:pPr algn="l">
              <a:lnSpc>
                <a:spcPct val="104000"/>
              </a:lnSpc>
              <a:spcBef>
                <a:spcPts val="0"/>
              </a:spcBef>
              <a:spcAft>
                <a:spcPts val="0"/>
              </a:spcAft>
            </a:pPr>
            <a:r>
              <a:rPr sz="2100" b="0">
                <a:solidFill>
                  <a:srgbClr val="121610"/>
                </a:solidFill>
                <a:latin typeface="Inter"/>
              </a:rPr>
              <a:t>What happens in incomplete blocks and tiles?</a:t>
            </a:r>
          </a:p>
        </p:txBody>
      </p:sp>
      <p:sp>
        <p:nvSpPr>
          <p:cNvPr id="16" name="TextBox 15"/>
          <p:cNvSpPr txBox="1"/>
          <p:nvPr/>
        </p:nvSpPr>
        <p:spPr>
          <a:xfrm>
            <a:off x="804672" y="4297680"/>
            <a:ext cx="2560320" cy="557784"/>
          </a:xfrm>
          <a:prstGeom prst="rect">
            <a:avLst/>
          </a:prstGeom>
          <a:noFill/>
        </p:spPr>
        <p:txBody>
          <a:bodyPr wrap="square" lIns="0" rIns="0" tIns="0" bIns="0" anchor="t">
            <a:noAutofit/>
          </a:bodyPr>
          <a:lstStyle/>
          <a:p>
            <a:pPr algn="l">
              <a:lnSpc>
                <a:spcPct val="104000"/>
              </a:lnSpc>
              <a:spcBef>
                <a:spcPts val="0"/>
              </a:spcBef>
              <a:spcAft>
                <a:spcPts val="0"/>
              </a:spcAft>
            </a:pPr>
            <a:r>
              <a:rPr sz="2100" b="1">
                <a:solidFill>
                  <a:srgbClr val="466B00"/>
                </a:solidFill>
                <a:latin typeface="Inter"/>
              </a:rPr>
              <a:t>Measurement</a:t>
            </a:r>
          </a:p>
        </p:txBody>
      </p:sp>
      <p:sp>
        <p:nvSpPr>
          <p:cNvPr id="17" name="TextBox 16"/>
          <p:cNvSpPr txBox="1"/>
          <p:nvPr/>
        </p:nvSpPr>
        <p:spPr>
          <a:xfrm>
            <a:off x="3611879" y="4297680"/>
            <a:ext cx="7790688" cy="557784"/>
          </a:xfrm>
          <a:prstGeom prst="rect">
            <a:avLst/>
          </a:prstGeom>
          <a:noFill/>
        </p:spPr>
        <p:txBody>
          <a:bodyPr wrap="square" lIns="0" rIns="0" tIns="0" bIns="0" anchor="t">
            <a:noAutofit/>
          </a:bodyPr>
          <a:lstStyle/>
          <a:p>
            <a:pPr algn="l">
              <a:lnSpc>
                <a:spcPct val="104000"/>
              </a:lnSpc>
              <a:spcBef>
                <a:spcPts val="0"/>
              </a:spcBef>
              <a:spcAft>
                <a:spcPts val="0"/>
              </a:spcAft>
            </a:pPr>
            <a:r>
              <a:rPr sz="2100" b="0">
                <a:solidFill>
                  <a:srgbClr val="121610"/>
                </a:solidFill>
                <a:latin typeface="Inter"/>
              </a:rPr>
              <a:t>Which work is included—and excluded—from the number?</a:t>
            </a:r>
          </a:p>
        </p:txBody>
      </p:sp>
      <p:sp>
        <p:nvSpPr>
          <p:cNvPr id="18" name="Rectangle 17"/>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Correctness evidence and a declared timing scope are stronger than a single speedup.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DAY 1 RECAP</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Five ideas to carry into every CUDA feature</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Course recap of guide §§1.2, 2.1 and 2.3.</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46</a:t>
            </a:r>
          </a:p>
        </p:txBody>
      </p:sp>
      <p:sp>
        <p:nvSpPr>
          <p:cNvPr id="8" name="Rectangle 7"/>
          <p:cNvSpPr/>
          <p:nvPr/>
        </p:nvSpPr>
        <p:spPr>
          <a:xfrm>
            <a:off x="713232" y="1865376"/>
            <a:ext cx="10799064" cy="621792"/>
          </a:xfrm>
          <a:prstGeom prst="rect">
            <a:avLst/>
          </a:prstGeom>
          <a:solidFill>
            <a:srgbClr val="F0F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41248" y="2002536"/>
            <a:ext cx="2633472" cy="438912"/>
          </a:xfrm>
          <a:prstGeom prst="rect">
            <a:avLst/>
          </a:prstGeom>
          <a:noFill/>
        </p:spPr>
        <p:txBody>
          <a:bodyPr wrap="square" lIns="0" rIns="0" tIns="0" bIns="0" anchor="t">
            <a:noAutofit/>
          </a:bodyPr>
          <a:lstStyle/>
          <a:p>
            <a:pPr algn="l">
              <a:lnSpc>
                <a:spcPct val="104000"/>
              </a:lnSpc>
              <a:spcBef>
                <a:spcPts val="0"/>
              </a:spcBef>
              <a:spcAft>
                <a:spcPts val="0"/>
              </a:spcAft>
            </a:pPr>
            <a:r>
              <a:rPr sz="2200" b="1">
                <a:solidFill>
                  <a:srgbClr val="466B00"/>
                </a:solidFill>
                <a:latin typeface="Inter"/>
              </a:rPr>
              <a:t>Map work</a:t>
            </a:r>
          </a:p>
        </p:txBody>
      </p:sp>
      <p:sp>
        <p:nvSpPr>
          <p:cNvPr id="10" name="TextBox 9"/>
          <p:cNvSpPr txBox="1"/>
          <p:nvPr/>
        </p:nvSpPr>
        <p:spPr>
          <a:xfrm>
            <a:off x="3721607" y="2002536"/>
            <a:ext cx="7671816" cy="438912"/>
          </a:xfrm>
          <a:prstGeom prst="rect">
            <a:avLst/>
          </a:prstGeom>
          <a:noFill/>
        </p:spPr>
        <p:txBody>
          <a:bodyPr wrap="square" lIns="0" rIns="0" tIns="0" bIns="0" anchor="t">
            <a:noAutofit/>
          </a:bodyPr>
          <a:lstStyle/>
          <a:p>
            <a:pPr algn="l">
              <a:lnSpc>
                <a:spcPct val="104000"/>
              </a:lnSpc>
              <a:spcBef>
                <a:spcPts val="0"/>
              </a:spcBef>
              <a:spcAft>
                <a:spcPts val="0"/>
              </a:spcAft>
            </a:pPr>
            <a:r>
              <a:rPr sz="2200" b="0">
                <a:solidFill>
                  <a:srgbClr val="121610"/>
                </a:solidFill>
                <a:latin typeface="Inter"/>
              </a:rPr>
              <a:t>A thread index selects data.</a:t>
            </a:r>
          </a:p>
        </p:txBody>
      </p:sp>
      <p:sp>
        <p:nvSpPr>
          <p:cNvPr id="11" name="TextBox 10"/>
          <p:cNvSpPr txBox="1"/>
          <p:nvPr/>
        </p:nvSpPr>
        <p:spPr>
          <a:xfrm>
            <a:off x="841248" y="2624328"/>
            <a:ext cx="2633472" cy="438912"/>
          </a:xfrm>
          <a:prstGeom prst="rect">
            <a:avLst/>
          </a:prstGeom>
          <a:noFill/>
        </p:spPr>
        <p:txBody>
          <a:bodyPr wrap="square" lIns="0" rIns="0" tIns="0" bIns="0" anchor="t">
            <a:noAutofit/>
          </a:bodyPr>
          <a:lstStyle/>
          <a:p>
            <a:pPr algn="l">
              <a:lnSpc>
                <a:spcPct val="104000"/>
              </a:lnSpc>
              <a:spcBef>
                <a:spcPts val="0"/>
              </a:spcBef>
              <a:spcAft>
                <a:spcPts val="0"/>
              </a:spcAft>
            </a:pPr>
            <a:r>
              <a:rPr sz="2200" b="1">
                <a:solidFill>
                  <a:srgbClr val="466B00"/>
                </a:solidFill>
                <a:latin typeface="Inter"/>
              </a:rPr>
              <a:t>Own data</a:t>
            </a:r>
          </a:p>
        </p:txBody>
      </p:sp>
      <p:sp>
        <p:nvSpPr>
          <p:cNvPr id="12" name="TextBox 11"/>
          <p:cNvSpPr txBox="1"/>
          <p:nvPr/>
        </p:nvSpPr>
        <p:spPr>
          <a:xfrm>
            <a:off x="3721607" y="2624328"/>
            <a:ext cx="7671816" cy="438912"/>
          </a:xfrm>
          <a:prstGeom prst="rect">
            <a:avLst/>
          </a:prstGeom>
          <a:noFill/>
        </p:spPr>
        <p:txBody>
          <a:bodyPr wrap="square" lIns="0" rIns="0" tIns="0" bIns="0" anchor="t">
            <a:noAutofit/>
          </a:bodyPr>
          <a:lstStyle/>
          <a:p>
            <a:pPr algn="l">
              <a:lnSpc>
                <a:spcPct val="104000"/>
              </a:lnSpc>
              <a:spcBef>
                <a:spcPts val="0"/>
              </a:spcBef>
              <a:spcAft>
                <a:spcPts val="0"/>
              </a:spcAft>
            </a:pPr>
            <a:r>
              <a:rPr sz="2200" b="0">
                <a:solidFill>
                  <a:srgbClr val="121610"/>
                </a:solidFill>
                <a:latin typeface="Inter"/>
              </a:rPr>
              <a:t>Pointers need valid memory.</a:t>
            </a:r>
          </a:p>
        </p:txBody>
      </p:sp>
      <p:sp>
        <p:nvSpPr>
          <p:cNvPr id="13" name="Rectangle 12"/>
          <p:cNvSpPr/>
          <p:nvPr/>
        </p:nvSpPr>
        <p:spPr>
          <a:xfrm>
            <a:off x="713232" y="3108960"/>
            <a:ext cx="10799064" cy="621792"/>
          </a:xfrm>
          <a:prstGeom prst="rect">
            <a:avLst/>
          </a:prstGeom>
          <a:solidFill>
            <a:srgbClr val="F0F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41248" y="3246120"/>
            <a:ext cx="2633472" cy="438912"/>
          </a:xfrm>
          <a:prstGeom prst="rect">
            <a:avLst/>
          </a:prstGeom>
          <a:noFill/>
        </p:spPr>
        <p:txBody>
          <a:bodyPr wrap="square" lIns="0" rIns="0" tIns="0" bIns="0" anchor="t">
            <a:noAutofit/>
          </a:bodyPr>
          <a:lstStyle/>
          <a:p>
            <a:pPr algn="l">
              <a:lnSpc>
                <a:spcPct val="104000"/>
              </a:lnSpc>
              <a:spcBef>
                <a:spcPts val="0"/>
              </a:spcBef>
              <a:spcAft>
                <a:spcPts val="0"/>
              </a:spcAft>
            </a:pPr>
            <a:r>
              <a:rPr sz="2200" b="1">
                <a:solidFill>
                  <a:srgbClr val="466B00"/>
                </a:solidFill>
                <a:latin typeface="Inter"/>
              </a:rPr>
              <a:t>Respect scope</a:t>
            </a:r>
          </a:p>
        </p:txBody>
      </p:sp>
      <p:sp>
        <p:nvSpPr>
          <p:cNvPr id="15" name="TextBox 14"/>
          <p:cNvSpPr txBox="1"/>
          <p:nvPr/>
        </p:nvSpPr>
        <p:spPr>
          <a:xfrm>
            <a:off x="3721607" y="3246120"/>
            <a:ext cx="7671816" cy="438912"/>
          </a:xfrm>
          <a:prstGeom prst="rect">
            <a:avLst/>
          </a:prstGeom>
          <a:noFill/>
        </p:spPr>
        <p:txBody>
          <a:bodyPr wrap="square" lIns="0" rIns="0" tIns="0" bIns="0" anchor="t">
            <a:noAutofit/>
          </a:bodyPr>
          <a:lstStyle/>
          <a:p>
            <a:pPr algn="l">
              <a:lnSpc>
                <a:spcPct val="104000"/>
              </a:lnSpc>
              <a:spcBef>
                <a:spcPts val="0"/>
              </a:spcBef>
              <a:spcAft>
                <a:spcPts val="0"/>
              </a:spcAft>
            </a:pPr>
            <a:r>
              <a:rPr sz="2200" b="0">
                <a:solidFill>
                  <a:srgbClr val="121610"/>
                </a:solidFill>
                <a:latin typeface="Inter"/>
              </a:rPr>
              <a:t>Block cooperation requires ordering.</a:t>
            </a:r>
          </a:p>
        </p:txBody>
      </p:sp>
      <p:sp>
        <p:nvSpPr>
          <p:cNvPr id="16" name="TextBox 15"/>
          <p:cNvSpPr txBox="1"/>
          <p:nvPr/>
        </p:nvSpPr>
        <p:spPr>
          <a:xfrm>
            <a:off x="841248" y="3867912"/>
            <a:ext cx="2633472" cy="438912"/>
          </a:xfrm>
          <a:prstGeom prst="rect">
            <a:avLst/>
          </a:prstGeom>
          <a:noFill/>
        </p:spPr>
        <p:txBody>
          <a:bodyPr wrap="square" lIns="0" rIns="0" tIns="0" bIns="0" anchor="t">
            <a:noAutofit/>
          </a:bodyPr>
          <a:lstStyle/>
          <a:p>
            <a:pPr algn="l">
              <a:lnSpc>
                <a:spcPct val="104000"/>
              </a:lnSpc>
              <a:spcBef>
                <a:spcPts val="0"/>
              </a:spcBef>
              <a:spcAft>
                <a:spcPts val="0"/>
              </a:spcAft>
            </a:pPr>
            <a:r>
              <a:rPr sz="2200" b="1">
                <a:solidFill>
                  <a:srgbClr val="466B00"/>
                </a:solidFill>
                <a:latin typeface="Inter"/>
              </a:rPr>
              <a:t>Test edges</a:t>
            </a:r>
          </a:p>
        </p:txBody>
      </p:sp>
      <p:sp>
        <p:nvSpPr>
          <p:cNvPr id="17" name="TextBox 16"/>
          <p:cNvSpPr txBox="1"/>
          <p:nvPr/>
        </p:nvSpPr>
        <p:spPr>
          <a:xfrm>
            <a:off x="3721607" y="3867912"/>
            <a:ext cx="7671816" cy="438912"/>
          </a:xfrm>
          <a:prstGeom prst="rect">
            <a:avLst/>
          </a:prstGeom>
          <a:noFill/>
        </p:spPr>
        <p:txBody>
          <a:bodyPr wrap="square" lIns="0" rIns="0" tIns="0" bIns="0" anchor="t">
            <a:noAutofit/>
          </a:bodyPr>
          <a:lstStyle/>
          <a:p>
            <a:pPr algn="l">
              <a:lnSpc>
                <a:spcPct val="104000"/>
              </a:lnSpc>
              <a:spcBef>
                <a:spcPts val="0"/>
              </a:spcBef>
              <a:spcAft>
                <a:spcPts val="0"/>
              </a:spcAft>
            </a:pPr>
            <a:r>
              <a:rPr sz="2200" b="0">
                <a:solidFill>
                  <a:srgbClr val="121610"/>
                </a:solidFill>
                <a:latin typeface="Inter"/>
              </a:rPr>
              <a:t>Aligned input sizes are not enough.</a:t>
            </a:r>
          </a:p>
        </p:txBody>
      </p:sp>
      <p:sp>
        <p:nvSpPr>
          <p:cNvPr id="18" name="Rectangle 17"/>
          <p:cNvSpPr/>
          <p:nvPr/>
        </p:nvSpPr>
        <p:spPr>
          <a:xfrm>
            <a:off x="713232" y="4352544"/>
            <a:ext cx="10799064" cy="621792"/>
          </a:xfrm>
          <a:prstGeom prst="rect">
            <a:avLst/>
          </a:prstGeom>
          <a:solidFill>
            <a:srgbClr val="F0F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41248" y="4489704"/>
            <a:ext cx="2633472" cy="438912"/>
          </a:xfrm>
          <a:prstGeom prst="rect">
            <a:avLst/>
          </a:prstGeom>
          <a:noFill/>
        </p:spPr>
        <p:txBody>
          <a:bodyPr wrap="square" lIns="0" rIns="0" tIns="0" bIns="0" anchor="t">
            <a:noAutofit/>
          </a:bodyPr>
          <a:lstStyle/>
          <a:p>
            <a:pPr algn="l">
              <a:lnSpc>
                <a:spcPct val="104000"/>
              </a:lnSpc>
              <a:spcBef>
                <a:spcPts val="0"/>
              </a:spcBef>
              <a:spcAft>
                <a:spcPts val="0"/>
              </a:spcAft>
            </a:pPr>
            <a:r>
              <a:rPr sz="2200" b="1">
                <a:solidFill>
                  <a:srgbClr val="466B00"/>
                </a:solidFill>
                <a:latin typeface="Inter"/>
              </a:rPr>
              <a:t>Seek evidence</a:t>
            </a:r>
          </a:p>
        </p:txBody>
      </p:sp>
      <p:sp>
        <p:nvSpPr>
          <p:cNvPr id="20" name="TextBox 19"/>
          <p:cNvSpPr txBox="1"/>
          <p:nvPr/>
        </p:nvSpPr>
        <p:spPr>
          <a:xfrm>
            <a:off x="3721607" y="4489704"/>
            <a:ext cx="7671816" cy="438912"/>
          </a:xfrm>
          <a:prstGeom prst="rect">
            <a:avLst/>
          </a:prstGeom>
          <a:noFill/>
        </p:spPr>
        <p:txBody>
          <a:bodyPr wrap="square" lIns="0" rIns="0" tIns="0" bIns="0" anchor="t">
            <a:noAutofit/>
          </a:bodyPr>
          <a:lstStyle/>
          <a:p>
            <a:pPr algn="l">
              <a:lnSpc>
                <a:spcPct val="104000"/>
              </a:lnSpc>
              <a:spcBef>
                <a:spcPts val="0"/>
              </a:spcBef>
              <a:spcAft>
                <a:spcPts val="0"/>
              </a:spcAft>
            </a:pPr>
            <a:r>
              <a:rPr sz="2200" b="0">
                <a:solidFill>
                  <a:srgbClr val="121610"/>
                </a:solidFill>
                <a:latin typeface="Inter"/>
              </a:rPr>
              <a:t>Predict the accesses, then measure.</a:t>
            </a:r>
          </a:p>
        </p:txBody>
      </p:sp>
      <p:sp>
        <p:nvSpPr>
          <p:cNvPr id="21" name="Rectangle 20"/>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You now have the vocabulary to explain why a CUDA implementation is correct.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NEXT</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Day 2 connects kernels to measured applications</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NVIDIA Figure 8 · §1.2.2.3, p. 11 / PDF p. 29; existing Day 2 course roadmap.</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47</a:t>
            </a:r>
          </a:p>
        </p:txBody>
      </p:sp>
      <p:sp>
        <p:nvSpPr>
          <p:cNvPr id="8" name="TextBox 7"/>
          <p:cNvSpPr txBox="1"/>
          <p:nvPr/>
        </p:nvSpPr>
        <p:spPr>
          <a:xfrm>
            <a:off x="704088" y="1856231"/>
            <a:ext cx="4818888"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MEASURE</a:t>
            </a:r>
          </a:p>
        </p:txBody>
      </p:sp>
      <p:sp>
        <p:nvSpPr>
          <p:cNvPr id="9" name="TextBox 8"/>
          <p:cNvSpPr txBox="1"/>
          <p:nvPr/>
        </p:nvSpPr>
        <p:spPr>
          <a:xfrm>
            <a:off x="704088" y="2167127"/>
            <a:ext cx="4818888" cy="548640"/>
          </a:xfrm>
          <a:prstGeom prst="rect">
            <a:avLst/>
          </a:prstGeom>
          <a:noFill/>
        </p:spPr>
        <p:txBody>
          <a:bodyPr wrap="square" lIns="0" rIns="0" tIns="0" bIns="0" anchor="t">
            <a:noAutofit/>
          </a:bodyPr>
          <a:lstStyle/>
          <a:p>
            <a:pPr algn="l">
              <a:lnSpc>
                <a:spcPct val="114000"/>
              </a:lnSpc>
              <a:spcBef>
                <a:spcPts val="0"/>
              </a:spcBef>
              <a:spcAft>
                <a:spcPts val="0"/>
              </a:spcAft>
            </a:pPr>
            <a:r>
              <a:rPr sz="1900" b="0">
                <a:solidFill>
                  <a:srgbClr val="121610"/>
                </a:solidFill>
                <a:latin typeface="Inter"/>
              </a:rPr>
              <a:t>Warmup, events and timing scope.</a:t>
            </a:r>
          </a:p>
        </p:txBody>
      </p:sp>
      <p:sp>
        <p:nvSpPr>
          <p:cNvPr id="10" name="TextBox 9"/>
          <p:cNvSpPr txBox="1"/>
          <p:nvPr/>
        </p:nvSpPr>
        <p:spPr>
          <a:xfrm>
            <a:off x="704088" y="2724911"/>
            <a:ext cx="4818888"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PIPELINE</a:t>
            </a:r>
          </a:p>
        </p:txBody>
      </p:sp>
      <p:sp>
        <p:nvSpPr>
          <p:cNvPr id="11" name="TextBox 10"/>
          <p:cNvSpPr txBox="1"/>
          <p:nvPr/>
        </p:nvSpPr>
        <p:spPr>
          <a:xfrm>
            <a:off x="704088" y="3035807"/>
            <a:ext cx="4818888" cy="548640"/>
          </a:xfrm>
          <a:prstGeom prst="rect">
            <a:avLst/>
          </a:prstGeom>
          <a:noFill/>
        </p:spPr>
        <p:txBody>
          <a:bodyPr wrap="square" lIns="0" rIns="0" tIns="0" bIns="0" anchor="t">
            <a:noAutofit/>
          </a:bodyPr>
          <a:lstStyle/>
          <a:p>
            <a:pPr algn="l">
              <a:lnSpc>
                <a:spcPct val="114000"/>
              </a:lnSpc>
              <a:spcBef>
                <a:spcPts val="0"/>
              </a:spcBef>
              <a:spcAft>
                <a:spcPts val="0"/>
              </a:spcAft>
            </a:pPr>
            <a:r>
              <a:rPr sz="1900" b="0">
                <a:solidFill>
                  <a:srgbClr val="121610"/>
                </a:solidFill>
                <a:latin typeface="Inter"/>
              </a:rPr>
              <a:t>Persistent buffers and streams.</a:t>
            </a:r>
          </a:p>
        </p:txBody>
      </p:sp>
      <p:sp>
        <p:nvSpPr>
          <p:cNvPr id="12" name="TextBox 11"/>
          <p:cNvSpPr txBox="1"/>
          <p:nvPr/>
        </p:nvSpPr>
        <p:spPr>
          <a:xfrm>
            <a:off x="704088" y="3593591"/>
            <a:ext cx="4818888"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EXTEND</a:t>
            </a:r>
          </a:p>
        </p:txBody>
      </p:sp>
      <p:sp>
        <p:nvSpPr>
          <p:cNvPr id="13" name="TextBox 12"/>
          <p:cNvSpPr txBox="1"/>
          <p:nvPr/>
        </p:nvSpPr>
        <p:spPr>
          <a:xfrm>
            <a:off x="704088" y="3904487"/>
            <a:ext cx="4818888" cy="548640"/>
          </a:xfrm>
          <a:prstGeom prst="rect">
            <a:avLst/>
          </a:prstGeom>
          <a:noFill/>
        </p:spPr>
        <p:txBody>
          <a:bodyPr wrap="square" lIns="0" rIns="0" tIns="0" bIns="0" anchor="t">
            <a:noAutofit/>
          </a:bodyPr>
          <a:lstStyle/>
          <a:p>
            <a:pPr algn="l">
              <a:lnSpc>
                <a:spcPct val="114000"/>
              </a:lnSpc>
              <a:spcBef>
                <a:spcPts val="0"/>
              </a:spcBef>
              <a:spcAft>
                <a:spcPts val="0"/>
              </a:spcAft>
            </a:pPr>
            <a:r>
              <a:rPr sz="1900" b="0">
                <a:solidFill>
                  <a:srgbClr val="121610"/>
                </a:solidFill>
                <a:latin typeface="Inter"/>
              </a:rPr>
              <a:t>MatMul and a library baseline.</a:t>
            </a:r>
          </a:p>
        </p:txBody>
      </p:sp>
      <p:sp>
        <p:nvSpPr>
          <p:cNvPr id="14" name="TextBox 13"/>
          <p:cNvSpPr txBox="1"/>
          <p:nvPr/>
        </p:nvSpPr>
        <p:spPr>
          <a:xfrm>
            <a:off x="704088" y="4462271"/>
            <a:ext cx="4818888"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INTEGRATE</a:t>
            </a:r>
          </a:p>
        </p:txBody>
      </p:sp>
      <p:sp>
        <p:nvSpPr>
          <p:cNvPr id="15" name="TextBox 14"/>
          <p:cNvSpPr txBox="1"/>
          <p:nvPr/>
        </p:nvSpPr>
        <p:spPr>
          <a:xfrm>
            <a:off x="704088" y="4773167"/>
            <a:ext cx="4818888" cy="548640"/>
          </a:xfrm>
          <a:prstGeom prst="rect">
            <a:avLst/>
          </a:prstGeom>
          <a:noFill/>
        </p:spPr>
        <p:txBody>
          <a:bodyPr wrap="square" lIns="0" rIns="0" tIns="0" bIns="0" anchor="t">
            <a:noAutofit/>
          </a:bodyPr>
          <a:lstStyle/>
          <a:p>
            <a:pPr algn="l">
              <a:lnSpc>
                <a:spcPct val="114000"/>
              </a:lnSpc>
              <a:spcBef>
                <a:spcPts val="0"/>
              </a:spcBef>
              <a:spcAft>
                <a:spcPts val="0"/>
              </a:spcAft>
            </a:pPr>
            <a:r>
              <a:rPr sz="1900" b="0">
                <a:solidFill>
                  <a:srgbClr val="121610"/>
                </a:solidFill>
                <a:latin typeface="Inter"/>
              </a:rPr>
              <a:t>Builds, packaging and abstractions.</a:t>
            </a:r>
          </a:p>
        </p:txBody>
      </p:sp>
      <p:sp>
        <p:nvSpPr>
          <p:cNvPr id="16" name="Rectangle 15"/>
          <p:cNvSpPr/>
          <p:nvPr/>
        </p:nvSpPr>
        <p:spPr>
          <a:xfrm>
            <a:off x="6025896" y="2025502"/>
            <a:ext cx="5422392" cy="3026451"/>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ORIGINAL_NVIDIA_fig08_simt_tile_PDF_page_29" descr="NVIDIA Figure 8; CUDA Programming Guide 13.4.2, PDF page 29, printed page 11. Extracted from embedded image xref 898; original colors and aspect ratio preserved."/>
          <p:cNvPicPr>
            <a:picLocks noChangeAspect="1"/>
          </p:cNvPicPr>
          <p:nvPr/>
        </p:nvPicPr>
        <p:blipFill>
          <a:blip r:embed="rId2"/>
          <a:stretch>
            <a:fillRect/>
          </a:stretch>
        </p:blipFill>
        <p:spPr>
          <a:xfrm>
            <a:off x="6025896" y="2025502"/>
            <a:ext cx="5422392" cy="3026451"/>
          </a:xfrm>
          <a:prstGeom prst="rect">
            <a:avLst/>
          </a:prstGeom>
        </p:spPr>
      </p:pic>
      <p:sp>
        <p:nvSpPr>
          <p:cNvPr id="18" name="TextBox 17"/>
          <p:cNvSpPr txBox="1"/>
          <p:nvPr/>
        </p:nvSpPr>
        <p:spPr>
          <a:xfrm>
            <a:off x="6025896" y="5184648"/>
            <a:ext cx="5422392" cy="210312"/>
          </a:xfrm>
          <a:prstGeom prst="rect">
            <a:avLst/>
          </a:prstGeom>
          <a:noFill/>
        </p:spPr>
        <p:txBody>
          <a:bodyPr wrap="square" lIns="0" rIns="0" tIns="0" bIns="0" anchor="t">
            <a:noAutofit/>
          </a:bodyPr>
          <a:lstStyle/>
          <a:p>
            <a:pPr algn="ctr">
              <a:lnSpc>
                <a:spcPct val="114000"/>
              </a:lnSpc>
              <a:spcBef>
                <a:spcPts val="0"/>
              </a:spcBef>
              <a:spcAft>
                <a:spcPts val="0"/>
              </a:spcAft>
            </a:pPr>
            <a:r>
              <a:rPr sz="919" b="0">
                <a:solidFill>
                  <a:srgbClr val="5A6358"/>
                </a:solidFill>
                <a:latin typeface="Inter"/>
              </a:rPr>
              <a:t>NVIDIA Figure 8 · Guide p. 11 / PDF p. 29</a:t>
            </a:r>
          </a:p>
        </p:txBody>
      </p:sp>
      <p:sp>
        <p:nvSpPr>
          <p:cNvPr id="19" name="Rectangle 18"/>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A hand-written shared-memory tiled kernel is still SIMT code—not automatically CUDA Tile.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90C08"/>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C2CBB8"/>
                </a:solidFill>
                <a:latin typeface="Inter"/>
              </a:rPr>
              <a:t>END OF DAY 1</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FFFFFF"/>
                </a:solidFill>
                <a:latin typeface="Inter"/>
              </a:rPr>
              <a:t>Correctness first. Finish with evidence.</a:t>
            </a:r>
          </a:p>
        </p:txBody>
      </p:sp>
      <p:sp>
        <p:nvSpPr>
          <p:cNvPr id="4" name="Rectangle 3"/>
          <p:cNvSpPr/>
          <p:nvPr/>
        </p:nvSpPr>
        <p:spPr>
          <a:xfrm>
            <a:off x="502920" y="6432804"/>
            <a:ext cx="11173968" cy="8229"/>
          </a:xfrm>
          <a:prstGeom prst="rect">
            <a:avLst/>
          </a:prstGeom>
          <a:solidFill>
            <a:srgbClr val="3A45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C2CBB8"/>
                </a:solidFill>
                <a:latin typeface="Inter"/>
              </a:rPr>
              <a:t>Original CUDA cover artwork from PDF p. 1; existing course commands below.</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C2CBB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FFFFFF"/>
                </a:solidFill>
                <a:latin typeface="Inter"/>
              </a:rPr>
              <a:t>48</a:t>
            </a:r>
          </a:p>
        </p:txBody>
      </p:sp>
      <p:sp>
        <p:nvSpPr>
          <p:cNvPr id="8" name="Rectangle 7"/>
          <p:cNvSpPr/>
          <p:nvPr/>
        </p:nvSpPr>
        <p:spPr>
          <a:xfrm>
            <a:off x="722376" y="1799067"/>
            <a:ext cx="4361688" cy="145849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ORIGINAL_NVIDIA_cover_PDF_page_1" descr="CUDA cover artwork; CUDA Programming Guide 13.4.2, PDF page 1, printed page cover. Extracted from embedded image xref 9; original colors and aspect ratio preserved."/>
          <p:cNvPicPr>
            <a:picLocks noChangeAspect="1"/>
          </p:cNvPicPr>
          <p:nvPr/>
        </p:nvPicPr>
        <p:blipFill>
          <a:blip r:embed="rId2"/>
          <a:stretch>
            <a:fillRect/>
          </a:stretch>
        </p:blipFill>
        <p:spPr>
          <a:xfrm>
            <a:off x="722376" y="1799067"/>
            <a:ext cx="4361688" cy="1458496"/>
          </a:xfrm>
          <a:prstGeom prst="rect">
            <a:avLst/>
          </a:prstGeom>
        </p:spPr>
      </p:pic>
      <p:sp>
        <p:nvSpPr>
          <p:cNvPr id="10" name="Rectangle 9"/>
          <p:cNvSpPr/>
          <p:nvPr/>
        </p:nvSpPr>
        <p:spPr>
          <a:xfrm>
            <a:off x="685800" y="3502152"/>
            <a:ext cx="10789920" cy="2029968"/>
          </a:xfrm>
          <a:prstGeom prst="rect">
            <a:avLst/>
          </a:prstGeom>
          <a:solidFill>
            <a:srgbClr val="11170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68680" y="3657600"/>
            <a:ext cx="10424160" cy="210312"/>
          </a:xfrm>
          <a:prstGeom prst="rect">
            <a:avLst/>
          </a:prstGeom>
          <a:noFill/>
        </p:spPr>
        <p:txBody>
          <a:bodyPr wrap="square" lIns="0" rIns="0" tIns="0" bIns="0" anchor="t">
            <a:noAutofit/>
          </a:bodyPr>
          <a:lstStyle/>
          <a:p>
            <a:pPr algn="l">
              <a:lnSpc>
                <a:spcPct val="114000"/>
              </a:lnSpc>
              <a:spcBef>
                <a:spcPts val="0"/>
              </a:spcBef>
              <a:spcAft>
                <a:spcPts val="0"/>
              </a:spcAft>
            </a:pPr>
            <a:r>
              <a:rPr sz="900" b="1">
                <a:solidFill>
                  <a:srgbClr val="76B900"/>
                </a:solidFill>
                <a:latin typeface="Inter"/>
              </a:rPr>
              <a:t>FROM formation/projects/detailed</a:t>
            </a:r>
          </a:p>
        </p:txBody>
      </p:sp>
      <p:sp>
        <p:nvSpPr>
          <p:cNvPr id="12" name="TextBox 11"/>
          <p:cNvSpPr txBox="1"/>
          <p:nvPr/>
        </p:nvSpPr>
        <p:spPr>
          <a:xfrm>
            <a:off x="868680" y="4014216"/>
            <a:ext cx="10424160" cy="1389888"/>
          </a:xfrm>
          <a:prstGeom prst="rect">
            <a:avLst/>
          </a:prstGeom>
          <a:noFill/>
        </p:spPr>
        <p:txBody>
          <a:bodyPr wrap="none" lIns="0" rIns="0" tIns="0" bIns="0">
            <a:noAutofit/>
          </a:bodyPr>
          <a:lstStyle/>
          <a:p>
            <a:pPr>
              <a:lnSpc>
                <a:spcPts val="2039"/>
              </a:lnSpc>
              <a:spcBef>
                <a:spcPts val="0"/>
              </a:spcBef>
              <a:spcAft>
                <a:spcPts val="0"/>
              </a:spcAft>
            </a:pPr>
            <a:r>
              <a:rPr sz="1700">
                <a:solidFill>
                  <a:srgbClr val="EDF3E6"/>
                </a:solidFill>
                <a:latin typeface="DejaVu Sans Mono"/>
              </a:rPr>
              <a:t>bazel</a:t>
            </a:r>
            <a:r>
              <a:rPr sz="1700">
                <a:solidFill>
                  <a:srgbClr val="EDF3E6"/>
                </a:solidFill>
                <a:latin typeface="DejaVu Sans Mono"/>
              </a:rPr>
              <a:t> </a:t>
            </a:r>
            <a:r>
              <a:rPr sz="1700">
                <a:solidFill>
                  <a:srgbClr val="EDF3E6"/>
                </a:solidFill>
                <a:latin typeface="DejaVu Sans Mono"/>
              </a:rPr>
              <a:t>test</a:t>
            </a:r>
            <a:r>
              <a:rPr sz="1700">
                <a:solidFill>
                  <a:srgbClr val="EDF3E6"/>
                </a:solidFill>
                <a:latin typeface="DejaVu Sans Mono"/>
              </a:rPr>
              <a:t> </a:t>
            </a:r>
            <a:r>
              <a:rPr sz="1700">
                <a:solidFill>
                  <a:srgbClr val="EDF3E6"/>
                </a:solidFill>
                <a:latin typeface="DejaVu Sans Mono"/>
              </a:rPr>
              <a:t>//cpp:vector_cpu_test</a:t>
            </a:r>
            <a:r>
              <a:rPr sz="1700">
                <a:solidFill>
                  <a:srgbClr val="EDF3E6"/>
                </a:solidFill>
                <a:latin typeface="DejaVu Sans Mono"/>
              </a:rPr>
              <a:t> </a:t>
            </a:r>
            <a:r>
              <a:rPr sz="1700">
                <a:solidFill>
                  <a:srgbClr val="EDF3E6"/>
                </a:solidFill>
                <a:latin typeface="DejaVu Sans Mono"/>
              </a:rPr>
              <a:t>//gpu:vector_add_test</a:t>
            </a:r>
          </a:p>
          <a:p>
            <a:pPr>
              <a:lnSpc>
                <a:spcPts val="2039"/>
              </a:lnSpc>
              <a:spcBef>
                <a:spcPts val="0"/>
              </a:spcBef>
              <a:spcAft>
                <a:spcPts val="0"/>
              </a:spcAft>
            </a:pPr>
          </a:p>
          <a:p>
            <a:pPr>
              <a:lnSpc>
                <a:spcPts val="2039"/>
              </a:lnSpc>
              <a:spcBef>
                <a:spcPts val="0"/>
              </a:spcBef>
              <a:spcAft>
                <a:spcPts val="0"/>
              </a:spcAft>
            </a:pPr>
            <a:r>
              <a:rPr sz="1700">
                <a:solidFill>
                  <a:srgbClr val="96A58B"/>
                </a:solidFill>
                <a:latin typeface="DejaVu Sans Mono"/>
              </a:rPr>
              <a:t># After installing the existing companion extensions:</a:t>
            </a:r>
          </a:p>
          <a:p>
            <a:pPr>
              <a:lnSpc>
                <a:spcPts val="2039"/>
              </a:lnSpc>
              <a:spcBef>
                <a:spcPts val="0"/>
              </a:spcBef>
              <a:spcAft>
                <a:spcPts val="0"/>
              </a:spcAft>
            </a:pPr>
            <a:r>
              <a:rPr sz="1700">
                <a:solidFill>
                  <a:srgbClr val="EDF3E6"/>
                </a:solidFill>
                <a:latin typeface="DejaVu Sans Mono"/>
              </a:rPr>
              <a:t>bazel</a:t>
            </a:r>
            <a:r>
              <a:rPr sz="1700">
                <a:solidFill>
                  <a:srgbClr val="EDF3E6"/>
                </a:solidFill>
                <a:latin typeface="DejaVu Sans Mono"/>
              </a:rPr>
              <a:t> </a:t>
            </a:r>
            <a:r>
              <a:rPr sz="1700">
                <a:solidFill>
                  <a:srgbClr val="EDF3E6"/>
                </a:solidFill>
                <a:latin typeface="DejaVu Sans Mono"/>
              </a:rPr>
              <a:t>test</a:t>
            </a:r>
            <a:r>
              <a:rPr sz="1700">
                <a:solidFill>
                  <a:srgbClr val="EDF3E6"/>
                </a:solidFill>
                <a:latin typeface="DejaVu Sans Mono"/>
              </a:rPr>
              <a:t> </a:t>
            </a:r>
            <a:r>
              <a:rPr sz="1700">
                <a:solidFill>
                  <a:srgbClr val="EDF3E6"/>
                </a:solidFill>
                <a:latin typeface="DejaVu Sans Mono"/>
              </a:rPr>
              <a:t>//day1_extensions:transpose_test</a:t>
            </a:r>
            <a:r>
              <a:rPr sz="1700">
                <a:solidFill>
                  <a:srgbClr val="EDF3E6"/>
                </a:solidFill>
                <a:latin typeface="DejaVu Sans Mono"/>
              </a:rPr>
              <a:t> </a:t>
            </a:r>
            <a:r>
              <a:rPr sz="1700">
                <a:solidFill>
                  <a:srgbClr val="E0D997"/>
                </a:solidFill>
                <a:latin typeface="DejaVu Sans Mono"/>
              </a:rPr>
              <a:t>\</a:t>
            </a:r>
          </a:p>
          <a:p>
            <a:pPr>
              <a:lnSpc>
                <a:spcPts val="2039"/>
              </a:lnSpc>
              <a:spcBef>
                <a:spcPts val="0"/>
              </a:spcBef>
              <a:spcAft>
                <a:spcPts val="0"/>
              </a:spcAft>
            </a:pPr>
            <a:r>
              <a:rPr sz="1700">
                <a:solidFill>
                  <a:srgbClr val="EDF3E6"/>
                </a:solidFill>
                <a:latin typeface="DejaVu Sans Mono"/>
              </a:rPr>
              <a:t>           </a:t>
            </a:r>
            <a:r>
              <a:rPr sz="1700">
                <a:solidFill>
                  <a:srgbClr val="EDF3E6"/>
                </a:solidFill>
                <a:latin typeface="DejaVu Sans Mono"/>
              </a:rPr>
              <a:t>//day1_extensions:reduction_test</a:t>
            </a:r>
          </a:p>
        </p:txBody>
      </p:sp>
      <p:sp>
        <p:nvSpPr>
          <p:cNvPr id="13" name="Rectangle 12"/>
          <p:cNvSpPr/>
          <p:nvPr/>
        </p:nvSpPr>
        <p:spPr>
          <a:xfrm>
            <a:off x="512064" y="5715000"/>
            <a:ext cx="11173968" cy="338328"/>
          </a:xfrm>
          <a:prstGeom prst="rect">
            <a:avLst/>
          </a:prstGeom>
          <a:solidFill>
            <a:srgbClr val="1923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FFFFFF"/>
                </a:solidFill>
                <a:latin typeface="Inter"/>
              </a:rPr>
              <a:t>Slides 49–54: instructor setup, reference code, timing, answers and source attribution.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APPENDIX / INSTRUCTOR</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Keep source edition, build inputs and runtime separate</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NVIDIA Figure 10 · §1.3.4, p. 17 / PDF p. 35; existing course module boundaries.</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49</a:t>
            </a:r>
          </a:p>
        </p:txBody>
      </p:sp>
      <p:sp>
        <p:nvSpPr>
          <p:cNvPr id="8" name="TextBox 7"/>
          <p:cNvSpPr txBox="1"/>
          <p:nvPr/>
        </p:nvSpPr>
        <p:spPr>
          <a:xfrm>
            <a:off x="731520" y="1837943"/>
            <a:ext cx="6044184"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REFERENCE PROJECT</a:t>
            </a:r>
          </a:p>
        </p:txBody>
      </p:sp>
      <p:sp>
        <p:nvSpPr>
          <p:cNvPr id="9" name="TextBox 8"/>
          <p:cNvSpPr txBox="1"/>
          <p:nvPr/>
        </p:nvSpPr>
        <p:spPr>
          <a:xfrm>
            <a:off x="731520" y="2148839"/>
            <a:ext cx="6044184" cy="576072"/>
          </a:xfrm>
          <a:prstGeom prst="rect">
            <a:avLst/>
          </a:prstGeom>
          <a:noFill/>
        </p:spPr>
        <p:txBody>
          <a:bodyPr wrap="square" lIns="0" rIns="0" tIns="0" bIns="0" anchor="t">
            <a:noAutofit/>
          </a:bodyPr>
          <a:lstStyle/>
          <a:p>
            <a:pPr algn="l">
              <a:lnSpc>
                <a:spcPct val="114000"/>
              </a:lnSpc>
              <a:spcBef>
                <a:spcPts val="0"/>
              </a:spcBef>
              <a:spcAft>
                <a:spcPts val="0"/>
              </a:spcAft>
            </a:pPr>
            <a:r>
              <a:rPr sz="1880" b="0">
                <a:solidFill>
                  <a:srgbClr val="121610"/>
                </a:solidFill>
                <a:latin typeface="Inter"/>
              </a:rPr>
              <a:t>projects/detailed</a:t>
            </a:r>
          </a:p>
        </p:txBody>
      </p:sp>
      <p:sp>
        <p:nvSpPr>
          <p:cNvPr id="10" name="TextBox 9"/>
          <p:cNvSpPr txBox="1"/>
          <p:nvPr/>
        </p:nvSpPr>
        <p:spPr>
          <a:xfrm>
            <a:off x="731520" y="2734056"/>
            <a:ext cx="6044184"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EXERCISE MODULES</a:t>
            </a:r>
          </a:p>
        </p:txBody>
      </p:sp>
      <p:sp>
        <p:nvSpPr>
          <p:cNvPr id="11" name="TextBox 10"/>
          <p:cNvSpPr txBox="1"/>
          <p:nvPr/>
        </p:nvSpPr>
        <p:spPr>
          <a:xfrm>
            <a:off x="731520" y="3044951"/>
            <a:ext cx="6044184" cy="576072"/>
          </a:xfrm>
          <a:prstGeom prst="rect">
            <a:avLst/>
          </a:prstGeom>
          <a:noFill/>
        </p:spPr>
        <p:txBody>
          <a:bodyPr wrap="square" lIns="0" rIns="0" tIns="0" bIns="0" anchor="t">
            <a:noAutofit/>
          </a:bodyPr>
          <a:lstStyle/>
          <a:p>
            <a:pPr algn="l">
              <a:lnSpc>
                <a:spcPct val="114000"/>
              </a:lnSpc>
              <a:spcBef>
                <a:spcPts val="0"/>
              </a:spcBef>
              <a:spcAft>
                <a:spcPts val="0"/>
              </a:spcAft>
            </a:pPr>
            <a:r>
              <a:rPr sz="1880" b="0">
                <a:solidFill>
                  <a:srgbClr val="121610"/>
                </a:solidFill>
                <a:latin typeface="Inter"/>
              </a:rPr>
              <a:t>tp/day1/… and tp/solutions/day1/…</a:t>
            </a:r>
          </a:p>
        </p:txBody>
      </p:sp>
      <p:sp>
        <p:nvSpPr>
          <p:cNvPr id="12" name="TextBox 11"/>
          <p:cNvSpPr txBox="1"/>
          <p:nvPr/>
        </p:nvSpPr>
        <p:spPr>
          <a:xfrm>
            <a:off x="731520" y="3630168"/>
            <a:ext cx="6044184"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EXISTING COMPANION</a:t>
            </a:r>
          </a:p>
        </p:txBody>
      </p:sp>
      <p:sp>
        <p:nvSpPr>
          <p:cNvPr id="13" name="TextBox 12"/>
          <p:cNvSpPr txBox="1"/>
          <p:nvPr/>
        </p:nvSpPr>
        <p:spPr>
          <a:xfrm>
            <a:off x="731520" y="3941063"/>
            <a:ext cx="6044184" cy="576072"/>
          </a:xfrm>
          <a:prstGeom prst="rect">
            <a:avLst/>
          </a:prstGeom>
          <a:noFill/>
        </p:spPr>
        <p:txBody>
          <a:bodyPr wrap="square" lIns="0" rIns="0" tIns="0" bIns="0" anchor="t">
            <a:noAutofit/>
          </a:bodyPr>
          <a:lstStyle/>
          <a:p>
            <a:pPr algn="l">
              <a:lnSpc>
                <a:spcPct val="114000"/>
              </a:lnSpc>
              <a:spcBef>
                <a:spcPts val="0"/>
              </a:spcBef>
              <a:spcAft>
                <a:spcPts val="0"/>
              </a:spcAft>
            </a:pPr>
            <a:r>
              <a:rPr sz="1880" b="0">
                <a:solidFill>
                  <a:srgbClr val="121610"/>
                </a:solidFill>
                <a:latin typeface="Inter"/>
              </a:rPr>
              <a:t>Copy one day1_extensions folder.</a:t>
            </a:r>
          </a:p>
        </p:txBody>
      </p:sp>
      <p:sp>
        <p:nvSpPr>
          <p:cNvPr id="14" name="TextBox 13"/>
          <p:cNvSpPr txBox="1"/>
          <p:nvPr/>
        </p:nvSpPr>
        <p:spPr>
          <a:xfrm>
            <a:off x="731520" y="4526279"/>
            <a:ext cx="6044184"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VERIFY BEFORE TEACHING</a:t>
            </a:r>
          </a:p>
        </p:txBody>
      </p:sp>
      <p:sp>
        <p:nvSpPr>
          <p:cNvPr id="15" name="TextBox 14"/>
          <p:cNvSpPr txBox="1"/>
          <p:nvPr/>
        </p:nvSpPr>
        <p:spPr>
          <a:xfrm>
            <a:off x="731520" y="4837175"/>
            <a:ext cx="6044184" cy="576072"/>
          </a:xfrm>
          <a:prstGeom prst="rect">
            <a:avLst/>
          </a:prstGeom>
          <a:noFill/>
        </p:spPr>
        <p:txBody>
          <a:bodyPr wrap="square" lIns="0" rIns="0" tIns="0" bIns="0" anchor="t">
            <a:noAutofit/>
          </a:bodyPr>
          <a:lstStyle/>
          <a:p>
            <a:pPr algn="l">
              <a:lnSpc>
                <a:spcPct val="114000"/>
              </a:lnSpc>
              <a:spcBef>
                <a:spcPts val="0"/>
              </a:spcBef>
              <a:spcAft>
                <a:spcPts val="0"/>
              </a:spcAft>
            </a:pPr>
            <a:r>
              <a:rPr sz="1880" b="0">
                <a:solidFill>
                  <a:srgbClr val="121610"/>
                </a:solidFill>
                <a:latin typeface="Inter"/>
              </a:rPr>
              <a:t>Driver, GPU, build, tests and diagnostics.</a:t>
            </a:r>
          </a:p>
        </p:txBody>
      </p:sp>
      <p:sp>
        <p:nvSpPr>
          <p:cNvPr id="16" name="Rectangle 15"/>
          <p:cNvSpPr/>
          <p:nvPr/>
        </p:nvSpPr>
        <p:spPr>
          <a:xfrm>
            <a:off x="7936422" y="1837943"/>
            <a:ext cx="2982083" cy="3429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ORIGINAL_NVIDIA_fig10_fatbin_PDF_page_35" descr="NVIDIA Figure 10; CUDA Programming Guide 13.4.2, PDF page 35, printed page 17. Extracted from embedded image xref 947; original colors and aspect ratio preserved."/>
          <p:cNvPicPr>
            <a:picLocks noChangeAspect="1"/>
          </p:cNvPicPr>
          <p:nvPr/>
        </p:nvPicPr>
        <p:blipFill>
          <a:blip r:embed="rId2"/>
          <a:stretch>
            <a:fillRect/>
          </a:stretch>
        </p:blipFill>
        <p:spPr>
          <a:xfrm>
            <a:off x="7936422" y="1837943"/>
            <a:ext cx="2982083" cy="3429000"/>
          </a:xfrm>
          <a:prstGeom prst="rect">
            <a:avLst/>
          </a:prstGeom>
        </p:spPr>
      </p:pic>
      <p:sp>
        <p:nvSpPr>
          <p:cNvPr id="18" name="TextBox 17"/>
          <p:cNvSpPr txBox="1"/>
          <p:nvPr/>
        </p:nvSpPr>
        <p:spPr>
          <a:xfrm>
            <a:off x="7626096" y="5340096"/>
            <a:ext cx="3602736" cy="210312"/>
          </a:xfrm>
          <a:prstGeom prst="rect">
            <a:avLst/>
          </a:prstGeom>
          <a:noFill/>
        </p:spPr>
        <p:txBody>
          <a:bodyPr wrap="square" lIns="0" rIns="0" tIns="0" bIns="0" anchor="t">
            <a:noAutofit/>
          </a:bodyPr>
          <a:lstStyle/>
          <a:p>
            <a:pPr algn="ctr">
              <a:lnSpc>
                <a:spcPct val="114000"/>
              </a:lnSpc>
              <a:spcBef>
                <a:spcPts val="0"/>
              </a:spcBef>
              <a:spcAft>
                <a:spcPts val="0"/>
              </a:spcAft>
            </a:pPr>
            <a:r>
              <a:rPr sz="919" b="0">
                <a:solidFill>
                  <a:srgbClr val="5A6358"/>
                </a:solidFill>
                <a:latin typeface="Inter"/>
              </a:rPr>
              <a:t>NVIDIA Figure 10 · Guide p. 17 / PDF p. 35</a:t>
            </a:r>
          </a:p>
        </p:txBody>
      </p:sp>
      <p:sp>
        <p:nvSpPr>
          <p:cNvPr id="19" name="Rectangle 18"/>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The guide’s fatbin illustration does not identify the exact binaries produced by your build.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APPENDIX / REFERENCE CODE</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The padded shared-memory transpose body</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Retained companion code; NVIDIA transpose concepts §2.3.4.2. This is not an exact guide listing.</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50</a:t>
            </a:r>
          </a:p>
        </p:txBody>
      </p:sp>
      <p:sp>
        <p:nvSpPr>
          <p:cNvPr id="8" name="Rectangle 7"/>
          <p:cNvSpPr/>
          <p:nvPr/>
        </p:nvSpPr>
        <p:spPr>
          <a:xfrm>
            <a:off x="548640" y="1801368"/>
            <a:ext cx="11064240" cy="3803904"/>
          </a:xfrm>
          <a:prstGeom prst="rect">
            <a:avLst/>
          </a:prstGeom>
          <a:solidFill>
            <a:srgbClr val="11170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31520" y="1956816"/>
            <a:ext cx="10698480" cy="210312"/>
          </a:xfrm>
          <a:prstGeom prst="rect">
            <a:avLst/>
          </a:prstGeom>
          <a:noFill/>
        </p:spPr>
        <p:txBody>
          <a:bodyPr wrap="square" lIns="0" rIns="0" tIns="0" bIns="0" anchor="t">
            <a:noAutofit/>
          </a:bodyPr>
          <a:lstStyle/>
          <a:p>
            <a:pPr algn="l">
              <a:lnSpc>
                <a:spcPct val="114000"/>
              </a:lnSpc>
              <a:spcBef>
                <a:spcPts val="0"/>
              </a:spcBef>
              <a:spcAft>
                <a:spcPts val="0"/>
              </a:spcAft>
            </a:pPr>
            <a:r>
              <a:rPr sz="900" b="1">
                <a:solidFill>
                  <a:srgbClr val="76B900"/>
                </a:solidFill>
                <a:latin typeface="Inter"/>
              </a:rPr>
              <a:t>COURSE REFERENCE · dim3(32,8) · NON-ALIASED INPUT/OUTPUT</a:t>
            </a:r>
          </a:p>
        </p:txBody>
      </p:sp>
      <p:sp>
        <p:nvSpPr>
          <p:cNvPr id="10" name="TextBox 9"/>
          <p:cNvSpPr txBox="1"/>
          <p:nvPr/>
        </p:nvSpPr>
        <p:spPr>
          <a:xfrm>
            <a:off x="731520" y="2313432"/>
            <a:ext cx="10698480" cy="3163824"/>
          </a:xfrm>
          <a:prstGeom prst="rect">
            <a:avLst/>
          </a:prstGeom>
          <a:noFill/>
        </p:spPr>
        <p:txBody>
          <a:bodyPr wrap="none" lIns="0" rIns="0" tIns="0" bIns="0">
            <a:noAutofit/>
          </a:bodyPr>
          <a:lstStyle/>
          <a:p>
            <a:pPr>
              <a:lnSpc>
                <a:spcPts val="2030"/>
              </a:lnSpc>
              <a:spcBef>
                <a:spcPts val="0"/>
              </a:spcBef>
              <a:spcAft>
                <a:spcPts val="0"/>
              </a:spcAft>
            </a:pPr>
            <a:r>
              <a:rPr sz="1691">
                <a:solidFill>
                  <a:srgbClr val="EDF3E6"/>
                </a:solidFill>
                <a:latin typeface="DejaVu Sans Mono"/>
              </a:rPr>
              <a:t>__shared__</a:t>
            </a:r>
            <a:r>
              <a:rPr sz="1691">
                <a:solidFill>
                  <a:srgbClr val="EDF3E6"/>
                </a:solidFill>
                <a:latin typeface="DejaVu Sans Mono"/>
              </a:rPr>
              <a:t> </a:t>
            </a:r>
            <a:r>
              <a:rPr sz="1691" b="1">
                <a:solidFill>
                  <a:srgbClr val="AADA57"/>
                </a:solidFill>
                <a:latin typeface="DejaVu Sans Mono"/>
              </a:rPr>
              <a:t>float</a:t>
            </a:r>
            <a:r>
              <a:rPr sz="1691">
                <a:solidFill>
                  <a:srgbClr val="EDF3E6"/>
                </a:solidFill>
                <a:latin typeface="DejaVu Sans Mono"/>
              </a:rPr>
              <a:t> </a:t>
            </a:r>
            <a:r>
              <a:rPr sz="1691">
                <a:solidFill>
                  <a:srgbClr val="EDF3E6"/>
                </a:solidFill>
                <a:latin typeface="DejaVu Sans Mono"/>
              </a:rPr>
              <a:t>tile</a:t>
            </a:r>
            <a:r>
              <a:rPr sz="1691">
                <a:solidFill>
                  <a:srgbClr val="EDF3E6"/>
                </a:solidFill>
                <a:latin typeface="DejaVu Sans Mono"/>
              </a:rPr>
              <a:t>[</a:t>
            </a:r>
            <a:r>
              <a:rPr sz="1691">
                <a:solidFill>
                  <a:srgbClr val="C0E579"/>
                </a:solidFill>
                <a:latin typeface="DejaVu Sans Mono"/>
              </a:rPr>
              <a:t>32</a:t>
            </a:r>
            <a:r>
              <a:rPr sz="1691">
                <a:solidFill>
                  <a:srgbClr val="EDF3E6"/>
                </a:solidFill>
                <a:latin typeface="DejaVu Sans Mono"/>
              </a:rPr>
              <a:t>]</a:t>
            </a:r>
            <a:r>
              <a:rPr sz="1691">
                <a:solidFill>
                  <a:srgbClr val="EDF3E6"/>
                </a:solidFill>
                <a:latin typeface="DejaVu Sans Mono"/>
              </a:rPr>
              <a:t>[</a:t>
            </a:r>
            <a:r>
              <a:rPr sz="1691">
                <a:solidFill>
                  <a:srgbClr val="C0E579"/>
                </a:solidFill>
                <a:latin typeface="DejaVu Sans Mono"/>
              </a:rPr>
              <a:t>33</a:t>
            </a:r>
            <a:r>
              <a:rPr sz="1691">
                <a:solidFill>
                  <a:srgbClr val="EDF3E6"/>
                </a:solidFill>
                <a:latin typeface="DejaVu Sans Mono"/>
              </a:rPr>
              <a:t>]</a:t>
            </a:r>
            <a:r>
              <a:rPr sz="1691">
                <a:solidFill>
                  <a:srgbClr val="EDF3E6"/>
                </a:solidFill>
                <a:latin typeface="DejaVu Sans Mono"/>
              </a:rPr>
              <a:t>;</a:t>
            </a:r>
          </a:p>
          <a:p>
            <a:pPr>
              <a:lnSpc>
                <a:spcPts val="2030"/>
              </a:lnSpc>
              <a:spcBef>
                <a:spcPts val="0"/>
              </a:spcBef>
              <a:spcAft>
                <a:spcPts val="0"/>
              </a:spcAft>
            </a:pPr>
            <a:r>
              <a:rPr sz="1691" b="1">
                <a:solidFill>
                  <a:srgbClr val="AADA57"/>
                </a:solidFill>
                <a:latin typeface="DejaVu Sans Mono"/>
              </a:rPr>
              <a:t>int</a:t>
            </a:r>
            <a:r>
              <a:rPr sz="1691">
                <a:solidFill>
                  <a:srgbClr val="EDF3E6"/>
                </a:solidFill>
                <a:latin typeface="DejaVu Sans Mono"/>
              </a:rPr>
              <a:t> </a:t>
            </a:r>
            <a:r>
              <a:rPr sz="1691">
                <a:solidFill>
                  <a:srgbClr val="EDF3E6"/>
                </a:solidFill>
                <a:latin typeface="DejaVu Sans Mono"/>
              </a:rPr>
              <a:t>x</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blockIdx</a:t>
            </a:r>
            <a:r>
              <a:rPr sz="1691">
                <a:solidFill>
                  <a:srgbClr val="EDF3E6"/>
                </a:solidFill>
                <a:latin typeface="DejaVu Sans Mono"/>
              </a:rPr>
              <a:t>.</a:t>
            </a:r>
            <a:r>
              <a:rPr sz="1691">
                <a:solidFill>
                  <a:srgbClr val="EDF3E6"/>
                </a:solidFill>
                <a:latin typeface="DejaVu Sans Mono"/>
              </a:rPr>
              <a:t>x</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C0E579"/>
                </a:solidFill>
                <a:latin typeface="DejaVu Sans Mono"/>
              </a:rPr>
              <a:t>32</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threadIdx</a:t>
            </a:r>
            <a:r>
              <a:rPr sz="1691">
                <a:solidFill>
                  <a:srgbClr val="EDF3E6"/>
                </a:solidFill>
                <a:latin typeface="DejaVu Sans Mono"/>
              </a:rPr>
              <a:t>.</a:t>
            </a:r>
            <a:r>
              <a:rPr sz="1691">
                <a:solidFill>
                  <a:srgbClr val="EDF3E6"/>
                </a:solidFill>
                <a:latin typeface="DejaVu Sans Mono"/>
              </a:rPr>
              <a:t>x</a:t>
            </a:r>
            <a:r>
              <a:rPr sz="1691">
                <a:solidFill>
                  <a:srgbClr val="EDF3E6"/>
                </a:solidFill>
                <a:latin typeface="DejaVu Sans Mono"/>
              </a:rPr>
              <a:t>;</a:t>
            </a:r>
          </a:p>
          <a:p>
            <a:pPr>
              <a:lnSpc>
                <a:spcPts val="2030"/>
              </a:lnSpc>
              <a:spcBef>
                <a:spcPts val="0"/>
              </a:spcBef>
              <a:spcAft>
                <a:spcPts val="0"/>
              </a:spcAft>
            </a:pPr>
            <a:r>
              <a:rPr sz="1691" b="1">
                <a:solidFill>
                  <a:srgbClr val="AADA57"/>
                </a:solidFill>
                <a:latin typeface="DejaVu Sans Mono"/>
              </a:rPr>
              <a:t>int</a:t>
            </a:r>
            <a:r>
              <a:rPr sz="1691">
                <a:solidFill>
                  <a:srgbClr val="EDF3E6"/>
                </a:solidFill>
                <a:latin typeface="DejaVu Sans Mono"/>
              </a:rPr>
              <a:t> </a:t>
            </a:r>
            <a:r>
              <a:rPr sz="1691">
                <a:solidFill>
                  <a:srgbClr val="EDF3E6"/>
                </a:solidFill>
                <a:latin typeface="DejaVu Sans Mono"/>
              </a:rPr>
              <a:t>y</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blockIdx</a:t>
            </a:r>
            <a:r>
              <a:rPr sz="1691">
                <a:solidFill>
                  <a:srgbClr val="EDF3E6"/>
                </a:solidFill>
                <a:latin typeface="DejaVu Sans Mono"/>
              </a:rPr>
              <a:t>.</a:t>
            </a:r>
            <a:r>
              <a:rPr sz="1691">
                <a:solidFill>
                  <a:srgbClr val="EDF3E6"/>
                </a:solidFill>
                <a:latin typeface="DejaVu Sans Mono"/>
              </a:rPr>
              <a:t>y</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C0E579"/>
                </a:solidFill>
                <a:latin typeface="DejaVu Sans Mono"/>
              </a:rPr>
              <a:t>32</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threadIdx</a:t>
            </a:r>
            <a:r>
              <a:rPr sz="1691">
                <a:solidFill>
                  <a:srgbClr val="EDF3E6"/>
                </a:solidFill>
                <a:latin typeface="DejaVu Sans Mono"/>
              </a:rPr>
              <a:t>.</a:t>
            </a:r>
            <a:r>
              <a:rPr sz="1691">
                <a:solidFill>
                  <a:srgbClr val="EDF3E6"/>
                </a:solidFill>
                <a:latin typeface="DejaVu Sans Mono"/>
              </a:rPr>
              <a:t>y</a:t>
            </a:r>
            <a:r>
              <a:rPr sz="1691">
                <a:solidFill>
                  <a:srgbClr val="EDF3E6"/>
                </a:solidFill>
                <a:latin typeface="DejaVu Sans Mono"/>
              </a:rPr>
              <a:t>;</a:t>
            </a:r>
          </a:p>
          <a:p>
            <a:pPr>
              <a:lnSpc>
                <a:spcPts val="2030"/>
              </a:lnSpc>
              <a:spcBef>
                <a:spcPts val="0"/>
              </a:spcBef>
              <a:spcAft>
                <a:spcPts val="0"/>
              </a:spcAft>
            </a:pPr>
            <a:r>
              <a:rPr sz="1691" b="1">
                <a:solidFill>
                  <a:srgbClr val="AADA57"/>
                </a:solidFill>
                <a:latin typeface="DejaVu Sans Mono"/>
              </a:rPr>
              <a:t>for</a:t>
            </a:r>
            <a:r>
              <a:rPr sz="1691">
                <a:solidFill>
                  <a:srgbClr val="EDF3E6"/>
                </a:solidFill>
                <a:latin typeface="DejaVu Sans Mono"/>
              </a:rPr>
              <a:t> </a:t>
            </a:r>
            <a:r>
              <a:rPr sz="1691">
                <a:solidFill>
                  <a:srgbClr val="EDF3E6"/>
                </a:solidFill>
                <a:latin typeface="DejaVu Sans Mono"/>
              </a:rPr>
              <a:t>(</a:t>
            </a:r>
            <a:r>
              <a:rPr sz="1691" b="1">
                <a:solidFill>
                  <a:srgbClr val="AADA57"/>
                </a:solidFill>
                <a:latin typeface="DejaVu Sans Mono"/>
              </a:rPr>
              <a:t>int</a:t>
            </a:r>
            <a:r>
              <a:rPr sz="1691">
                <a:solidFill>
                  <a:srgbClr val="EDF3E6"/>
                </a:solidFill>
                <a:latin typeface="DejaVu Sans Mono"/>
              </a:rPr>
              <a:t> </a:t>
            </a:r>
            <a:r>
              <a:rPr sz="1691">
                <a:solidFill>
                  <a:srgbClr val="EDF3E6"/>
                </a:solidFill>
                <a:latin typeface="DejaVu Sans Mono"/>
              </a:rPr>
              <a:t>j</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C0E579"/>
                </a:solidFill>
                <a:latin typeface="DejaVu Sans Mono"/>
              </a:rPr>
              <a:t>0</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j</a:t>
            </a:r>
            <a:r>
              <a:rPr sz="1691">
                <a:solidFill>
                  <a:srgbClr val="EDF3E6"/>
                </a:solidFill>
                <a:latin typeface="DejaVu Sans Mono"/>
              </a:rPr>
              <a:t> </a:t>
            </a:r>
            <a:r>
              <a:rPr sz="1691">
                <a:solidFill>
                  <a:srgbClr val="EDF3E6"/>
                </a:solidFill>
                <a:latin typeface="DejaVu Sans Mono"/>
              </a:rPr>
              <a:t>&lt;</a:t>
            </a:r>
            <a:r>
              <a:rPr sz="1691">
                <a:solidFill>
                  <a:srgbClr val="EDF3E6"/>
                </a:solidFill>
                <a:latin typeface="DejaVu Sans Mono"/>
              </a:rPr>
              <a:t> </a:t>
            </a:r>
            <a:r>
              <a:rPr sz="1691">
                <a:solidFill>
                  <a:srgbClr val="C0E579"/>
                </a:solidFill>
                <a:latin typeface="DejaVu Sans Mono"/>
              </a:rPr>
              <a:t>32</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j</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a:t>
            </a:r>
            <a:r>
              <a:rPr sz="1691">
                <a:solidFill>
                  <a:srgbClr val="EDF3E6"/>
                </a:solidFill>
                <a:latin typeface="DejaVu Sans Mono"/>
              </a:rPr>
              <a:t> </a:t>
            </a:r>
            <a:r>
              <a:rPr sz="1691">
                <a:solidFill>
                  <a:srgbClr val="C0E579"/>
                </a:solidFill>
                <a:latin typeface="DejaVu Sans Mono"/>
              </a:rPr>
              <a:t>8</a:t>
            </a:r>
            <a:r>
              <a:rPr sz="1691">
                <a:solidFill>
                  <a:srgbClr val="EDF3E6"/>
                </a:solidFill>
                <a:latin typeface="DejaVu Sans Mono"/>
              </a:rPr>
              <a:t>)</a:t>
            </a:r>
          </a:p>
          <a:p>
            <a:pPr>
              <a:lnSpc>
                <a:spcPts val="2030"/>
              </a:lnSpc>
              <a:spcBef>
                <a:spcPts val="0"/>
              </a:spcBef>
              <a:spcAft>
                <a:spcPts val="0"/>
              </a:spcAft>
            </a:pPr>
            <a:r>
              <a:rPr sz="1691">
                <a:solidFill>
                  <a:srgbClr val="EDF3E6"/>
                </a:solidFill>
                <a:latin typeface="DejaVu Sans Mono"/>
              </a:rPr>
              <a:t>  </a:t>
            </a:r>
            <a:r>
              <a:rPr sz="1691" b="1">
                <a:solidFill>
                  <a:srgbClr val="AADA57"/>
                </a:solidFill>
                <a:latin typeface="DejaVu Sans Mono"/>
              </a:rPr>
              <a:t>if</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x</a:t>
            </a:r>
            <a:r>
              <a:rPr sz="1691">
                <a:solidFill>
                  <a:srgbClr val="EDF3E6"/>
                </a:solidFill>
                <a:latin typeface="DejaVu Sans Mono"/>
              </a:rPr>
              <a:t> </a:t>
            </a:r>
            <a:r>
              <a:rPr sz="1691">
                <a:solidFill>
                  <a:srgbClr val="EDF3E6"/>
                </a:solidFill>
                <a:latin typeface="DejaVu Sans Mono"/>
              </a:rPr>
              <a:t>&lt;</a:t>
            </a:r>
            <a:r>
              <a:rPr sz="1691">
                <a:solidFill>
                  <a:srgbClr val="EDF3E6"/>
                </a:solidFill>
                <a:latin typeface="DejaVu Sans Mono"/>
              </a:rPr>
              <a:t> </a:t>
            </a:r>
            <a:r>
              <a:rPr sz="1691">
                <a:solidFill>
                  <a:srgbClr val="EDF3E6"/>
                </a:solidFill>
                <a:latin typeface="DejaVu Sans Mono"/>
              </a:rPr>
              <a:t>cols</a:t>
            </a:r>
            <a:r>
              <a:rPr sz="1691">
                <a:solidFill>
                  <a:srgbClr val="EDF3E6"/>
                </a:solidFill>
                <a:latin typeface="DejaVu Sans Mono"/>
              </a:rPr>
              <a:t> </a:t>
            </a:r>
            <a:r>
              <a:rPr sz="1691">
                <a:solidFill>
                  <a:srgbClr val="EDF3E6"/>
                </a:solidFill>
                <a:latin typeface="DejaVu Sans Mono"/>
              </a:rPr>
              <a:t>&amp;</a:t>
            </a:r>
            <a:r>
              <a:rPr sz="1691">
                <a:solidFill>
                  <a:srgbClr val="EDF3E6"/>
                </a:solidFill>
                <a:latin typeface="DejaVu Sans Mono"/>
              </a:rPr>
              <a:t>&amp;</a:t>
            </a:r>
            <a:r>
              <a:rPr sz="1691">
                <a:solidFill>
                  <a:srgbClr val="EDF3E6"/>
                </a:solidFill>
                <a:latin typeface="DejaVu Sans Mono"/>
              </a:rPr>
              <a:t> </a:t>
            </a:r>
            <a:r>
              <a:rPr sz="1691">
                <a:solidFill>
                  <a:srgbClr val="EDF3E6"/>
                </a:solidFill>
                <a:latin typeface="DejaVu Sans Mono"/>
              </a:rPr>
              <a:t>y</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j</a:t>
            </a:r>
            <a:r>
              <a:rPr sz="1691">
                <a:solidFill>
                  <a:srgbClr val="EDF3E6"/>
                </a:solidFill>
                <a:latin typeface="DejaVu Sans Mono"/>
              </a:rPr>
              <a:t> </a:t>
            </a:r>
            <a:r>
              <a:rPr sz="1691">
                <a:solidFill>
                  <a:srgbClr val="EDF3E6"/>
                </a:solidFill>
                <a:latin typeface="DejaVu Sans Mono"/>
              </a:rPr>
              <a:t>&lt;</a:t>
            </a:r>
            <a:r>
              <a:rPr sz="1691">
                <a:solidFill>
                  <a:srgbClr val="EDF3E6"/>
                </a:solidFill>
                <a:latin typeface="DejaVu Sans Mono"/>
              </a:rPr>
              <a:t> </a:t>
            </a:r>
            <a:r>
              <a:rPr sz="1691">
                <a:solidFill>
                  <a:srgbClr val="EDF3E6"/>
                </a:solidFill>
                <a:latin typeface="DejaVu Sans Mono"/>
              </a:rPr>
              <a:t>rows</a:t>
            </a:r>
            <a:r>
              <a:rPr sz="1691">
                <a:solidFill>
                  <a:srgbClr val="EDF3E6"/>
                </a:solidFill>
                <a:latin typeface="DejaVu Sans Mono"/>
              </a:rPr>
              <a:t>)</a:t>
            </a:r>
          </a:p>
          <a:p>
            <a:pPr>
              <a:lnSpc>
                <a:spcPts val="2030"/>
              </a:lnSpc>
              <a:spcBef>
                <a:spcPts val="0"/>
              </a:spcBef>
              <a:spcAft>
                <a:spcPts val="0"/>
              </a:spcAft>
            </a:pPr>
            <a:r>
              <a:rPr sz="1691">
                <a:solidFill>
                  <a:srgbClr val="EDF3E6"/>
                </a:solidFill>
                <a:latin typeface="DejaVu Sans Mono"/>
              </a:rPr>
              <a:t>    </a:t>
            </a:r>
            <a:r>
              <a:rPr sz="1691">
                <a:solidFill>
                  <a:srgbClr val="EDF3E6"/>
                </a:solidFill>
                <a:latin typeface="DejaVu Sans Mono"/>
              </a:rPr>
              <a:t>tile</a:t>
            </a:r>
            <a:r>
              <a:rPr sz="1691">
                <a:solidFill>
                  <a:srgbClr val="EDF3E6"/>
                </a:solidFill>
                <a:latin typeface="DejaVu Sans Mono"/>
              </a:rPr>
              <a:t>[</a:t>
            </a:r>
            <a:r>
              <a:rPr sz="1691">
                <a:solidFill>
                  <a:srgbClr val="EDF3E6"/>
                </a:solidFill>
                <a:latin typeface="DejaVu Sans Mono"/>
              </a:rPr>
              <a:t>threadIdx</a:t>
            </a:r>
            <a:r>
              <a:rPr sz="1691">
                <a:solidFill>
                  <a:srgbClr val="EDF3E6"/>
                </a:solidFill>
                <a:latin typeface="DejaVu Sans Mono"/>
              </a:rPr>
              <a:t>.</a:t>
            </a:r>
            <a:r>
              <a:rPr sz="1691">
                <a:solidFill>
                  <a:srgbClr val="EDF3E6"/>
                </a:solidFill>
                <a:latin typeface="DejaVu Sans Mono"/>
              </a:rPr>
              <a:t>y</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j</a:t>
            </a:r>
            <a:r>
              <a:rPr sz="1691">
                <a:solidFill>
                  <a:srgbClr val="EDF3E6"/>
                </a:solidFill>
                <a:latin typeface="DejaVu Sans Mono"/>
              </a:rPr>
              <a:t>]</a:t>
            </a:r>
            <a:r>
              <a:rPr sz="1691">
                <a:solidFill>
                  <a:srgbClr val="EDF3E6"/>
                </a:solidFill>
                <a:latin typeface="DejaVu Sans Mono"/>
              </a:rPr>
              <a:t>[</a:t>
            </a:r>
            <a:r>
              <a:rPr sz="1691">
                <a:solidFill>
                  <a:srgbClr val="EDF3E6"/>
                </a:solidFill>
                <a:latin typeface="DejaVu Sans Mono"/>
              </a:rPr>
              <a:t>threadIdx</a:t>
            </a:r>
            <a:r>
              <a:rPr sz="1691">
                <a:solidFill>
                  <a:srgbClr val="EDF3E6"/>
                </a:solidFill>
                <a:latin typeface="DejaVu Sans Mono"/>
              </a:rPr>
              <a:t>.</a:t>
            </a:r>
            <a:r>
              <a:rPr sz="1691">
                <a:solidFill>
                  <a:srgbClr val="EDF3E6"/>
                </a:solidFill>
                <a:latin typeface="DejaVu Sans Mono"/>
              </a:rPr>
              <a:t>x</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in</a:t>
            </a:r>
            <a:r>
              <a:rPr sz="1691">
                <a:solidFill>
                  <a:srgbClr val="EDF3E6"/>
                </a:solidFill>
                <a:latin typeface="DejaVu Sans Mono"/>
              </a:rPr>
              <a:t>[</a:t>
            </a:r>
            <a:r>
              <a:rPr sz="1691">
                <a:solidFill>
                  <a:srgbClr val="EDF3E6"/>
                </a:solidFill>
                <a:latin typeface="DejaVu Sans Mono"/>
              </a:rPr>
              <a:t>(</a:t>
            </a:r>
            <a:r>
              <a:rPr sz="1691">
                <a:solidFill>
                  <a:srgbClr val="EDF3E6"/>
                </a:solidFill>
                <a:latin typeface="DejaVu Sans Mono"/>
              </a:rPr>
              <a:t>y</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j</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cols</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x</a:t>
            </a:r>
            <a:r>
              <a:rPr sz="1691">
                <a:solidFill>
                  <a:srgbClr val="EDF3E6"/>
                </a:solidFill>
                <a:latin typeface="DejaVu Sans Mono"/>
              </a:rPr>
              <a:t>]</a:t>
            </a:r>
            <a:r>
              <a:rPr sz="1691">
                <a:solidFill>
                  <a:srgbClr val="EDF3E6"/>
                </a:solidFill>
                <a:latin typeface="DejaVu Sans Mono"/>
              </a:rPr>
              <a:t>;</a:t>
            </a:r>
          </a:p>
          <a:p>
            <a:pPr>
              <a:lnSpc>
                <a:spcPts val="2030"/>
              </a:lnSpc>
              <a:spcBef>
                <a:spcPts val="0"/>
              </a:spcBef>
              <a:spcAft>
                <a:spcPts val="0"/>
              </a:spcAft>
            </a:pPr>
            <a:r>
              <a:rPr sz="1691">
                <a:solidFill>
                  <a:srgbClr val="EDF3E6"/>
                </a:solidFill>
                <a:latin typeface="DejaVu Sans Mono"/>
              </a:rPr>
              <a:t>__syncthreads</a:t>
            </a:r>
            <a:r>
              <a:rPr sz="1691">
                <a:solidFill>
                  <a:srgbClr val="EDF3E6"/>
                </a:solidFill>
                <a:latin typeface="DejaVu Sans Mono"/>
              </a:rPr>
              <a:t>(</a:t>
            </a:r>
            <a:r>
              <a:rPr sz="1691">
                <a:solidFill>
                  <a:srgbClr val="EDF3E6"/>
                </a:solidFill>
                <a:latin typeface="DejaVu Sans Mono"/>
              </a:rPr>
              <a:t>)</a:t>
            </a:r>
            <a:r>
              <a:rPr sz="1691">
                <a:solidFill>
                  <a:srgbClr val="EDF3E6"/>
                </a:solidFill>
                <a:latin typeface="DejaVu Sans Mono"/>
              </a:rPr>
              <a:t>;</a:t>
            </a:r>
          </a:p>
          <a:p>
            <a:pPr>
              <a:lnSpc>
                <a:spcPts val="2030"/>
              </a:lnSpc>
              <a:spcBef>
                <a:spcPts val="0"/>
              </a:spcBef>
              <a:spcAft>
                <a:spcPts val="0"/>
              </a:spcAft>
            </a:pPr>
            <a:r>
              <a:rPr sz="1691">
                <a:solidFill>
                  <a:srgbClr val="EDF3E6"/>
                </a:solidFill>
                <a:latin typeface="DejaVu Sans Mono"/>
              </a:rPr>
              <a:t>x</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blockIdx</a:t>
            </a:r>
            <a:r>
              <a:rPr sz="1691">
                <a:solidFill>
                  <a:srgbClr val="EDF3E6"/>
                </a:solidFill>
                <a:latin typeface="DejaVu Sans Mono"/>
              </a:rPr>
              <a:t>.</a:t>
            </a:r>
            <a:r>
              <a:rPr sz="1691">
                <a:solidFill>
                  <a:srgbClr val="EDF3E6"/>
                </a:solidFill>
                <a:latin typeface="DejaVu Sans Mono"/>
              </a:rPr>
              <a:t>y</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C0E579"/>
                </a:solidFill>
                <a:latin typeface="DejaVu Sans Mono"/>
              </a:rPr>
              <a:t>32</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threadIdx</a:t>
            </a:r>
            <a:r>
              <a:rPr sz="1691">
                <a:solidFill>
                  <a:srgbClr val="EDF3E6"/>
                </a:solidFill>
                <a:latin typeface="DejaVu Sans Mono"/>
              </a:rPr>
              <a:t>.</a:t>
            </a:r>
            <a:r>
              <a:rPr sz="1691">
                <a:solidFill>
                  <a:srgbClr val="EDF3E6"/>
                </a:solidFill>
                <a:latin typeface="DejaVu Sans Mono"/>
              </a:rPr>
              <a:t>x</a:t>
            </a:r>
            <a:r>
              <a:rPr sz="1691">
                <a:solidFill>
                  <a:srgbClr val="EDF3E6"/>
                </a:solidFill>
                <a:latin typeface="DejaVu Sans Mono"/>
              </a:rPr>
              <a:t>;</a:t>
            </a:r>
          </a:p>
          <a:p>
            <a:pPr>
              <a:lnSpc>
                <a:spcPts val="2030"/>
              </a:lnSpc>
              <a:spcBef>
                <a:spcPts val="0"/>
              </a:spcBef>
              <a:spcAft>
                <a:spcPts val="0"/>
              </a:spcAft>
            </a:pPr>
            <a:r>
              <a:rPr sz="1691">
                <a:solidFill>
                  <a:srgbClr val="EDF3E6"/>
                </a:solidFill>
                <a:latin typeface="DejaVu Sans Mono"/>
              </a:rPr>
              <a:t>y</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blockIdx</a:t>
            </a:r>
            <a:r>
              <a:rPr sz="1691">
                <a:solidFill>
                  <a:srgbClr val="EDF3E6"/>
                </a:solidFill>
                <a:latin typeface="DejaVu Sans Mono"/>
              </a:rPr>
              <a:t>.</a:t>
            </a:r>
            <a:r>
              <a:rPr sz="1691">
                <a:solidFill>
                  <a:srgbClr val="EDF3E6"/>
                </a:solidFill>
                <a:latin typeface="DejaVu Sans Mono"/>
              </a:rPr>
              <a:t>x</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C0E579"/>
                </a:solidFill>
                <a:latin typeface="DejaVu Sans Mono"/>
              </a:rPr>
              <a:t>32</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threadIdx</a:t>
            </a:r>
            <a:r>
              <a:rPr sz="1691">
                <a:solidFill>
                  <a:srgbClr val="EDF3E6"/>
                </a:solidFill>
                <a:latin typeface="DejaVu Sans Mono"/>
              </a:rPr>
              <a:t>.</a:t>
            </a:r>
            <a:r>
              <a:rPr sz="1691">
                <a:solidFill>
                  <a:srgbClr val="EDF3E6"/>
                </a:solidFill>
                <a:latin typeface="DejaVu Sans Mono"/>
              </a:rPr>
              <a:t>y</a:t>
            </a:r>
            <a:r>
              <a:rPr sz="1691">
                <a:solidFill>
                  <a:srgbClr val="EDF3E6"/>
                </a:solidFill>
                <a:latin typeface="DejaVu Sans Mono"/>
              </a:rPr>
              <a:t>;</a:t>
            </a:r>
          </a:p>
          <a:p>
            <a:pPr>
              <a:lnSpc>
                <a:spcPts val="2030"/>
              </a:lnSpc>
              <a:spcBef>
                <a:spcPts val="0"/>
              </a:spcBef>
              <a:spcAft>
                <a:spcPts val="0"/>
              </a:spcAft>
            </a:pPr>
            <a:r>
              <a:rPr sz="1691" b="1">
                <a:solidFill>
                  <a:srgbClr val="AADA57"/>
                </a:solidFill>
                <a:latin typeface="DejaVu Sans Mono"/>
              </a:rPr>
              <a:t>for</a:t>
            </a:r>
            <a:r>
              <a:rPr sz="1691">
                <a:solidFill>
                  <a:srgbClr val="EDF3E6"/>
                </a:solidFill>
                <a:latin typeface="DejaVu Sans Mono"/>
              </a:rPr>
              <a:t> </a:t>
            </a:r>
            <a:r>
              <a:rPr sz="1691">
                <a:solidFill>
                  <a:srgbClr val="EDF3E6"/>
                </a:solidFill>
                <a:latin typeface="DejaVu Sans Mono"/>
              </a:rPr>
              <a:t>(</a:t>
            </a:r>
            <a:r>
              <a:rPr sz="1691" b="1">
                <a:solidFill>
                  <a:srgbClr val="AADA57"/>
                </a:solidFill>
                <a:latin typeface="DejaVu Sans Mono"/>
              </a:rPr>
              <a:t>int</a:t>
            </a:r>
            <a:r>
              <a:rPr sz="1691">
                <a:solidFill>
                  <a:srgbClr val="EDF3E6"/>
                </a:solidFill>
                <a:latin typeface="DejaVu Sans Mono"/>
              </a:rPr>
              <a:t> </a:t>
            </a:r>
            <a:r>
              <a:rPr sz="1691">
                <a:solidFill>
                  <a:srgbClr val="EDF3E6"/>
                </a:solidFill>
                <a:latin typeface="DejaVu Sans Mono"/>
              </a:rPr>
              <a:t>j</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C0E579"/>
                </a:solidFill>
                <a:latin typeface="DejaVu Sans Mono"/>
              </a:rPr>
              <a:t>0</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j</a:t>
            </a:r>
            <a:r>
              <a:rPr sz="1691">
                <a:solidFill>
                  <a:srgbClr val="EDF3E6"/>
                </a:solidFill>
                <a:latin typeface="DejaVu Sans Mono"/>
              </a:rPr>
              <a:t> </a:t>
            </a:r>
            <a:r>
              <a:rPr sz="1691">
                <a:solidFill>
                  <a:srgbClr val="EDF3E6"/>
                </a:solidFill>
                <a:latin typeface="DejaVu Sans Mono"/>
              </a:rPr>
              <a:t>&lt;</a:t>
            </a:r>
            <a:r>
              <a:rPr sz="1691">
                <a:solidFill>
                  <a:srgbClr val="EDF3E6"/>
                </a:solidFill>
                <a:latin typeface="DejaVu Sans Mono"/>
              </a:rPr>
              <a:t> </a:t>
            </a:r>
            <a:r>
              <a:rPr sz="1691">
                <a:solidFill>
                  <a:srgbClr val="C0E579"/>
                </a:solidFill>
                <a:latin typeface="DejaVu Sans Mono"/>
              </a:rPr>
              <a:t>32</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j</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a:t>
            </a:r>
            <a:r>
              <a:rPr sz="1691">
                <a:solidFill>
                  <a:srgbClr val="EDF3E6"/>
                </a:solidFill>
                <a:latin typeface="DejaVu Sans Mono"/>
              </a:rPr>
              <a:t> </a:t>
            </a:r>
            <a:r>
              <a:rPr sz="1691">
                <a:solidFill>
                  <a:srgbClr val="C0E579"/>
                </a:solidFill>
                <a:latin typeface="DejaVu Sans Mono"/>
              </a:rPr>
              <a:t>8</a:t>
            </a:r>
            <a:r>
              <a:rPr sz="1691">
                <a:solidFill>
                  <a:srgbClr val="EDF3E6"/>
                </a:solidFill>
                <a:latin typeface="DejaVu Sans Mono"/>
              </a:rPr>
              <a:t>)</a:t>
            </a:r>
          </a:p>
          <a:p>
            <a:pPr>
              <a:lnSpc>
                <a:spcPts val="2030"/>
              </a:lnSpc>
              <a:spcBef>
                <a:spcPts val="0"/>
              </a:spcBef>
              <a:spcAft>
                <a:spcPts val="0"/>
              </a:spcAft>
            </a:pPr>
            <a:r>
              <a:rPr sz="1691">
                <a:solidFill>
                  <a:srgbClr val="EDF3E6"/>
                </a:solidFill>
                <a:latin typeface="DejaVu Sans Mono"/>
              </a:rPr>
              <a:t>  </a:t>
            </a:r>
            <a:r>
              <a:rPr sz="1691" b="1">
                <a:solidFill>
                  <a:srgbClr val="AADA57"/>
                </a:solidFill>
                <a:latin typeface="DejaVu Sans Mono"/>
              </a:rPr>
              <a:t>if</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x</a:t>
            </a:r>
            <a:r>
              <a:rPr sz="1691">
                <a:solidFill>
                  <a:srgbClr val="EDF3E6"/>
                </a:solidFill>
                <a:latin typeface="DejaVu Sans Mono"/>
              </a:rPr>
              <a:t> </a:t>
            </a:r>
            <a:r>
              <a:rPr sz="1691">
                <a:solidFill>
                  <a:srgbClr val="EDF3E6"/>
                </a:solidFill>
                <a:latin typeface="DejaVu Sans Mono"/>
              </a:rPr>
              <a:t>&lt;</a:t>
            </a:r>
            <a:r>
              <a:rPr sz="1691">
                <a:solidFill>
                  <a:srgbClr val="EDF3E6"/>
                </a:solidFill>
                <a:latin typeface="DejaVu Sans Mono"/>
              </a:rPr>
              <a:t> </a:t>
            </a:r>
            <a:r>
              <a:rPr sz="1691">
                <a:solidFill>
                  <a:srgbClr val="EDF3E6"/>
                </a:solidFill>
                <a:latin typeface="DejaVu Sans Mono"/>
              </a:rPr>
              <a:t>rows</a:t>
            </a:r>
            <a:r>
              <a:rPr sz="1691">
                <a:solidFill>
                  <a:srgbClr val="EDF3E6"/>
                </a:solidFill>
                <a:latin typeface="DejaVu Sans Mono"/>
              </a:rPr>
              <a:t> </a:t>
            </a:r>
            <a:r>
              <a:rPr sz="1691">
                <a:solidFill>
                  <a:srgbClr val="EDF3E6"/>
                </a:solidFill>
                <a:latin typeface="DejaVu Sans Mono"/>
              </a:rPr>
              <a:t>&amp;</a:t>
            </a:r>
            <a:r>
              <a:rPr sz="1691">
                <a:solidFill>
                  <a:srgbClr val="EDF3E6"/>
                </a:solidFill>
                <a:latin typeface="DejaVu Sans Mono"/>
              </a:rPr>
              <a:t>&amp;</a:t>
            </a:r>
            <a:r>
              <a:rPr sz="1691">
                <a:solidFill>
                  <a:srgbClr val="EDF3E6"/>
                </a:solidFill>
                <a:latin typeface="DejaVu Sans Mono"/>
              </a:rPr>
              <a:t> </a:t>
            </a:r>
            <a:r>
              <a:rPr sz="1691">
                <a:solidFill>
                  <a:srgbClr val="EDF3E6"/>
                </a:solidFill>
                <a:latin typeface="DejaVu Sans Mono"/>
              </a:rPr>
              <a:t>y</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j</a:t>
            </a:r>
            <a:r>
              <a:rPr sz="1691">
                <a:solidFill>
                  <a:srgbClr val="EDF3E6"/>
                </a:solidFill>
                <a:latin typeface="DejaVu Sans Mono"/>
              </a:rPr>
              <a:t> </a:t>
            </a:r>
            <a:r>
              <a:rPr sz="1691">
                <a:solidFill>
                  <a:srgbClr val="EDF3E6"/>
                </a:solidFill>
                <a:latin typeface="DejaVu Sans Mono"/>
              </a:rPr>
              <a:t>&lt;</a:t>
            </a:r>
            <a:r>
              <a:rPr sz="1691">
                <a:solidFill>
                  <a:srgbClr val="EDF3E6"/>
                </a:solidFill>
                <a:latin typeface="DejaVu Sans Mono"/>
              </a:rPr>
              <a:t> </a:t>
            </a:r>
            <a:r>
              <a:rPr sz="1691">
                <a:solidFill>
                  <a:srgbClr val="EDF3E6"/>
                </a:solidFill>
                <a:latin typeface="DejaVu Sans Mono"/>
              </a:rPr>
              <a:t>cols</a:t>
            </a:r>
            <a:r>
              <a:rPr sz="1691">
                <a:solidFill>
                  <a:srgbClr val="EDF3E6"/>
                </a:solidFill>
                <a:latin typeface="DejaVu Sans Mono"/>
              </a:rPr>
              <a:t>)</a:t>
            </a:r>
          </a:p>
          <a:p>
            <a:pPr>
              <a:lnSpc>
                <a:spcPts val="2030"/>
              </a:lnSpc>
              <a:spcBef>
                <a:spcPts val="0"/>
              </a:spcBef>
              <a:spcAft>
                <a:spcPts val="0"/>
              </a:spcAft>
            </a:pPr>
            <a:r>
              <a:rPr sz="1691">
                <a:solidFill>
                  <a:srgbClr val="EDF3E6"/>
                </a:solidFill>
                <a:latin typeface="DejaVu Sans Mono"/>
              </a:rPr>
              <a:t>    </a:t>
            </a:r>
            <a:r>
              <a:rPr sz="1691">
                <a:solidFill>
                  <a:srgbClr val="EDF3E6"/>
                </a:solidFill>
                <a:latin typeface="DejaVu Sans Mono"/>
              </a:rPr>
              <a:t>out</a:t>
            </a:r>
            <a:r>
              <a:rPr sz="1691">
                <a:solidFill>
                  <a:srgbClr val="EDF3E6"/>
                </a:solidFill>
                <a:latin typeface="DejaVu Sans Mono"/>
              </a:rPr>
              <a:t>[</a:t>
            </a:r>
            <a:r>
              <a:rPr sz="1691">
                <a:solidFill>
                  <a:srgbClr val="EDF3E6"/>
                </a:solidFill>
                <a:latin typeface="DejaVu Sans Mono"/>
              </a:rPr>
              <a:t>(</a:t>
            </a:r>
            <a:r>
              <a:rPr sz="1691">
                <a:solidFill>
                  <a:srgbClr val="EDF3E6"/>
                </a:solidFill>
                <a:latin typeface="DejaVu Sans Mono"/>
              </a:rPr>
              <a:t>y</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j</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rows</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x</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tile</a:t>
            </a:r>
            <a:r>
              <a:rPr sz="1691">
                <a:solidFill>
                  <a:srgbClr val="EDF3E6"/>
                </a:solidFill>
                <a:latin typeface="DejaVu Sans Mono"/>
              </a:rPr>
              <a:t>[</a:t>
            </a:r>
            <a:r>
              <a:rPr sz="1691">
                <a:solidFill>
                  <a:srgbClr val="EDF3E6"/>
                </a:solidFill>
                <a:latin typeface="DejaVu Sans Mono"/>
              </a:rPr>
              <a:t>threadIdx</a:t>
            </a:r>
            <a:r>
              <a:rPr sz="1691">
                <a:solidFill>
                  <a:srgbClr val="EDF3E6"/>
                </a:solidFill>
                <a:latin typeface="DejaVu Sans Mono"/>
              </a:rPr>
              <a:t>.</a:t>
            </a:r>
            <a:r>
              <a:rPr sz="1691">
                <a:solidFill>
                  <a:srgbClr val="EDF3E6"/>
                </a:solidFill>
                <a:latin typeface="DejaVu Sans Mono"/>
              </a:rPr>
              <a:t>x</a:t>
            </a:r>
            <a:r>
              <a:rPr sz="1691">
                <a:solidFill>
                  <a:srgbClr val="EDF3E6"/>
                </a:solidFill>
                <a:latin typeface="DejaVu Sans Mono"/>
              </a:rPr>
              <a:t>]</a:t>
            </a:r>
            <a:r>
              <a:rPr sz="1691">
                <a:solidFill>
                  <a:srgbClr val="EDF3E6"/>
                </a:solidFill>
                <a:latin typeface="DejaVu Sans Mono"/>
              </a:rPr>
              <a:t>[</a:t>
            </a:r>
            <a:r>
              <a:rPr sz="1691">
                <a:solidFill>
                  <a:srgbClr val="EDF3E6"/>
                </a:solidFill>
                <a:latin typeface="DejaVu Sans Mono"/>
              </a:rPr>
              <a:t>threadIdx</a:t>
            </a:r>
            <a:r>
              <a:rPr sz="1691">
                <a:solidFill>
                  <a:srgbClr val="EDF3E6"/>
                </a:solidFill>
                <a:latin typeface="DejaVu Sans Mono"/>
              </a:rPr>
              <a:t>.</a:t>
            </a:r>
            <a:r>
              <a:rPr sz="1691">
                <a:solidFill>
                  <a:srgbClr val="EDF3E6"/>
                </a:solidFill>
                <a:latin typeface="DejaVu Sans Mono"/>
              </a:rPr>
              <a:t>y</a:t>
            </a:r>
            <a:r>
              <a:rPr sz="1691">
                <a:solidFill>
                  <a:srgbClr val="EDF3E6"/>
                </a:solidFill>
                <a:latin typeface="DejaVu Sans Mono"/>
              </a:rPr>
              <a:t> </a:t>
            </a:r>
            <a:r>
              <a:rPr sz="1691">
                <a:solidFill>
                  <a:srgbClr val="EDF3E6"/>
                </a:solidFill>
                <a:latin typeface="DejaVu Sans Mono"/>
              </a:rPr>
              <a:t>+</a:t>
            </a:r>
            <a:r>
              <a:rPr sz="1691">
                <a:solidFill>
                  <a:srgbClr val="EDF3E6"/>
                </a:solidFill>
                <a:latin typeface="DejaVu Sans Mono"/>
              </a:rPr>
              <a:t> </a:t>
            </a:r>
            <a:r>
              <a:rPr sz="1691">
                <a:solidFill>
                  <a:srgbClr val="EDF3E6"/>
                </a:solidFill>
                <a:latin typeface="DejaVu Sans Mono"/>
              </a:rPr>
              <a:t>j</a:t>
            </a:r>
            <a:r>
              <a:rPr sz="1691">
                <a:solidFill>
                  <a:srgbClr val="EDF3E6"/>
                </a:solidFill>
                <a:latin typeface="DejaVu Sans Mono"/>
              </a:rPr>
              <a:t>]</a:t>
            </a:r>
            <a:r>
              <a:rPr sz="1691">
                <a:solidFill>
                  <a:srgbClr val="EDF3E6"/>
                </a:solidFill>
                <a:latin typeface="DejaVu Sans Mono"/>
              </a:rPr>
              <a:t>;</a:t>
            </a:r>
          </a:p>
        </p:txBody>
      </p:sp>
      <p:sp>
        <p:nvSpPr>
          <p:cNvPr id="11" name="Rectangle 10"/>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Each valid store reads a shared entry produced by a valid input load.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APPENDIX / TIMING</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Measure a warm device-work interval</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Guide §2.5.3.3, pp. 108–109 / PDF pp. 126–127; course timing excerpt.</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51</a:t>
            </a:r>
          </a:p>
        </p:txBody>
      </p:sp>
      <p:sp>
        <p:nvSpPr>
          <p:cNvPr id="8" name="Rectangle 7"/>
          <p:cNvSpPr/>
          <p:nvPr/>
        </p:nvSpPr>
        <p:spPr>
          <a:xfrm>
            <a:off x="585216" y="1847088"/>
            <a:ext cx="10981944" cy="3621024"/>
          </a:xfrm>
          <a:prstGeom prst="rect">
            <a:avLst/>
          </a:prstGeom>
          <a:solidFill>
            <a:srgbClr val="11170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68096" y="2002536"/>
            <a:ext cx="10616184" cy="210312"/>
          </a:xfrm>
          <a:prstGeom prst="rect">
            <a:avLst/>
          </a:prstGeom>
          <a:noFill/>
        </p:spPr>
        <p:txBody>
          <a:bodyPr wrap="square" lIns="0" rIns="0" tIns="0" bIns="0" anchor="t">
            <a:noAutofit/>
          </a:bodyPr>
          <a:lstStyle/>
          <a:p>
            <a:pPr algn="l">
              <a:lnSpc>
                <a:spcPct val="114000"/>
              </a:lnSpc>
              <a:spcBef>
                <a:spcPts val="0"/>
              </a:spcBef>
              <a:spcAft>
                <a:spcPts val="0"/>
              </a:spcAft>
            </a:pPr>
            <a:r>
              <a:rPr sz="900" b="1">
                <a:solidFill>
                  <a:srgbClr val="76B900"/>
                </a:solidFill>
                <a:latin typeface="Inter"/>
              </a:rPr>
              <a:t>TEACHING EXCERPT · EVENTS ALREADY CREATED</a:t>
            </a:r>
          </a:p>
        </p:txBody>
      </p:sp>
      <p:sp>
        <p:nvSpPr>
          <p:cNvPr id="10" name="TextBox 9"/>
          <p:cNvSpPr txBox="1"/>
          <p:nvPr/>
        </p:nvSpPr>
        <p:spPr>
          <a:xfrm>
            <a:off x="768096" y="2359152"/>
            <a:ext cx="10616184" cy="2980944"/>
          </a:xfrm>
          <a:prstGeom prst="rect">
            <a:avLst/>
          </a:prstGeom>
          <a:noFill/>
        </p:spPr>
        <p:txBody>
          <a:bodyPr wrap="none" lIns="0" rIns="0" tIns="0" bIns="0">
            <a:noAutofit/>
          </a:bodyPr>
          <a:lstStyle/>
          <a:p>
            <a:pPr>
              <a:lnSpc>
                <a:spcPts val="2280"/>
              </a:lnSpc>
              <a:spcBef>
                <a:spcPts val="0"/>
              </a:spcBef>
              <a:spcAft>
                <a:spcPts val="0"/>
              </a:spcAft>
            </a:pPr>
            <a:r>
              <a:rPr sz="1900">
                <a:solidFill>
                  <a:srgbClr val="96A58B"/>
                </a:solidFill>
                <a:latin typeface="DejaVu Sans Mono"/>
              </a:rPr>
              <a:t>// Allocate and upload before this scope; warm up first.</a:t>
            </a:r>
          </a:p>
          <a:p>
            <a:pPr>
              <a:lnSpc>
                <a:spcPts val="2280"/>
              </a:lnSpc>
              <a:spcBef>
                <a:spcPts val="0"/>
              </a:spcBef>
              <a:spcAft>
                <a:spcPts val="0"/>
              </a:spcAft>
            </a:pPr>
            <a:r>
              <a:rPr sz="1900">
                <a:solidFill>
                  <a:srgbClr val="EDF3E6"/>
                </a:solidFill>
                <a:latin typeface="DejaVu Sans Mono"/>
              </a:rPr>
              <a:t>CUDA_CHECK</a:t>
            </a:r>
            <a:r>
              <a:rPr sz="1900">
                <a:solidFill>
                  <a:srgbClr val="EDF3E6"/>
                </a:solidFill>
                <a:latin typeface="DejaVu Sans Mono"/>
              </a:rPr>
              <a:t>(</a:t>
            </a:r>
            <a:r>
              <a:rPr sz="1900">
                <a:solidFill>
                  <a:srgbClr val="EDF3E6"/>
                </a:solidFill>
                <a:latin typeface="DejaVu Sans Mono"/>
              </a:rPr>
              <a:t>cudaEventRecord</a:t>
            </a:r>
            <a:r>
              <a:rPr sz="1900">
                <a:solidFill>
                  <a:srgbClr val="EDF3E6"/>
                </a:solidFill>
                <a:latin typeface="DejaVu Sans Mono"/>
              </a:rPr>
              <a:t>(</a:t>
            </a:r>
            <a:r>
              <a:rPr sz="1900">
                <a:solidFill>
                  <a:srgbClr val="EDF3E6"/>
                </a:solidFill>
                <a:latin typeface="DejaVu Sans Mono"/>
              </a:rPr>
              <a:t>start</a:t>
            </a:r>
            <a:r>
              <a:rPr sz="1900">
                <a:solidFill>
                  <a:srgbClr val="EDF3E6"/>
                </a:solidFill>
                <a:latin typeface="DejaVu Sans Mono"/>
              </a:rPr>
              <a:t>,</a:t>
            </a:r>
            <a:r>
              <a:rPr sz="1900">
                <a:solidFill>
                  <a:srgbClr val="EDF3E6"/>
                </a:solidFill>
                <a:latin typeface="DejaVu Sans Mono"/>
              </a:rPr>
              <a:t> </a:t>
            </a:r>
            <a:r>
              <a:rPr sz="1900">
                <a:solidFill>
                  <a:srgbClr val="EDF3E6"/>
                </a:solidFill>
                <a:latin typeface="DejaVu Sans Mono"/>
              </a:rPr>
              <a:t>stream</a:t>
            </a:r>
            <a:r>
              <a:rPr sz="1900">
                <a:solidFill>
                  <a:srgbClr val="EDF3E6"/>
                </a:solidFill>
                <a:latin typeface="DejaVu Sans Mono"/>
              </a:rPr>
              <a:t>)</a:t>
            </a:r>
            <a:r>
              <a:rPr sz="1900">
                <a:solidFill>
                  <a:srgbClr val="EDF3E6"/>
                </a:solidFill>
                <a:latin typeface="DejaVu Sans Mono"/>
              </a:rPr>
              <a:t>)</a:t>
            </a:r>
            <a:r>
              <a:rPr sz="1900">
                <a:solidFill>
                  <a:srgbClr val="EDF3E6"/>
                </a:solidFill>
                <a:latin typeface="DejaVu Sans Mono"/>
              </a:rPr>
              <a:t>;</a:t>
            </a:r>
          </a:p>
          <a:p>
            <a:pPr>
              <a:lnSpc>
                <a:spcPts val="2280"/>
              </a:lnSpc>
              <a:spcBef>
                <a:spcPts val="0"/>
              </a:spcBef>
              <a:spcAft>
                <a:spcPts val="0"/>
              </a:spcAft>
            </a:pPr>
            <a:r>
              <a:rPr sz="1900" b="1">
                <a:solidFill>
                  <a:srgbClr val="AADA57"/>
                </a:solidFill>
                <a:latin typeface="DejaVu Sans Mono"/>
              </a:rPr>
              <a:t>for</a:t>
            </a:r>
            <a:r>
              <a:rPr sz="1900">
                <a:solidFill>
                  <a:srgbClr val="EDF3E6"/>
                </a:solidFill>
                <a:latin typeface="DejaVu Sans Mono"/>
              </a:rPr>
              <a:t> </a:t>
            </a:r>
            <a:r>
              <a:rPr sz="1900">
                <a:solidFill>
                  <a:srgbClr val="EDF3E6"/>
                </a:solidFill>
                <a:latin typeface="DejaVu Sans Mono"/>
              </a:rPr>
              <a:t>(</a:t>
            </a:r>
            <a:r>
              <a:rPr sz="1900" b="1">
                <a:solidFill>
                  <a:srgbClr val="AADA57"/>
                </a:solidFill>
                <a:latin typeface="DejaVu Sans Mono"/>
              </a:rPr>
              <a:t>int</a:t>
            </a:r>
            <a:r>
              <a:rPr sz="1900">
                <a:solidFill>
                  <a:srgbClr val="EDF3E6"/>
                </a:solidFill>
                <a:latin typeface="DejaVu Sans Mono"/>
              </a:rPr>
              <a:t> </a:t>
            </a:r>
            <a:r>
              <a:rPr sz="1900">
                <a:solidFill>
                  <a:srgbClr val="EDF3E6"/>
                </a:solidFill>
                <a:latin typeface="DejaVu Sans Mono"/>
              </a:rPr>
              <a:t>repeat</a:t>
            </a:r>
            <a:r>
              <a:rPr sz="1900">
                <a:solidFill>
                  <a:srgbClr val="EDF3E6"/>
                </a:solidFill>
                <a:latin typeface="DejaVu Sans Mono"/>
              </a:rPr>
              <a:t> </a:t>
            </a:r>
            <a:r>
              <a:rPr sz="1900">
                <a:solidFill>
                  <a:srgbClr val="EDF3E6"/>
                </a:solidFill>
                <a:latin typeface="DejaVu Sans Mono"/>
              </a:rPr>
              <a:t>=</a:t>
            </a:r>
            <a:r>
              <a:rPr sz="1900">
                <a:solidFill>
                  <a:srgbClr val="EDF3E6"/>
                </a:solidFill>
                <a:latin typeface="DejaVu Sans Mono"/>
              </a:rPr>
              <a:t> </a:t>
            </a:r>
            <a:r>
              <a:rPr sz="1900">
                <a:solidFill>
                  <a:srgbClr val="C0E579"/>
                </a:solidFill>
                <a:latin typeface="DejaVu Sans Mono"/>
              </a:rPr>
              <a:t>0</a:t>
            </a:r>
            <a:r>
              <a:rPr sz="1900">
                <a:solidFill>
                  <a:srgbClr val="EDF3E6"/>
                </a:solidFill>
                <a:latin typeface="DejaVu Sans Mono"/>
              </a:rPr>
              <a:t>;</a:t>
            </a:r>
            <a:r>
              <a:rPr sz="1900">
                <a:solidFill>
                  <a:srgbClr val="EDF3E6"/>
                </a:solidFill>
                <a:latin typeface="DejaVu Sans Mono"/>
              </a:rPr>
              <a:t> </a:t>
            </a:r>
            <a:r>
              <a:rPr sz="1900">
                <a:solidFill>
                  <a:srgbClr val="EDF3E6"/>
                </a:solidFill>
                <a:latin typeface="DejaVu Sans Mono"/>
              </a:rPr>
              <a:t>repeat</a:t>
            </a:r>
            <a:r>
              <a:rPr sz="1900">
                <a:solidFill>
                  <a:srgbClr val="EDF3E6"/>
                </a:solidFill>
                <a:latin typeface="DejaVu Sans Mono"/>
              </a:rPr>
              <a:t> </a:t>
            </a:r>
            <a:r>
              <a:rPr sz="1900">
                <a:solidFill>
                  <a:srgbClr val="EDF3E6"/>
                </a:solidFill>
                <a:latin typeface="DejaVu Sans Mono"/>
              </a:rPr>
              <a:t>&lt;</a:t>
            </a:r>
            <a:r>
              <a:rPr sz="1900">
                <a:solidFill>
                  <a:srgbClr val="EDF3E6"/>
                </a:solidFill>
                <a:latin typeface="DejaVu Sans Mono"/>
              </a:rPr>
              <a:t> </a:t>
            </a:r>
            <a:r>
              <a:rPr sz="1900">
                <a:solidFill>
                  <a:srgbClr val="EDF3E6"/>
                </a:solidFill>
                <a:latin typeface="DejaVu Sans Mono"/>
              </a:rPr>
              <a:t>repeats</a:t>
            </a:r>
            <a:r>
              <a:rPr sz="1900">
                <a:solidFill>
                  <a:srgbClr val="EDF3E6"/>
                </a:solidFill>
                <a:latin typeface="DejaVu Sans Mono"/>
              </a:rPr>
              <a:t>;</a:t>
            </a:r>
            <a:r>
              <a:rPr sz="1900">
                <a:solidFill>
                  <a:srgbClr val="EDF3E6"/>
                </a:solidFill>
                <a:latin typeface="DejaVu Sans Mono"/>
              </a:rPr>
              <a:t> </a:t>
            </a:r>
            <a:r>
              <a:rPr sz="1900">
                <a:solidFill>
                  <a:srgbClr val="EDF3E6"/>
                </a:solidFill>
                <a:latin typeface="DejaVu Sans Mono"/>
              </a:rPr>
              <a:t>+</a:t>
            </a:r>
            <a:r>
              <a:rPr sz="1900">
                <a:solidFill>
                  <a:srgbClr val="EDF3E6"/>
                </a:solidFill>
                <a:latin typeface="DejaVu Sans Mono"/>
              </a:rPr>
              <a:t>+</a:t>
            </a:r>
            <a:r>
              <a:rPr sz="1900">
                <a:solidFill>
                  <a:srgbClr val="EDF3E6"/>
                </a:solidFill>
                <a:latin typeface="DejaVu Sans Mono"/>
              </a:rPr>
              <a:t>repeat</a:t>
            </a:r>
            <a:r>
              <a:rPr sz="1900">
                <a:solidFill>
                  <a:srgbClr val="EDF3E6"/>
                </a:solidFill>
                <a:latin typeface="DejaVu Sans Mono"/>
              </a:rPr>
              <a:t>)</a:t>
            </a:r>
          </a:p>
          <a:p>
            <a:pPr>
              <a:lnSpc>
                <a:spcPts val="2280"/>
              </a:lnSpc>
              <a:spcBef>
                <a:spcPts val="0"/>
              </a:spcBef>
              <a:spcAft>
                <a:spcPts val="0"/>
              </a:spcAft>
            </a:pPr>
            <a:r>
              <a:rPr sz="1900">
                <a:solidFill>
                  <a:srgbClr val="EDF3E6"/>
                </a:solidFill>
                <a:latin typeface="DejaVu Sans Mono"/>
              </a:rPr>
              <a:t>  </a:t>
            </a:r>
            <a:r>
              <a:rPr sz="1900">
                <a:solidFill>
                  <a:srgbClr val="EDF3E6"/>
                </a:solidFill>
                <a:latin typeface="DejaVu Sans Mono"/>
              </a:rPr>
              <a:t>launch</a:t>
            </a:r>
            <a:r>
              <a:rPr sz="1900">
                <a:solidFill>
                  <a:srgbClr val="EDF3E6"/>
                </a:solidFill>
                <a:latin typeface="DejaVu Sans Mono"/>
              </a:rPr>
              <a:t>(</a:t>
            </a:r>
            <a:r>
              <a:rPr sz="1900">
                <a:solidFill>
                  <a:srgbClr val="EDF3E6"/>
                </a:solidFill>
                <a:latin typeface="DejaVu Sans Mono"/>
              </a:rPr>
              <a:t>.</a:t>
            </a:r>
            <a:r>
              <a:rPr sz="1900">
                <a:solidFill>
                  <a:srgbClr val="EDF3E6"/>
                </a:solidFill>
                <a:latin typeface="DejaVu Sans Mono"/>
              </a:rPr>
              <a:t>.</a:t>
            </a:r>
            <a:r>
              <a:rPr sz="1900">
                <a:solidFill>
                  <a:srgbClr val="EDF3E6"/>
                </a:solidFill>
                <a:latin typeface="DejaVu Sans Mono"/>
              </a:rPr>
              <a:t>.</a:t>
            </a:r>
            <a:r>
              <a:rPr sz="1900">
                <a:solidFill>
                  <a:srgbClr val="EDF3E6"/>
                </a:solidFill>
                <a:latin typeface="DejaVu Sans Mono"/>
              </a:rPr>
              <a:t>,</a:t>
            </a:r>
            <a:r>
              <a:rPr sz="1900">
                <a:solidFill>
                  <a:srgbClr val="EDF3E6"/>
                </a:solidFill>
                <a:latin typeface="DejaVu Sans Mono"/>
              </a:rPr>
              <a:t> </a:t>
            </a:r>
            <a:r>
              <a:rPr sz="1900">
                <a:solidFill>
                  <a:srgbClr val="EDF3E6"/>
                </a:solidFill>
                <a:latin typeface="DejaVu Sans Mono"/>
              </a:rPr>
              <a:t>stream</a:t>
            </a:r>
            <a:r>
              <a:rPr sz="1900">
                <a:solidFill>
                  <a:srgbClr val="EDF3E6"/>
                </a:solidFill>
                <a:latin typeface="DejaVu Sans Mono"/>
              </a:rPr>
              <a:t>)</a:t>
            </a:r>
            <a:r>
              <a:rPr sz="1900">
                <a:solidFill>
                  <a:srgbClr val="EDF3E6"/>
                </a:solidFill>
                <a:latin typeface="DejaVu Sans Mono"/>
              </a:rPr>
              <a:t>;</a:t>
            </a:r>
          </a:p>
          <a:p>
            <a:pPr>
              <a:lnSpc>
                <a:spcPts val="2280"/>
              </a:lnSpc>
              <a:spcBef>
                <a:spcPts val="0"/>
              </a:spcBef>
              <a:spcAft>
                <a:spcPts val="0"/>
              </a:spcAft>
            </a:pPr>
            <a:r>
              <a:rPr sz="1900">
                <a:solidFill>
                  <a:srgbClr val="EDF3E6"/>
                </a:solidFill>
                <a:latin typeface="DejaVu Sans Mono"/>
              </a:rPr>
              <a:t>CUDA_CHECK</a:t>
            </a:r>
            <a:r>
              <a:rPr sz="1900">
                <a:solidFill>
                  <a:srgbClr val="EDF3E6"/>
                </a:solidFill>
                <a:latin typeface="DejaVu Sans Mono"/>
              </a:rPr>
              <a:t>(</a:t>
            </a:r>
            <a:r>
              <a:rPr sz="1900">
                <a:solidFill>
                  <a:srgbClr val="EDF3E6"/>
                </a:solidFill>
                <a:latin typeface="DejaVu Sans Mono"/>
              </a:rPr>
              <a:t>cudaEventRecord</a:t>
            </a:r>
            <a:r>
              <a:rPr sz="1900">
                <a:solidFill>
                  <a:srgbClr val="EDF3E6"/>
                </a:solidFill>
                <a:latin typeface="DejaVu Sans Mono"/>
              </a:rPr>
              <a:t>(</a:t>
            </a:r>
            <a:r>
              <a:rPr sz="1900">
                <a:solidFill>
                  <a:srgbClr val="EDF3E6"/>
                </a:solidFill>
                <a:latin typeface="DejaVu Sans Mono"/>
              </a:rPr>
              <a:t>stop</a:t>
            </a:r>
            <a:r>
              <a:rPr sz="1900">
                <a:solidFill>
                  <a:srgbClr val="EDF3E6"/>
                </a:solidFill>
                <a:latin typeface="DejaVu Sans Mono"/>
              </a:rPr>
              <a:t>,</a:t>
            </a:r>
            <a:r>
              <a:rPr sz="1900">
                <a:solidFill>
                  <a:srgbClr val="EDF3E6"/>
                </a:solidFill>
                <a:latin typeface="DejaVu Sans Mono"/>
              </a:rPr>
              <a:t> </a:t>
            </a:r>
            <a:r>
              <a:rPr sz="1900">
                <a:solidFill>
                  <a:srgbClr val="EDF3E6"/>
                </a:solidFill>
                <a:latin typeface="DejaVu Sans Mono"/>
              </a:rPr>
              <a:t>stream</a:t>
            </a:r>
            <a:r>
              <a:rPr sz="1900">
                <a:solidFill>
                  <a:srgbClr val="EDF3E6"/>
                </a:solidFill>
                <a:latin typeface="DejaVu Sans Mono"/>
              </a:rPr>
              <a:t>)</a:t>
            </a:r>
            <a:r>
              <a:rPr sz="1900">
                <a:solidFill>
                  <a:srgbClr val="EDF3E6"/>
                </a:solidFill>
                <a:latin typeface="DejaVu Sans Mono"/>
              </a:rPr>
              <a:t>)</a:t>
            </a:r>
            <a:r>
              <a:rPr sz="1900">
                <a:solidFill>
                  <a:srgbClr val="EDF3E6"/>
                </a:solidFill>
                <a:latin typeface="DejaVu Sans Mono"/>
              </a:rPr>
              <a:t>;</a:t>
            </a:r>
          </a:p>
          <a:p>
            <a:pPr>
              <a:lnSpc>
                <a:spcPts val="2280"/>
              </a:lnSpc>
              <a:spcBef>
                <a:spcPts val="0"/>
              </a:spcBef>
              <a:spcAft>
                <a:spcPts val="0"/>
              </a:spcAft>
            </a:pPr>
            <a:r>
              <a:rPr sz="1900">
                <a:solidFill>
                  <a:srgbClr val="EDF3E6"/>
                </a:solidFill>
                <a:latin typeface="DejaVu Sans Mono"/>
              </a:rPr>
              <a:t>CUDA_CHECK</a:t>
            </a:r>
            <a:r>
              <a:rPr sz="1900">
                <a:solidFill>
                  <a:srgbClr val="EDF3E6"/>
                </a:solidFill>
                <a:latin typeface="DejaVu Sans Mono"/>
              </a:rPr>
              <a:t>(</a:t>
            </a:r>
            <a:r>
              <a:rPr sz="1900">
                <a:solidFill>
                  <a:srgbClr val="EDF3E6"/>
                </a:solidFill>
                <a:latin typeface="DejaVu Sans Mono"/>
              </a:rPr>
              <a:t>cudaEventSynchronize</a:t>
            </a:r>
            <a:r>
              <a:rPr sz="1900">
                <a:solidFill>
                  <a:srgbClr val="EDF3E6"/>
                </a:solidFill>
                <a:latin typeface="DejaVu Sans Mono"/>
              </a:rPr>
              <a:t>(</a:t>
            </a:r>
            <a:r>
              <a:rPr sz="1900">
                <a:solidFill>
                  <a:srgbClr val="EDF3E6"/>
                </a:solidFill>
                <a:latin typeface="DejaVu Sans Mono"/>
              </a:rPr>
              <a:t>stop</a:t>
            </a:r>
            <a:r>
              <a:rPr sz="1900">
                <a:solidFill>
                  <a:srgbClr val="EDF3E6"/>
                </a:solidFill>
                <a:latin typeface="DejaVu Sans Mono"/>
              </a:rPr>
              <a:t>)</a:t>
            </a:r>
            <a:r>
              <a:rPr sz="1900">
                <a:solidFill>
                  <a:srgbClr val="EDF3E6"/>
                </a:solidFill>
                <a:latin typeface="DejaVu Sans Mono"/>
              </a:rPr>
              <a:t>)</a:t>
            </a:r>
            <a:r>
              <a:rPr sz="1900">
                <a:solidFill>
                  <a:srgbClr val="EDF3E6"/>
                </a:solidFill>
                <a:latin typeface="DejaVu Sans Mono"/>
              </a:rPr>
              <a:t>;</a:t>
            </a:r>
          </a:p>
          <a:p>
            <a:pPr>
              <a:lnSpc>
                <a:spcPts val="2280"/>
              </a:lnSpc>
              <a:spcBef>
                <a:spcPts val="0"/>
              </a:spcBef>
              <a:spcAft>
                <a:spcPts val="0"/>
              </a:spcAft>
            </a:pPr>
            <a:r>
              <a:rPr sz="1900">
                <a:solidFill>
                  <a:srgbClr val="EDF3E6"/>
                </a:solidFill>
                <a:latin typeface="DejaVu Sans Mono"/>
              </a:rPr>
              <a:t>CUDA_CHECK</a:t>
            </a:r>
            <a:r>
              <a:rPr sz="1900">
                <a:solidFill>
                  <a:srgbClr val="EDF3E6"/>
                </a:solidFill>
                <a:latin typeface="DejaVu Sans Mono"/>
              </a:rPr>
              <a:t>(</a:t>
            </a:r>
            <a:r>
              <a:rPr sz="1900">
                <a:solidFill>
                  <a:srgbClr val="EDF3E6"/>
                </a:solidFill>
                <a:latin typeface="DejaVu Sans Mono"/>
              </a:rPr>
              <a:t>cudaEventElapsedTime</a:t>
            </a:r>
            <a:r>
              <a:rPr sz="1900">
                <a:solidFill>
                  <a:srgbClr val="EDF3E6"/>
                </a:solidFill>
                <a:latin typeface="DejaVu Sans Mono"/>
              </a:rPr>
              <a:t>(</a:t>
            </a:r>
            <a:r>
              <a:rPr sz="1900">
                <a:solidFill>
                  <a:srgbClr val="EDF3E6"/>
                </a:solidFill>
                <a:latin typeface="DejaVu Sans Mono"/>
              </a:rPr>
              <a:t>&amp;</a:t>
            </a:r>
            <a:r>
              <a:rPr sz="1900">
                <a:solidFill>
                  <a:srgbClr val="EDF3E6"/>
                </a:solidFill>
                <a:latin typeface="DejaVu Sans Mono"/>
              </a:rPr>
              <a:t>ms</a:t>
            </a:r>
            <a:r>
              <a:rPr sz="1900">
                <a:solidFill>
                  <a:srgbClr val="EDF3E6"/>
                </a:solidFill>
                <a:latin typeface="DejaVu Sans Mono"/>
              </a:rPr>
              <a:t>,</a:t>
            </a:r>
            <a:r>
              <a:rPr sz="1900">
                <a:solidFill>
                  <a:srgbClr val="EDF3E6"/>
                </a:solidFill>
                <a:latin typeface="DejaVu Sans Mono"/>
              </a:rPr>
              <a:t> </a:t>
            </a:r>
            <a:r>
              <a:rPr sz="1900">
                <a:solidFill>
                  <a:srgbClr val="EDF3E6"/>
                </a:solidFill>
                <a:latin typeface="DejaVu Sans Mono"/>
              </a:rPr>
              <a:t>start</a:t>
            </a:r>
            <a:r>
              <a:rPr sz="1900">
                <a:solidFill>
                  <a:srgbClr val="EDF3E6"/>
                </a:solidFill>
                <a:latin typeface="DejaVu Sans Mono"/>
              </a:rPr>
              <a:t>,</a:t>
            </a:r>
            <a:r>
              <a:rPr sz="1900">
                <a:solidFill>
                  <a:srgbClr val="EDF3E6"/>
                </a:solidFill>
                <a:latin typeface="DejaVu Sans Mono"/>
              </a:rPr>
              <a:t> </a:t>
            </a:r>
            <a:r>
              <a:rPr sz="1900">
                <a:solidFill>
                  <a:srgbClr val="EDF3E6"/>
                </a:solidFill>
                <a:latin typeface="DejaVu Sans Mono"/>
              </a:rPr>
              <a:t>stop</a:t>
            </a:r>
            <a:r>
              <a:rPr sz="1900">
                <a:solidFill>
                  <a:srgbClr val="EDF3E6"/>
                </a:solidFill>
                <a:latin typeface="DejaVu Sans Mono"/>
              </a:rPr>
              <a:t>)</a:t>
            </a:r>
            <a:r>
              <a:rPr sz="1900">
                <a:solidFill>
                  <a:srgbClr val="EDF3E6"/>
                </a:solidFill>
                <a:latin typeface="DejaVu Sans Mono"/>
              </a:rPr>
              <a:t>)</a:t>
            </a:r>
            <a:r>
              <a:rPr sz="1900">
                <a:solidFill>
                  <a:srgbClr val="EDF3E6"/>
                </a:solidFill>
                <a:latin typeface="DejaVu Sans Mono"/>
              </a:rPr>
              <a:t>;</a:t>
            </a:r>
          </a:p>
          <a:p>
            <a:pPr>
              <a:lnSpc>
                <a:spcPts val="2280"/>
              </a:lnSpc>
              <a:spcBef>
                <a:spcPts val="0"/>
              </a:spcBef>
              <a:spcAft>
                <a:spcPts val="0"/>
              </a:spcAft>
            </a:pPr>
            <a:r>
              <a:rPr sz="1900" b="1">
                <a:solidFill>
                  <a:srgbClr val="AADA57"/>
                </a:solidFill>
                <a:latin typeface="DejaVu Sans Mono"/>
              </a:rPr>
              <a:t>float</a:t>
            </a:r>
            <a:r>
              <a:rPr sz="1900">
                <a:solidFill>
                  <a:srgbClr val="EDF3E6"/>
                </a:solidFill>
                <a:latin typeface="DejaVu Sans Mono"/>
              </a:rPr>
              <a:t> </a:t>
            </a:r>
            <a:r>
              <a:rPr sz="1900">
                <a:solidFill>
                  <a:srgbClr val="EDF3E6"/>
                </a:solidFill>
                <a:latin typeface="DejaVu Sans Mono"/>
              </a:rPr>
              <a:t>ms_per_iteration</a:t>
            </a:r>
            <a:r>
              <a:rPr sz="1900">
                <a:solidFill>
                  <a:srgbClr val="EDF3E6"/>
                </a:solidFill>
                <a:latin typeface="DejaVu Sans Mono"/>
              </a:rPr>
              <a:t> </a:t>
            </a:r>
            <a:r>
              <a:rPr sz="1900">
                <a:solidFill>
                  <a:srgbClr val="EDF3E6"/>
                </a:solidFill>
                <a:latin typeface="DejaVu Sans Mono"/>
              </a:rPr>
              <a:t>=</a:t>
            </a:r>
            <a:r>
              <a:rPr sz="1900">
                <a:solidFill>
                  <a:srgbClr val="EDF3E6"/>
                </a:solidFill>
                <a:latin typeface="DejaVu Sans Mono"/>
              </a:rPr>
              <a:t> </a:t>
            </a:r>
            <a:r>
              <a:rPr sz="1900">
                <a:solidFill>
                  <a:srgbClr val="EDF3E6"/>
                </a:solidFill>
                <a:latin typeface="DejaVu Sans Mono"/>
              </a:rPr>
              <a:t>ms</a:t>
            </a:r>
            <a:r>
              <a:rPr sz="1900">
                <a:solidFill>
                  <a:srgbClr val="EDF3E6"/>
                </a:solidFill>
                <a:latin typeface="DejaVu Sans Mono"/>
              </a:rPr>
              <a:t> </a:t>
            </a:r>
            <a:r>
              <a:rPr sz="1900">
                <a:solidFill>
                  <a:srgbClr val="EDF3E6"/>
                </a:solidFill>
                <a:latin typeface="DejaVu Sans Mono"/>
              </a:rPr>
              <a:t>/</a:t>
            </a:r>
            <a:r>
              <a:rPr sz="1900">
                <a:solidFill>
                  <a:srgbClr val="EDF3E6"/>
                </a:solidFill>
                <a:latin typeface="DejaVu Sans Mono"/>
              </a:rPr>
              <a:t> </a:t>
            </a:r>
            <a:r>
              <a:rPr sz="1900">
                <a:solidFill>
                  <a:srgbClr val="EDF3E6"/>
                </a:solidFill>
                <a:latin typeface="DejaVu Sans Mono"/>
              </a:rPr>
              <a:t>repeats</a:t>
            </a:r>
            <a:r>
              <a:rPr sz="1900">
                <a:solidFill>
                  <a:srgbClr val="EDF3E6"/>
                </a:solidFill>
                <a:latin typeface="DejaVu Sans Mono"/>
              </a:rPr>
              <a:t>;</a:t>
            </a:r>
          </a:p>
        </p:txBody>
      </p:sp>
      <p:sp>
        <p:nvSpPr>
          <p:cNvPr id="11" name="Rectangle 10"/>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Name what the interval includes, what it excludes, and how completion was established.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APPENDIX / ANSWER KEY</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Answers to the day’s conceptual checks</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Derived course answers; transaction utilization example: guide §2.3.4.1, p. 59 / PDF p. 77.</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52</a:t>
            </a:r>
          </a:p>
        </p:txBody>
      </p:sp>
      <p:sp>
        <p:nvSpPr>
          <p:cNvPr id="8" name="Rectangle 7"/>
          <p:cNvSpPr/>
          <p:nvPr/>
        </p:nvSpPr>
        <p:spPr>
          <a:xfrm>
            <a:off x="630936" y="1892807"/>
            <a:ext cx="10936224" cy="521207"/>
          </a:xfrm>
          <a:prstGeom prst="rect">
            <a:avLst/>
          </a:prstGeom>
          <a:solidFill>
            <a:srgbClr val="F0F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8952" y="2029967"/>
            <a:ext cx="3794760" cy="338327"/>
          </a:xfrm>
          <a:prstGeom prst="rect">
            <a:avLst/>
          </a:prstGeom>
          <a:noFill/>
        </p:spPr>
        <p:txBody>
          <a:bodyPr wrap="square" lIns="0" rIns="0" tIns="0" bIns="0" anchor="t">
            <a:noAutofit/>
          </a:bodyPr>
          <a:lstStyle/>
          <a:p>
            <a:pPr algn="l">
              <a:lnSpc>
                <a:spcPct val="104000"/>
              </a:lnSpc>
              <a:spcBef>
                <a:spcPts val="0"/>
              </a:spcBef>
              <a:spcAft>
                <a:spcPts val="0"/>
              </a:spcAft>
            </a:pPr>
            <a:r>
              <a:rPr sz="1600" b="1">
                <a:solidFill>
                  <a:srgbClr val="466B00"/>
                </a:solidFill>
                <a:latin typeface="Inter"/>
              </a:rPr>
              <a:t>1,000 elements / 256 threads</a:t>
            </a:r>
          </a:p>
        </p:txBody>
      </p:sp>
      <p:sp>
        <p:nvSpPr>
          <p:cNvPr id="10" name="TextBox 9"/>
          <p:cNvSpPr txBox="1"/>
          <p:nvPr/>
        </p:nvSpPr>
        <p:spPr>
          <a:xfrm>
            <a:off x="4800599" y="2029967"/>
            <a:ext cx="6647688" cy="338327"/>
          </a:xfrm>
          <a:prstGeom prst="rect">
            <a:avLst/>
          </a:prstGeom>
          <a:noFill/>
        </p:spPr>
        <p:txBody>
          <a:bodyPr wrap="square" lIns="0" rIns="0" tIns="0" bIns="0" anchor="t">
            <a:noAutofit/>
          </a:bodyPr>
          <a:lstStyle/>
          <a:p>
            <a:pPr algn="l">
              <a:lnSpc>
                <a:spcPct val="104000"/>
              </a:lnSpc>
              <a:spcBef>
                <a:spcPts val="0"/>
              </a:spcBef>
              <a:spcAft>
                <a:spcPts val="0"/>
              </a:spcAft>
            </a:pPr>
            <a:r>
              <a:rPr sz="1600" b="0">
                <a:solidFill>
                  <a:srgbClr val="121610"/>
                </a:solidFill>
                <a:latin typeface="Inter"/>
              </a:rPr>
              <a:t>Four blocks; 24 threads must skip memory access.</a:t>
            </a:r>
          </a:p>
        </p:txBody>
      </p:sp>
      <p:sp>
        <p:nvSpPr>
          <p:cNvPr id="11" name="TextBox 10"/>
          <p:cNvSpPr txBox="1"/>
          <p:nvPr/>
        </p:nvSpPr>
        <p:spPr>
          <a:xfrm>
            <a:off x="758952" y="2551175"/>
            <a:ext cx="3794760" cy="338327"/>
          </a:xfrm>
          <a:prstGeom prst="rect">
            <a:avLst/>
          </a:prstGeom>
          <a:noFill/>
        </p:spPr>
        <p:txBody>
          <a:bodyPr wrap="square" lIns="0" rIns="0" tIns="0" bIns="0" anchor="t">
            <a:noAutofit/>
          </a:bodyPr>
          <a:lstStyle/>
          <a:p>
            <a:pPr algn="l">
              <a:lnSpc>
                <a:spcPct val="104000"/>
              </a:lnSpc>
              <a:spcBef>
                <a:spcPts val="0"/>
              </a:spcBef>
              <a:spcAft>
                <a:spcPts val="0"/>
              </a:spcAft>
            </a:pPr>
            <a:r>
              <a:rPr sz="1600" b="1">
                <a:solidFill>
                  <a:srgbClr val="466B00"/>
                </a:solidFill>
                <a:latin typeface="Inter"/>
              </a:rPr>
              <a:t>Block 3 / local thread 231</a:t>
            </a:r>
          </a:p>
        </p:txBody>
      </p:sp>
      <p:sp>
        <p:nvSpPr>
          <p:cNvPr id="12" name="TextBox 11"/>
          <p:cNvSpPr txBox="1"/>
          <p:nvPr/>
        </p:nvSpPr>
        <p:spPr>
          <a:xfrm>
            <a:off x="4800599" y="2551175"/>
            <a:ext cx="6647688" cy="338327"/>
          </a:xfrm>
          <a:prstGeom prst="rect">
            <a:avLst/>
          </a:prstGeom>
          <a:noFill/>
        </p:spPr>
        <p:txBody>
          <a:bodyPr wrap="square" lIns="0" rIns="0" tIns="0" bIns="0" anchor="t">
            <a:noAutofit/>
          </a:bodyPr>
          <a:lstStyle/>
          <a:p>
            <a:pPr algn="l">
              <a:lnSpc>
                <a:spcPct val="104000"/>
              </a:lnSpc>
              <a:spcBef>
                <a:spcPts val="0"/>
              </a:spcBef>
              <a:spcAft>
                <a:spcPts val="0"/>
              </a:spcAft>
            </a:pPr>
            <a:r>
              <a:rPr sz="1600" b="0">
                <a:solidFill>
                  <a:srgbClr val="121610"/>
                </a:solidFill>
                <a:latin typeface="Inter"/>
              </a:rPr>
              <a:t>Global index 999: the final valid element.</a:t>
            </a:r>
          </a:p>
        </p:txBody>
      </p:sp>
      <p:sp>
        <p:nvSpPr>
          <p:cNvPr id="13" name="Rectangle 12"/>
          <p:cNvSpPr/>
          <p:nvPr/>
        </p:nvSpPr>
        <p:spPr>
          <a:xfrm>
            <a:off x="630936" y="2935223"/>
            <a:ext cx="10936224" cy="521207"/>
          </a:xfrm>
          <a:prstGeom prst="rect">
            <a:avLst/>
          </a:prstGeom>
          <a:solidFill>
            <a:srgbClr val="F0F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58952" y="3072383"/>
            <a:ext cx="3794760" cy="338327"/>
          </a:xfrm>
          <a:prstGeom prst="rect">
            <a:avLst/>
          </a:prstGeom>
          <a:noFill/>
        </p:spPr>
        <p:txBody>
          <a:bodyPr wrap="square" lIns="0" rIns="0" tIns="0" bIns="0" anchor="t">
            <a:noAutofit/>
          </a:bodyPr>
          <a:lstStyle/>
          <a:p>
            <a:pPr algn="l">
              <a:lnSpc>
                <a:spcPct val="104000"/>
              </a:lnSpc>
              <a:spcBef>
                <a:spcPts val="0"/>
              </a:spcBef>
              <a:spcAft>
                <a:spcPts val="0"/>
              </a:spcAft>
            </a:pPr>
            <a:r>
              <a:rPr sz="1600" b="1">
                <a:solidFill>
                  <a:srgbClr val="466B00"/>
                </a:solidFill>
                <a:latin typeface="Inter"/>
              </a:rPr>
              <a:t>Why no SAXPY block barrier?</a:t>
            </a:r>
          </a:p>
        </p:txBody>
      </p:sp>
      <p:sp>
        <p:nvSpPr>
          <p:cNvPr id="15" name="TextBox 14"/>
          <p:cNvSpPr txBox="1"/>
          <p:nvPr/>
        </p:nvSpPr>
        <p:spPr>
          <a:xfrm>
            <a:off x="4800599" y="3072383"/>
            <a:ext cx="6647688" cy="338327"/>
          </a:xfrm>
          <a:prstGeom prst="rect">
            <a:avLst/>
          </a:prstGeom>
          <a:noFill/>
        </p:spPr>
        <p:txBody>
          <a:bodyPr wrap="square" lIns="0" rIns="0" tIns="0" bIns="0" anchor="t">
            <a:noAutofit/>
          </a:bodyPr>
          <a:lstStyle/>
          <a:p>
            <a:pPr algn="l">
              <a:lnSpc>
                <a:spcPct val="104000"/>
              </a:lnSpc>
              <a:spcBef>
                <a:spcPts val="0"/>
              </a:spcBef>
              <a:spcAft>
                <a:spcPts val="0"/>
              </a:spcAft>
            </a:pPr>
            <a:r>
              <a:rPr sz="1600" b="0">
                <a:solidFill>
                  <a:srgbClr val="121610"/>
                </a:solidFill>
                <a:latin typeface="Inter"/>
              </a:rPr>
              <a:t>Each valid thread writes a distinct output element.</a:t>
            </a:r>
          </a:p>
        </p:txBody>
      </p:sp>
      <p:sp>
        <p:nvSpPr>
          <p:cNvPr id="16" name="TextBox 15"/>
          <p:cNvSpPr txBox="1"/>
          <p:nvPr/>
        </p:nvSpPr>
        <p:spPr>
          <a:xfrm>
            <a:off x="758952" y="3593591"/>
            <a:ext cx="3794760" cy="338327"/>
          </a:xfrm>
          <a:prstGeom prst="rect">
            <a:avLst/>
          </a:prstGeom>
          <a:noFill/>
        </p:spPr>
        <p:txBody>
          <a:bodyPr wrap="square" lIns="0" rIns="0" tIns="0" bIns="0" anchor="t">
            <a:noAutofit/>
          </a:bodyPr>
          <a:lstStyle/>
          <a:p>
            <a:pPr algn="l">
              <a:lnSpc>
                <a:spcPct val="104000"/>
              </a:lnSpc>
              <a:spcBef>
                <a:spcPts val="0"/>
              </a:spcBef>
              <a:spcAft>
                <a:spcPts val="0"/>
              </a:spcAft>
            </a:pPr>
            <a:r>
              <a:rPr sz="1600" b="1">
                <a:solidFill>
                  <a:srgbClr val="466B00"/>
                </a:solidFill>
                <a:latin typeface="Inter"/>
              </a:rPr>
              <a:t>Why a shared-memory barrier?</a:t>
            </a:r>
          </a:p>
        </p:txBody>
      </p:sp>
      <p:sp>
        <p:nvSpPr>
          <p:cNvPr id="17" name="TextBox 16"/>
          <p:cNvSpPr txBox="1"/>
          <p:nvPr/>
        </p:nvSpPr>
        <p:spPr>
          <a:xfrm>
            <a:off x="4800599" y="3593591"/>
            <a:ext cx="6647688" cy="338327"/>
          </a:xfrm>
          <a:prstGeom prst="rect">
            <a:avLst/>
          </a:prstGeom>
          <a:noFill/>
        </p:spPr>
        <p:txBody>
          <a:bodyPr wrap="square" lIns="0" rIns="0" tIns="0" bIns="0" anchor="t">
            <a:noAutofit/>
          </a:bodyPr>
          <a:lstStyle/>
          <a:p>
            <a:pPr algn="l">
              <a:lnSpc>
                <a:spcPct val="104000"/>
              </a:lnSpc>
              <a:spcBef>
                <a:spcPts val="0"/>
              </a:spcBef>
              <a:spcAft>
                <a:spcPts val="0"/>
              </a:spcAft>
            </a:pPr>
            <a:r>
              <a:rPr sz="1600" b="0">
                <a:solidFill>
                  <a:srgbClr val="121610"/>
                </a:solidFill>
                <a:latin typeface="Inter"/>
              </a:rPr>
              <a:t>Consumers must not read unfinished peer writes.</a:t>
            </a:r>
          </a:p>
        </p:txBody>
      </p:sp>
      <p:sp>
        <p:nvSpPr>
          <p:cNvPr id="18" name="Rectangle 17"/>
          <p:cNvSpPr/>
          <p:nvPr/>
        </p:nvSpPr>
        <p:spPr>
          <a:xfrm>
            <a:off x="630936" y="3977639"/>
            <a:ext cx="10936224" cy="521207"/>
          </a:xfrm>
          <a:prstGeom prst="rect">
            <a:avLst/>
          </a:prstGeom>
          <a:solidFill>
            <a:srgbClr val="F0F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58952" y="4114800"/>
            <a:ext cx="3794760" cy="338327"/>
          </a:xfrm>
          <a:prstGeom prst="rect">
            <a:avLst/>
          </a:prstGeom>
          <a:noFill/>
        </p:spPr>
        <p:txBody>
          <a:bodyPr wrap="square" lIns="0" rIns="0" tIns="0" bIns="0" anchor="t">
            <a:noAutofit/>
          </a:bodyPr>
          <a:lstStyle/>
          <a:p>
            <a:pPr algn="l">
              <a:lnSpc>
                <a:spcPct val="104000"/>
              </a:lnSpc>
              <a:spcBef>
                <a:spcPts val="0"/>
              </a:spcBef>
              <a:spcAft>
                <a:spcPts val="0"/>
              </a:spcAft>
            </a:pPr>
            <a:r>
              <a:rPr sz="1600" b="1">
                <a:solidFill>
                  <a:srgbClr val="466B00"/>
                </a:solidFill>
                <a:latin typeface="Inter"/>
              </a:rPr>
              <a:t>What does occupancy describe?</a:t>
            </a:r>
          </a:p>
        </p:txBody>
      </p:sp>
      <p:sp>
        <p:nvSpPr>
          <p:cNvPr id="20" name="TextBox 19"/>
          <p:cNvSpPr txBox="1"/>
          <p:nvPr/>
        </p:nvSpPr>
        <p:spPr>
          <a:xfrm>
            <a:off x="4800599" y="4114800"/>
            <a:ext cx="6647688" cy="338327"/>
          </a:xfrm>
          <a:prstGeom prst="rect">
            <a:avLst/>
          </a:prstGeom>
          <a:noFill/>
        </p:spPr>
        <p:txBody>
          <a:bodyPr wrap="square" lIns="0" rIns="0" tIns="0" bIns="0" anchor="t">
            <a:noAutofit/>
          </a:bodyPr>
          <a:lstStyle/>
          <a:p>
            <a:pPr algn="l">
              <a:lnSpc>
                <a:spcPct val="104000"/>
              </a:lnSpc>
              <a:spcBef>
                <a:spcPts val="0"/>
              </a:spcBef>
              <a:spcAft>
                <a:spcPts val="0"/>
              </a:spcAft>
            </a:pPr>
            <a:r>
              <a:rPr sz="1600" b="0">
                <a:solidFill>
                  <a:srgbClr val="121610"/>
                </a:solidFill>
                <a:latin typeface="Inter"/>
              </a:rPr>
              <a:t>Active warps relative to the SM’s supported maximum.</a:t>
            </a:r>
          </a:p>
        </p:txBody>
      </p:sp>
      <p:sp>
        <p:nvSpPr>
          <p:cNvPr id="21" name="TextBox 20"/>
          <p:cNvSpPr txBox="1"/>
          <p:nvPr/>
        </p:nvSpPr>
        <p:spPr>
          <a:xfrm>
            <a:off x="758952" y="4636008"/>
            <a:ext cx="3794760" cy="338327"/>
          </a:xfrm>
          <a:prstGeom prst="rect">
            <a:avLst/>
          </a:prstGeom>
          <a:noFill/>
        </p:spPr>
        <p:txBody>
          <a:bodyPr wrap="square" lIns="0" rIns="0" tIns="0" bIns="0" anchor="t">
            <a:noAutofit/>
          </a:bodyPr>
          <a:lstStyle/>
          <a:p>
            <a:pPr algn="l">
              <a:lnSpc>
                <a:spcPct val="104000"/>
              </a:lnSpc>
              <a:spcBef>
                <a:spcPts val="0"/>
              </a:spcBef>
              <a:spcAft>
                <a:spcPts val="0"/>
              </a:spcAft>
            </a:pPr>
            <a:r>
              <a:rPr sz="1600" b="1">
                <a:solidFill>
                  <a:srgbClr val="466B00"/>
                </a:solidFill>
                <a:latin typeface="Inter"/>
              </a:rPr>
              <a:t>Is 12.5% a measured speedup?</a:t>
            </a:r>
          </a:p>
        </p:txBody>
      </p:sp>
      <p:sp>
        <p:nvSpPr>
          <p:cNvPr id="22" name="TextBox 21"/>
          <p:cNvSpPr txBox="1"/>
          <p:nvPr/>
        </p:nvSpPr>
        <p:spPr>
          <a:xfrm>
            <a:off x="4800599" y="4636008"/>
            <a:ext cx="6647688" cy="338327"/>
          </a:xfrm>
          <a:prstGeom prst="rect">
            <a:avLst/>
          </a:prstGeom>
          <a:noFill/>
        </p:spPr>
        <p:txBody>
          <a:bodyPr wrap="square" lIns="0" rIns="0" tIns="0" bIns="0" anchor="t">
            <a:noAutofit/>
          </a:bodyPr>
          <a:lstStyle/>
          <a:p>
            <a:pPr algn="l">
              <a:lnSpc>
                <a:spcPct val="104000"/>
              </a:lnSpc>
              <a:spcBef>
                <a:spcPts val="0"/>
              </a:spcBef>
              <a:spcAft>
                <a:spcPts val="0"/>
              </a:spcAft>
            </a:pPr>
            <a:r>
              <a:rPr sz="1600" b="0">
                <a:solidFill>
                  <a:srgbClr val="121610"/>
                </a:solidFill>
                <a:latin typeface="Inter"/>
              </a:rPr>
              <a:t>No: useful bytes / transaction bytes in one guide example.</a:t>
            </a:r>
          </a:p>
        </p:txBody>
      </p:sp>
      <p:sp>
        <p:nvSpPr>
          <p:cNvPr id="23" name="Rectangle 22"/>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An accurate explanation must preserve the assumptions of the example.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APPENDIX / SOURCE MAP</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Find the original figure in the supplied NVIDIA guide</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CUDA Programming Guide, Release 13.4.2, 10 September 2026 · page numbers below are PDF page numbers.</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53</a:t>
            </a:r>
          </a:p>
        </p:txBody>
      </p:sp>
      <p:sp>
        <p:nvSpPr>
          <p:cNvPr id="8" name="Rectangle 7"/>
          <p:cNvSpPr/>
          <p:nvPr/>
        </p:nvSpPr>
        <p:spPr>
          <a:xfrm>
            <a:off x="621792" y="1865376"/>
            <a:ext cx="10954512" cy="347472"/>
          </a:xfrm>
          <a:prstGeom prst="rect">
            <a:avLst/>
          </a:prstGeom>
          <a:solidFill>
            <a:srgbClr val="1216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49808" y="1938528"/>
            <a:ext cx="118872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FFFFFF"/>
                </a:solidFill>
                <a:latin typeface="Inter"/>
              </a:rPr>
              <a:t>FIGURE</a:t>
            </a:r>
          </a:p>
        </p:txBody>
      </p:sp>
      <p:sp>
        <p:nvSpPr>
          <p:cNvPr id="10" name="TextBox 9"/>
          <p:cNvSpPr txBox="1"/>
          <p:nvPr/>
        </p:nvSpPr>
        <p:spPr>
          <a:xfrm>
            <a:off x="2167128" y="1938528"/>
            <a:ext cx="7918704"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FFFFFF"/>
                </a:solidFill>
                <a:latin typeface="Inter"/>
              </a:rPr>
              <a:t>SUBJECT</a:t>
            </a:r>
          </a:p>
        </p:txBody>
      </p:sp>
      <p:sp>
        <p:nvSpPr>
          <p:cNvPr id="11" name="TextBox 10"/>
          <p:cNvSpPr txBox="1"/>
          <p:nvPr/>
        </p:nvSpPr>
        <p:spPr>
          <a:xfrm>
            <a:off x="10314432" y="1938528"/>
            <a:ext cx="1161288"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FFFFFF"/>
                </a:solidFill>
                <a:latin typeface="Inter"/>
              </a:rPr>
              <a:t>PDF PAGE</a:t>
            </a:r>
          </a:p>
        </p:txBody>
      </p:sp>
      <p:sp>
        <p:nvSpPr>
          <p:cNvPr id="12" name="Rectangle 11"/>
          <p:cNvSpPr/>
          <p:nvPr/>
        </p:nvSpPr>
        <p:spPr>
          <a:xfrm>
            <a:off x="621792" y="2212848"/>
            <a:ext cx="10954512" cy="502920"/>
          </a:xfrm>
          <a:prstGeom prst="rect">
            <a:avLst/>
          </a:prstGeom>
          <a:solidFill>
            <a:srgbClr val="F0F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9808" y="2350008"/>
            <a:ext cx="1170432" cy="320040"/>
          </a:xfrm>
          <a:prstGeom prst="rect">
            <a:avLst/>
          </a:prstGeom>
          <a:noFill/>
        </p:spPr>
        <p:txBody>
          <a:bodyPr wrap="square" lIns="0" rIns="0" tIns="0" bIns="0" anchor="t">
            <a:noAutofit/>
          </a:bodyPr>
          <a:lstStyle/>
          <a:p>
            <a:pPr algn="l">
              <a:lnSpc>
                <a:spcPct val="104000"/>
              </a:lnSpc>
              <a:spcBef>
                <a:spcPts val="0"/>
              </a:spcBef>
              <a:spcAft>
                <a:spcPts val="0"/>
              </a:spcAft>
            </a:pPr>
            <a:r>
              <a:rPr sz="1680" b="1">
                <a:solidFill>
                  <a:srgbClr val="466B00"/>
                </a:solidFill>
                <a:latin typeface="Inter"/>
              </a:rPr>
              <a:t>Cover</a:t>
            </a:r>
          </a:p>
        </p:txBody>
      </p:sp>
      <p:sp>
        <p:nvSpPr>
          <p:cNvPr id="14" name="TextBox 13"/>
          <p:cNvSpPr txBox="1"/>
          <p:nvPr/>
        </p:nvSpPr>
        <p:spPr>
          <a:xfrm>
            <a:off x="2167128" y="2350008"/>
            <a:ext cx="7900416" cy="320040"/>
          </a:xfrm>
          <a:prstGeom prst="rect">
            <a:avLst/>
          </a:prstGeom>
          <a:noFill/>
        </p:spPr>
        <p:txBody>
          <a:bodyPr wrap="square" lIns="0" rIns="0" tIns="0" bIns="0" anchor="t">
            <a:noAutofit/>
          </a:bodyPr>
          <a:lstStyle/>
          <a:p>
            <a:pPr algn="l">
              <a:lnSpc>
                <a:spcPct val="104000"/>
              </a:lnSpc>
              <a:spcBef>
                <a:spcPts val="0"/>
              </a:spcBef>
              <a:spcAft>
                <a:spcPts val="0"/>
              </a:spcAft>
            </a:pPr>
            <a:r>
              <a:rPr sz="1680" b="0">
                <a:solidFill>
                  <a:srgbClr val="121610"/>
                </a:solidFill>
                <a:latin typeface="Inter"/>
              </a:rPr>
              <a:t>CUDA artwork</a:t>
            </a:r>
          </a:p>
        </p:txBody>
      </p:sp>
      <p:sp>
        <p:nvSpPr>
          <p:cNvPr id="15" name="TextBox 14"/>
          <p:cNvSpPr txBox="1"/>
          <p:nvPr/>
        </p:nvSpPr>
        <p:spPr>
          <a:xfrm>
            <a:off x="10314432" y="2350008"/>
            <a:ext cx="1143000" cy="320040"/>
          </a:xfrm>
          <a:prstGeom prst="rect">
            <a:avLst/>
          </a:prstGeom>
          <a:noFill/>
        </p:spPr>
        <p:txBody>
          <a:bodyPr wrap="square" lIns="0" rIns="0" tIns="0" bIns="0" anchor="t">
            <a:noAutofit/>
          </a:bodyPr>
          <a:lstStyle/>
          <a:p>
            <a:pPr algn="l">
              <a:lnSpc>
                <a:spcPct val="104000"/>
              </a:lnSpc>
              <a:spcBef>
                <a:spcPts val="0"/>
              </a:spcBef>
              <a:spcAft>
                <a:spcPts val="0"/>
              </a:spcAft>
            </a:pPr>
            <a:r>
              <a:rPr sz="1680" b="0">
                <a:solidFill>
                  <a:srgbClr val="121610"/>
                </a:solidFill>
                <a:latin typeface="Inter"/>
              </a:rPr>
              <a:t>1</a:t>
            </a:r>
          </a:p>
        </p:txBody>
      </p:sp>
      <p:sp>
        <p:nvSpPr>
          <p:cNvPr id="16" name="TextBox 15"/>
          <p:cNvSpPr txBox="1"/>
          <p:nvPr/>
        </p:nvSpPr>
        <p:spPr>
          <a:xfrm>
            <a:off x="749808" y="2852927"/>
            <a:ext cx="1170432" cy="320040"/>
          </a:xfrm>
          <a:prstGeom prst="rect">
            <a:avLst/>
          </a:prstGeom>
          <a:noFill/>
        </p:spPr>
        <p:txBody>
          <a:bodyPr wrap="square" lIns="0" rIns="0" tIns="0" bIns="0" anchor="t">
            <a:noAutofit/>
          </a:bodyPr>
          <a:lstStyle/>
          <a:p>
            <a:pPr algn="l">
              <a:lnSpc>
                <a:spcPct val="104000"/>
              </a:lnSpc>
              <a:spcBef>
                <a:spcPts val="0"/>
              </a:spcBef>
              <a:spcAft>
                <a:spcPts val="0"/>
              </a:spcAft>
            </a:pPr>
            <a:r>
              <a:rPr sz="1680" b="1">
                <a:solidFill>
                  <a:srgbClr val="466B00"/>
                </a:solidFill>
                <a:latin typeface="Inter"/>
              </a:rPr>
              <a:t>1–4</a:t>
            </a:r>
          </a:p>
        </p:txBody>
      </p:sp>
      <p:sp>
        <p:nvSpPr>
          <p:cNvPr id="17" name="TextBox 16"/>
          <p:cNvSpPr txBox="1"/>
          <p:nvPr/>
        </p:nvSpPr>
        <p:spPr>
          <a:xfrm>
            <a:off x="2167128" y="2852927"/>
            <a:ext cx="7900416" cy="320040"/>
          </a:xfrm>
          <a:prstGeom prst="rect">
            <a:avLst/>
          </a:prstGeom>
          <a:noFill/>
        </p:spPr>
        <p:txBody>
          <a:bodyPr wrap="square" lIns="0" rIns="0" tIns="0" bIns="0" anchor="t">
            <a:noAutofit/>
          </a:bodyPr>
          <a:lstStyle/>
          <a:p>
            <a:pPr algn="l">
              <a:lnSpc>
                <a:spcPct val="104000"/>
              </a:lnSpc>
              <a:spcBef>
                <a:spcPts val="0"/>
              </a:spcBef>
              <a:spcAft>
                <a:spcPts val="0"/>
              </a:spcAft>
            </a:pPr>
            <a:r>
              <a:rPr sz="1680" b="0">
                <a:solidFill>
                  <a:srgbClr val="121610"/>
                </a:solidFill>
                <a:latin typeface="Inter"/>
              </a:rPr>
              <a:t>CPU/GPU, system, grid and scheduling</a:t>
            </a:r>
          </a:p>
        </p:txBody>
      </p:sp>
      <p:sp>
        <p:nvSpPr>
          <p:cNvPr id="18" name="TextBox 17"/>
          <p:cNvSpPr txBox="1"/>
          <p:nvPr/>
        </p:nvSpPr>
        <p:spPr>
          <a:xfrm>
            <a:off x="10314432" y="2852927"/>
            <a:ext cx="1143000" cy="320040"/>
          </a:xfrm>
          <a:prstGeom prst="rect">
            <a:avLst/>
          </a:prstGeom>
          <a:noFill/>
        </p:spPr>
        <p:txBody>
          <a:bodyPr wrap="square" lIns="0" rIns="0" tIns="0" bIns="0" anchor="t">
            <a:noAutofit/>
          </a:bodyPr>
          <a:lstStyle/>
          <a:p>
            <a:pPr algn="l">
              <a:lnSpc>
                <a:spcPct val="104000"/>
              </a:lnSpc>
              <a:spcBef>
                <a:spcPts val="0"/>
              </a:spcBef>
              <a:spcAft>
                <a:spcPts val="0"/>
              </a:spcAft>
            </a:pPr>
            <a:r>
              <a:rPr sz="1680" b="0">
                <a:solidFill>
                  <a:srgbClr val="121610"/>
                </a:solidFill>
                <a:latin typeface="Inter"/>
              </a:rPr>
              <a:t>22, 24, 26</a:t>
            </a:r>
          </a:p>
        </p:txBody>
      </p:sp>
      <p:sp>
        <p:nvSpPr>
          <p:cNvPr id="19" name="Rectangle 18"/>
          <p:cNvSpPr/>
          <p:nvPr/>
        </p:nvSpPr>
        <p:spPr>
          <a:xfrm>
            <a:off x="621792" y="3218687"/>
            <a:ext cx="10954512" cy="502920"/>
          </a:xfrm>
          <a:prstGeom prst="rect">
            <a:avLst/>
          </a:prstGeom>
          <a:solidFill>
            <a:srgbClr val="F0F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49808" y="3355847"/>
            <a:ext cx="1170432" cy="320040"/>
          </a:xfrm>
          <a:prstGeom prst="rect">
            <a:avLst/>
          </a:prstGeom>
          <a:noFill/>
        </p:spPr>
        <p:txBody>
          <a:bodyPr wrap="square" lIns="0" rIns="0" tIns="0" bIns="0" anchor="t">
            <a:noAutofit/>
          </a:bodyPr>
          <a:lstStyle/>
          <a:p>
            <a:pPr algn="l">
              <a:lnSpc>
                <a:spcPct val="104000"/>
              </a:lnSpc>
              <a:spcBef>
                <a:spcPts val="0"/>
              </a:spcBef>
              <a:spcAft>
                <a:spcPts val="0"/>
              </a:spcAft>
            </a:pPr>
            <a:r>
              <a:rPr sz="1680" b="1">
                <a:solidFill>
                  <a:srgbClr val="466B00"/>
                </a:solidFill>
                <a:latin typeface="Inter"/>
              </a:rPr>
              <a:t>7–8</a:t>
            </a:r>
          </a:p>
        </p:txBody>
      </p:sp>
      <p:sp>
        <p:nvSpPr>
          <p:cNvPr id="21" name="TextBox 20"/>
          <p:cNvSpPr txBox="1"/>
          <p:nvPr/>
        </p:nvSpPr>
        <p:spPr>
          <a:xfrm>
            <a:off x="2167128" y="3355847"/>
            <a:ext cx="7900416" cy="320040"/>
          </a:xfrm>
          <a:prstGeom prst="rect">
            <a:avLst/>
          </a:prstGeom>
          <a:noFill/>
        </p:spPr>
        <p:txBody>
          <a:bodyPr wrap="square" lIns="0" rIns="0" tIns="0" bIns="0" anchor="t">
            <a:noAutofit/>
          </a:bodyPr>
          <a:lstStyle/>
          <a:p>
            <a:pPr algn="l">
              <a:lnSpc>
                <a:spcPct val="104000"/>
              </a:lnSpc>
              <a:spcBef>
                <a:spcPts val="0"/>
              </a:spcBef>
              <a:spcAft>
                <a:spcPts val="0"/>
              </a:spcAft>
            </a:pPr>
            <a:r>
              <a:rPr sz="1680" b="0">
                <a:solidFill>
                  <a:srgbClr val="121610"/>
                </a:solidFill>
                <a:latin typeface="Inter"/>
              </a:rPr>
              <a:t>Warp lanes and SIMT/tile comparison</a:t>
            </a:r>
          </a:p>
        </p:txBody>
      </p:sp>
      <p:sp>
        <p:nvSpPr>
          <p:cNvPr id="22" name="TextBox 21"/>
          <p:cNvSpPr txBox="1"/>
          <p:nvPr/>
        </p:nvSpPr>
        <p:spPr>
          <a:xfrm>
            <a:off x="10314432" y="3355847"/>
            <a:ext cx="1143000" cy="320040"/>
          </a:xfrm>
          <a:prstGeom prst="rect">
            <a:avLst/>
          </a:prstGeom>
          <a:noFill/>
        </p:spPr>
        <p:txBody>
          <a:bodyPr wrap="square" lIns="0" rIns="0" tIns="0" bIns="0" anchor="t">
            <a:noAutofit/>
          </a:bodyPr>
          <a:lstStyle/>
          <a:p>
            <a:pPr algn="l">
              <a:lnSpc>
                <a:spcPct val="104000"/>
              </a:lnSpc>
              <a:spcBef>
                <a:spcPts val="0"/>
              </a:spcBef>
              <a:spcAft>
                <a:spcPts val="0"/>
              </a:spcAft>
            </a:pPr>
            <a:r>
              <a:rPr sz="1680" b="0">
                <a:solidFill>
                  <a:srgbClr val="121610"/>
                </a:solidFill>
                <a:latin typeface="Inter"/>
              </a:rPr>
              <a:t>29</a:t>
            </a:r>
          </a:p>
        </p:txBody>
      </p:sp>
      <p:sp>
        <p:nvSpPr>
          <p:cNvPr id="23" name="TextBox 22"/>
          <p:cNvSpPr txBox="1"/>
          <p:nvPr/>
        </p:nvSpPr>
        <p:spPr>
          <a:xfrm>
            <a:off x="749808" y="3858768"/>
            <a:ext cx="1170432" cy="320040"/>
          </a:xfrm>
          <a:prstGeom prst="rect">
            <a:avLst/>
          </a:prstGeom>
          <a:noFill/>
        </p:spPr>
        <p:txBody>
          <a:bodyPr wrap="square" lIns="0" rIns="0" tIns="0" bIns="0" anchor="t">
            <a:noAutofit/>
          </a:bodyPr>
          <a:lstStyle/>
          <a:p>
            <a:pPr algn="l">
              <a:lnSpc>
                <a:spcPct val="104000"/>
              </a:lnSpc>
              <a:spcBef>
                <a:spcPts val="0"/>
              </a:spcBef>
              <a:spcAft>
                <a:spcPts val="0"/>
              </a:spcAft>
            </a:pPr>
            <a:r>
              <a:rPr sz="1680" b="1">
                <a:solidFill>
                  <a:srgbClr val="466B00"/>
                </a:solidFill>
                <a:latin typeface="Inter"/>
              </a:rPr>
              <a:t>10</a:t>
            </a:r>
          </a:p>
        </p:txBody>
      </p:sp>
      <p:sp>
        <p:nvSpPr>
          <p:cNvPr id="24" name="TextBox 23"/>
          <p:cNvSpPr txBox="1"/>
          <p:nvPr/>
        </p:nvSpPr>
        <p:spPr>
          <a:xfrm>
            <a:off x="2167128" y="3858768"/>
            <a:ext cx="7900416" cy="320040"/>
          </a:xfrm>
          <a:prstGeom prst="rect">
            <a:avLst/>
          </a:prstGeom>
          <a:noFill/>
        </p:spPr>
        <p:txBody>
          <a:bodyPr wrap="square" lIns="0" rIns="0" tIns="0" bIns="0" anchor="t">
            <a:noAutofit/>
          </a:bodyPr>
          <a:lstStyle/>
          <a:p>
            <a:pPr algn="l">
              <a:lnSpc>
                <a:spcPct val="104000"/>
              </a:lnSpc>
              <a:spcBef>
                <a:spcPts val="0"/>
              </a:spcBef>
              <a:spcAft>
                <a:spcPts val="0"/>
              </a:spcAft>
            </a:pPr>
            <a:r>
              <a:rPr sz="1680" b="0">
                <a:solidFill>
                  <a:srgbClr val="121610"/>
                </a:solidFill>
                <a:latin typeface="Inter"/>
              </a:rPr>
              <a:t>Fatbin container</a:t>
            </a:r>
          </a:p>
        </p:txBody>
      </p:sp>
      <p:sp>
        <p:nvSpPr>
          <p:cNvPr id="25" name="TextBox 24"/>
          <p:cNvSpPr txBox="1"/>
          <p:nvPr/>
        </p:nvSpPr>
        <p:spPr>
          <a:xfrm>
            <a:off x="10314432" y="3858768"/>
            <a:ext cx="1143000" cy="320040"/>
          </a:xfrm>
          <a:prstGeom prst="rect">
            <a:avLst/>
          </a:prstGeom>
          <a:noFill/>
        </p:spPr>
        <p:txBody>
          <a:bodyPr wrap="square" lIns="0" rIns="0" tIns="0" bIns="0" anchor="t">
            <a:noAutofit/>
          </a:bodyPr>
          <a:lstStyle/>
          <a:p>
            <a:pPr algn="l">
              <a:lnSpc>
                <a:spcPct val="104000"/>
              </a:lnSpc>
              <a:spcBef>
                <a:spcPts val="0"/>
              </a:spcBef>
              <a:spcAft>
                <a:spcPts val="0"/>
              </a:spcAft>
            </a:pPr>
            <a:r>
              <a:rPr sz="1680" b="0">
                <a:solidFill>
                  <a:srgbClr val="121610"/>
                </a:solidFill>
                <a:latin typeface="Inter"/>
              </a:rPr>
              <a:t>35</a:t>
            </a:r>
          </a:p>
        </p:txBody>
      </p:sp>
      <p:sp>
        <p:nvSpPr>
          <p:cNvPr id="26" name="Rectangle 25"/>
          <p:cNvSpPr/>
          <p:nvPr/>
        </p:nvSpPr>
        <p:spPr>
          <a:xfrm>
            <a:off x="621792" y="4224527"/>
            <a:ext cx="10954512" cy="502920"/>
          </a:xfrm>
          <a:prstGeom prst="rect">
            <a:avLst/>
          </a:prstGeom>
          <a:solidFill>
            <a:srgbClr val="F0F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749808" y="4361688"/>
            <a:ext cx="1170432" cy="320040"/>
          </a:xfrm>
          <a:prstGeom prst="rect">
            <a:avLst/>
          </a:prstGeom>
          <a:noFill/>
        </p:spPr>
        <p:txBody>
          <a:bodyPr wrap="square" lIns="0" rIns="0" tIns="0" bIns="0" anchor="t">
            <a:noAutofit/>
          </a:bodyPr>
          <a:lstStyle/>
          <a:p>
            <a:pPr algn="l">
              <a:lnSpc>
                <a:spcPct val="104000"/>
              </a:lnSpc>
              <a:spcBef>
                <a:spcPts val="0"/>
              </a:spcBef>
              <a:spcAft>
                <a:spcPts val="0"/>
              </a:spcAft>
            </a:pPr>
            <a:r>
              <a:rPr sz="1680" b="1">
                <a:solidFill>
                  <a:srgbClr val="466B00"/>
                </a:solidFill>
                <a:latin typeface="Inter"/>
              </a:rPr>
              <a:t>12–14</a:t>
            </a:r>
          </a:p>
        </p:txBody>
      </p:sp>
      <p:sp>
        <p:nvSpPr>
          <p:cNvPr id="28" name="TextBox 27"/>
          <p:cNvSpPr txBox="1"/>
          <p:nvPr/>
        </p:nvSpPr>
        <p:spPr>
          <a:xfrm>
            <a:off x="2167128" y="4361688"/>
            <a:ext cx="7900416" cy="320040"/>
          </a:xfrm>
          <a:prstGeom prst="rect">
            <a:avLst/>
          </a:prstGeom>
          <a:noFill/>
        </p:spPr>
        <p:txBody>
          <a:bodyPr wrap="square" lIns="0" rIns="0" tIns="0" bIns="0" anchor="t">
            <a:noAutofit/>
          </a:bodyPr>
          <a:lstStyle/>
          <a:p>
            <a:pPr algn="l">
              <a:lnSpc>
                <a:spcPct val="104000"/>
              </a:lnSpc>
              <a:spcBef>
                <a:spcPts val="0"/>
              </a:spcBef>
              <a:spcAft>
                <a:spcPts val="0"/>
              </a:spcAft>
            </a:pPr>
            <a:r>
              <a:rPr sz="1680" b="0">
                <a:solidFill>
                  <a:srgbClr val="121610"/>
                </a:solidFill>
                <a:latin typeface="Inter"/>
              </a:rPr>
              <a:t>Coalesced access, scattered access, transpose</a:t>
            </a:r>
          </a:p>
        </p:txBody>
      </p:sp>
      <p:sp>
        <p:nvSpPr>
          <p:cNvPr id="29" name="TextBox 28"/>
          <p:cNvSpPr txBox="1"/>
          <p:nvPr/>
        </p:nvSpPr>
        <p:spPr>
          <a:xfrm>
            <a:off x="10314432" y="4361688"/>
            <a:ext cx="1143000" cy="320040"/>
          </a:xfrm>
          <a:prstGeom prst="rect">
            <a:avLst/>
          </a:prstGeom>
          <a:noFill/>
        </p:spPr>
        <p:txBody>
          <a:bodyPr wrap="square" lIns="0" rIns="0" tIns="0" bIns="0" anchor="t">
            <a:noAutofit/>
          </a:bodyPr>
          <a:lstStyle/>
          <a:p>
            <a:pPr algn="l">
              <a:lnSpc>
                <a:spcPct val="104000"/>
              </a:lnSpc>
              <a:spcBef>
                <a:spcPts val="0"/>
              </a:spcBef>
              <a:spcAft>
                <a:spcPts val="0"/>
              </a:spcAft>
            </a:pPr>
            <a:r>
              <a:rPr sz="1680" b="0">
                <a:solidFill>
                  <a:srgbClr val="121610"/>
                </a:solidFill>
                <a:latin typeface="Inter"/>
              </a:rPr>
              <a:t>77, 79</a:t>
            </a:r>
          </a:p>
        </p:txBody>
      </p:sp>
      <p:sp>
        <p:nvSpPr>
          <p:cNvPr id="30" name="TextBox 29"/>
          <p:cNvSpPr txBox="1"/>
          <p:nvPr/>
        </p:nvSpPr>
        <p:spPr>
          <a:xfrm>
            <a:off x="749808" y="4864607"/>
            <a:ext cx="1170432" cy="320040"/>
          </a:xfrm>
          <a:prstGeom prst="rect">
            <a:avLst/>
          </a:prstGeom>
          <a:noFill/>
        </p:spPr>
        <p:txBody>
          <a:bodyPr wrap="square" lIns="0" rIns="0" tIns="0" bIns="0" anchor="t">
            <a:noAutofit/>
          </a:bodyPr>
          <a:lstStyle/>
          <a:p>
            <a:pPr algn="l">
              <a:lnSpc>
                <a:spcPct val="104000"/>
              </a:lnSpc>
              <a:spcBef>
                <a:spcPts val="0"/>
              </a:spcBef>
              <a:spcAft>
                <a:spcPts val="0"/>
              </a:spcAft>
            </a:pPr>
            <a:r>
              <a:rPr sz="1680" b="1">
                <a:solidFill>
                  <a:srgbClr val="466B00"/>
                </a:solidFill>
                <a:latin typeface="Inter"/>
              </a:rPr>
              <a:t>17–18</a:t>
            </a:r>
          </a:p>
        </p:txBody>
      </p:sp>
      <p:sp>
        <p:nvSpPr>
          <p:cNvPr id="31" name="TextBox 30"/>
          <p:cNvSpPr txBox="1"/>
          <p:nvPr/>
        </p:nvSpPr>
        <p:spPr>
          <a:xfrm>
            <a:off x="2167128" y="4864607"/>
            <a:ext cx="7900416" cy="320040"/>
          </a:xfrm>
          <a:prstGeom prst="rect">
            <a:avLst/>
          </a:prstGeom>
          <a:noFill/>
        </p:spPr>
        <p:txBody>
          <a:bodyPr wrap="square" lIns="0" rIns="0" tIns="0" bIns="0" anchor="t">
            <a:noAutofit/>
          </a:bodyPr>
          <a:lstStyle/>
          <a:p>
            <a:pPr algn="l">
              <a:lnSpc>
                <a:spcPct val="104000"/>
              </a:lnSpc>
              <a:spcBef>
                <a:spcPts val="0"/>
              </a:spcBef>
              <a:spcAft>
                <a:spcPts val="0"/>
              </a:spcAft>
            </a:pPr>
            <a:r>
              <a:rPr sz="1680" b="0">
                <a:solidFill>
                  <a:srgbClr val="121610"/>
                </a:solidFill>
                <a:latin typeface="Inter"/>
              </a:rPr>
              <a:t>Shared-memory bank mapping and padding</a:t>
            </a:r>
          </a:p>
        </p:txBody>
      </p:sp>
      <p:sp>
        <p:nvSpPr>
          <p:cNvPr id="32" name="TextBox 31"/>
          <p:cNvSpPr txBox="1"/>
          <p:nvPr/>
        </p:nvSpPr>
        <p:spPr>
          <a:xfrm>
            <a:off x="10314432" y="4864607"/>
            <a:ext cx="1143000" cy="320040"/>
          </a:xfrm>
          <a:prstGeom prst="rect">
            <a:avLst/>
          </a:prstGeom>
          <a:noFill/>
        </p:spPr>
        <p:txBody>
          <a:bodyPr wrap="square" lIns="0" rIns="0" tIns="0" bIns="0" anchor="t">
            <a:noAutofit/>
          </a:bodyPr>
          <a:lstStyle/>
          <a:p>
            <a:pPr algn="l">
              <a:lnSpc>
                <a:spcPct val="104000"/>
              </a:lnSpc>
              <a:spcBef>
                <a:spcPts val="0"/>
              </a:spcBef>
              <a:spcAft>
                <a:spcPts val="0"/>
              </a:spcAft>
            </a:pPr>
            <a:r>
              <a:rPr sz="1680" b="0">
                <a:solidFill>
                  <a:srgbClr val="121610"/>
                </a:solidFill>
                <a:latin typeface="Inter"/>
              </a:rPr>
              <a:t>86, 88</a:t>
            </a:r>
          </a:p>
        </p:txBody>
      </p:sp>
      <p:sp>
        <p:nvSpPr>
          <p:cNvPr id="33" name="TextBox 32"/>
          <p:cNvSpPr txBox="1"/>
          <p:nvPr/>
        </p:nvSpPr>
        <p:spPr>
          <a:xfrm>
            <a:off x="758952" y="5422392"/>
            <a:ext cx="10689336" cy="594360"/>
          </a:xfrm>
          <a:prstGeom prst="rect">
            <a:avLst/>
          </a:prstGeom>
          <a:noFill/>
        </p:spPr>
        <p:txBody>
          <a:bodyPr wrap="square" lIns="0" rIns="0" tIns="0" bIns="0" anchor="t">
            <a:noAutofit/>
          </a:bodyPr>
          <a:lstStyle/>
          <a:p>
            <a:pPr algn="l">
              <a:lnSpc>
                <a:spcPct val="114000"/>
              </a:lnSpc>
              <a:spcBef>
                <a:spcPts val="0"/>
              </a:spcBef>
              <a:spcAft>
                <a:spcPts val="0"/>
              </a:spcAft>
            </a:pPr>
            <a:r>
              <a:rPr sz="1500" b="0">
                <a:solidFill>
                  <a:srgbClr val="5A6358"/>
                </a:solidFill>
                <a:latin typeface="Inter"/>
              </a:rPr>
              <a:t>Text and code also refer to §§1.2, 1.3, 2.1, 2.3 and 2.5.</a:t>
            </a:r>
          </a:p>
          <a:p>
            <a:pPr algn="l">
              <a:lnSpc>
                <a:spcPct val="114000"/>
              </a:lnSpc>
              <a:spcBef>
                <a:spcPts val="0"/>
              </a:spcBef>
              <a:spcAft>
                <a:spcPts val="0"/>
              </a:spcAft>
            </a:pPr>
            <a:r>
              <a:rPr sz="1500" b="0">
                <a:solidFill>
                  <a:srgbClr val="5A6358"/>
                </a:solidFill>
                <a:latin typeface="Inter"/>
              </a:rPr>
              <a:t>Course-specific examples and Bazel commands are labelled separately.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12064" y="347472"/>
            <a:ext cx="10881360" cy="219456"/>
          </a:xfrm>
          <a:prstGeom prst="rect">
            <a:avLst/>
          </a:prstGeom>
          <a:noFill/>
        </p:spPr>
        <p:txBody>
          <a:bodyPr wrap="square" lIns="0" rIns="0" tIns="0" bIns="0" anchor="t">
            <a:noAutofit/>
          </a:bodyPr>
          <a:lstStyle/>
          <a:p>
            <a:pPr algn="l">
              <a:lnSpc>
                <a:spcPct val="114000"/>
              </a:lnSpc>
              <a:spcBef>
                <a:spcPts val="0"/>
              </a:spcBef>
              <a:spcAft>
                <a:spcPts val="0"/>
              </a:spcAft>
            </a:pPr>
            <a:r>
              <a:rPr sz="1000" b="1">
                <a:solidFill>
                  <a:srgbClr val="5A6358"/>
                </a:solidFill>
                <a:latin typeface="Inter"/>
              </a:rPr>
              <a:t>APPENDIX / CREDITS</a:t>
            </a:r>
          </a:p>
        </p:txBody>
      </p:sp>
      <p:sp>
        <p:nvSpPr>
          <p:cNvPr id="3" name="TextBox 2"/>
          <p:cNvSpPr txBox="1"/>
          <p:nvPr/>
        </p:nvSpPr>
        <p:spPr>
          <a:xfrm>
            <a:off x="512064" y="859536"/>
            <a:ext cx="11018520" cy="932688"/>
          </a:xfrm>
          <a:prstGeom prst="rect">
            <a:avLst/>
          </a:prstGeom>
          <a:noFill/>
        </p:spPr>
        <p:txBody>
          <a:bodyPr wrap="square" lIns="0" rIns="0" tIns="0" bIns="0" anchor="t">
            <a:noAutofit/>
          </a:bodyPr>
          <a:lstStyle/>
          <a:p>
            <a:pPr algn="l">
              <a:lnSpc>
                <a:spcPct val="105000"/>
              </a:lnSpc>
              <a:spcBef>
                <a:spcPts val="0"/>
              </a:spcBef>
              <a:spcAft>
                <a:spcPts val="0"/>
              </a:spcAft>
            </a:pPr>
            <a:r>
              <a:rPr sz="3100" b="1">
                <a:solidFill>
                  <a:srgbClr val="121610"/>
                </a:solidFill>
                <a:latin typeface="Inter"/>
              </a:rPr>
              <a:t>Original NVIDIA artwork. Independent course material.</a:t>
            </a:r>
          </a:p>
        </p:txBody>
      </p:sp>
      <p:sp>
        <p:nvSpPr>
          <p:cNvPr id="4" name="Rectangle 3"/>
          <p:cNvSpPr/>
          <p:nvPr/>
        </p:nvSpPr>
        <p:spPr>
          <a:xfrm>
            <a:off x="502920" y="6432804"/>
            <a:ext cx="11173968" cy="8229"/>
          </a:xfrm>
          <a:prstGeom prst="rect">
            <a:avLst/>
          </a:prstGeom>
          <a:solidFill>
            <a:srgbClr val="D7DF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12064" y="6199632"/>
            <a:ext cx="11082528" cy="173736"/>
          </a:xfrm>
          <a:prstGeom prst="rect">
            <a:avLst/>
          </a:prstGeom>
          <a:noFill/>
        </p:spPr>
        <p:txBody>
          <a:bodyPr wrap="square" lIns="0" rIns="0" tIns="0" bIns="0" anchor="t">
            <a:noAutofit/>
          </a:bodyPr>
          <a:lstStyle/>
          <a:p>
            <a:pPr algn="l">
              <a:lnSpc>
                <a:spcPct val="114000"/>
              </a:lnSpc>
              <a:spcBef>
                <a:spcPts val="0"/>
              </a:spcBef>
              <a:spcAft>
                <a:spcPts val="0"/>
              </a:spcAft>
            </a:pPr>
            <a:r>
              <a:rPr sz="860" b="0">
                <a:solidFill>
                  <a:srgbClr val="5A6358"/>
                </a:solidFill>
                <a:latin typeface="Inter"/>
              </a:rPr>
              <a:t>Source PDF: CUDA Programming Guide, Release 13.4.2 · NVIDIA Corporation · 10 September 2026.</a:t>
            </a:r>
          </a:p>
        </p:txBody>
      </p:sp>
      <p:sp>
        <p:nvSpPr>
          <p:cNvPr id="6" name="TextBox 5"/>
          <p:cNvSpPr txBox="1"/>
          <p:nvPr/>
        </p:nvSpPr>
        <p:spPr>
          <a:xfrm>
            <a:off x="512064" y="6556248"/>
            <a:ext cx="8229600" cy="146304"/>
          </a:xfrm>
          <a:prstGeom prst="rect">
            <a:avLst/>
          </a:prstGeom>
          <a:noFill/>
        </p:spPr>
        <p:txBody>
          <a:bodyPr wrap="square" lIns="0" rIns="0" tIns="0" bIns="0" anchor="t">
            <a:noAutofit/>
          </a:bodyPr>
          <a:lstStyle/>
          <a:p>
            <a:pPr algn="l">
              <a:lnSpc>
                <a:spcPct val="114000"/>
              </a:lnSpc>
              <a:spcBef>
                <a:spcPts val="0"/>
              </a:spcBef>
              <a:spcAft>
                <a:spcPts val="0"/>
              </a:spcAft>
            </a:pPr>
            <a:r>
              <a:rPr sz="800" b="0">
                <a:solidFill>
                  <a:srgbClr val="5A6358"/>
                </a:solidFill>
                <a:latin typeface="Inter"/>
              </a:rPr>
              <a:t>FORMATION / INDEPENDENT CUDA TRAINING</a:t>
            </a:r>
          </a:p>
        </p:txBody>
      </p:sp>
      <p:sp>
        <p:nvSpPr>
          <p:cNvPr id="7" name="TextBox 6"/>
          <p:cNvSpPr txBox="1"/>
          <p:nvPr/>
        </p:nvSpPr>
        <p:spPr>
          <a:xfrm>
            <a:off x="11119104" y="6533388"/>
            <a:ext cx="512064" cy="182880"/>
          </a:xfrm>
          <a:prstGeom prst="rect">
            <a:avLst/>
          </a:prstGeom>
          <a:noFill/>
        </p:spPr>
        <p:txBody>
          <a:bodyPr wrap="square" lIns="0" rIns="0" tIns="0" bIns="0" anchor="t">
            <a:noAutofit/>
          </a:bodyPr>
          <a:lstStyle/>
          <a:p>
            <a:pPr algn="r">
              <a:lnSpc>
                <a:spcPct val="114000"/>
              </a:lnSpc>
              <a:spcBef>
                <a:spcPts val="0"/>
              </a:spcBef>
              <a:spcAft>
                <a:spcPts val="0"/>
              </a:spcAft>
            </a:pPr>
            <a:r>
              <a:rPr sz="1000" b="1">
                <a:solidFill>
                  <a:srgbClr val="121610"/>
                </a:solidFill>
                <a:latin typeface="Inter"/>
              </a:rPr>
              <a:t>54</a:t>
            </a:r>
          </a:p>
        </p:txBody>
      </p:sp>
      <p:sp>
        <p:nvSpPr>
          <p:cNvPr id="8" name="Rectangle 7"/>
          <p:cNvSpPr/>
          <p:nvPr/>
        </p:nvSpPr>
        <p:spPr>
          <a:xfrm>
            <a:off x="713232" y="1907165"/>
            <a:ext cx="4562856" cy="1525765"/>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ORIGINAL_NVIDIA_cover_PDF_page_1" descr="CUDA cover artwork; CUDA Programming Guide 13.4.2, PDF page 1, printed page cover. Extracted from embedded image xref 9; original colors and aspect ratio preserved."/>
          <p:cNvPicPr>
            <a:picLocks noChangeAspect="1"/>
          </p:cNvPicPr>
          <p:nvPr/>
        </p:nvPicPr>
        <p:blipFill>
          <a:blip r:embed="rId2"/>
          <a:stretch>
            <a:fillRect/>
          </a:stretch>
        </p:blipFill>
        <p:spPr>
          <a:xfrm>
            <a:off x="713232" y="1907165"/>
            <a:ext cx="4562856" cy="1525765"/>
          </a:xfrm>
          <a:prstGeom prst="rect">
            <a:avLst/>
          </a:prstGeom>
        </p:spPr>
      </p:pic>
      <p:sp>
        <p:nvSpPr>
          <p:cNvPr id="10" name="TextBox 9"/>
          <p:cNvSpPr txBox="1"/>
          <p:nvPr/>
        </p:nvSpPr>
        <p:spPr>
          <a:xfrm>
            <a:off x="758952" y="3511296"/>
            <a:ext cx="1056132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ILLUSTRATIONS</a:t>
            </a:r>
          </a:p>
        </p:txBody>
      </p:sp>
      <p:sp>
        <p:nvSpPr>
          <p:cNvPr id="11" name="TextBox 10"/>
          <p:cNvSpPr txBox="1"/>
          <p:nvPr/>
        </p:nvSpPr>
        <p:spPr>
          <a:xfrm>
            <a:off x="758952" y="3822191"/>
            <a:ext cx="10561320" cy="411480"/>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Original figures extracted from the uploaded guide.</a:t>
            </a:r>
          </a:p>
        </p:txBody>
      </p:sp>
      <p:sp>
        <p:nvSpPr>
          <p:cNvPr id="12" name="TextBox 11"/>
          <p:cNvSpPr txBox="1"/>
          <p:nvPr/>
        </p:nvSpPr>
        <p:spPr>
          <a:xfrm>
            <a:off x="758952" y="4242816"/>
            <a:ext cx="1056132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TEACHING MATERIAL</a:t>
            </a:r>
          </a:p>
        </p:txBody>
      </p:sp>
      <p:sp>
        <p:nvSpPr>
          <p:cNvPr id="13" name="TextBox 12"/>
          <p:cNvSpPr txBox="1"/>
          <p:nvPr/>
        </p:nvSpPr>
        <p:spPr>
          <a:xfrm>
            <a:off x="758952" y="4553712"/>
            <a:ext cx="10561320" cy="411480"/>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Editable course text, examples, code and speaker notes.</a:t>
            </a:r>
          </a:p>
        </p:txBody>
      </p:sp>
      <p:sp>
        <p:nvSpPr>
          <p:cNvPr id="14" name="TextBox 13"/>
          <p:cNvSpPr txBox="1"/>
          <p:nvPr/>
        </p:nvSpPr>
        <p:spPr>
          <a:xfrm>
            <a:off x="758952" y="4974336"/>
            <a:ext cx="10561320" cy="246888"/>
          </a:xfrm>
          <a:prstGeom prst="rect">
            <a:avLst/>
          </a:prstGeom>
          <a:noFill/>
        </p:spPr>
        <p:txBody>
          <a:bodyPr wrap="square" lIns="0" rIns="0" tIns="0" bIns="0" anchor="t">
            <a:noAutofit/>
          </a:bodyPr>
          <a:lstStyle/>
          <a:p>
            <a:pPr algn="l">
              <a:lnSpc>
                <a:spcPct val="114000"/>
              </a:lnSpc>
              <a:spcBef>
                <a:spcPts val="0"/>
              </a:spcBef>
              <a:spcAft>
                <a:spcPts val="0"/>
              </a:spcAft>
            </a:pPr>
            <a:r>
              <a:rPr sz="1100" b="1">
                <a:solidFill>
                  <a:srgbClr val="76B900"/>
                </a:solidFill>
                <a:latin typeface="Inter"/>
              </a:rPr>
              <a:t>BOUNDARY</a:t>
            </a:r>
          </a:p>
        </p:txBody>
      </p:sp>
      <p:sp>
        <p:nvSpPr>
          <p:cNvPr id="15" name="TextBox 14"/>
          <p:cNvSpPr txBox="1"/>
          <p:nvPr/>
        </p:nvSpPr>
        <p:spPr>
          <a:xfrm>
            <a:off x="758952" y="5285231"/>
            <a:ext cx="10561320" cy="411480"/>
          </a:xfrm>
          <a:prstGeom prst="rect">
            <a:avLst/>
          </a:prstGeom>
          <a:noFill/>
        </p:spPr>
        <p:txBody>
          <a:bodyPr wrap="square" lIns="0" rIns="0" tIns="0" bIns="0" anchor="t">
            <a:noAutofit/>
          </a:bodyPr>
          <a:lstStyle/>
          <a:p>
            <a:pPr algn="l">
              <a:lnSpc>
                <a:spcPct val="114000"/>
              </a:lnSpc>
              <a:spcBef>
                <a:spcPts val="0"/>
              </a:spcBef>
              <a:spcAft>
                <a:spcPts val="0"/>
              </a:spcAft>
            </a:pPr>
            <a:r>
              <a:rPr sz="2000" b="0">
                <a:solidFill>
                  <a:srgbClr val="121610"/>
                </a:solidFill>
                <a:latin typeface="Inter"/>
              </a:rPr>
              <a:t>Independent training—not an official NVIDIA course.</a:t>
            </a:r>
          </a:p>
        </p:txBody>
      </p:sp>
      <p:sp>
        <p:nvSpPr>
          <p:cNvPr id="16" name="Rectangle 15"/>
          <p:cNvSpPr/>
          <p:nvPr/>
        </p:nvSpPr>
        <p:spPr>
          <a:xfrm>
            <a:off x="512064" y="5715000"/>
            <a:ext cx="11173968" cy="338328"/>
          </a:xfrm>
          <a:prstGeom prst="rect">
            <a:avLst/>
          </a:prstGeom>
          <a:solidFill>
            <a:srgbClr val="EAF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49224" y="5792724"/>
            <a:ext cx="10890504" cy="228600"/>
          </a:xfrm>
          <a:prstGeom prst="rect">
            <a:avLst/>
          </a:prstGeom>
          <a:noFill/>
        </p:spPr>
        <p:txBody>
          <a:bodyPr wrap="square" lIns="0" rIns="0" tIns="0" bIns="0" anchor="t">
            <a:noAutofit/>
          </a:bodyPr>
          <a:lstStyle/>
          <a:p>
            <a:pPr algn="l">
              <a:lnSpc>
                <a:spcPct val="114000"/>
              </a:lnSpc>
              <a:spcBef>
                <a:spcPts val="0"/>
              </a:spcBef>
              <a:spcAft>
                <a:spcPts val="0"/>
              </a:spcAft>
            </a:pPr>
            <a:r>
              <a:rPr sz="1200" b="1">
                <a:solidFill>
                  <a:srgbClr val="121610"/>
                </a:solidFill>
                <a:latin typeface="Inter"/>
              </a:rPr>
              <a:t>No redrawn technical illustrations, substitute images or custom chart artwork are included.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CUDA Foundations — Day 1 | Original NVIDIA Figures</dc:title>
  <dc:subject>Day 1 workshop, illustrated exclusively with NVIDIA artwork extracted from the supplied CUDA Programming Guide</dc:subject>
  <dc:creator>neudinger / formation</dc:creator>
  <cp:keywords>CUDA, NVIDIA, Day 1, official figures, programming model, SIMT, memory, transpose, reduction</cp:keywords>
  <dc:description>Independent training; NVIDIA illustrations are from the user-supplied Programming Guide, Release 13.4.2. No redrawn technical diagrams or generated chart artwork.</dc:description>
  <cp:lastModifiedBy>Steve Canny</cp:lastModifiedBy>
  <cp:revision>1</cp:revision>
  <dcterms:created xsi:type="dcterms:W3CDTF">2013-01-27T09:14:16Z</dcterms:created>
  <dcterms:modified xsi:type="dcterms:W3CDTF">2013-01-27T09:15:58Z</dcterms:modified>
  <cp:category/>
</cp:coreProperties>
</file>