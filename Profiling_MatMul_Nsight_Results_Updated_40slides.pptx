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3"/>
    <p:sldId id="296" r:id="rId4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<Relationship Id="rId43" Type="http://schemas.openxmlformats.org/officeDocument/2006/relationships/slide" Target="slides/slide40.xml"/><Relationship Id="rId44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315DCE-8299-4336-9830-5991CD74FDD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43C0AB-A7A6-44F6-BE9A-394353BEB3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DC4634-1971-4FD3-A0DC-FBAEFB4BB6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6B1AA2-8A47-47CA-9497-CE6883ECFBC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FD30B9-6275-4CB7-A238-5777D147A66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DAD906-F427-4994-BE3D-7783DE2D58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B21EFF-35DA-40AA-AA1A-6F2D32E30D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80BFAC-2461-4A88-87D6-D80E3CD3D7C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B422EC-1CE4-43CE-B564-3C35EE83AB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3BDC89-F944-4045-9C13-FEE5F0E8183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32FB81-A79A-46BC-BA72-D0F2BF2BB8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Profiling CUDA MatMul with real Nsight results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Project: //linear_algebra:matmul_benchmark  |  GPU: RTX 5090  |  CUDA 12.8 runtime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5"/>
          <p:cNvSpPr/>
          <p:nvPr/>
        </p:nvSpPr>
        <p:spPr>
          <a:xfrm>
            <a:off x="64008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68580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Bazel build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ight Arrow 7"/>
          <p:cNvSpPr/>
          <p:nvPr/>
        </p:nvSpPr>
        <p:spPr>
          <a:xfrm>
            <a:off x="232884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ounded Rectangle 8"/>
          <p:cNvSpPr/>
          <p:nvPr/>
        </p:nvSpPr>
        <p:spPr>
          <a:xfrm>
            <a:off x="245664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250236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Plain run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ight Arrow 10"/>
          <p:cNvSpPr/>
          <p:nvPr/>
        </p:nvSpPr>
        <p:spPr>
          <a:xfrm>
            <a:off x="414540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ounded Rectangle 11"/>
          <p:cNvSpPr/>
          <p:nvPr/>
        </p:nvSpPr>
        <p:spPr>
          <a:xfrm>
            <a:off x="427320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431892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ight Arrow 13"/>
          <p:cNvSpPr/>
          <p:nvPr/>
        </p:nvSpPr>
        <p:spPr>
          <a:xfrm>
            <a:off x="596196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ounded Rectangle 14"/>
          <p:cNvSpPr/>
          <p:nvPr/>
        </p:nvSpPr>
        <p:spPr>
          <a:xfrm>
            <a:off x="608976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15"/>
          <p:cNvSpPr/>
          <p:nvPr/>
        </p:nvSpPr>
        <p:spPr>
          <a:xfrm>
            <a:off x="613548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SQLite stats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ight Arrow 16"/>
          <p:cNvSpPr/>
          <p:nvPr/>
        </p:nvSpPr>
        <p:spPr>
          <a:xfrm>
            <a:off x="777852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ounded Rectangle 17"/>
          <p:cNvSpPr/>
          <p:nvPr/>
        </p:nvSpPr>
        <p:spPr>
          <a:xfrm>
            <a:off x="790668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8"/>
          <p:cNvSpPr/>
          <p:nvPr/>
        </p:nvSpPr>
        <p:spPr>
          <a:xfrm>
            <a:off x="795240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Compute attempt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ight Arrow 19"/>
          <p:cNvSpPr/>
          <p:nvPr/>
        </p:nvSpPr>
        <p:spPr>
          <a:xfrm>
            <a:off x="959508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ounded Rectangle 20"/>
          <p:cNvSpPr/>
          <p:nvPr/>
        </p:nvSpPr>
        <p:spPr>
          <a:xfrm>
            <a:off x="972324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1"/>
          <p:cNvSpPr/>
          <p:nvPr/>
        </p:nvSpPr>
        <p:spPr>
          <a:xfrm>
            <a:off x="976896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Optimization plan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2"/>
          <p:cNvSpPr/>
          <p:nvPr/>
        </p:nvSpPr>
        <p:spPr>
          <a:xfrm>
            <a:off x="822960" y="329184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Profiling converts benchmark intuition into evidence: API calls, copies, kernel durations, permissions, and next code changes.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3"/>
          <p:cNvSpPr/>
          <p:nvPr/>
        </p:nvSpPr>
        <p:spPr>
          <a:xfrm>
            <a:off x="822960" y="4114800"/>
            <a:ext cx="1033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Updated from README.md, benchmark_results.md, matmul_nsys.sqlite, and matmul_nsys.nsys-rep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Measurement environment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Every number in this section belongs to this machine and this benchmark size.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Table 5"/>
          <p:cNvGraphicFramePr/>
          <p:nvPr/>
        </p:nvGraphicFramePr>
        <p:xfrm>
          <a:off x="731520" y="1234440"/>
          <a:ext cx="5486040" cy="42058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Field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Observed value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GPU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NVIDIA GeForce RTX 5090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runtime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12.8 (12080)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driver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13.0 (13000)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 shape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M=256, N=256, K=256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 sample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512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87" name="Rounded Rectangle 6"/>
          <p:cNvSpPr/>
          <p:nvPr/>
        </p:nvSpPr>
        <p:spPr>
          <a:xfrm>
            <a:off x="6675120" y="1234440"/>
            <a:ext cx="4754520" cy="4205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6821280" y="1325880"/>
            <a:ext cx="4461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Interpretation boundary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6903720" y="1737360"/>
            <a:ext cx="42973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These are lab measurements, not final statistically stable results.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Small matrix sizes exaggerate fixed runtime and setup costs.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purpose is to teach how to separate app time, API overhead, data movement, and kernel time.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Tool availability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Start profiling by checking tool versions and missing tools.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5"/>
          <p:cNvSpPr/>
          <p:nvPr/>
        </p:nvSpPr>
        <p:spPr>
          <a:xfrm>
            <a:off x="731520" y="1234440"/>
            <a:ext cx="4845960" cy="155412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877680" y="1325880"/>
            <a:ext cx="4553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896040" y="1645920"/>
            <a:ext cx="45259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--version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ncu --version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command -v nvprof || true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7" name="Table 8"/>
          <p:cNvGraphicFramePr/>
          <p:nvPr/>
        </p:nvGraphicFramePr>
        <p:xfrm>
          <a:off x="5943600" y="1234440"/>
          <a:ext cx="5394600" cy="201168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Tool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Observed status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nsys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available, v2025.6.3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available, v2026.1.1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not installed on PATH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98" name="TextBox 9"/>
          <p:cNvSpPr/>
          <p:nvPr/>
        </p:nvSpPr>
        <p:spPr>
          <a:xfrm>
            <a:off x="822960" y="384048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Course decision: use Nsight Systems for application timelines and Nsight Compute for kernel metrics; treat nvprof as historical context only.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Profiler roles: choose the tool by question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Application timeline first; per-kernel counters second.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3" name="Table 5"/>
          <p:cNvGraphicFramePr/>
          <p:nvPr/>
        </p:nvGraphicFramePr>
        <p:xfrm>
          <a:off x="594360" y="1234440"/>
          <a:ext cx="10972440" cy="292608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Question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Tool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Evidence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Where is time going across the process?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Systems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API, memcpy, kernels over time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Why is this kernel slow?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occupancy, memory workload, warp stalls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What did older tutorials use?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legacy timeline/metrics command shape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104" name="Rounded Rectangle 6"/>
          <p:cNvSpPr/>
          <p:nvPr/>
        </p:nvSpPr>
        <p:spPr>
          <a:xfrm>
            <a:off x="64008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68580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Application run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ight Arrow 8"/>
          <p:cNvSpPr/>
          <p:nvPr/>
        </p:nvSpPr>
        <p:spPr>
          <a:xfrm>
            <a:off x="232884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ounded Rectangle 9"/>
          <p:cNvSpPr/>
          <p:nvPr/>
        </p:nvSpPr>
        <p:spPr>
          <a:xfrm>
            <a:off x="245664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250236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Timeline / API summary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ight Arrow 11"/>
          <p:cNvSpPr/>
          <p:nvPr/>
        </p:nvSpPr>
        <p:spPr>
          <a:xfrm>
            <a:off x="414540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ounded Rectangle 12"/>
          <p:cNvSpPr/>
          <p:nvPr/>
        </p:nvSpPr>
        <p:spPr>
          <a:xfrm>
            <a:off x="427320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431892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 metric report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ight Arrow 14"/>
          <p:cNvSpPr/>
          <p:nvPr/>
        </p:nvSpPr>
        <p:spPr>
          <a:xfrm>
            <a:off x="596196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ounded Rectangle 15"/>
          <p:cNvSpPr/>
          <p:nvPr/>
        </p:nvSpPr>
        <p:spPr>
          <a:xfrm>
            <a:off x="608976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6"/>
          <p:cNvSpPr/>
          <p:nvPr/>
        </p:nvSpPr>
        <p:spPr>
          <a:xfrm>
            <a:off x="613548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Hypothesis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ight Arrow 17"/>
          <p:cNvSpPr/>
          <p:nvPr/>
        </p:nvSpPr>
        <p:spPr>
          <a:xfrm>
            <a:off x="777852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ounded Rectangle 18"/>
          <p:cNvSpPr/>
          <p:nvPr/>
        </p:nvSpPr>
        <p:spPr>
          <a:xfrm>
            <a:off x="790668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9"/>
          <p:cNvSpPr/>
          <p:nvPr/>
        </p:nvSpPr>
        <p:spPr>
          <a:xfrm>
            <a:off x="795240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Code change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ight Arrow 20"/>
          <p:cNvSpPr/>
          <p:nvPr/>
        </p:nvSpPr>
        <p:spPr>
          <a:xfrm>
            <a:off x="959508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ounded Rectangle 21"/>
          <p:cNvSpPr/>
          <p:nvPr/>
        </p:nvSpPr>
        <p:spPr>
          <a:xfrm>
            <a:off x="972324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2"/>
          <p:cNvSpPr/>
          <p:nvPr/>
        </p:nvSpPr>
        <p:spPr>
          <a:xfrm>
            <a:off x="976896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Remeasure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Build the benchmark once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Profile the built executable, not the Bazel launcher.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5"/>
          <p:cNvSpPr/>
          <p:nvPr/>
        </p:nvSpPr>
        <p:spPr>
          <a:xfrm>
            <a:off x="731520" y="1280160"/>
            <a:ext cx="5577480" cy="191988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877680" y="1371600"/>
            <a:ext cx="528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Run path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896040" y="1691640"/>
            <a:ext cx="52574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cd projects/detailed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bazel build //linear_algebra:matmul_benchmark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bazel-bin/linear_algebra/matmul_benchmark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8"/>
          <p:cNvSpPr/>
          <p:nvPr/>
        </p:nvSpPr>
        <p:spPr>
          <a:xfrm>
            <a:off x="6720840" y="1280160"/>
            <a:ext cx="4571640" cy="1919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6867000" y="137160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Why this matters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6949440" y="1737360"/>
            <a:ext cx="4114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bazel run adds launcher behavior around the real binary.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Profiling the built binary gives a cleaner process trace.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target name still documents the build graph.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914400" y="4114800"/>
            <a:ext cx="1014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The profiler observes a process. Make that process the benchmark binary whenever possible.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Plain run output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This is the application-level benchmark before profiling.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5"/>
          <p:cNvSpPr/>
          <p:nvPr/>
        </p:nvSpPr>
        <p:spPr>
          <a:xfrm>
            <a:off x="731520" y="1234440"/>
            <a:ext cx="5120280" cy="237708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877680" y="132588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README sample output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896040" y="1645920"/>
            <a:ext cx="480024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shape      : M=256 N=256 K=256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cpu        : 39.414 ms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cuda basic : 242.505 ms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cuda tiled : 0.740 ms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sample     : 512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8"/>
          <p:cNvSpPr/>
          <p:nvPr/>
        </p:nvSpPr>
        <p:spPr>
          <a:xfrm>
            <a:off x="6309360" y="1234440"/>
            <a:ext cx="5211720" cy="23770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6455520" y="13258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What this mixes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6583680" y="1664280"/>
            <a:ext cx="4663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runtime/context setup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stream creation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allocation/free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host-to-device copies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kernel launches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device-to-host copies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synchronization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1"/>
          <p:cNvSpPr/>
          <p:nvPr/>
        </p:nvSpPr>
        <p:spPr>
          <a:xfrm>
            <a:off x="868680" y="429768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The first lesson is not “basic CUDA is 327x slower than tiled.” The first lesson is “app-level timing mixes many costs.”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Full course benchmark snapshot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This profiling lesson sits inside the full project measurement table.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5"/>
          <p:cNvSpPr/>
          <p:nvPr/>
        </p:nvSpPr>
        <p:spPr>
          <a:xfrm>
            <a:off x="594360" y="1143000"/>
            <a:ext cx="5394600" cy="48459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740520" y="123444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Vector add app times (ms)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7"/>
          <p:cNvSpPr/>
          <p:nvPr/>
        </p:nvSpPr>
        <p:spPr>
          <a:xfrm>
            <a:off x="822960" y="173736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 serial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8"/>
          <p:cNvSpPr/>
          <p:nvPr/>
        </p:nvSpPr>
        <p:spPr>
          <a:xfrm>
            <a:off x="3291840" y="177408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ounded Rectangle 9"/>
          <p:cNvSpPr/>
          <p:nvPr/>
        </p:nvSpPr>
        <p:spPr>
          <a:xfrm>
            <a:off x="3310200" y="1792080"/>
            <a:ext cx="978840" cy="30132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5166360" y="17373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116.91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822960" y="24688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 threaded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2"/>
          <p:cNvSpPr/>
          <p:nvPr/>
        </p:nvSpPr>
        <p:spPr>
          <a:xfrm>
            <a:off x="3291840" y="250560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ounded Rectangle 13"/>
          <p:cNvSpPr/>
          <p:nvPr/>
        </p:nvSpPr>
        <p:spPr>
          <a:xfrm>
            <a:off x="3310200" y="2523600"/>
            <a:ext cx="591120" cy="30132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4"/>
          <p:cNvSpPr/>
          <p:nvPr/>
        </p:nvSpPr>
        <p:spPr>
          <a:xfrm>
            <a:off x="5166360" y="246888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70.634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5"/>
          <p:cNvSpPr/>
          <p:nvPr/>
        </p:nvSpPr>
        <p:spPr>
          <a:xfrm>
            <a:off x="822960" y="320040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runtime API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6"/>
          <p:cNvSpPr/>
          <p:nvPr/>
        </p:nvSpPr>
        <p:spPr>
          <a:xfrm>
            <a:off x="3291840" y="323712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17"/>
          <p:cNvSpPr/>
          <p:nvPr/>
        </p:nvSpPr>
        <p:spPr>
          <a:xfrm>
            <a:off x="3310200" y="3255120"/>
            <a:ext cx="1828440" cy="30132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8"/>
          <p:cNvSpPr/>
          <p:nvPr/>
        </p:nvSpPr>
        <p:spPr>
          <a:xfrm>
            <a:off x="5166360" y="32004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218.355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9"/>
          <p:cNvSpPr/>
          <p:nvPr/>
        </p:nvSpPr>
        <p:spPr>
          <a:xfrm>
            <a:off x="822960" y="39319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&lt;&lt;&lt; &gt;&gt;&gt;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20"/>
          <p:cNvSpPr/>
          <p:nvPr/>
        </p:nvSpPr>
        <p:spPr>
          <a:xfrm>
            <a:off x="3291840" y="396864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ounded Rectangle 21"/>
          <p:cNvSpPr/>
          <p:nvPr/>
        </p:nvSpPr>
        <p:spPr>
          <a:xfrm>
            <a:off x="3310200" y="3986640"/>
            <a:ext cx="788760" cy="30132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22"/>
          <p:cNvSpPr/>
          <p:nvPr/>
        </p:nvSpPr>
        <p:spPr>
          <a:xfrm>
            <a:off x="5166360" y="39319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94.239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23"/>
          <p:cNvSpPr/>
          <p:nvPr/>
        </p:nvSpPr>
        <p:spPr>
          <a:xfrm>
            <a:off x="6263640" y="1143000"/>
            <a:ext cx="5303160" cy="48459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24"/>
          <p:cNvSpPr/>
          <p:nvPr/>
        </p:nvSpPr>
        <p:spPr>
          <a:xfrm>
            <a:off x="640980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MatMul app times (ms)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5"/>
          <p:cNvSpPr/>
          <p:nvPr/>
        </p:nvSpPr>
        <p:spPr>
          <a:xfrm>
            <a:off x="6492240" y="17373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26"/>
          <p:cNvSpPr/>
          <p:nvPr/>
        </p:nvSpPr>
        <p:spPr>
          <a:xfrm>
            <a:off x="8961120" y="177408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ounded Rectangle 27"/>
          <p:cNvSpPr/>
          <p:nvPr/>
        </p:nvSpPr>
        <p:spPr>
          <a:xfrm>
            <a:off x="8979480" y="1792080"/>
            <a:ext cx="261360" cy="34704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28"/>
          <p:cNvSpPr/>
          <p:nvPr/>
        </p:nvSpPr>
        <p:spPr>
          <a:xfrm>
            <a:off x="1074420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37.994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9"/>
          <p:cNvSpPr/>
          <p:nvPr/>
        </p:nvSpPr>
        <p:spPr>
          <a:xfrm>
            <a:off x="6492240" y="26060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basic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30"/>
          <p:cNvSpPr/>
          <p:nvPr/>
        </p:nvSpPr>
        <p:spPr>
          <a:xfrm>
            <a:off x="8961120" y="264276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ounded Rectangle 31"/>
          <p:cNvSpPr/>
          <p:nvPr/>
        </p:nvSpPr>
        <p:spPr>
          <a:xfrm>
            <a:off x="8979480" y="2660760"/>
            <a:ext cx="173700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32"/>
          <p:cNvSpPr/>
          <p:nvPr/>
        </p:nvSpPr>
        <p:spPr>
          <a:xfrm>
            <a:off x="10744200" y="2606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252.155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3"/>
          <p:cNvSpPr/>
          <p:nvPr/>
        </p:nvSpPr>
        <p:spPr>
          <a:xfrm>
            <a:off x="6492240" y="34747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tiled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34"/>
          <p:cNvSpPr/>
          <p:nvPr/>
        </p:nvSpPr>
        <p:spPr>
          <a:xfrm>
            <a:off x="8961120" y="351144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ounded Rectangle 35"/>
          <p:cNvSpPr/>
          <p:nvPr/>
        </p:nvSpPr>
        <p:spPr>
          <a:xfrm>
            <a:off x="8979480" y="3529440"/>
            <a:ext cx="1800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36"/>
          <p:cNvSpPr/>
          <p:nvPr/>
        </p:nvSpPr>
        <p:spPr>
          <a:xfrm>
            <a:off x="10744200" y="3474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0.741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7"/>
          <p:cNvSpPr/>
          <p:nvPr/>
        </p:nvSpPr>
        <p:spPr>
          <a:xfrm>
            <a:off x="6355080" y="475488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Use this chart to find profiling questions, not to declare final performance winners.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Launch syntax caveat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app-level vector benchmark is not a fair launch-syntax benchmark.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5"/>
          <p:cNvSpPr/>
          <p:nvPr/>
        </p:nvSpPr>
        <p:spPr>
          <a:xfrm>
            <a:off x="640080" y="1143000"/>
            <a:ext cx="5211720" cy="4205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786240" y="123444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App-level vector add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6" name="Table 7"/>
          <p:cNvGraphicFramePr/>
          <p:nvPr/>
        </p:nvGraphicFramePr>
        <p:xfrm>
          <a:off x="868680" y="1691640"/>
          <a:ext cx="4754520" cy="13716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Variant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Measured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cudaLaunchKernel path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218.355 ms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&lt;&lt;&lt; &gt;&gt;&gt; path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94.239 ms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187" name="TextBox 8"/>
          <p:cNvSpPr/>
          <p:nvPr/>
        </p:nvSpPr>
        <p:spPr>
          <a:xfrm>
            <a:off x="868680" y="34290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This result includes first-use and order effects.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9"/>
          <p:cNvSpPr/>
          <p:nvPr/>
        </p:nvSpPr>
        <p:spPr>
          <a:xfrm>
            <a:off x="6309360" y="1143000"/>
            <a:ext cx="5211720" cy="4205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0"/>
          <p:cNvSpPr/>
          <p:nvPr/>
        </p:nvSpPr>
        <p:spPr>
          <a:xfrm>
            <a:off x="6455520" y="123444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Correct comparison question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1"/>
          <p:cNvSpPr/>
          <p:nvPr/>
        </p:nvSpPr>
        <p:spPr>
          <a:xfrm>
            <a:off x="6583680" y="1691640"/>
            <a:ext cx="45716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Warm up CUDA first.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Run both launch variants repeatedly.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Alternate order each round.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Exclude cudaMalloc, cudaFree, and cudaMemcpy from timed region.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2"/>
          <p:cNvSpPr/>
          <p:nvPr/>
        </p:nvSpPr>
        <p:spPr>
          <a:xfrm>
            <a:off x="6629400" y="41605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Ask: what is the warm enqueue overhead of each launch path?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Fair launch microbenchmark result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Once setup and copies are excluded, launch syntax is not the story here.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6" name="Table 5"/>
          <p:cNvGraphicFramePr/>
          <p:nvPr/>
        </p:nvGraphicFramePr>
        <p:xfrm>
          <a:off x="822960" y="1234440"/>
          <a:ext cx="5394600" cy="2194560"/>
        </p:xfrm>
        <a:graphic>
          <a:graphicData uri="http://schemas.openxmlformats.org/drawingml/2006/table">
            <a:tbl>
              <a:tblPr/>
              <a:tblGrid>
                <a:gridCol w="1798200"/>
                <a:gridCol w="1798200"/>
                <a:gridCol w="179820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Variant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Host enqueue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Enqueue + sync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cudaLaunchKernel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1.878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2.092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&lt;&lt;&lt; &gt;&gt;&gt;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1.878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2.091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197" name="Rounded Rectangle 6"/>
          <p:cNvSpPr/>
          <p:nvPr/>
        </p:nvSpPr>
        <p:spPr>
          <a:xfrm>
            <a:off x="6583680" y="1234440"/>
            <a:ext cx="4571640" cy="2194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6729840" y="132588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Result reading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6812280" y="1691640"/>
            <a:ext cx="4114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Host enqueue is identical in this run.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Enqueue + sync differs by 0.001 us here.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earlier 218 ms vs 94 ms result is an app-level measurement artifact.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914400" y="420624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Project rule: compare launch APIs only with the dedicated launch benchmark.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Profiling question tree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Nsight changes the question from “fast or slow?” to “which layer?”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5"/>
          <p:cNvSpPr/>
          <p:nvPr/>
        </p:nvSpPr>
        <p:spPr>
          <a:xfrm>
            <a:off x="54864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6"/>
          <p:cNvSpPr/>
          <p:nvPr/>
        </p:nvSpPr>
        <p:spPr>
          <a:xfrm>
            <a:off x="59436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Plain run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ight Arrow 7"/>
          <p:cNvSpPr/>
          <p:nvPr/>
        </p:nvSpPr>
        <p:spPr>
          <a:xfrm>
            <a:off x="228312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ounded Rectangle 8"/>
          <p:cNvSpPr/>
          <p:nvPr/>
        </p:nvSpPr>
        <p:spPr>
          <a:xfrm>
            <a:off x="241092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9"/>
          <p:cNvSpPr/>
          <p:nvPr/>
        </p:nvSpPr>
        <p:spPr>
          <a:xfrm>
            <a:off x="245664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App time high?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ight Arrow 10"/>
          <p:cNvSpPr/>
          <p:nvPr/>
        </p:nvSpPr>
        <p:spPr>
          <a:xfrm>
            <a:off x="414540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ounded Rectangle 11"/>
          <p:cNvSpPr/>
          <p:nvPr/>
        </p:nvSpPr>
        <p:spPr>
          <a:xfrm>
            <a:off x="427320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12"/>
          <p:cNvSpPr/>
          <p:nvPr/>
        </p:nvSpPr>
        <p:spPr>
          <a:xfrm>
            <a:off x="431892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ight Arrow 13"/>
          <p:cNvSpPr/>
          <p:nvPr/>
        </p:nvSpPr>
        <p:spPr>
          <a:xfrm>
            <a:off x="600768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ounded Rectangle 14"/>
          <p:cNvSpPr/>
          <p:nvPr/>
        </p:nvSpPr>
        <p:spPr>
          <a:xfrm>
            <a:off x="613548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5"/>
          <p:cNvSpPr/>
          <p:nvPr/>
        </p:nvSpPr>
        <p:spPr>
          <a:xfrm>
            <a:off x="618120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API/copy/kernel split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ight Arrow 16"/>
          <p:cNvSpPr/>
          <p:nvPr/>
        </p:nvSpPr>
        <p:spPr>
          <a:xfrm>
            <a:off x="786996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ounded Rectangle 17"/>
          <p:cNvSpPr/>
          <p:nvPr/>
        </p:nvSpPr>
        <p:spPr>
          <a:xfrm>
            <a:off x="799812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18"/>
          <p:cNvSpPr/>
          <p:nvPr/>
        </p:nvSpPr>
        <p:spPr>
          <a:xfrm>
            <a:off x="804384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Compute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Right Arrow 19"/>
          <p:cNvSpPr/>
          <p:nvPr/>
        </p:nvSpPr>
        <p:spPr>
          <a:xfrm>
            <a:off x="973224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ounded Rectangle 20"/>
          <p:cNvSpPr/>
          <p:nvPr/>
        </p:nvSpPr>
        <p:spPr>
          <a:xfrm>
            <a:off x="986040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1"/>
          <p:cNvSpPr/>
          <p:nvPr/>
        </p:nvSpPr>
        <p:spPr>
          <a:xfrm>
            <a:off x="990612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 metric cause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22"/>
          <p:cNvSpPr/>
          <p:nvPr/>
        </p:nvSpPr>
        <p:spPr>
          <a:xfrm>
            <a:off x="685800" y="283464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23"/>
          <p:cNvSpPr/>
          <p:nvPr/>
        </p:nvSpPr>
        <p:spPr>
          <a:xfrm>
            <a:off x="8319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If API dominates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4"/>
          <p:cNvSpPr/>
          <p:nvPr/>
        </p:nvSpPr>
        <p:spPr>
          <a:xfrm>
            <a:off x="914400" y="331020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Warm up.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Reuse buffers.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Reduce per-call setup.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Batch work.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25"/>
          <p:cNvSpPr/>
          <p:nvPr/>
        </p:nvSpPr>
        <p:spPr>
          <a:xfrm>
            <a:off x="4343400" y="283464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26"/>
          <p:cNvSpPr/>
          <p:nvPr/>
        </p:nvSpPr>
        <p:spPr>
          <a:xfrm>
            <a:off x="44895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If copies dominate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7"/>
          <p:cNvSpPr/>
          <p:nvPr/>
        </p:nvSpPr>
        <p:spPr>
          <a:xfrm>
            <a:off x="4572000" y="331020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Reduce transfers.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Use pinned memory.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Overlap with streams.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Keep data resident.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28"/>
          <p:cNvSpPr/>
          <p:nvPr/>
        </p:nvSpPr>
        <p:spPr>
          <a:xfrm>
            <a:off x="8001000" y="283464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9"/>
          <p:cNvSpPr/>
          <p:nvPr/>
        </p:nvSpPr>
        <p:spPr>
          <a:xfrm>
            <a:off x="81471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If kernel dominates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30"/>
          <p:cNvSpPr/>
          <p:nvPr/>
        </p:nvSpPr>
        <p:spPr>
          <a:xfrm>
            <a:off x="8229600" y="331020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Check memory access.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Check occupancy.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Use shared memory.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Consider libraries.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Systems command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Collect a CUDA timeline and summary from the built benchmark.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12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5"/>
          <p:cNvSpPr/>
          <p:nvPr/>
        </p:nvSpPr>
        <p:spPr>
          <a:xfrm>
            <a:off x="731520" y="1234440"/>
            <a:ext cx="7497720" cy="265140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877680" y="1325880"/>
            <a:ext cx="7205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896040" y="1645920"/>
            <a:ext cx="717768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profile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--force-overwrite=true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--stats=true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--trace=cuda,osrt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--output=docs/profiling/matmul_nsys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bazel-bin/linear_algebra/matmul_benchmark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8"/>
          <p:cNvSpPr/>
          <p:nvPr/>
        </p:nvSpPr>
        <p:spPr>
          <a:xfrm>
            <a:off x="8549640" y="1234440"/>
            <a:ext cx="2742840" cy="26514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8695800" y="132588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Flag purpose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8732520" y="1691640"/>
            <a:ext cx="2422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overwrite old report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emit summary tables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trace CUDA + OS runtime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write stable report name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822960" y="47091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Nsight Systems CLI can collect a report from the command line and nsys stats can post-process existing reports.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Generated profiling artifacts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report has a GUI form and a queryable SQLite form.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6" name="Table 5"/>
          <p:cNvGraphicFramePr/>
          <p:nvPr/>
        </p:nvGraphicFramePr>
        <p:xfrm>
          <a:off x="731520" y="1280160"/>
          <a:ext cx="10789560" cy="292572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Artifact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matmul_nsys.nsys-rep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Open in Nsight Systems 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matmul_nsys.sqlite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Run nsys stats or custom SQLite queries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README.md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Local run notes and command log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benchmark_results.md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Course-wide benchmark table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47" name="TextBox 6"/>
          <p:cNvSpPr/>
          <p:nvPr/>
        </p:nvSpPr>
        <p:spPr>
          <a:xfrm>
            <a:off x="822960" y="48006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The updated deck packages the uploaded .nsys-rep and .sqlite files alongside the slides.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Systems kernel summary from README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report summary puts kernel work in microseconds, not milliseconds.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5"/>
          <p:cNvSpPr/>
          <p:nvPr/>
        </p:nvSpPr>
        <p:spPr>
          <a:xfrm>
            <a:off x="64008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6"/>
          <p:cNvSpPr/>
          <p:nvPr/>
        </p:nvSpPr>
        <p:spPr>
          <a:xfrm>
            <a:off x="78624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README nsys stats summary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914400" y="18288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tiled kernel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8"/>
          <p:cNvSpPr/>
          <p:nvPr/>
        </p:nvSpPr>
        <p:spPr>
          <a:xfrm>
            <a:off x="3383280" y="186552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ounded Rectangle 9"/>
          <p:cNvSpPr/>
          <p:nvPr/>
        </p:nvSpPr>
        <p:spPr>
          <a:xfrm>
            <a:off x="3401640" y="1883520"/>
            <a:ext cx="155412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10"/>
          <p:cNvSpPr/>
          <p:nvPr/>
        </p:nvSpPr>
        <p:spPr>
          <a:xfrm>
            <a:off x="498348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62.592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1"/>
          <p:cNvSpPr/>
          <p:nvPr/>
        </p:nvSpPr>
        <p:spPr>
          <a:xfrm>
            <a:off x="914400" y="26517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basic kernel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12"/>
          <p:cNvSpPr/>
          <p:nvPr/>
        </p:nvSpPr>
        <p:spPr>
          <a:xfrm>
            <a:off x="3383280" y="268848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ounded Rectangle 13"/>
          <p:cNvSpPr/>
          <p:nvPr/>
        </p:nvSpPr>
        <p:spPr>
          <a:xfrm>
            <a:off x="3401640" y="2706480"/>
            <a:ext cx="154152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14"/>
          <p:cNvSpPr/>
          <p:nvPr/>
        </p:nvSpPr>
        <p:spPr>
          <a:xfrm>
            <a:off x="4983480" y="2651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62.079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5"/>
          <p:cNvSpPr/>
          <p:nvPr/>
        </p:nvSpPr>
        <p:spPr>
          <a:xfrm>
            <a:off x="914400" y="365760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Read as: both CUDA kernels are tiny at 256 x 256 in this capture.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16"/>
          <p:cNvSpPr/>
          <p:nvPr/>
        </p:nvSpPr>
        <p:spPr>
          <a:xfrm>
            <a:off x="630936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7"/>
          <p:cNvSpPr/>
          <p:nvPr/>
        </p:nvSpPr>
        <p:spPr>
          <a:xfrm>
            <a:off x="645552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Why this matters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8"/>
          <p:cNvSpPr/>
          <p:nvPr/>
        </p:nvSpPr>
        <p:spPr>
          <a:xfrm>
            <a:off x="6583680" y="1691640"/>
            <a:ext cx="46630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App-level basic CUDA time was 252.155 ms.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README kernel summary is about 62 us for both kernels.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huge difference forces us to inspect runtime setup, allocation, copies, and synchronization.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Raw SQLite kernel events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uploaded SQLite contains raw CUDA kernel events.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0" name="Table 5"/>
          <p:cNvGraphicFramePr/>
          <p:nvPr/>
        </p:nvGraphicFramePr>
        <p:xfrm>
          <a:off x="502920" y="1188720"/>
          <a:ext cx="11246760" cy="182844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Kernel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Duration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Grid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Block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Regs/thread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Static shared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matmul_basic_kernel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78.015 us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24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0 B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matmul_tiled_kernel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64.000 us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26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2048 B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71" name="Rounded Rectangle 6"/>
          <p:cNvSpPr/>
          <p:nvPr/>
        </p:nvSpPr>
        <p:spPr>
          <a:xfrm>
            <a:off x="685800" y="3429000"/>
            <a:ext cx="5303160" cy="20113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7"/>
          <p:cNvSpPr/>
          <p:nvPr/>
        </p:nvSpPr>
        <p:spPr>
          <a:xfrm>
            <a:off x="831960" y="3520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Why README and raw events differ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8"/>
          <p:cNvSpPr/>
          <p:nvPr/>
        </p:nvSpPr>
        <p:spPr>
          <a:xfrm>
            <a:off x="914400" y="3886200"/>
            <a:ext cx="4845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report modes and direct SQL event extraction can show slightly different views of the same capture.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conclusion is unchanged: kernel events are microseconds while app timing includes much more.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9"/>
          <p:cNvSpPr/>
          <p:nvPr/>
        </p:nvSpPr>
        <p:spPr>
          <a:xfrm>
            <a:off x="6263640" y="3429000"/>
            <a:ext cx="5303160" cy="20113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10"/>
          <p:cNvSpPr/>
          <p:nvPr/>
        </p:nvSpPr>
        <p:spPr>
          <a:xfrm>
            <a:off x="6409800" y="3520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Teaching choice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1"/>
          <p:cNvSpPr/>
          <p:nvPr/>
        </p:nvSpPr>
        <p:spPr>
          <a:xfrm>
            <a:off x="6492240" y="3886200"/>
            <a:ext cx="4845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Use README values when following nsys stats commands.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Use raw SQLite values when teaching database extraction and event fields.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CUDA memory transfer summary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wrapper copies A, B, and C for both CUDA implementations.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1" name="Table 5"/>
          <p:cNvGraphicFramePr/>
          <p:nvPr/>
        </p:nvGraphicFramePr>
        <p:xfrm>
          <a:off x="731520" y="1234440"/>
          <a:ext cx="5668920" cy="201132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</a:tblGrid>
              <a:tr h="670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Direction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Copies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Total size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Raw copy time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70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HTOD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1.573 MB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222 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70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DTOH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0.524 MB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69 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82" name="Rounded Rectangle 6"/>
          <p:cNvSpPr/>
          <p:nvPr/>
        </p:nvSpPr>
        <p:spPr>
          <a:xfrm>
            <a:off x="6720840" y="1234440"/>
            <a:ext cx="4571640" cy="20113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7"/>
          <p:cNvSpPr/>
          <p:nvPr/>
        </p:nvSpPr>
        <p:spPr>
          <a:xfrm>
            <a:off x="6867000" y="132588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Interpretation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8"/>
          <p:cNvSpPr/>
          <p:nvPr/>
        </p:nvSpPr>
        <p:spPr>
          <a:xfrm>
            <a:off x="6949440" y="1691640"/>
            <a:ext cx="4160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6 host-to-device copies: A, B, C for basic and tiled paths.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2 device-to-host copies: output C for each path.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report makes data movement countable.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9"/>
          <p:cNvSpPr/>
          <p:nvPr/>
        </p:nvSpPr>
        <p:spPr>
          <a:xfrm>
            <a:off x="822960" y="42976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Memory movement is not invisible overhead; Nsight Systems turns it into rows and byte counts.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CUDA Runtime API summary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For this short run, stream creation dominates the API timeline.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0" name="Table 5"/>
          <p:cNvGraphicFramePr/>
          <p:nvPr/>
        </p:nvGraphicFramePr>
        <p:xfrm>
          <a:off x="685800" y="1143000"/>
          <a:ext cx="5668920" cy="4388760"/>
        </p:xfrm>
        <a:graphic>
          <a:graphicData uri="http://schemas.openxmlformats.org/drawingml/2006/table">
            <a:tbl>
              <a:tblPr/>
              <a:tblGrid>
                <a:gridCol w="1889640"/>
                <a:gridCol w="1889640"/>
                <a:gridCol w="1889640"/>
              </a:tblGrid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API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Calls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Time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cudaStreamCreate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128.799 ms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cudaMemcpyAsync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409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cudaLaunchKernel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334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cudaFree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93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cudaMalloc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70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cudaStreamDestroy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9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cuModuleGetLoadingMode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5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cudaStreamSynchronize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4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91" name="Rounded Rectangle 6"/>
          <p:cNvSpPr/>
          <p:nvPr/>
        </p:nvSpPr>
        <p:spPr>
          <a:xfrm>
            <a:off x="6629400" y="1143000"/>
            <a:ext cx="475452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7"/>
          <p:cNvSpPr/>
          <p:nvPr/>
        </p:nvSpPr>
        <p:spPr>
          <a:xfrm>
            <a:off x="6775560" y="1234440"/>
            <a:ext cx="4461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Result to teach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8"/>
          <p:cNvSpPr/>
          <p:nvPr/>
        </p:nvSpPr>
        <p:spPr>
          <a:xfrm>
            <a:off x="6858000" y="1691640"/>
            <a:ext cx="4251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cudaStreamCreate appears as the dominant API time in the raw SQLite extraction.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This is consistent with the README point: first-use CUDA runtime/context setup can dominate small benchmarks.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optimization target is benchmark structure before kernel micro-optimization.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App time vs kernel time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This is the central interpretation slide.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5"/>
          <p:cNvSpPr/>
          <p:nvPr/>
        </p:nvSpPr>
        <p:spPr>
          <a:xfrm>
            <a:off x="548640" y="1143000"/>
            <a:ext cx="557748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6"/>
          <p:cNvSpPr/>
          <p:nvPr/>
        </p:nvSpPr>
        <p:spPr>
          <a:xfrm>
            <a:off x="694800" y="1234440"/>
            <a:ext cx="528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App-level MatMul timing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7"/>
          <p:cNvSpPr/>
          <p:nvPr/>
        </p:nvSpPr>
        <p:spPr>
          <a:xfrm>
            <a:off x="822960" y="18288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8"/>
          <p:cNvSpPr/>
          <p:nvPr/>
        </p:nvSpPr>
        <p:spPr>
          <a:xfrm>
            <a:off x="3291840" y="186552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ounded Rectangle 9"/>
          <p:cNvSpPr/>
          <p:nvPr/>
        </p:nvSpPr>
        <p:spPr>
          <a:xfrm>
            <a:off x="3310200" y="1883520"/>
            <a:ext cx="302760" cy="34704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10"/>
          <p:cNvSpPr/>
          <p:nvPr/>
        </p:nvSpPr>
        <p:spPr>
          <a:xfrm>
            <a:off x="534924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37.994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1"/>
          <p:cNvSpPr/>
          <p:nvPr/>
        </p:nvSpPr>
        <p:spPr>
          <a:xfrm>
            <a:off x="822960" y="26060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basic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Rounded Rectangle 12"/>
          <p:cNvSpPr/>
          <p:nvPr/>
        </p:nvSpPr>
        <p:spPr>
          <a:xfrm>
            <a:off x="3291840" y="264276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ounded Rectangle 13"/>
          <p:cNvSpPr/>
          <p:nvPr/>
        </p:nvSpPr>
        <p:spPr>
          <a:xfrm>
            <a:off x="3310200" y="2660760"/>
            <a:ext cx="201132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14"/>
          <p:cNvSpPr/>
          <p:nvPr/>
        </p:nvSpPr>
        <p:spPr>
          <a:xfrm>
            <a:off x="5349240" y="2606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252.155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5"/>
          <p:cNvSpPr/>
          <p:nvPr/>
        </p:nvSpPr>
        <p:spPr>
          <a:xfrm>
            <a:off x="822960" y="33832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tiled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16"/>
          <p:cNvSpPr/>
          <p:nvPr/>
        </p:nvSpPr>
        <p:spPr>
          <a:xfrm>
            <a:off x="3291840" y="342000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ounded Rectangle 17"/>
          <p:cNvSpPr/>
          <p:nvPr/>
        </p:nvSpPr>
        <p:spPr>
          <a:xfrm>
            <a:off x="3310200" y="3438000"/>
            <a:ext cx="1800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18"/>
          <p:cNvSpPr/>
          <p:nvPr/>
        </p:nvSpPr>
        <p:spPr>
          <a:xfrm>
            <a:off x="5349240" y="3383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0.741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19"/>
          <p:cNvSpPr/>
          <p:nvPr/>
        </p:nvSpPr>
        <p:spPr>
          <a:xfrm>
            <a:off x="6400800" y="1143000"/>
            <a:ext cx="521172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20"/>
          <p:cNvSpPr/>
          <p:nvPr/>
        </p:nvSpPr>
        <p:spPr>
          <a:xfrm>
            <a:off x="6546960" y="123444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Kernel event timing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21"/>
          <p:cNvSpPr/>
          <p:nvPr/>
        </p:nvSpPr>
        <p:spPr>
          <a:xfrm>
            <a:off x="6629400" y="18288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basic raw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Rounded Rectangle 22"/>
          <p:cNvSpPr/>
          <p:nvPr/>
        </p:nvSpPr>
        <p:spPr>
          <a:xfrm>
            <a:off x="9098280" y="186552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ounded Rectangle 23"/>
          <p:cNvSpPr/>
          <p:nvPr/>
        </p:nvSpPr>
        <p:spPr>
          <a:xfrm>
            <a:off x="9116640" y="1883520"/>
            <a:ext cx="155412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24"/>
          <p:cNvSpPr/>
          <p:nvPr/>
        </p:nvSpPr>
        <p:spPr>
          <a:xfrm>
            <a:off x="1069848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78.015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25"/>
          <p:cNvSpPr/>
          <p:nvPr/>
        </p:nvSpPr>
        <p:spPr>
          <a:xfrm>
            <a:off x="6629400" y="26060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tiled raw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Rounded Rectangle 26"/>
          <p:cNvSpPr/>
          <p:nvPr/>
        </p:nvSpPr>
        <p:spPr>
          <a:xfrm>
            <a:off x="9098280" y="264276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Rounded Rectangle 27"/>
          <p:cNvSpPr/>
          <p:nvPr/>
        </p:nvSpPr>
        <p:spPr>
          <a:xfrm>
            <a:off x="9116640" y="2660760"/>
            <a:ext cx="127476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28"/>
          <p:cNvSpPr/>
          <p:nvPr/>
        </p:nvSpPr>
        <p:spPr>
          <a:xfrm>
            <a:off x="10698480" y="2606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64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9"/>
          <p:cNvSpPr/>
          <p:nvPr/>
        </p:nvSpPr>
        <p:spPr>
          <a:xfrm>
            <a:off x="914400" y="571500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Do not compare the bar lengths across units without saying “milliseconds vs microseconds.”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Why app time and kernel time differ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A CUDA function call is more than the kernel body.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5"/>
          <p:cNvSpPr/>
          <p:nvPr/>
        </p:nvSpPr>
        <p:spPr>
          <a:xfrm>
            <a:off x="54864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6"/>
          <p:cNvSpPr/>
          <p:nvPr/>
        </p:nvSpPr>
        <p:spPr>
          <a:xfrm>
            <a:off x="59436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stream create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Right Arrow 7"/>
          <p:cNvSpPr/>
          <p:nvPr/>
        </p:nvSpPr>
        <p:spPr>
          <a:xfrm>
            <a:off x="228312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Rounded Rectangle 8"/>
          <p:cNvSpPr/>
          <p:nvPr/>
        </p:nvSpPr>
        <p:spPr>
          <a:xfrm>
            <a:off x="241092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9"/>
          <p:cNvSpPr/>
          <p:nvPr/>
        </p:nvSpPr>
        <p:spPr>
          <a:xfrm>
            <a:off x="245664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cudaMalloc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Right Arrow 10"/>
          <p:cNvSpPr/>
          <p:nvPr/>
        </p:nvSpPr>
        <p:spPr>
          <a:xfrm>
            <a:off x="414540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ounded Rectangle 11"/>
          <p:cNvSpPr/>
          <p:nvPr/>
        </p:nvSpPr>
        <p:spPr>
          <a:xfrm>
            <a:off x="427320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12"/>
          <p:cNvSpPr/>
          <p:nvPr/>
        </p:nvSpPr>
        <p:spPr>
          <a:xfrm>
            <a:off x="431892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H2D copies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Right Arrow 13"/>
          <p:cNvSpPr/>
          <p:nvPr/>
        </p:nvSpPr>
        <p:spPr>
          <a:xfrm>
            <a:off x="600768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Rounded Rectangle 14"/>
          <p:cNvSpPr/>
          <p:nvPr/>
        </p:nvSpPr>
        <p:spPr>
          <a:xfrm>
            <a:off x="613548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5"/>
          <p:cNvSpPr/>
          <p:nvPr/>
        </p:nvSpPr>
        <p:spPr>
          <a:xfrm>
            <a:off x="618120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 launch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Right Arrow 16"/>
          <p:cNvSpPr/>
          <p:nvPr/>
        </p:nvSpPr>
        <p:spPr>
          <a:xfrm>
            <a:off x="786996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Rounded Rectangle 17"/>
          <p:cNvSpPr/>
          <p:nvPr/>
        </p:nvSpPr>
        <p:spPr>
          <a:xfrm>
            <a:off x="799812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18"/>
          <p:cNvSpPr/>
          <p:nvPr/>
        </p:nvSpPr>
        <p:spPr>
          <a:xfrm>
            <a:off x="804384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D2H copy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Right Arrow 19"/>
          <p:cNvSpPr/>
          <p:nvPr/>
        </p:nvSpPr>
        <p:spPr>
          <a:xfrm>
            <a:off x="973224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Rounded Rectangle 20"/>
          <p:cNvSpPr/>
          <p:nvPr/>
        </p:nvSpPr>
        <p:spPr>
          <a:xfrm>
            <a:off x="986040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21"/>
          <p:cNvSpPr/>
          <p:nvPr/>
        </p:nvSpPr>
        <p:spPr>
          <a:xfrm>
            <a:off x="990612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sync + free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22"/>
          <p:cNvSpPr/>
          <p:nvPr/>
        </p:nvSpPr>
        <p:spPr>
          <a:xfrm>
            <a:off x="822960" y="283464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23"/>
          <p:cNvSpPr/>
          <p:nvPr/>
        </p:nvSpPr>
        <p:spPr>
          <a:xfrm>
            <a:off x="96912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Kernel time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24"/>
          <p:cNvSpPr/>
          <p:nvPr/>
        </p:nvSpPr>
        <p:spPr>
          <a:xfrm>
            <a:off x="1005840" y="347472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Tens of microseconds in this capture.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25"/>
          <p:cNvSpPr/>
          <p:nvPr/>
        </p:nvSpPr>
        <p:spPr>
          <a:xfrm>
            <a:off x="4343400" y="283464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26"/>
          <p:cNvSpPr/>
          <p:nvPr/>
        </p:nvSpPr>
        <p:spPr>
          <a:xfrm>
            <a:off x="44895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App time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7"/>
          <p:cNvSpPr/>
          <p:nvPr/>
        </p:nvSpPr>
        <p:spPr>
          <a:xfrm>
            <a:off x="4526280" y="33832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Can include setup, allocation, copies, sync, and frees.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28"/>
          <p:cNvSpPr/>
          <p:nvPr/>
        </p:nvSpPr>
        <p:spPr>
          <a:xfrm>
            <a:off x="7863840" y="283464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29"/>
          <p:cNvSpPr/>
          <p:nvPr/>
        </p:nvSpPr>
        <p:spPr>
          <a:xfrm>
            <a:off x="801000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Next benchmark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30"/>
          <p:cNvSpPr/>
          <p:nvPr/>
        </p:nvSpPr>
        <p:spPr>
          <a:xfrm>
            <a:off x="8046720" y="347472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41c7ff"/>
                </a:solidFill>
                <a:effectLst/>
                <a:uFillTx/>
                <a:latin typeface="Aptos"/>
              </a:rPr>
              <a:t>Warm-up + separated timing regions.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First-use CUDA setup effect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Short benchmarks are highly sensitive to initialization order.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5"/>
          <p:cNvSpPr/>
          <p:nvPr/>
        </p:nvSpPr>
        <p:spPr>
          <a:xfrm>
            <a:off x="685800" y="1143000"/>
            <a:ext cx="53031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6"/>
          <p:cNvSpPr/>
          <p:nvPr/>
        </p:nvSpPr>
        <p:spPr>
          <a:xfrm>
            <a:off x="83196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Before warm-up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7"/>
          <p:cNvSpPr/>
          <p:nvPr/>
        </p:nvSpPr>
        <p:spPr>
          <a:xfrm>
            <a:off x="91440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8"/>
          <p:cNvSpPr/>
          <p:nvPr/>
        </p:nvSpPr>
        <p:spPr>
          <a:xfrm>
            <a:off x="96012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context/runtime init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Right Arrow 9"/>
          <p:cNvSpPr/>
          <p:nvPr/>
        </p:nvSpPr>
        <p:spPr>
          <a:xfrm>
            <a:off x="177768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ounded Rectangle 10"/>
          <p:cNvSpPr/>
          <p:nvPr/>
        </p:nvSpPr>
        <p:spPr>
          <a:xfrm>
            <a:off x="190548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11"/>
          <p:cNvSpPr/>
          <p:nvPr/>
        </p:nvSpPr>
        <p:spPr>
          <a:xfrm>
            <a:off x="195120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allocation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Right Arrow 12"/>
          <p:cNvSpPr/>
          <p:nvPr/>
        </p:nvSpPr>
        <p:spPr>
          <a:xfrm>
            <a:off x="276876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Rounded Rectangle 13"/>
          <p:cNvSpPr/>
          <p:nvPr/>
        </p:nvSpPr>
        <p:spPr>
          <a:xfrm>
            <a:off x="289692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Box 14"/>
          <p:cNvSpPr/>
          <p:nvPr/>
        </p:nvSpPr>
        <p:spPr>
          <a:xfrm>
            <a:off x="294264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Right Arrow 15"/>
          <p:cNvSpPr/>
          <p:nvPr/>
        </p:nvSpPr>
        <p:spPr>
          <a:xfrm>
            <a:off x="375984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Rounded Rectangle 16"/>
          <p:cNvSpPr/>
          <p:nvPr/>
        </p:nvSpPr>
        <p:spPr>
          <a:xfrm>
            <a:off x="388800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17"/>
          <p:cNvSpPr/>
          <p:nvPr/>
        </p:nvSpPr>
        <p:spPr>
          <a:xfrm>
            <a:off x="393372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ight Arrow 18"/>
          <p:cNvSpPr/>
          <p:nvPr/>
        </p:nvSpPr>
        <p:spPr>
          <a:xfrm>
            <a:off x="475128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Rounded Rectangle 19"/>
          <p:cNvSpPr/>
          <p:nvPr/>
        </p:nvSpPr>
        <p:spPr>
          <a:xfrm>
            <a:off x="487908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20"/>
          <p:cNvSpPr/>
          <p:nvPr/>
        </p:nvSpPr>
        <p:spPr>
          <a:xfrm>
            <a:off x="492480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sync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1"/>
          <p:cNvSpPr/>
          <p:nvPr/>
        </p:nvSpPr>
        <p:spPr>
          <a:xfrm>
            <a:off x="914400" y="31089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First path can pay hidden setup costs.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Rounded Rectangle 22"/>
          <p:cNvSpPr/>
          <p:nvPr/>
        </p:nvSpPr>
        <p:spPr>
          <a:xfrm>
            <a:off x="6263640" y="1143000"/>
            <a:ext cx="53031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23"/>
          <p:cNvSpPr/>
          <p:nvPr/>
        </p:nvSpPr>
        <p:spPr>
          <a:xfrm>
            <a:off x="640980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After warm-up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Rounded Rectangle 24"/>
          <p:cNvSpPr/>
          <p:nvPr/>
        </p:nvSpPr>
        <p:spPr>
          <a:xfrm>
            <a:off x="649224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25"/>
          <p:cNvSpPr/>
          <p:nvPr/>
        </p:nvSpPr>
        <p:spPr>
          <a:xfrm>
            <a:off x="653796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warm-up done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Right Arrow 26"/>
          <p:cNvSpPr/>
          <p:nvPr/>
        </p:nvSpPr>
        <p:spPr>
          <a:xfrm>
            <a:off x="735552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Rounded Rectangle 27"/>
          <p:cNvSpPr/>
          <p:nvPr/>
        </p:nvSpPr>
        <p:spPr>
          <a:xfrm>
            <a:off x="748332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28"/>
          <p:cNvSpPr/>
          <p:nvPr/>
        </p:nvSpPr>
        <p:spPr>
          <a:xfrm>
            <a:off x="752904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allocation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Right Arrow 29"/>
          <p:cNvSpPr/>
          <p:nvPr/>
        </p:nvSpPr>
        <p:spPr>
          <a:xfrm>
            <a:off x="834660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ounded Rectangle 30"/>
          <p:cNvSpPr/>
          <p:nvPr/>
        </p:nvSpPr>
        <p:spPr>
          <a:xfrm>
            <a:off x="847476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31"/>
          <p:cNvSpPr/>
          <p:nvPr/>
        </p:nvSpPr>
        <p:spPr>
          <a:xfrm>
            <a:off x="852048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Right Arrow 32"/>
          <p:cNvSpPr/>
          <p:nvPr/>
        </p:nvSpPr>
        <p:spPr>
          <a:xfrm>
            <a:off x="933768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Rounded Rectangle 33"/>
          <p:cNvSpPr/>
          <p:nvPr/>
        </p:nvSpPr>
        <p:spPr>
          <a:xfrm>
            <a:off x="946584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34"/>
          <p:cNvSpPr/>
          <p:nvPr/>
        </p:nvSpPr>
        <p:spPr>
          <a:xfrm>
            <a:off x="951156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Right Arrow 35"/>
          <p:cNvSpPr/>
          <p:nvPr/>
        </p:nvSpPr>
        <p:spPr>
          <a:xfrm>
            <a:off x="1032912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Rounded Rectangle 36"/>
          <p:cNvSpPr/>
          <p:nvPr/>
        </p:nvSpPr>
        <p:spPr>
          <a:xfrm>
            <a:off x="1045692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37"/>
          <p:cNvSpPr/>
          <p:nvPr/>
        </p:nvSpPr>
        <p:spPr>
          <a:xfrm>
            <a:off x="1050264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sync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38"/>
          <p:cNvSpPr/>
          <p:nvPr/>
        </p:nvSpPr>
        <p:spPr>
          <a:xfrm>
            <a:off x="6492240" y="31089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Later measurements are closer to steady-state behavior.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39"/>
          <p:cNvSpPr/>
          <p:nvPr/>
        </p:nvSpPr>
        <p:spPr>
          <a:xfrm>
            <a:off x="914400" y="516636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Design rule: initialize CUDA before timing the behavior you want to compare.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CPU profiling limitation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CUDA trace is still useful even when CPU sampling is blocked.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ounded Rectangle 5"/>
          <p:cNvSpPr/>
          <p:nvPr/>
        </p:nvSpPr>
        <p:spPr>
          <a:xfrm>
            <a:off x="731520" y="1188720"/>
            <a:ext cx="5577480" cy="310860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6"/>
          <p:cNvSpPr/>
          <p:nvPr/>
        </p:nvSpPr>
        <p:spPr>
          <a:xfrm>
            <a:off x="877680" y="1280160"/>
            <a:ext cx="528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Environment status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7"/>
          <p:cNvSpPr/>
          <p:nvPr/>
        </p:nvSpPr>
        <p:spPr>
          <a:xfrm>
            <a:off x="896040" y="1600200"/>
            <a:ext cx="525744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status --environment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Observed on this machine: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perf_event_open failed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CPU sampling unavailable under current system settings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CUDA tracing still worked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8"/>
          <p:cNvSpPr/>
          <p:nvPr/>
        </p:nvSpPr>
        <p:spPr>
          <a:xfrm>
            <a:off x="6629400" y="1188720"/>
            <a:ext cx="4663080" cy="3108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9"/>
          <p:cNvSpPr/>
          <p:nvPr/>
        </p:nvSpPr>
        <p:spPr>
          <a:xfrm>
            <a:off x="6775560" y="1280160"/>
            <a:ext cx="4370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How to present this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0"/>
          <p:cNvSpPr/>
          <p:nvPr/>
        </p:nvSpPr>
        <p:spPr>
          <a:xfrm>
            <a:off x="6858000" y="1737360"/>
            <a:ext cx="42516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Mark CPU sampling as unavailable, not failed analysis.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Use CUDA API, memcpy, and kernel summaries from the report.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Do not draw CPU scheduling conclusions from this capture.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Compute command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Use Nsight Compute when the question becomes per-kernel behavior.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22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5"/>
          <p:cNvSpPr/>
          <p:nvPr/>
        </p:nvSpPr>
        <p:spPr>
          <a:xfrm>
            <a:off x="640080" y="1143000"/>
            <a:ext cx="7131960" cy="292572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6"/>
          <p:cNvSpPr/>
          <p:nvPr/>
        </p:nvSpPr>
        <p:spPr>
          <a:xfrm>
            <a:off x="786240" y="1234440"/>
            <a:ext cx="6839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7"/>
          <p:cNvSpPr/>
          <p:nvPr/>
        </p:nvSpPr>
        <p:spPr>
          <a:xfrm>
            <a:off x="804600" y="1554480"/>
            <a:ext cx="68119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ncu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--target-processes all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--kernel-name regex:matmul_.*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--set basic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--force-overwrite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--export docs/profiling/matmul_ncu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bazel-bin/linear_algebra/matmul_benchmark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Rounded Rectangle 8"/>
          <p:cNvSpPr/>
          <p:nvPr/>
        </p:nvSpPr>
        <p:spPr>
          <a:xfrm>
            <a:off x="8092440" y="1143000"/>
            <a:ext cx="3382920" cy="29257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9"/>
          <p:cNvSpPr/>
          <p:nvPr/>
        </p:nvSpPr>
        <p:spPr>
          <a:xfrm>
            <a:off x="8238600" y="12344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Expected role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0"/>
          <p:cNvSpPr/>
          <p:nvPr/>
        </p:nvSpPr>
        <p:spPr>
          <a:xfrm>
            <a:off x="8321040" y="1645920"/>
            <a:ext cx="2971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kernel-specific metrics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occupancy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memory workload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warp stalls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shared memory behavior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11"/>
          <p:cNvSpPr/>
          <p:nvPr/>
        </p:nvSpPr>
        <p:spPr>
          <a:xfrm>
            <a:off x="822960" y="48463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This command was attempted but counter access was blocked on the current machine.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Compute permission result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ERR_NVGPUCTRPERM is a system-policy result, not a code bug.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5"/>
          <p:cNvSpPr/>
          <p:nvPr/>
        </p:nvSpPr>
        <p:spPr>
          <a:xfrm>
            <a:off x="731520" y="1188720"/>
            <a:ext cx="5303160" cy="3108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6"/>
          <p:cNvSpPr/>
          <p:nvPr/>
        </p:nvSpPr>
        <p:spPr>
          <a:xfrm>
            <a:off x="877680" y="12801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Observed error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Rounded Rectangle 7"/>
          <p:cNvSpPr/>
          <p:nvPr/>
        </p:nvSpPr>
        <p:spPr>
          <a:xfrm>
            <a:off x="960120" y="1737360"/>
            <a:ext cx="4845960" cy="141696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Box 8"/>
          <p:cNvSpPr/>
          <p:nvPr/>
        </p:nvSpPr>
        <p:spPr>
          <a:xfrm>
            <a:off x="1124640" y="1874520"/>
            <a:ext cx="4525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ERR_NVGPUCTRPERM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The user does not have permission to access NVIDIA GPU Performance Counters on target device 0.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Rounded Rectangle 9"/>
          <p:cNvSpPr/>
          <p:nvPr/>
        </p:nvSpPr>
        <p:spPr>
          <a:xfrm>
            <a:off x="6400800" y="1188720"/>
            <a:ext cx="5120280" cy="3108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10"/>
          <p:cNvSpPr/>
          <p:nvPr/>
        </p:nvSpPr>
        <p:spPr>
          <a:xfrm>
            <a:off x="6546960" y="128016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Resolution path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1"/>
          <p:cNvSpPr/>
          <p:nvPr/>
        </p:nvSpPr>
        <p:spPr>
          <a:xfrm>
            <a:off x="6629400" y="1737360"/>
            <a:ext cx="4617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Run with appropriate privileges, or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ask the system administrator to enable GPU performance counter access for non-admin users.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Do not change shared lab driver settings casually.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What Nsight Compute would answer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This slide becomes active once counter permissions are available.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Rounded Rectangle 5"/>
          <p:cNvSpPr/>
          <p:nvPr/>
        </p:nvSpPr>
        <p:spPr>
          <a:xfrm>
            <a:off x="685800" y="114300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6"/>
          <p:cNvSpPr/>
          <p:nvPr/>
        </p:nvSpPr>
        <p:spPr>
          <a:xfrm>
            <a:off x="831960" y="123444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Occupancy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7"/>
          <p:cNvSpPr/>
          <p:nvPr/>
        </p:nvSpPr>
        <p:spPr>
          <a:xfrm>
            <a:off x="914400" y="1691640"/>
            <a:ext cx="3017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active warps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theoretical vs achieved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register pressure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shared memory limits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Rounded Rectangle 8"/>
          <p:cNvSpPr/>
          <p:nvPr/>
        </p:nvSpPr>
        <p:spPr>
          <a:xfrm>
            <a:off x="4343400" y="114300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9"/>
          <p:cNvSpPr/>
          <p:nvPr/>
        </p:nvSpPr>
        <p:spPr>
          <a:xfrm>
            <a:off x="4489560" y="123444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Memory workload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0"/>
          <p:cNvSpPr/>
          <p:nvPr/>
        </p:nvSpPr>
        <p:spPr>
          <a:xfrm>
            <a:off x="4572000" y="1691640"/>
            <a:ext cx="3017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global load/store efficiency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shared-memory bank behavior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L2 traffic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throughput ceilings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Rounded Rectangle 11"/>
          <p:cNvSpPr/>
          <p:nvPr/>
        </p:nvSpPr>
        <p:spPr>
          <a:xfrm>
            <a:off x="8001000" y="114300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12"/>
          <p:cNvSpPr/>
          <p:nvPr/>
        </p:nvSpPr>
        <p:spPr>
          <a:xfrm>
            <a:off x="8147160" y="123444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Scheduler / stalls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13"/>
          <p:cNvSpPr/>
          <p:nvPr/>
        </p:nvSpPr>
        <p:spPr>
          <a:xfrm>
            <a:off x="8229600" y="1691640"/>
            <a:ext cx="3017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warp stall reasons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issue active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eligible warps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instruction mix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Legacy nvprof mapping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Keep old tutorial commands readable without teaching nvprof as the modern path.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1" name="Table 5"/>
          <p:cNvGraphicFramePr/>
          <p:nvPr/>
        </p:nvGraphicFramePr>
        <p:xfrm>
          <a:off x="731520" y="1234440"/>
          <a:ext cx="10789560" cy="2925720"/>
        </p:xfrm>
        <a:graphic>
          <a:graphicData uri="http://schemas.openxmlformats.org/drawingml/2006/table">
            <a:tbl>
              <a:tblPr/>
              <a:tblGrid>
                <a:gridCol w="3596400"/>
                <a:gridCol w="3596400"/>
                <a:gridCol w="3596400"/>
              </a:tblGrid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Old question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Legacy command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Modern path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Application timeline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 ./app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nsys profile ./app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Kernel metrics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 --metrics ...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 --set basic ...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GUI timeline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Visual Profiler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nsys-ui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GUI kernel report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Visual Profiler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ncu-ui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442" name="TextBox 6"/>
          <p:cNvSpPr/>
          <p:nvPr/>
        </p:nvSpPr>
        <p:spPr>
          <a:xfrm>
            <a:off x="914400" y="4846320"/>
            <a:ext cx="10240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In this environment nvprof was not installed on PATH; the deck uses Nsight Systems and Nsight Compute paths.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Optimization hypothesis 1: warm-up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Move context initialization out of the measured region.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Rounded Rectangle 5"/>
          <p:cNvSpPr/>
          <p:nvPr/>
        </p:nvSpPr>
        <p:spPr>
          <a:xfrm>
            <a:off x="731520" y="1234440"/>
            <a:ext cx="4937400" cy="35658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TextBox 6"/>
          <p:cNvSpPr/>
          <p:nvPr/>
        </p:nvSpPr>
        <p:spPr>
          <a:xfrm>
            <a:off x="877680" y="1325880"/>
            <a:ext cx="464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Current lesson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7"/>
          <p:cNvSpPr/>
          <p:nvPr/>
        </p:nvSpPr>
        <p:spPr>
          <a:xfrm>
            <a:off x="960120" y="1783080"/>
            <a:ext cx="44802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First-use setup can dominate short runs.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benchmark should initialize CUDA before measured loops.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Compare kernel behavior after runtime setup has already happened.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Rounded Rectangle 8"/>
          <p:cNvSpPr/>
          <p:nvPr/>
        </p:nvSpPr>
        <p:spPr>
          <a:xfrm>
            <a:off x="6217920" y="1234440"/>
            <a:ext cx="4937400" cy="35658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9"/>
          <p:cNvSpPr/>
          <p:nvPr/>
        </p:nvSpPr>
        <p:spPr>
          <a:xfrm>
            <a:off x="6364080" y="1325880"/>
            <a:ext cx="464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Implementation sketch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Rounded Rectangle 10"/>
          <p:cNvSpPr/>
          <p:nvPr/>
        </p:nvSpPr>
        <p:spPr>
          <a:xfrm>
            <a:off x="6446520" y="1783080"/>
            <a:ext cx="4480200" cy="146268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11"/>
          <p:cNvSpPr/>
          <p:nvPr/>
        </p:nvSpPr>
        <p:spPr>
          <a:xfrm>
            <a:off x="6611040" y="1920240"/>
            <a:ext cx="4160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run_once_to_initialize_cuda();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for (int i = 0; i &lt; rounds; ++i) {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time_region_only();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12"/>
          <p:cNvSpPr/>
          <p:nvPr/>
        </p:nvSpPr>
        <p:spPr>
          <a:xfrm>
            <a:off x="6446520" y="365760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Expected result: first CUDA path no longer pays the hidden setup block.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Optimization hypothesis 2: reuse buffers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Repeated allocation/free is not a production benchmark design.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Rounded Rectangle 5"/>
          <p:cNvSpPr/>
          <p:nvPr/>
        </p:nvSpPr>
        <p:spPr>
          <a:xfrm>
            <a:off x="73152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0" name="TextBox 6"/>
          <p:cNvSpPr/>
          <p:nvPr/>
        </p:nvSpPr>
        <p:spPr>
          <a:xfrm>
            <a:off x="77724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cudaMalloc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Right Arrow 7"/>
          <p:cNvSpPr/>
          <p:nvPr/>
        </p:nvSpPr>
        <p:spPr>
          <a:xfrm>
            <a:off x="164952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Rounded Rectangle 8"/>
          <p:cNvSpPr/>
          <p:nvPr/>
        </p:nvSpPr>
        <p:spPr>
          <a:xfrm>
            <a:off x="177768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TextBox 9"/>
          <p:cNvSpPr/>
          <p:nvPr/>
        </p:nvSpPr>
        <p:spPr>
          <a:xfrm>
            <a:off x="182340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 in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Right Arrow 10"/>
          <p:cNvSpPr/>
          <p:nvPr/>
        </p:nvSpPr>
        <p:spPr>
          <a:xfrm>
            <a:off x="269568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Rounded Rectangle 11"/>
          <p:cNvSpPr/>
          <p:nvPr/>
        </p:nvSpPr>
        <p:spPr>
          <a:xfrm>
            <a:off x="282384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6" name="TextBox 12"/>
          <p:cNvSpPr/>
          <p:nvPr/>
        </p:nvSpPr>
        <p:spPr>
          <a:xfrm>
            <a:off x="286956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Right Arrow 13"/>
          <p:cNvSpPr/>
          <p:nvPr/>
        </p:nvSpPr>
        <p:spPr>
          <a:xfrm>
            <a:off x="374184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Rounded Rectangle 14"/>
          <p:cNvSpPr/>
          <p:nvPr/>
        </p:nvSpPr>
        <p:spPr>
          <a:xfrm>
            <a:off x="386964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15"/>
          <p:cNvSpPr/>
          <p:nvPr/>
        </p:nvSpPr>
        <p:spPr>
          <a:xfrm>
            <a:off x="391536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 out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Right Arrow 16"/>
          <p:cNvSpPr/>
          <p:nvPr/>
        </p:nvSpPr>
        <p:spPr>
          <a:xfrm>
            <a:off x="478764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Rounded Rectangle 17"/>
          <p:cNvSpPr/>
          <p:nvPr/>
        </p:nvSpPr>
        <p:spPr>
          <a:xfrm>
            <a:off x="491580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TextBox 18"/>
          <p:cNvSpPr/>
          <p:nvPr/>
        </p:nvSpPr>
        <p:spPr>
          <a:xfrm>
            <a:off x="496152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cudaFree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19"/>
          <p:cNvSpPr/>
          <p:nvPr/>
        </p:nvSpPr>
        <p:spPr>
          <a:xfrm>
            <a:off x="731520" y="23774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Per-call allocation path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Rounded Rectangle 20"/>
          <p:cNvSpPr/>
          <p:nvPr/>
        </p:nvSpPr>
        <p:spPr>
          <a:xfrm>
            <a:off x="635508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Box 21"/>
          <p:cNvSpPr/>
          <p:nvPr/>
        </p:nvSpPr>
        <p:spPr>
          <a:xfrm>
            <a:off x="640080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workspace create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Right Arrow 22"/>
          <p:cNvSpPr/>
          <p:nvPr/>
        </p:nvSpPr>
        <p:spPr>
          <a:xfrm>
            <a:off x="727308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Rounded Rectangle 23"/>
          <p:cNvSpPr/>
          <p:nvPr/>
        </p:nvSpPr>
        <p:spPr>
          <a:xfrm>
            <a:off x="740124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TextBox 24"/>
          <p:cNvSpPr/>
          <p:nvPr/>
        </p:nvSpPr>
        <p:spPr>
          <a:xfrm>
            <a:off x="744696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 in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Right Arrow 25"/>
          <p:cNvSpPr/>
          <p:nvPr/>
        </p:nvSpPr>
        <p:spPr>
          <a:xfrm>
            <a:off x="831924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Rounded Rectangle 26"/>
          <p:cNvSpPr/>
          <p:nvPr/>
        </p:nvSpPr>
        <p:spPr>
          <a:xfrm>
            <a:off x="844740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TextBox 27"/>
          <p:cNvSpPr/>
          <p:nvPr/>
        </p:nvSpPr>
        <p:spPr>
          <a:xfrm>
            <a:off x="849312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 loop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Right Arrow 28"/>
          <p:cNvSpPr/>
          <p:nvPr/>
        </p:nvSpPr>
        <p:spPr>
          <a:xfrm>
            <a:off x="936540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Rounded Rectangle 29"/>
          <p:cNvSpPr/>
          <p:nvPr/>
        </p:nvSpPr>
        <p:spPr>
          <a:xfrm>
            <a:off x="949320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Box 30"/>
          <p:cNvSpPr/>
          <p:nvPr/>
        </p:nvSpPr>
        <p:spPr>
          <a:xfrm>
            <a:off x="953892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 out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Right Arrow 31"/>
          <p:cNvSpPr/>
          <p:nvPr/>
        </p:nvSpPr>
        <p:spPr>
          <a:xfrm>
            <a:off x="1041120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Rounded Rectangle 32"/>
          <p:cNvSpPr/>
          <p:nvPr/>
        </p:nvSpPr>
        <p:spPr>
          <a:xfrm>
            <a:off x="1053936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33"/>
          <p:cNvSpPr/>
          <p:nvPr/>
        </p:nvSpPr>
        <p:spPr>
          <a:xfrm>
            <a:off x="1058508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workspace destroy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34"/>
          <p:cNvSpPr/>
          <p:nvPr/>
        </p:nvSpPr>
        <p:spPr>
          <a:xfrm>
            <a:off x="6355080" y="23774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Reusable workspace path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35"/>
          <p:cNvSpPr/>
          <p:nvPr/>
        </p:nvSpPr>
        <p:spPr>
          <a:xfrm>
            <a:off x="914400" y="3886200"/>
            <a:ext cx="10240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If cudaMalloc/cudaFree rows are visible in every short call, benchmark design is part of the optimization.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Optimization hypothesis 3: larger matrices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Small matrices are often overhead-dominated.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Rounded Rectangle 5"/>
          <p:cNvSpPr/>
          <p:nvPr/>
        </p:nvSpPr>
        <p:spPr>
          <a:xfrm>
            <a:off x="731520" y="1234440"/>
            <a:ext cx="5120280" cy="40230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6"/>
          <p:cNvSpPr/>
          <p:nvPr/>
        </p:nvSpPr>
        <p:spPr>
          <a:xfrm>
            <a:off x="877680" y="132588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M=N=K=256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7"/>
          <p:cNvSpPr/>
          <p:nvPr/>
        </p:nvSpPr>
        <p:spPr>
          <a:xfrm>
            <a:off x="960120" y="1783080"/>
            <a:ext cx="4571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Only 16.8M multiply-add iterations.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Fixed costs can dominate.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Kernel summaries are in tens of microseconds.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Rounded Rectangle 8"/>
          <p:cNvSpPr/>
          <p:nvPr/>
        </p:nvSpPr>
        <p:spPr>
          <a:xfrm>
            <a:off x="6217920" y="1234440"/>
            <a:ext cx="5120280" cy="40230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Box 9"/>
          <p:cNvSpPr/>
          <p:nvPr/>
        </p:nvSpPr>
        <p:spPr>
          <a:xfrm>
            <a:off x="6364080" y="132588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Larger sizes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10"/>
          <p:cNvSpPr/>
          <p:nvPr/>
        </p:nvSpPr>
        <p:spPr>
          <a:xfrm>
            <a:off x="6446520" y="1783080"/>
            <a:ext cx="4571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More arithmetic per launch.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Tiling effects become more visible.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Need longer profiling capture and careful runtime limits.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11"/>
          <p:cNvSpPr/>
          <p:nvPr/>
        </p:nvSpPr>
        <p:spPr>
          <a:xfrm>
            <a:off x="914400" y="516636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Do not make strong kernel-design conclusions from one tiny matrix size.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Optimization hypothesis 4: shared-memory reuse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tiled kernel should matter when memory reuse dominates the workload.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Rounded Rectangle 5"/>
          <p:cNvSpPr/>
          <p:nvPr/>
        </p:nvSpPr>
        <p:spPr>
          <a:xfrm>
            <a:off x="68580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TextBox 6"/>
          <p:cNvSpPr/>
          <p:nvPr/>
        </p:nvSpPr>
        <p:spPr>
          <a:xfrm>
            <a:off x="83196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Basic CUDA MatMul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7"/>
          <p:cNvSpPr/>
          <p:nvPr/>
        </p:nvSpPr>
        <p:spPr>
          <a:xfrm>
            <a:off x="914400" y="1691640"/>
            <a:ext cx="4845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Each thread computes one C[row,col].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Reads A row and B column from global memory.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Neighboring threads repeat many reads.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Rounded Rectangle 8"/>
          <p:cNvSpPr/>
          <p:nvPr/>
        </p:nvSpPr>
        <p:spPr>
          <a:xfrm>
            <a:off x="626364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9"/>
          <p:cNvSpPr/>
          <p:nvPr/>
        </p:nvSpPr>
        <p:spPr>
          <a:xfrm>
            <a:off x="640980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Tiled CUDA MatMul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10"/>
          <p:cNvSpPr/>
          <p:nvPr/>
        </p:nvSpPr>
        <p:spPr>
          <a:xfrm>
            <a:off x="6492240" y="1691640"/>
            <a:ext cx="4845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Threads cooperatively load A/B tiles.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Shared memory enables reuse within a block.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__syncthreads coordinates tile phases.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11"/>
          <p:cNvSpPr/>
          <p:nvPr/>
        </p:nvSpPr>
        <p:spPr>
          <a:xfrm>
            <a:off x="914400" y="5029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41c7ff"/>
                </a:solidFill>
                <a:effectLst/>
                <a:uFillTx/>
                <a:latin typeface="Aptos"/>
              </a:rPr>
              <a:t>Nsight Compute metrics would quantify the memory-workload difference once counters are accessible.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Tutorial step 1: reproduce Nsight Systems report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Commands to generate the same report in the repository.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Rounded Rectangle 5"/>
          <p:cNvSpPr/>
          <p:nvPr/>
        </p:nvSpPr>
        <p:spPr>
          <a:xfrm>
            <a:off x="731520" y="1143000"/>
            <a:ext cx="7314840" cy="347436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6"/>
          <p:cNvSpPr/>
          <p:nvPr/>
        </p:nvSpPr>
        <p:spPr>
          <a:xfrm>
            <a:off x="877680" y="1234440"/>
            <a:ext cx="7022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Step-by-step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7"/>
          <p:cNvSpPr/>
          <p:nvPr/>
        </p:nvSpPr>
        <p:spPr>
          <a:xfrm>
            <a:off x="896040" y="1554480"/>
            <a:ext cx="699480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cd projects/detailed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bazel build //linear_algebra:matmul_benchmark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profile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--force-overwrite=true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--stats=true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--trace=cuda,osrt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--output=docs/profiling/matmul_nsys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bazel-bin/linear_algebra/matmul_benchmark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Rounded Rectangle 8"/>
          <p:cNvSpPr/>
          <p:nvPr/>
        </p:nvSpPr>
        <p:spPr>
          <a:xfrm>
            <a:off x="8366760" y="1143000"/>
            <a:ext cx="2971440" cy="3474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TextBox 9"/>
          <p:cNvSpPr/>
          <p:nvPr/>
        </p:nvSpPr>
        <p:spPr>
          <a:xfrm>
            <a:off x="8512920" y="123444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Expected files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10"/>
          <p:cNvSpPr/>
          <p:nvPr/>
        </p:nvSpPr>
        <p:spPr>
          <a:xfrm>
            <a:off x="8595360" y="1691640"/>
            <a:ext cx="2514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matmul_nsys.nsys-rep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matmul_nsys.sqlite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Tutorial step 2: extract the report rows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Use nsys stats to move from report file to evidence table.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Rounded Rectangle 5"/>
          <p:cNvSpPr/>
          <p:nvPr/>
        </p:nvSpPr>
        <p:spPr>
          <a:xfrm>
            <a:off x="731520" y="1188720"/>
            <a:ext cx="7680600" cy="210276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TextBox 6"/>
          <p:cNvSpPr/>
          <p:nvPr/>
        </p:nvSpPr>
        <p:spPr>
          <a:xfrm>
            <a:off x="877680" y="1280160"/>
            <a:ext cx="7387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7"/>
          <p:cNvSpPr/>
          <p:nvPr/>
        </p:nvSpPr>
        <p:spPr>
          <a:xfrm>
            <a:off x="896040" y="1600200"/>
            <a:ext cx="73605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stats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--report cuda_gpu_kern_sum,cuda_gpu_mem_time_sum,cuda_gpu_mem_size_sum,cuda_api_sum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docs/profiling/matmul_nsys.sqlite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9" name="Table 8"/>
          <p:cNvGraphicFramePr/>
          <p:nvPr/>
        </p:nvGraphicFramePr>
        <p:xfrm>
          <a:off x="731520" y="3657600"/>
          <a:ext cx="10789560" cy="141696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Report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What to explain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cuda_gpu_kern_sum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which kernels ran and for how long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cuda_gpu_mem_size_sum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copy direction, count, and bytes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cuda_api_sum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runtime API calls and dominant setup cost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Tutorial step 3: read one row correctly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Profiling is reading evidence, not collecting files.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32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4" name="Table 5"/>
          <p:cNvGraphicFramePr/>
          <p:nvPr/>
        </p:nvGraphicFramePr>
        <p:xfrm>
          <a:off x="594360" y="1188720"/>
          <a:ext cx="10972440" cy="256032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Row type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Example row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Question it answers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Kernel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matmul_tiled_kernel ~62 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How long did the kernel event take?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Memory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H2D: 6 copies, 1.573 MB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How much data moved?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cudaStreamCreate dominates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Did setup hide kernel behavior?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535" name="TextBox 6"/>
          <p:cNvSpPr/>
          <p:nvPr/>
        </p:nvSpPr>
        <p:spPr>
          <a:xfrm>
            <a:off x="914400" y="4251960"/>
            <a:ext cx="1024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For every row, state: what operation is measured, what unit is used, and what code change the row suggests.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Tutorial step 4: try Nsight Compute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result is either a kernel report or a permission finding.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Rounded Rectangle 5"/>
          <p:cNvSpPr/>
          <p:nvPr/>
        </p:nvSpPr>
        <p:spPr>
          <a:xfrm>
            <a:off x="685800" y="1143000"/>
            <a:ext cx="6857640" cy="274284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6"/>
          <p:cNvSpPr/>
          <p:nvPr/>
        </p:nvSpPr>
        <p:spPr>
          <a:xfrm>
            <a:off x="831960" y="1234440"/>
            <a:ext cx="6564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7"/>
          <p:cNvSpPr/>
          <p:nvPr/>
        </p:nvSpPr>
        <p:spPr>
          <a:xfrm>
            <a:off x="850320" y="1554480"/>
            <a:ext cx="653760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ncu --target-processes all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--kernel-name regex:matmul_.*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--set basic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--force-overwrite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--export docs/profiling/matmul_ncu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bazel-bin/linear_algebra/matmul_benchmark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Rounded Rectangle 8"/>
          <p:cNvSpPr/>
          <p:nvPr/>
        </p:nvSpPr>
        <p:spPr>
          <a:xfrm>
            <a:off x="7909560" y="1143000"/>
            <a:ext cx="3565800" cy="27428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Box 9"/>
          <p:cNvSpPr/>
          <p:nvPr/>
        </p:nvSpPr>
        <p:spPr>
          <a:xfrm>
            <a:off x="8055720" y="1234440"/>
            <a:ext cx="3273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If it fails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10"/>
          <p:cNvSpPr/>
          <p:nvPr/>
        </p:nvSpPr>
        <p:spPr>
          <a:xfrm>
            <a:off x="8138160" y="187452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Record ERR_NVGPUCTRPERM as a profiling-permission outcome.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11"/>
          <p:cNvSpPr/>
          <p:nvPr/>
        </p:nvSpPr>
        <p:spPr>
          <a:xfrm>
            <a:off x="914400" y="4846320"/>
            <a:ext cx="1014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This is part of GPU engineering: profiler access depends on system policy.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Project checkpoint: insert profiling after MatMul benchmark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This profiling block belongs immediately after the MatMul benchmark result.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Rounded Rectangle 5"/>
          <p:cNvSpPr/>
          <p:nvPr/>
        </p:nvSpPr>
        <p:spPr>
          <a:xfrm>
            <a:off x="59436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TextBox 6"/>
          <p:cNvSpPr/>
          <p:nvPr/>
        </p:nvSpPr>
        <p:spPr>
          <a:xfrm>
            <a:off x="64008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Run MatMul benchmark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Right Arrow 7"/>
          <p:cNvSpPr/>
          <p:nvPr/>
        </p:nvSpPr>
        <p:spPr>
          <a:xfrm>
            <a:off x="268272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Rounded Rectangle 8"/>
          <p:cNvSpPr/>
          <p:nvPr/>
        </p:nvSpPr>
        <p:spPr>
          <a:xfrm>
            <a:off x="281088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9"/>
          <p:cNvSpPr/>
          <p:nvPr/>
        </p:nvSpPr>
        <p:spPr>
          <a:xfrm>
            <a:off x="285660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Collect nsys report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Right Arrow 10"/>
          <p:cNvSpPr/>
          <p:nvPr/>
        </p:nvSpPr>
        <p:spPr>
          <a:xfrm>
            <a:off x="489924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Rounded Rectangle 11"/>
          <p:cNvSpPr/>
          <p:nvPr/>
        </p:nvSpPr>
        <p:spPr>
          <a:xfrm>
            <a:off x="502740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TextBox 12"/>
          <p:cNvSpPr/>
          <p:nvPr/>
        </p:nvSpPr>
        <p:spPr>
          <a:xfrm>
            <a:off x="507312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Compare app vs kernel time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Right Arrow 13"/>
          <p:cNvSpPr/>
          <p:nvPr/>
        </p:nvSpPr>
        <p:spPr>
          <a:xfrm>
            <a:off x="711576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0" name="Rounded Rectangle 14"/>
          <p:cNvSpPr/>
          <p:nvPr/>
        </p:nvSpPr>
        <p:spPr>
          <a:xfrm>
            <a:off x="724392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1" name="TextBox 15"/>
          <p:cNvSpPr/>
          <p:nvPr/>
        </p:nvSpPr>
        <p:spPr>
          <a:xfrm>
            <a:off x="728964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Identify dominant API/copy/kernel layer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Right Arrow 16"/>
          <p:cNvSpPr/>
          <p:nvPr/>
        </p:nvSpPr>
        <p:spPr>
          <a:xfrm>
            <a:off x="933228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3" name="Rounded Rectangle 17"/>
          <p:cNvSpPr/>
          <p:nvPr/>
        </p:nvSpPr>
        <p:spPr>
          <a:xfrm>
            <a:off x="946044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Box 18"/>
          <p:cNvSpPr/>
          <p:nvPr/>
        </p:nvSpPr>
        <p:spPr>
          <a:xfrm>
            <a:off x="950616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Choose next code change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5" name="Table 19"/>
          <p:cNvGraphicFramePr/>
          <p:nvPr/>
        </p:nvGraphicFramePr>
        <p:xfrm>
          <a:off x="914400" y="2971800"/>
          <a:ext cx="10240920" cy="2011320"/>
        </p:xfrm>
        <a:graphic>
          <a:graphicData uri="http://schemas.openxmlformats.org/drawingml/2006/table">
            <a:tbl>
              <a:tblPr/>
              <a:tblGrid>
                <a:gridCol w="5120640"/>
                <a:gridCol w="5120640"/>
              </a:tblGrid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Existing course point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Updated with result-driven evidence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 app benchmark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CPU/basic/tiled app timing table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Systems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kernel, memcpy, API rows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permission result and metric plan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Optimization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warm-up, reuse buffers, larger sizes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Evidence dashboard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One slide that explains the whole capture.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70" name="Table 5"/>
          <p:cNvGraphicFramePr/>
          <p:nvPr/>
        </p:nvGraphicFramePr>
        <p:xfrm>
          <a:off x="502920" y="1097280"/>
          <a:ext cx="11246760" cy="429732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Layer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Result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Meaning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App benchmark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basic CUDA 252.155 ms, tiled 0.741 ms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app-level cost is mixed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Kernel events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raw SQLite: basic 78.015 us, tiled 64.000 us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GPU kernels are small in this capture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Memcpy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 H2D copies, 1.573 MB; 2 D2H copies, 0.524 MB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data movement is visible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API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cudaStreamCreate dominates raw API time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first-use/setup effect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ERR_NVGPUCTRPERM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counter access is blocked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Result-driven takeaways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profiler changed the question.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5"/>
          <p:cNvSpPr/>
          <p:nvPr/>
        </p:nvSpPr>
        <p:spPr>
          <a:xfrm>
            <a:off x="822960" y="1234440"/>
            <a:ext cx="1060668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Do not interpret app timings as pure kernel timings.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launch microbenchmark shows no meaningful warm enqueue difference between cudaLaunchKernel and &lt;&lt;&lt; &gt;&gt;&gt; here.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Systems proves the benchmark includes API setup, copies, kernels, sync, and frees.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Compute is the right next tool for kernel metrics, but this machine blocks performance counters for the current user.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next implementation work should warm up CUDA, reuse buffers, and profile larger matrices.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Code changes suggested by the profile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Turn report rows into repository tasks.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0" name="Table 5"/>
          <p:cNvGraphicFramePr/>
          <p:nvPr/>
        </p:nvGraphicFramePr>
        <p:xfrm>
          <a:off x="594360" y="1188720"/>
          <a:ext cx="10972440" cy="384048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Finding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Repository task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First-use setup dominates short run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add explicit warm-up before measured loops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cudaMalloc/cudaFree appear per call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create reusable device workspace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Small 256x256 kernels are tiny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add configurable matrix sizes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 blocked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document permission requirement and fallback path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App/kernel time mismatch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use CUDA events around kernel-only regions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Updated profiling workflow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reusable workflow for future CUDA kernels.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Rounded Rectangle 5"/>
          <p:cNvSpPr/>
          <p:nvPr/>
        </p:nvSpPr>
        <p:spPr>
          <a:xfrm>
            <a:off x="41148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6" name="TextBox 6"/>
          <p:cNvSpPr/>
          <p:nvPr/>
        </p:nvSpPr>
        <p:spPr>
          <a:xfrm>
            <a:off x="45720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Build binary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Right Arrow 7"/>
          <p:cNvSpPr/>
          <p:nvPr/>
        </p:nvSpPr>
        <p:spPr>
          <a:xfrm>
            <a:off x="191880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8" name="Rounded Rectangle 8"/>
          <p:cNvSpPr/>
          <p:nvPr/>
        </p:nvSpPr>
        <p:spPr>
          <a:xfrm>
            <a:off x="204696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9" name="TextBox 9"/>
          <p:cNvSpPr/>
          <p:nvPr/>
        </p:nvSpPr>
        <p:spPr>
          <a:xfrm>
            <a:off x="209268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Run baseline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Right Arrow 10"/>
          <p:cNvSpPr/>
          <p:nvPr/>
        </p:nvSpPr>
        <p:spPr>
          <a:xfrm>
            <a:off x="355428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1" name="Rounded Rectangle 11"/>
          <p:cNvSpPr/>
          <p:nvPr/>
        </p:nvSpPr>
        <p:spPr>
          <a:xfrm>
            <a:off x="368244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2" name="TextBox 12"/>
          <p:cNvSpPr/>
          <p:nvPr/>
        </p:nvSpPr>
        <p:spPr>
          <a:xfrm>
            <a:off x="372816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Profile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Right Arrow 13"/>
          <p:cNvSpPr/>
          <p:nvPr/>
        </p:nvSpPr>
        <p:spPr>
          <a:xfrm>
            <a:off x="518976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4" name="Rounded Rectangle 14"/>
          <p:cNvSpPr/>
          <p:nvPr/>
        </p:nvSpPr>
        <p:spPr>
          <a:xfrm>
            <a:off x="531792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15"/>
          <p:cNvSpPr/>
          <p:nvPr/>
        </p:nvSpPr>
        <p:spPr>
          <a:xfrm>
            <a:off x="536364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Extract stats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Right Arrow 16"/>
          <p:cNvSpPr/>
          <p:nvPr/>
        </p:nvSpPr>
        <p:spPr>
          <a:xfrm>
            <a:off x="682524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Rounded Rectangle 17"/>
          <p:cNvSpPr/>
          <p:nvPr/>
        </p:nvSpPr>
        <p:spPr>
          <a:xfrm>
            <a:off x="695340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TextBox 18"/>
          <p:cNvSpPr/>
          <p:nvPr/>
        </p:nvSpPr>
        <p:spPr>
          <a:xfrm>
            <a:off x="699912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Try Compute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Right Arrow 19"/>
          <p:cNvSpPr/>
          <p:nvPr/>
        </p:nvSpPr>
        <p:spPr>
          <a:xfrm>
            <a:off x="846072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0" name="Rounded Rectangle 20"/>
          <p:cNvSpPr/>
          <p:nvPr/>
        </p:nvSpPr>
        <p:spPr>
          <a:xfrm>
            <a:off x="858888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1" name="TextBox 21"/>
          <p:cNvSpPr/>
          <p:nvPr/>
        </p:nvSpPr>
        <p:spPr>
          <a:xfrm>
            <a:off x="863460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Change code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Right Arrow 22"/>
          <p:cNvSpPr/>
          <p:nvPr/>
        </p:nvSpPr>
        <p:spPr>
          <a:xfrm>
            <a:off x="1009620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Rounded Rectangle 23"/>
          <p:cNvSpPr/>
          <p:nvPr/>
        </p:nvSpPr>
        <p:spPr>
          <a:xfrm>
            <a:off x="1022436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4" name="TextBox 24"/>
          <p:cNvSpPr/>
          <p:nvPr/>
        </p:nvSpPr>
        <p:spPr>
          <a:xfrm>
            <a:off x="1027008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Remeasure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Rounded Rectangle 25"/>
          <p:cNvSpPr/>
          <p:nvPr/>
        </p:nvSpPr>
        <p:spPr>
          <a:xfrm>
            <a:off x="822960" y="2743200"/>
            <a:ext cx="3382920" cy="22856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TextBox 26"/>
          <p:cNvSpPr/>
          <p:nvPr/>
        </p:nvSpPr>
        <p:spPr>
          <a:xfrm>
            <a:off x="969120" y="28346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Keep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27"/>
          <p:cNvSpPr/>
          <p:nvPr/>
        </p:nvSpPr>
        <p:spPr>
          <a:xfrm>
            <a:off x="1051560" y="320040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README command log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benchmark_results table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nsys .rep/.sqlite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validation notes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Rounded Rectangle 28"/>
          <p:cNvSpPr/>
          <p:nvPr/>
        </p:nvSpPr>
        <p:spPr>
          <a:xfrm>
            <a:off x="4480560" y="2743200"/>
            <a:ext cx="3382920" cy="22856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9" name="TextBox 29"/>
          <p:cNvSpPr/>
          <p:nvPr/>
        </p:nvSpPr>
        <p:spPr>
          <a:xfrm>
            <a:off x="4626720" y="28346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Compare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30"/>
          <p:cNvSpPr/>
          <p:nvPr/>
        </p:nvSpPr>
        <p:spPr>
          <a:xfrm>
            <a:off x="4709160" y="320040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app time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kernel time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copy size/count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API dominant calls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Rounded Rectangle 31"/>
          <p:cNvSpPr/>
          <p:nvPr/>
        </p:nvSpPr>
        <p:spPr>
          <a:xfrm>
            <a:off x="8138160" y="2743200"/>
            <a:ext cx="3382920" cy="22856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2" name="TextBox 32"/>
          <p:cNvSpPr/>
          <p:nvPr/>
        </p:nvSpPr>
        <p:spPr>
          <a:xfrm>
            <a:off x="8284320" y="28346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Decide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33"/>
          <p:cNvSpPr/>
          <p:nvPr/>
        </p:nvSpPr>
        <p:spPr>
          <a:xfrm>
            <a:off x="8366760" y="320040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warm-up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buffer reuse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larger sizes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kernel optimization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library baseline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Documentation sources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Sources used for the updated technical framing.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8" name="Table 5"/>
          <p:cNvGraphicFramePr/>
          <p:nvPr/>
        </p:nvGraphicFramePr>
        <p:xfrm>
          <a:off x="685800" y="1143000"/>
          <a:ext cx="10789560" cy="384048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Topic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Primary source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Systems CLI / stats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docs.nvidia.com/nsight-systems/UserGuide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 CLI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docs.nvidia.com/nsight-compute/NsightComputeCli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Performance-counter permission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developer.nvidia.com/ERR_NVGPUCTRPERM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Legacy nvprof context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docs.nvidia.com/cuda/profiler-users-guide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Local measured results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README.md + benchmark_results.md + matmul_nsys.sqlite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619" name="TextBox 6"/>
          <p:cNvSpPr/>
          <p:nvPr/>
        </p:nvSpPr>
        <p:spPr>
          <a:xfrm>
            <a:off x="914400" y="52578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The updated slides separate official tool behavior from local machine results.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Closing: profiler-driven CUDA development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Build, measure, inspect evidence, change one thing, remeasure.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40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Rounded Rectangle 5"/>
          <p:cNvSpPr/>
          <p:nvPr/>
        </p:nvSpPr>
        <p:spPr>
          <a:xfrm>
            <a:off x="41148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5" name="TextBox 6"/>
          <p:cNvSpPr/>
          <p:nvPr/>
        </p:nvSpPr>
        <p:spPr>
          <a:xfrm>
            <a:off x="45720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Bazel build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Right Arrow 7"/>
          <p:cNvSpPr/>
          <p:nvPr/>
        </p:nvSpPr>
        <p:spPr>
          <a:xfrm>
            <a:off x="191880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Rounded Rectangle 8"/>
          <p:cNvSpPr/>
          <p:nvPr/>
        </p:nvSpPr>
        <p:spPr>
          <a:xfrm>
            <a:off x="204696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8" name="TextBox 9"/>
          <p:cNvSpPr/>
          <p:nvPr/>
        </p:nvSpPr>
        <p:spPr>
          <a:xfrm>
            <a:off x="209268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Baseline run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Right Arrow 10"/>
          <p:cNvSpPr/>
          <p:nvPr/>
        </p:nvSpPr>
        <p:spPr>
          <a:xfrm>
            <a:off x="355428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Rounded Rectangle 11"/>
          <p:cNvSpPr/>
          <p:nvPr/>
        </p:nvSpPr>
        <p:spPr>
          <a:xfrm>
            <a:off x="368244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1" name="TextBox 12"/>
          <p:cNvSpPr/>
          <p:nvPr/>
        </p:nvSpPr>
        <p:spPr>
          <a:xfrm>
            <a:off x="372816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Right Arrow 13"/>
          <p:cNvSpPr/>
          <p:nvPr/>
        </p:nvSpPr>
        <p:spPr>
          <a:xfrm>
            <a:off x="518976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Rounded Rectangle 14"/>
          <p:cNvSpPr/>
          <p:nvPr/>
        </p:nvSpPr>
        <p:spPr>
          <a:xfrm>
            <a:off x="531792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TextBox 15"/>
          <p:cNvSpPr/>
          <p:nvPr/>
        </p:nvSpPr>
        <p:spPr>
          <a:xfrm>
            <a:off x="536364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Compute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Right Arrow 16"/>
          <p:cNvSpPr/>
          <p:nvPr/>
        </p:nvSpPr>
        <p:spPr>
          <a:xfrm>
            <a:off x="682524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Rounded Rectangle 17"/>
          <p:cNvSpPr/>
          <p:nvPr/>
        </p:nvSpPr>
        <p:spPr>
          <a:xfrm>
            <a:off x="695340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7" name="TextBox 18"/>
          <p:cNvSpPr/>
          <p:nvPr/>
        </p:nvSpPr>
        <p:spPr>
          <a:xfrm>
            <a:off x="699912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Hypothesis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Right Arrow 19"/>
          <p:cNvSpPr/>
          <p:nvPr/>
        </p:nvSpPr>
        <p:spPr>
          <a:xfrm>
            <a:off x="846072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Rounded Rectangle 20"/>
          <p:cNvSpPr/>
          <p:nvPr/>
        </p:nvSpPr>
        <p:spPr>
          <a:xfrm>
            <a:off x="858888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Box 21"/>
          <p:cNvSpPr/>
          <p:nvPr/>
        </p:nvSpPr>
        <p:spPr>
          <a:xfrm>
            <a:off x="863460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Code change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Right Arrow 22"/>
          <p:cNvSpPr/>
          <p:nvPr/>
        </p:nvSpPr>
        <p:spPr>
          <a:xfrm>
            <a:off x="1009620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2" name="Rounded Rectangle 23"/>
          <p:cNvSpPr/>
          <p:nvPr/>
        </p:nvSpPr>
        <p:spPr>
          <a:xfrm>
            <a:off x="1022436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24"/>
          <p:cNvSpPr/>
          <p:nvPr/>
        </p:nvSpPr>
        <p:spPr>
          <a:xfrm>
            <a:off x="1027008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Remeasure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25"/>
          <p:cNvSpPr/>
          <p:nvPr/>
        </p:nvSpPr>
        <p:spPr>
          <a:xfrm>
            <a:off x="914400" y="347472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Next concrete repository improvement: refactor MatMul benchmark to warm up CUDA and reuse device buffers before collecting new profiles.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Box 26"/>
          <p:cNvSpPr/>
          <p:nvPr/>
        </p:nvSpPr>
        <p:spPr>
          <a:xfrm>
            <a:off x="914400" y="498348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Command anchor: bazel build //linear_algebra:matmul_benchmark &amp;&amp; nsys profile --trace=cuda,osrt ...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6"/>
                </a:solidFill>
                <a:latin typeface="Aptos Display"/>
              </a:defRPr>
            </a:pPr>
            <a:r>
              <a:t>CUDA Runtime API vs &lt;&lt;&lt; &gt;&gt;&gt; after 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370"/>
                </a:solidFill>
                <a:latin typeface="Aptos"/>
              </a:defRPr>
            </a:pPr>
            <a:r>
              <a:t>Dedicated launch-overhead benchmark, not app-level vector-add timing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342900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143000"/>
            <a:ext cx="73152" cy="1828800"/>
          </a:xfrm>
          <a:prstGeom prst="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07592"/>
            <a:ext cx="30815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1F36"/>
                </a:solidFill>
                <a:latin typeface="Aptos"/>
              </a:defRPr>
            </a:pPr>
            <a:r>
              <a:t>Why the earlier result was misleading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vector_add_benchmark measured cudaLaunchKernel first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first CUDA path can pay runtime/context setup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allocation, copies, launch, sync, and free were mixed together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do not conclude cudaLaunchKernel is fundamentally slower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246120"/>
            <a:ext cx="3429000" cy="1920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246120"/>
            <a:ext cx="73152" cy="1920240"/>
          </a:xfrm>
          <a:prstGeom prst="rect">
            <a:avLst/>
          </a:prstGeom>
          <a:solidFill>
            <a:srgbClr val="1B8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410712"/>
            <a:ext cx="308152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1F36"/>
                </a:solidFill>
                <a:latin typeface="Aptos"/>
              </a:defRPr>
            </a:pPr>
            <a:r>
              <a:t>Fair benchmark rules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warm up CUDA first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run both variants many times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alternate order each round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exclude cudaMalloc/cudaFree/cudaMemcpy from timed region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7178040" cy="4023360"/>
          </a:xfrm>
          <a:prstGeom prst="roundRect">
            <a:avLst/>
          </a:prstGeom>
          <a:solidFill>
            <a:srgbClr val="FAFBF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353312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6"/>
                </a:solidFill>
                <a:latin typeface="Aptos"/>
              </a:defRPr>
            </a:pPr>
            <a:r>
              <a:t>Measured warm launch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874519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191C21"/>
                </a:solidFill>
                <a:latin typeface="Aptos"/>
              </a:defRPr>
            </a:pPr>
            <a:r>
              <a:t>cudaLaunchKernel host enqueue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901951"/>
            <a:ext cx="4343400" cy="182880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901951"/>
            <a:ext cx="3884240" cy="182880"/>
          </a:xfrm>
          <a:prstGeom prst="rect">
            <a:avLst/>
          </a:prstGeom>
          <a:solidFill>
            <a:srgbClr val="1F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1865376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C21"/>
                </a:solidFill>
                <a:latin typeface="Aptos"/>
              </a:defRPr>
            </a:pPr>
            <a:r>
              <a:t>1.878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331720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191C21"/>
                </a:solidFill>
                <a:latin typeface="Aptos"/>
              </a:defRPr>
            </a:pPr>
            <a:r>
              <a:t>&lt;&lt;&lt; &gt;&gt;&gt; host enqueue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359151"/>
            <a:ext cx="4343400" cy="182880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2359151"/>
            <a:ext cx="3884240" cy="182880"/>
          </a:xfrm>
          <a:prstGeom prst="rect">
            <a:avLst/>
          </a:prstGeom>
          <a:solidFill>
            <a:srgbClr val="1B8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2322576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C21"/>
                </a:solidFill>
                <a:latin typeface="Aptos"/>
              </a:defRPr>
            </a:pPr>
            <a:r>
              <a:t>1.878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999232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191C21"/>
                </a:solidFill>
                <a:latin typeface="Aptos"/>
              </a:defRPr>
            </a:pPr>
            <a:r>
              <a:t>cudaLaunchKernel enqueue + sync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3026663"/>
            <a:ext cx="4343400" cy="182880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3026663"/>
            <a:ext cx="4326853" cy="182880"/>
          </a:xfrm>
          <a:prstGeom prst="rect">
            <a:avLst/>
          </a:prstGeom>
          <a:solidFill>
            <a:srgbClr val="1F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299008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C21"/>
                </a:solidFill>
                <a:latin typeface="Aptos"/>
              </a:defRPr>
            </a:pPr>
            <a:r>
              <a:t>2.092 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56432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191C21"/>
                </a:solidFill>
                <a:latin typeface="Aptos"/>
              </a:defRPr>
            </a:pPr>
            <a:r>
              <a:t>&lt;&lt;&lt; &gt;&gt;&gt; enqueue + sync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483863"/>
            <a:ext cx="4343400" cy="182880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3483863"/>
            <a:ext cx="4324785" cy="182880"/>
          </a:xfrm>
          <a:prstGeom prst="rect">
            <a:avLst/>
          </a:prstGeom>
          <a:solidFill>
            <a:srgbClr val="1B8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512" y="344728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C21"/>
                </a:solidFill>
                <a:latin typeface="Aptos"/>
              </a:defRPr>
            </a:pPr>
            <a:r>
              <a:t>2.091 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069080"/>
            <a:ext cx="6355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6"/>
                </a:solidFill>
                <a:latin typeface="Aptos"/>
              </a:defRPr>
            </a:pPr>
            <a:r>
              <a:t>Takeaway: once setup and copies are removed, both launch styles are effectively identical in this measurement.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285232"/>
            <a:ext cx="6766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8123"/>
                </a:solidFill>
                <a:latin typeface="Cascadia Mono"/>
              </a:defRPr>
            </a:pPr>
            <a:r>
              <a:t>bazel run //gpu:vector_launch_benchmark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0"/>
                </a:solidFill>
                <a:latin typeface="Aptos"/>
              </a:defRPr>
            </a:pPr>
            <a:r>
              <a:t>Source: projects/detailed/docs/benchmark_results.md and //gpu:vector_launch_benchmark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6"/>
                </a:solidFill>
                <a:latin typeface="Aptos Display"/>
              </a:defRPr>
            </a:pPr>
            <a:r>
              <a:t>Updated launcher benchmark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370"/>
                </a:solidFill>
                <a:latin typeface="Aptos"/>
              </a:defRPr>
            </a:pPr>
            <a:r>
              <a:t>projects/detailed/gpu/vector_launch_benchmark.cc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051560"/>
            <a:ext cx="3383280" cy="4892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051560"/>
            <a:ext cx="73152" cy="4892040"/>
          </a:xfrm>
          <a:prstGeom prst="rect">
            <a:avLst/>
          </a:prstGeom>
          <a:solidFill>
            <a:srgbClr val="1B8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216151"/>
            <a:ext cx="30358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1F36"/>
                </a:solidFill>
                <a:latin typeface="Aptos"/>
              </a:defRPr>
            </a:pPr>
            <a:r>
              <a:t>What the target now does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allocates device buffers once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copies inputs before timing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forces CUDA warm-up with both launch APIs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times only repeated launches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alternates order each round to remove bias</a:t>
            </a:r>
          </a:p>
          <a:p>
            <a:pPr>
              <a:spcBef>
                <a:spcPts val="300"/>
              </a:spcBef>
              <a:defRPr sz="1050">
                <a:solidFill>
                  <a:srgbClr val="191C21"/>
                </a:solidFill>
                <a:latin typeface="Aptos"/>
              </a:defRPr>
            </a:pPr>
            <a:r>
              <a:t>reports host enqueue and enqueue + stream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051560"/>
            <a:ext cx="7406640" cy="5074920"/>
          </a:xfrm>
          <a:prstGeom prst="roundRect">
            <a:avLst/>
          </a:prstGeom>
          <a:solidFill>
            <a:srgbClr val="1F232A"/>
          </a:solidFill>
          <a:ln>
            <a:solidFill>
              <a:srgbClr val="444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70431"/>
            <a:ext cx="7132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constexpr int warmup_iterations = 100;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constexpr int measured_iterations = 10'000;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constexpr int rounds = 8;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CUDA_CHECK(cudaFree(nullptr)); // initialize CUDA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// copy inputs before timing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CUDA_CHECK(cudaMemcpyAsync(d_a.get(), a.data(), d_a.bytes(),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                           cudaMemcpyHostToDevice, stream.get()));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CUDA_CHECK(cudaStreamSynchronize(stream.get()));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// warm up both launch paths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for (int i = 0; i &lt; warmup_iterations; ++i) {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  launch_vector_add_kernel(..., LaunchApi::kRuntimeApi);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  launch_vector_add_kernel(..., LaunchApi::kTripleChevron);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CUDA_CHECK(cudaStreamSynchronize(stream.get()));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// alternate order each round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for (int round = 0; round &lt; rounds; ++round) {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  if (round % 2 == 0) { runtime(); chevron(); }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  else { chevron(); runtime(); }</a:t>
            </a:r>
          </a:p>
          <a:p>
            <a:pPr>
              <a:spcAft>
                <a:spcPts val="0"/>
              </a:spcAft>
              <a:defRPr sz="860">
                <a:solidFill>
                  <a:srgbClr val="FFFFFF"/>
                </a:solidFill>
                <a:latin typeface="Cascadia Mono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6053328"/>
            <a:ext cx="10744200" cy="411480"/>
          </a:xfrm>
          <a:prstGeom prst="roundRect">
            <a:avLst/>
          </a:prstGeom>
          <a:solidFill>
            <a:srgbClr val="EDF7F2"/>
          </a:solidFill>
          <a:ln>
            <a:solidFill>
              <a:srgbClr val="CA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5E39"/>
                </a:solidFill>
                <a:latin typeface="Aptos"/>
              </a:defRPr>
            </a:pPr>
            <a:r>
              <a:t>New lesson: use //gpu:vector_launch_benchmark for launch-overhead discussion; use //gpu:vector_add_benchmark for full app-level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0"/>
                </a:solidFill>
                <a:latin typeface="Aptos"/>
              </a:defRPr>
            </a:pPr>
            <a:r>
              <a:t>Updated source: /home/neudinger/presentation/projects/detailed/gpu/vector_launch_benchmark.cc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LibreOffice/25.2.7.2$Linux_X86_64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2026-05-24T18:27:58Z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