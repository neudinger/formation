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Cliquez pour modifier le style du titre principal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Cliquez pour modifier le style de sous-titre principal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Cliquez pour modifier le style du titre principal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Cliquez pour modifier les styles de texte principal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Cliquez pour modifier le style du titre principal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Cliquez pour modifier les styles de texte principal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Cliquez pour modifier le style du titre principal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Cliquez pour modifier les styles de texte principal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Cliquez pour modifier les styles de texte principal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Cliquez pour modifier le style du titre principal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Cliquez pour modifier les styles de texte principal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Cliquez pour modifier les styles de texte principal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Cliquez pour modifier les styles de texte principal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Cliquez pour modifier les styles de texte principal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Cliquez pour modifier le style du titre principal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Cliquez pour modifier le style du titre principal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Cliquez pour modifier les styles de texte principal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Cliquez pour modifier les styles de texte principal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Cliquez pour modifier le style du titre principal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Cliquez pour modifier les styles de texte principal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Cliquez pour modifier le style du titre principal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Cliquez pour modifier les styles de texte principal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Cliquez pour modifier le style du titre principal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Cliquez pour modifier les styles de texte principal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Cliquez pour modifier le style du titre principal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Cliquez pour modifier les styles de texte principal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07899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F5F8FA"/>
                </a:solidFill>
                <a:latin typeface="Aptos"/>
              </a:rPr>
              <a:t>Jour 2 - Mesurer, empaqueter, comparer, étendre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76B900"/>
                </a:solidFill>
                <a:latin typeface="Aptos"/>
              </a:rPr>
              <a:t>Runtime, performance, déploiement, JAX/XLA et MatMul</a:t>
            </a:r>
          </a:p>
        </p:txBody>
      </p:sp>
      <p:pic>
        <p:nvPicPr>
          <p:cNvPr id="4" name="Picture 3" descr="fina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543" y="2148840"/>
            <a:ext cx="8968153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40680"/>
            <a:ext cx="102412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5F8FA"/>
                </a:solidFill>
              </a:defRPr>
            </a:pPr>
            <a:r>
              <a:t>Aujourd'hui : mesurer -&gt; recouvrir -&gt; empaqueter -&gt; comparer -&gt; étendre à MatMul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64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99A6B8"/>
                </a:solidFill>
                <a:latin typeface="Aptos"/>
              </a:rPr>
              <a:t>Cours CUDA/Bazel piloté par le dépôt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Récapitulatif du jour 1 en un graphe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02/48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 dépôt a désormais des implémentations CPU, threaded CPU et CUDA</a:t>
            </a:r>
          </a:p>
        </p:txBody>
      </p:sp>
      <p:sp>
        <p:nvSpPr>
          <p:cNvPr id="10" name="Target Graph Diagram Title"/>
          <p:cNvSpPr txBox="1"/>
          <p:nvPr/>
        </p:nvSpPr>
        <p:spPr>
          <a:xfrm>
            <a:off x="786384" y="2240280"/>
            <a:ext cx="6309360" cy="32004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sz="1200" b="1">
                <a:solidFill>
                  <a:srgbClr val="121B2A"/>
                </a:solidFill>
                <a:latin typeface="Aptos"/>
              </a:rPr>
              <a:t>Le graphe de cibles Bazel reflète l'architecture du projet</a:t>
            </a:r>
          </a:p>
        </p:txBody>
      </p:sp>
      <p:sp>
        <p:nvSpPr>
          <p:cNvPr id="11" name="Benchmark Target Node"/>
          <p:cNvSpPr/>
          <p:nvPr/>
        </p:nvSpPr>
        <p:spPr>
          <a:xfrm>
            <a:off x="960120" y="3200400"/>
            <a:ext cx="1325880" cy="512064"/>
          </a:xfrm>
          <a:prstGeom prst="roundRect">
            <a:avLst/>
          </a:prstGeom>
          <a:solidFill>
            <a:srgbClr val="E6F6F8"/>
          </a:solidFill>
          <a:ln w="10160">
            <a:solidFill>
              <a:srgbClr val="9BA9B8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benchmark</a:t>
            </a:r>
          </a:p>
        </p:txBody>
      </p:sp>
      <p:sp>
        <p:nvSpPr>
          <p:cNvPr id="12" name="Vector CPU Target Node"/>
          <p:cNvSpPr/>
          <p:nvPr/>
        </p:nvSpPr>
        <p:spPr>
          <a:xfrm>
            <a:off x="2606040" y="2816352"/>
            <a:ext cx="1417320" cy="512064"/>
          </a:xfrm>
          <a:prstGeom prst="roundRect">
            <a:avLst/>
          </a:prstGeom>
          <a:solidFill>
            <a:srgbClr val="E4EFFC"/>
          </a:solidFill>
          <a:ln w="10160">
            <a:solidFill>
              <a:srgbClr val="9BA9B8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vector_cpu</a:t>
            </a:r>
          </a:p>
        </p:txBody>
      </p:sp>
      <p:sp>
        <p:nvSpPr>
          <p:cNvPr id="13" name="Vector Add Target Node"/>
          <p:cNvSpPr/>
          <p:nvPr/>
        </p:nvSpPr>
        <p:spPr>
          <a:xfrm>
            <a:off x="2606040" y="3730752"/>
            <a:ext cx="1417320" cy="512064"/>
          </a:xfrm>
          <a:prstGeom prst="roundRect">
            <a:avLst/>
          </a:prstGeom>
          <a:solidFill>
            <a:srgbClr val="EAF8E7"/>
          </a:solidFill>
          <a:ln w="10160">
            <a:solidFill>
              <a:srgbClr val="9BA9B8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vector_add</a:t>
            </a:r>
          </a:p>
        </p:txBody>
      </p:sp>
      <p:sp>
        <p:nvSpPr>
          <p:cNvPr id="14" name="Device Lib Target Node"/>
          <p:cNvSpPr/>
          <p:nvPr/>
        </p:nvSpPr>
        <p:spPr>
          <a:xfrm>
            <a:off x="4343400" y="3730752"/>
            <a:ext cx="1325880" cy="512064"/>
          </a:xfrm>
          <a:prstGeom prst="roundRect">
            <a:avLst/>
          </a:prstGeom>
          <a:solidFill>
            <a:srgbClr val="FFF4DE"/>
          </a:solidFill>
          <a:ln w="10160">
            <a:solidFill>
              <a:srgbClr val="9BA9B8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device_lib</a:t>
            </a:r>
          </a:p>
        </p:txBody>
      </p:sp>
      <p:sp>
        <p:nvSpPr>
          <p:cNvPr id="15" name="Runtime Target Node"/>
          <p:cNvSpPr/>
          <p:nvPr/>
        </p:nvSpPr>
        <p:spPr>
          <a:xfrm>
            <a:off x="5943600" y="3730752"/>
            <a:ext cx="1234440" cy="512064"/>
          </a:xfrm>
          <a:prstGeom prst="roundRect">
            <a:avLst/>
          </a:prstGeom>
          <a:solidFill>
            <a:srgbClr val="EAE5FF"/>
          </a:solidFill>
          <a:ln w="10160">
            <a:solidFill>
              <a:srgbClr val="9BA9B8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runtime</a:t>
            </a:r>
          </a:p>
        </p:txBody>
      </p:sp>
      <p:sp>
        <p:nvSpPr>
          <p:cNvPr id="16" name="Benchmark To Vector CPU Connector"/>
          <p:cNvSpPr/>
          <p:nvPr/>
        </p:nvSpPr>
        <p:spPr>
          <a:xfrm flipV="1">
            <a:off x="2286000" y="3072384"/>
            <a:ext cx="320040" cy="384048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17" name="Benchmark To Vector Add Connector"/>
          <p:cNvSpPr/>
          <p:nvPr/>
        </p:nvSpPr>
        <p:spPr>
          <a:xfrm>
            <a:off x="2286000" y="3456432"/>
            <a:ext cx="320040" cy="530352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18" name="Vector Add To Device Lib Connector"/>
          <p:cNvSpPr/>
          <p:nvPr/>
        </p:nvSpPr>
        <p:spPr>
          <a:xfrm>
            <a:off x="4023360" y="3986784"/>
            <a:ext cx="320040" cy="0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19" name="Device Lib To Runtime Connector"/>
          <p:cNvSpPr/>
          <p:nvPr/>
        </p:nvSpPr>
        <p:spPr>
          <a:xfrm>
            <a:off x="5669280" y="3986784"/>
            <a:ext cx="274320" cy="0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vector_add_benchmark dépend des implémentations de CPU et CUDA.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chemin CUDA est divisé en wrapper d'hôte, bibliothèque de périphériques et assistants d'exécution.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C'est le graphe que nous mesurons et emballons maintenant.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//gpu:vector_add_benchmark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Résultats attendus du jour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03/48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Raison concernant le coût d'exécution et le déploiement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7899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C2430"/>
                </a:solidFill>
              </a:defRPr>
            </a:pPr>
            <a:r>
              <a:t>Lisez les résultats du benchmark de manière responsable.</a:t>
            </a:r>
          </a:p>
          <a:p>
            <a:pPr>
              <a:spcAft>
                <a:spcPts val="600"/>
              </a:spcAft>
              <a:defRPr sz="2200">
                <a:solidFill>
                  <a:srgbClr val="1C2430"/>
                </a:solidFill>
              </a:defRPr>
            </a:pPr>
            <a:r>
              <a:t>Expliquez le mouvement de la mémoire host/device.</a:t>
            </a:r>
          </a:p>
          <a:p>
            <a:pPr>
              <a:spcAft>
                <a:spcPts val="600"/>
              </a:spcAft>
              <a:defRPr sz="2200">
                <a:solidFill>
                  <a:srgbClr val="1C2430"/>
                </a:solidFill>
              </a:defRPr>
            </a:pPr>
            <a:r>
              <a:t>Utilisez correctement le timing et la synchronisation.</a:t>
            </a:r>
          </a:p>
          <a:p>
            <a:pPr>
              <a:spcAft>
                <a:spcPts val="600"/>
              </a:spcAft>
              <a:defRPr sz="2200">
                <a:solidFill>
                  <a:srgbClr val="1C2430"/>
                </a:solidFill>
              </a:defRPr>
            </a:pPr>
            <a:r>
              <a:t>Construire/charger un petit conteneur GPU.</a:t>
            </a:r>
          </a:p>
          <a:p>
            <a:pPr>
              <a:spcAft>
                <a:spcPts val="600"/>
              </a:spcAft>
              <a:defRPr sz="2200">
                <a:solidFill>
                  <a:srgbClr val="1C2430"/>
                </a:solidFill>
              </a:defRPr>
            </a:pPr>
            <a:r>
              <a:t>Expliquez le chemin du compilateur JAX/XLA.</a:t>
            </a:r>
          </a:p>
          <a:p>
            <a:pPr>
              <a:spcAft>
                <a:spcPts val="600"/>
              </a:spcAft>
              <a:defRPr sz="2200">
                <a:solidFill>
                  <a:srgbClr val="1C2430"/>
                </a:solidFill>
              </a:defRPr>
            </a:pPr>
            <a:r>
              <a:t>Utilisez MatMul comme échelle de performances distincte.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 + projects/simple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Commencer par la réalité du périphérique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04/48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Les faits d'exécution déterminent la signification des expériences</a:t>
            </a:r>
          </a:p>
        </p:txBody>
      </p:sp>
      <p:pic>
        <p:nvPicPr>
          <p:cNvPr id="7" name="Picture 6" descr="code_4_Start_with_Device_Re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896" y="1234440"/>
            <a:ext cx="4748926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Exécutez device_info avant de tirer des conclusions.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Capturer le runtime CUDA, le pilote, le nombre de périphériques, le nombre de SM et la taille de warp.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cd projects/detailed
bazel run //runtime:device_info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projects/detailed/runtime/device_info.cc   |   Source : CUDA C++ Programming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Champs matériels importants aujourd'hui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05/48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Toutes les propriétés de périphérique n'ont pas la même importance pour les kernels débutants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Champ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Pourquoi c'est important aujourd'hui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multiProcessorCount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Capacité parallèle pour les kernels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warpSize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Granularité de planification et MatMul discussion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sharedMemPerBlock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MatMul tuilé et limites de mémoire partagée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asyncEngineCount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Chevauchement potentiel de copy/compute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maxThreadsPerBlock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Contraintes de lancement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cudaDeviceProp   |   Source : CUDA C++ Programming 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Mesurer avant d'optimiser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06/48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Vous avez besoin d'un modèle de synchronisation avant de changer le code</a:t>
            </a:r>
          </a:p>
        </p:txBody>
      </p:sp>
      <p:pic>
        <p:nvPicPr>
          <p:cNvPr id="7" name="Picture 6" descr="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27148"/>
            <a:ext cx="6766560" cy="2706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Réchauffez-vous avant de mesurer.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Connaissez le point de synchronisation.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Sachez si copies/allocation sont inclus.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Évitez de comparer les effets du cache de première exécution.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Gardez l’exactitude de l’échantillon visible.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gpu/vector_add_benchmark.cc   |   Source : CUDA C++ Best Practices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Piège de timing CUDA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07/48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 travail de GPU est asynchrone du point de vue de l'hôte</a:t>
            </a:r>
          </a:p>
        </p:txBody>
      </p:sp>
      <p:pic>
        <p:nvPicPr>
          <p:cNvPr id="7" name="Picture 6" descr="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27148"/>
            <a:ext cx="6766560" cy="2706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Un temporisateur hôte peut s'arrêter avant que le travail de GPU ne soit terminé.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Synchronisez intentionnellement ou utilisez des événements.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Mesurez la même portée pour chaque implémentation.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runtime/cuda_launch.h   |   Source : CUDA C++ Programming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Cible de benchmark d'addition vectorielle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08/48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 benchmark compare quatre chemins dans un exécutable</a:t>
            </a:r>
          </a:p>
        </p:txBody>
      </p:sp>
      <p:pic>
        <p:nvPicPr>
          <p:cNvPr id="7" name="Picture 6" descr="code_8_Vector_Add_Benchmark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792" y="1234440"/>
            <a:ext cx="4397134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série CPU.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CPU fileté.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Lancement du runtime CUDA API.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Lancement à triple-chevron CUDA.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run //gpu:vector_add_benchmark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projects/detailed/gpu/vector_add_benchmark.cc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Lire la sortie du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09/48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Interpréter l'ajout de vecteur comme étant lié à la mémoire et sensible au transfert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87782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A"/>
                          </a:solidFill>
                        </a:defRPr>
                      </a:pPr>
                      <a:r>
                        <a:t>Chemin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A"/>
                          </a:solidFill>
                        </a:defRPr>
                      </a:pPr>
                      <a:r>
                        <a:t>Ce que comprend le temps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A"/>
                          </a:solidFill>
                        </a:defRPr>
                      </a:pPr>
                      <a:r>
                        <a:t>Interprétation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série CPU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travail hôte en boucle unique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sémantique de base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CPU fileté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démarrage du thread + travail en bloc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parallélisme CPU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exécution de CUDA API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allocation + copies + lancement + synchronisation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coût total de l'appel GPU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CUDA chevron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même travail, syntaxe de lancement différente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Comparaison d'API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benchmark_results.md   |   Source : CUDA C++ Best Practices Guide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Flux mémoire hôte/périphérique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10/48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Les performances de CUDA commencent souvent par le mouvement des données</a:t>
            </a:r>
          </a:p>
        </p:txBody>
      </p:sp>
      <p:pic>
        <p:nvPicPr>
          <p:cNvPr id="7" name="Picture 6" descr="memor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14372"/>
            <a:ext cx="6766560" cy="2932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 et b déplacent l'hôte vers l'appareil.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kernel écrit d_out.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out déplace l'appareil vers l'hôte.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Pour l'ajout vectoriel, les octets déplacés peuvent dominer l'arithmétique.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gpu/vector_add_cuda.cc   |   Source : CUDA C++ Programming Guide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Labo 1 : estimer les octets déplacés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11/48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 raisonnement sur la performance commence sur papier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Point de contrôle / exercice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Pour size = 1 &lt;&lt; 24 et sizeof(float) = 4 : estimez H2D pour a et b.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Estimez D2H pour sortir.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Calcule le nombre total d'octets déplacés.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Comparez cela avec le temps de benchmark.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N = 1 &lt;&lt; 24
bytes = 3 * N * sizeof(float)</a:t>
            </a:r>
          </a:p>
        </p:txBody>
      </p:sp>
      <p:pic>
        <p:nvPicPr>
          <p:cNvPr id="12" name="Picture 11" descr="memor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719322"/>
            <a:ext cx="4251960" cy="18425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docs/benchmark_results.md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cudaMalloc et coût d'allocation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12/48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L'allocation n'est pas gratuite et ne doit pas être cachée dans un récit limité au kernel</a:t>
            </a:r>
          </a:p>
        </p:txBody>
      </p:sp>
      <p:pic>
        <p:nvPicPr>
          <p:cNvPr id="7" name="Picture 6" descr="code_12_cudaMalloc_and_Allocation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422" y="1234440"/>
            <a:ext cx="5453874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La synchronisation complète comprend l'allocation et la gratuité.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Les applications réelles réutilisent souvent les buffers.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Coût d’allocation séparé lors de l’étude des performances.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gpu/vector_add_cuda.cc   |   Source : CUDA Runtime API - Execution Control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Direction et intention de cudaMemcpy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13/48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Les drapeaux de direction rendent explicite la propriété de host/device</a:t>
            </a:r>
          </a:p>
        </p:txBody>
      </p:sp>
      <p:pic>
        <p:nvPicPr>
          <p:cNvPr id="7" name="Picture 6" descr="code_13_cudaMemcpy_Direction_and_I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62" y="1234440"/>
            <a:ext cx="6511794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HostToDevice pour les tableaux d'entrée.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DeviceToHost pour les tableaux de sortie.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Une mauvaise direction peut échouer ou invalider silencieusement les résultats.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cudaMemcpy dans vector_add_cuda.cc   |   Source : CUDA Runtime API - Execution 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Coût de lancement du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14/48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Les frais généraux de lancement signifient qu'un petit travail peut perdre au profit de CPU</a:t>
            </a:r>
          </a:p>
        </p:txBody>
      </p:sp>
      <p:pic>
        <p:nvPicPr>
          <p:cNvPr id="7" name="Picture 6" descr="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27148"/>
            <a:ext cx="6766560" cy="2706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Les files d'attente de l'hôte fonctionnent.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GPU distribue le kernel.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La synchronisation ramène les erreurs et l'achèvement à l'hôte.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Les lots et les travaux de plus grande taille amortissent les coûts de lancement.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gpu/vector_add_benchmark.cc   |   Source : CUDA C++ Best Practices Guide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Modèle mental du stream par défaut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15/48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 code de base est intentionnellement sérialisé pour plus d'exactitude</a:t>
            </a:r>
          </a:p>
        </p:txBody>
      </p:sp>
      <p:pic>
        <p:nvPicPr>
          <p:cNvPr id="7" name="Picture 6" descr="memor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14372"/>
            <a:ext cx="6766560" cy="2932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Les copies synchrones et le lancement simple constituent une base de référence claire.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stream par défaut facilite la première correction.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chevauchement est une deuxième étape et non la première étape.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gpu/vector_add_cuda.cc   |   Source : CUDA C++ Programming Guide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Streams : pourquoi nous en avons besoin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16/48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Les stream permettent des files d'attente de travail indépendantes</a:t>
            </a:r>
          </a:p>
        </p:txBody>
      </p:sp>
      <p:pic>
        <p:nvPicPr>
          <p:cNvPr id="7" name="Picture 6" descr="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14372"/>
            <a:ext cx="6766560" cy="2932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Divisez les données en morceaux.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Mettez en file d'attente H2D, le kernel et D2H par stream.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chevauchement nécessite des prérequis en matière de matériel et de mémoire.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runtime/cuda_launch.h   |   Source : CUDA C++ Programming Guide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Exigences des copies asynchrones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17/48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cudaMemcpyAsync n'est pas magique en soi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Exigence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Raison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Mémoire hôte épinglée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permet un transfert asynchrone efficace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Stream personnalisés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permet des files d'attente indépendantes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Morceaux indépendants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empêche la sérialisation des dépendances de données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moteurs de copie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prise en charge matérielle du chevauchement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synchronisation explicite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fiabilise les résultats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device_info asyncEngineCount   |   Source : CUDA C++ Programming Guide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Conception du labo 2 : addition vectorielle par morceaux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18/48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Chevauchement des stream de conception avant de l'implémenter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Point de contrôle / exercice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Divisez le vecteur en morceaux.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Allouez ou réutilisez des buffers de périphérique par stream.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Mettez H2D -&gt; kernel -&gt; D2H par morceau.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Synchronisez les stream et comparez-les avec l'oracle CPU.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pour le stream dans les stream :
   cudaMemcpyAsync (..., stream)
  kernel&lt;&lt;&lt;grille, bloc, 0, stream&gt;&gt;&gt;(...)
   cudaMemcpyAsync (..., stream)</a:t>
            </a:r>
          </a:p>
        </p:txBody>
      </p:sp>
      <p:pic>
        <p:nvPicPr>
          <p:cNvPr id="12" name="Picture 11" descr="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719322"/>
            <a:ext cx="4251960" cy="18425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future extension de gpu/vector_add_cuda.cc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Gestion des erreurs sous asynchronisme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19/48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Des erreurs au moment du lancement et de l'exécution apparaissent à différents moments</a:t>
            </a:r>
          </a:p>
        </p:txBody>
      </p:sp>
      <p:pic>
        <p:nvPicPr>
          <p:cNvPr id="7" name="Picture 6" descr="diagno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cudaGetLastError détecte les problèmes de configuration de lancement.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La synchronisation détecte de nombreuses erreurs exécution.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Un appel CUDA ultérieur peut signaler une défaillance asynchrone antérieure.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runtime/cuda_errors.h   |   Source : CUDA Runtime API - Execution Control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Workflow de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20/48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Utiliser un ordre de diagnostic reproductible</a:t>
            </a:r>
          </a:p>
        </p:txBody>
      </p:sp>
      <p:pic>
        <p:nvPicPr>
          <p:cNvPr id="7" name="Picture 6" descr="diagno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Exécutez //runtime:device_info.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Exécutez le plus petit test d’exactitude.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Vérifiez l'emplacement de l'échec CUDA_CHECK.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Réduisez la taille de l’entrée.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Inspectez les indicateurs d’architecture.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Utilisez computing-sanitizer ou Nsight lorsqu'il est disponible.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tests d'exécution + GPU   |   Source : Nsight / CUDA runtime docs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Motivation de l'empaquetage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21/48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 déploiement doit préserver le contrat de build</a:t>
            </a:r>
          </a:p>
        </p:txBody>
      </p:sp>
      <p:pic>
        <p:nvPicPr>
          <p:cNvPr id="7" name="Picture 6" descr="o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Un binaire local fonctionnel n'est pas un artefact de déploiement.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L'image d'exécution doit contenir uniquement ce qui est nécessaire à l'exécution.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Bazel peut builder le binaire et assembler l'image.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projects/simple/src/BUILD.bazel   |   Source : rules_oci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Projet simple comme spécimen de déploiement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22/48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projects/simple est le projet d'image hermétique minimal CUDA</a:t>
            </a:r>
          </a:p>
        </p:txBody>
      </p:sp>
      <p:pic>
        <p:nvPicPr>
          <p:cNvPr id="7" name="Picture 6" descr="code_22_Simple_Project_as_Deployment_Speci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41" y="1234440"/>
            <a:ext cx="6181437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Petit binaire d'informations GPU.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Dépendance d'exécution CUDA.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La cible OCI est facile à inspecter.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cd projects/simple
bazel run //src:gpu_info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projects/simple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Cible conteneur dans Bazel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23/48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L'image est une cible Bazel, pas un fichier Docker écrit à la main</a:t>
            </a:r>
          </a:p>
        </p:txBody>
      </p:sp>
      <p:pic>
        <p:nvPicPr>
          <p:cNvPr id="7" name="Picture 6" descr="code_23_Container_Target_in_Baz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336" y="1234440"/>
            <a:ext cx="3596046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cc_binary crée l'application.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pkg_tar empaquette le binaire/runfiles.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oci_image crée l'image.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oci_load le charge dans Docker.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projects/simple/src/BUILD.bazel   |   Source : rules_oci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Empaqueter les fichiers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24/48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Les fichiers d'exécution Bazel rendent explicites les bibliothèques partagées d'exécution</a:t>
            </a:r>
          </a:p>
        </p:txBody>
      </p:sp>
      <p:pic>
        <p:nvPicPr>
          <p:cNvPr id="7" name="Picture 6" descr="code_24_Packaging_Runtime_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00006"/>
            <a:ext cx="7040880" cy="49437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include_runfiles apporte les dépendances d'exécution dans la couche.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L'exécutable atterrit sous /app.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Le point d’entrée du conteneur pointe vers le binaire packagé.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pkg_tar + oci_image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Image de base épinglée par digest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25/48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La reproductibilité du conteneur inclut l'image de base</a:t>
            </a:r>
          </a:p>
        </p:txBody>
      </p:sp>
      <p:pic>
        <p:nvPicPr>
          <p:cNvPr id="7" name="Picture 6" descr="code_25_Digest_Pinned_Bas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14105"/>
            <a:ext cx="7040880" cy="31155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Épinglez l'image de base par résumé, pas seulement par balise.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Cela maintient l’entrée d’image stable dans le temps.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rules_oci extrait la base OCI en tant qu'entrée déclarée du dépôt.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projects/simple/MODULE.bazel   |   Source : rules_oci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Démo live : charger et exécuter la petite image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26/48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L'outil d'information GPU s'exécute dans un petit conteneur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Point de contrôle / exercice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Créez et chargez l'image OCI.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Exécutez l'image avec l'accès GPU.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Confirmez que le moteur d'exécution de l'hôte fournit le NVIDIA driver/GPU.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cd projects/simple
bazel run //src:load_gpu_info_image
docker run --rm --gpus all simple-gpu-info:latest</a:t>
            </a:r>
          </a:p>
        </p:txBody>
      </p:sp>
      <p:pic>
        <p:nvPicPr>
          <p:cNvPr id="12" name="Picture 11" descr="o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03573"/>
            <a:ext cx="4251960" cy="14740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//src:load_gpu_info_image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Taille d'image et artefact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27/48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L'image déployable est un artefact de build et une image Docker chargée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Point de contrôle / exercice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Créez le groupe de sortie de l'archive tar.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Inspectez la liste d’images Docker.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Distinguer l'artefact Bazel de l'image du démon Docker.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bazel build //src:gpu_info_image_tar
docker image ls simple-gpu-info:latest</a:t>
            </a:r>
          </a:p>
        </p:txBody>
      </p:sp>
      <p:pic>
        <p:nvPicPr>
          <p:cNvPr id="12" name="Picture 11" descr="o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03573"/>
            <a:ext cx="4251960" cy="14740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bazel-bin/src/load_gpu_info_image/tarball.tar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Cible de déploiement détaillée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28/48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 déploiement commence par décider quels fichiers d'exécution vont ensemble</a:t>
            </a:r>
          </a:p>
        </p:txBody>
      </p:sp>
      <p:pic>
        <p:nvPicPr>
          <p:cNvPr id="7" name="Picture 6" descr="code_28_Detailed_Deploy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73352"/>
            <a:ext cx="7040880" cy="23970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Le projet détaillé collecte des fichiers d'exécution de référence et d'informations sur les appareils.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Cela peut évoluer vers une cible d’image de projet entièrement détaillée.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Gardez le déploiement explicite.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projects/detailed/deploy/BUILD.bazel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Modèle de build distant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29/48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Des cibles hermétiques sont la condition préalable pour instaurer la confiance à distance</a:t>
            </a:r>
          </a:p>
        </p:txBody>
      </p:sp>
      <p:pic>
        <p:nvPicPr>
          <p:cNvPr id="7" name="Picture 6" descr="rem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développeur local appelle Bazel.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L'exe distant cutor exécute les actions déclarées.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cache distant stocke les sorties réutilisables.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L'hôte d'exécution GPU reste une préoccupation distincte.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concept d'exe à distance cution   |   Source : Bazel Remote Execution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Ce que le build distant ne résout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30/48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Une machine de build distante n'est pas automatiquement une machine d'exécution GPU</a:t>
            </a:r>
          </a:p>
        </p:txBody>
      </p:sp>
      <p:pic>
        <p:nvPicPr>
          <p:cNvPr id="7" name="Picture 6" descr="rem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Au moment de la build, CUDA headers/toolchains peut être hermétique.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pilote d'exécution GPU et l'accès au périphérique sont spécifiques à l'environnement.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Validez GPU exécution sur les hôtes d'exécution compatibles.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machine de build vs machine d'exécution   |   Source : Bazel Remote Execution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Hook Python : orchestration des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31/48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Python peut orchestrer sans posséder le chemin de calcul lourd</a:t>
            </a:r>
          </a:p>
        </p:txBody>
      </p:sp>
      <p:pic>
        <p:nvPicPr>
          <p:cNvPr id="7" name="Picture 6" descr="code_31_Python_Hook_Benchmark_Orche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57835"/>
            <a:ext cx="7040880" cy="32281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Python exécute les binaires construits par Bazel.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Le chemin de calcul reste dans C++/CUDA.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L’automatisation des mesures reste ainsi légère.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run //python:benchmark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projects/detailed/python/benchmark.py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Hook de comparaison JAX/XLA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32/48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JAX exprime le calcul et laisse le compilateur le réduire</a:t>
            </a:r>
          </a:p>
        </p:txBody>
      </p:sp>
      <p:pic>
        <p:nvPicPr>
          <p:cNvPr id="7" name="Picture 6" descr="code_32_JAX_XLA_Comparison_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5297"/>
            <a:ext cx="7040880" cy="50732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jax.jit trace une fonction Python.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lower() expose la forme abaissée.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compile() produit un exécutable pour un backend cible.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run //python:jax_xla_demo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projects/detailed/python/jax_xla_demo.py   |   Source : JAX AOT lowering and compilation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CUDA manuel vs JAX/XLA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33/48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 manuel CUDA expose le contrôle;  JAX expose les programmes de tableaux gérés par le compilateur</a:t>
            </a:r>
          </a:p>
        </p:txBody>
      </p:sp>
      <p:pic>
        <p:nvPicPr>
          <p:cNvPr id="7" name="Picture 6" descr="j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Manuel CUDA : mémoire explicite, géométrie de lancement et appels d'exécution.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Sémantique, traçage, réduction et compilation du tableau JAX/XLA:.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Il s’agit d’une comparaison de couches et non d’une décision où le gagnant remporte tout.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gpu/vector_add_device.cu contre python/jax_xla_demo.py   |   Source : JAX AOT lowering and compilation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Transition vers MatMul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34/48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L'ajout de vecteurs enseigne la mécanique;  MatMul enseigne la réutilisation et la hiérarchie</a:t>
            </a:r>
          </a:p>
        </p:txBody>
      </p:sp>
      <p:pic>
        <p:nvPicPr>
          <p:cNvPr id="7" name="Picture 6" descr="matm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14372"/>
            <a:ext cx="6766560" cy="2932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L'ajout de vecteurs est simple et limité à la mémoire.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MatMul réutilise les lignes et les colonnes.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module d'algèbre linéaire est distinct de par sa conception.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projects/detailed/linear_algebra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Carte du module d'algèbre linéaire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35/48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MatMul a un oracle CPU et deux implémentations CUDA</a:t>
            </a:r>
          </a:p>
        </p:txBody>
      </p:sp>
      <p:pic>
        <p:nvPicPr>
          <p:cNvPr id="7" name="Picture 6" descr="code_35_Linear_Algebra_Modul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665" y="1234440"/>
            <a:ext cx="3111389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CPU MatMul oracle.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Kernel de base CUDA à un thread par sortie.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Kernel de mémoire partagée CUDA en mosaïque.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Cibles de test et de référence.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projects/detailed/linear_algebra/BUILD.bazel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Oracle CPU pour MatMul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36/48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Même MatMul commence par l'exactitude de CPU</a:t>
            </a:r>
          </a:p>
        </p:txBody>
      </p:sp>
      <p:pic>
        <p:nvPicPr>
          <p:cNvPr id="7" name="Picture 6" descr="code_36_CPU_MatMul_Ora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18" y="1234440"/>
            <a:ext cx="6676882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Boucles imbriquées sur M, N et K.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Définit la sémantique exacte pour les tests de petite taille.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Utilisé par matmul_test avant l'interprétation du benchmark.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test //linear_algebra:matmul_test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linear_algebra/matmul_cpu.cc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MatMul CUDA de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37/48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Un thread calcule un élément de sortie</a:t>
            </a:r>
          </a:p>
        </p:txBody>
      </p:sp>
      <p:pic>
        <p:nvPicPr>
          <p:cNvPr id="7" name="Picture 6" descr="code_37_Basic_CUDA_MatM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94" y="1234440"/>
            <a:ext cx="5994130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Mappez les coordonnées du fil 2D sur la ligne et la colonne.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Chaque fil boucle sur K.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Correct et parallèle, mais la réutilisation globale de la mémoire est médiocre.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linear_algebra/matmul_basic_device.cu   |   Source : CUDA C++ Programming Guide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Pourquoi MatMul de base laisse de la performance de côté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38/48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La relecture de la mémoire globale gaspille de la bande passante</a:t>
            </a:r>
          </a:p>
        </p:txBody>
      </p:sp>
      <p:pic>
        <p:nvPicPr>
          <p:cNvPr id="7" name="Picture 6" descr="matmul_re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09651"/>
            <a:ext cx="6766560" cy="31416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Les threads voisins lisent à plusieurs reprises les données A/B qui se chevauchent.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La bande passante mémoire devient la limite.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Cela motive le carrelage en mémoire partagée.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matmul_basic_device.cu   |   Source : CUDA C++ Best Practices Guide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MatMul tuilé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39/48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La mémoire partagée permet à un bloc de réutiliser les tuiles de A et B</a:t>
            </a:r>
          </a:p>
        </p:txBody>
      </p:sp>
      <p:pic>
        <p:nvPicPr>
          <p:cNvPr id="7" name="Picture 6" descr="code_39_Tiled_MatM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026" y="1234440"/>
            <a:ext cx="4136667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Les threads chargent de manière coopérative les tuiles A et B.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__syncthreads() crée une barrière de blocage.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Chaque tuile est réutilisée sur plusieurs ajouts multipliés.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linear_algebra/matmul_tiled_device.cu   |   Source : CUDA C++ Best Practices Guide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Modèle mental de la mémoire partagée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40/48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La mémoire partagée est un bloc-notes par bloc avec une coopération explicite</a:t>
            </a:r>
          </a:p>
        </p:txBody>
      </p:sp>
      <p:pic>
        <p:nvPicPr>
          <p:cNvPr id="7" name="Picture 6" descr="tiled_matm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01595"/>
            <a:ext cx="6766560" cy="31577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Portée : un bloc de fil.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Durée de vie : un bloc de kernel exécution.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Utilisation : réutilisation coopérative des données.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Coût : capacité limitée et contraintes de synchronisation.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__shared__ + __syncthreads   |   Source : CUDA C++ Programming Guide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Benchmark MatMul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41/48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 benchmark montre l'échelle : CPU, CUDA de base, CUDA en mosaïque</a:t>
            </a:r>
          </a:p>
        </p:txBody>
      </p:sp>
      <p:pic>
        <p:nvPicPr>
          <p:cNvPr id="7" name="Picture 6" descr="code_41_MatMul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46" y="1234440"/>
            <a:ext cx="5070026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Utilisez des tailles suffisamment petites pour les délais d’exécution du laboratoire.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Enregistrez l’exactitude et le timing.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Interprétez les performances en mosaïque grâce à la réutilisation, et pas seulement au nombre de threads.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run //linear_algebra:matmul_benchmark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linear_algebra/matmul_benchmark.cc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Labo 3 : remplir le tableau de résultats de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42/48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Les exécutions deviennent un petit rapport de performances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Point de contrôle / exercice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Ouvrir docs/benchmark_results.md.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Exécutez un benchmark d'ajout de vecteur.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Exécutez le benchmark MatMul.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Enregistrez CPU série, CPU threadé, CUDA vecteur ajouté, MatMul CPU, MatMul basic, MatMul carrelé.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bazel run //gpu:vector_add_benchmark
bazel run //linear_algebra:matmul_benchmark</a:t>
            </a:r>
          </a:p>
        </p:txBody>
      </p:sp>
      <p:pic>
        <p:nvPicPr>
          <p:cNvPr id="12" name="Picture 11" descr="gemm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03573"/>
            <a:ext cx="4251960" cy="14740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projects/detailed/docs/benchmark_results.md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GEMM en production : pourquoi les bibliothèques existent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43/48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Les performances réelles de GEMM sont un problème d'ingénierie de bibliothèque</a:t>
            </a:r>
          </a:p>
        </p:txBody>
      </p:sp>
      <p:pic>
        <p:nvPicPr>
          <p:cNvPr id="7" name="Picture 6" descr="gemm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Les kernels de base apprennent à la machine.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Les kernels en mosaïque enseignent la réutilisation des données.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cuBLAS/cuBLASLt définit les références de production.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CUTLASS/CuTe affiche le style de production customizable GEMM.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crochet linear_algebra/matmul_cublas.cc   |   Source : cuBLAS/cuBLASLt + CUTLASS docs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Choisir le bon niveau de CUDA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44/48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Utilisez le niveau le plus bas uniquement lorsque le contrôle en vaut la peine</a:t>
            </a:r>
          </a:p>
        </p:txBody>
      </p:sp>
      <p:sp>
        <p:nvSpPr>
          <p:cNvPr id="10" name="Editable More Control Square"/>
          <p:cNvSpPr/>
          <p:nvPr/>
        </p:nvSpPr>
        <p:spPr>
          <a:xfrm>
            <a:off x="877824" y="2249424"/>
            <a:ext cx="2487168" cy="2432304"/>
          </a:xfrm>
          <a:prstGeom prst="rect">
            <a:avLst/>
          </a:prstGeom>
          <a:solidFill>
            <a:srgbClr val="FDEAEA"/>
          </a:solidFill>
          <a:ln w="12700">
            <a:solidFill>
              <a:srgbClr val="D83A34"/>
            </a:solidFill>
          </a:ln>
        </p:spPr>
      </p:sp>
      <p:sp>
        <p:nvSpPr>
          <p:cNvPr id="11" name="Editable More Productivity Square"/>
          <p:cNvSpPr/>
          <p:nvPr/>
        </p:nvSpPr>
        <p:spPr>
          <a:xfrm>
            <a:off x="3941064" y="2249424"/>
            <a:ext cx="2487168" cy="2432304"/>
          </a:xfrm>
          <a:prstGeom prst="rect">
            <a:avLst/>
          </a:prstGeom>
          <a:solidFill>
            <a:srgbClr val="EDF9E9"/>
          </a:solidFill>
          <a:ln w="12700">
            <a:solidFill>
              <a:srgbClr val="62B000"/>
            </a:solidFill>
          </a:ln>
        </p:spPr>
      </p:sp>
      <p:sp>
        <p:nvSpPr>
          <p:cNvPr id="12" name="Editable Control Productivity Arrow"/>
          <p:cNvSpPr/>
          <p:nvPr/>
        </p:nvSpPr>
        <p:spPr>
          <a:xfrm>
            <a:off x="3547872" y="3401568"/>
            <a:ext cx="320040" cy="164592"/>
          </a:xfrm>
          <a:prstGeom prst="rightArrow">
            <a:avLst/>
          </a:prstGeom>
          <a:solidFill>
            <a:srgbClr val="63AF00"/>
          </a:solidFill>
          <a:ln w="6350">
            <a:solidFill>
              <a:srgbClr val="63AF00"/>
            </a:solidFill>
          </a:ln>
        </p:spPr>
      </p:sp>
      <p:sp>
        <p:nvSpPr>
          <p:cNvPr id="13" name="More Control Label"/>
          <p:cNvSpPr txBox="1"/>
          <p:nvPr/>
        </p:nvSpPr>
        <p:spPr>
          <a:xfrm>
            <a:off x="1188720" y="2542032"/>
            <a:ext cx="1865376" cy="32004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ptos"/>
              </a:rPr>
              <a:t>Plus de contrôle</a:t>
            </a:r>
          </a:p>
        </p:txBody>
      </p:sp>
      <p:sp>
        <p:nvSpPr>
          <p:cNvPr id="14" name="More Productivity Label"/>
          <p:cNvSpPr txBox="1"/>
          <p:nvPr/>
        </p:nvSpPr>
        <p:spPr>
          <a:xfrm>
            <a:off x="4251960" y="2542032"/>
            <a:ext cx="1865376" cy="32004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ptos"/>
              </a:rPr>
              <a:t>Plus de productivité</a:t>
            </a:r>
          </a:p>
        </p:txBody>
      </p:sp>
      <p:sp>
        <p:nvSpPr>
          <p:cNvPr id="15" name="More Control Bullets"/>
          <p:cNvSpPr txBox="1"/>
          <p:nvPr/>
        </p:nvSpPr>
        <p:spPr>
          <a:xfrm>
            <a:off x="1261872" y="3054096"/>
            <a:ext cx="1847088" cy="150876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rmAutofit/>
          </a:bodyPr>
          <a:lstStyle/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980">
                <a:solidFill>
                  <a:srgbClr val="303030"/>
                </a:solidFill>
                <a:latin typeface="Aptos"/>
              </a:rPr>
              <a:t>custom CUDA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980">
                <a:solidFill>
                  <a:srgbClr val="303030"/>
                </a:solidFill>
                <a:latin typeface="Aptos"/>
              </a:rPr>
              <a:t>mémoire explicite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980">
                <a:solidFill>
                  <a:srgbClr val="303030"/>
                </a:solidFill>
                <a:latin typeface="Aptos"/>
              </a:rPr>
              <a:t>lancement du kernel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980">
                <a:solidFill>
                  <a:srgbClr val="303030"/>
                </a:solidFill>
                <a:latin typeface="Aptos"/>
              </a:rPr>
              <a:t>déboguer le niveau inférieur</a:t>
            </a:r>
          </a:p>
        </p:txBody>
      </p:sp>
      <p:sp>
        <p:nvSpPr>
          <p:cNvPr id="16" name="More Productivity Bullets"/>
          <p:cNvSpPr txBox="1"/>
          <p:nvPr/>
        </p:nvSpPr>
        <p:spPr>
          <a:xfrm>
            <a:off x="4325112" y="3054096"/>
            <a:ext cx="1847088" cy="150876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rmAutofit/>
          </a:bodyPr>
          <a:lstStyle/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980">
                <a:solidFill>
                  <a:srgbClr val="303030"/>
                </a:solidFill>
                <a:latin typeface="Aptos"/>
              </a:rPr>
              <a:t>Thrust/CUB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980">
                <a:solidFill>
                  <a:srgbClr val="303030"/>
                </a:solidFill>
                <a:latin typeface="Aptos"/>
              </a:rPr>
              <a:t>cuBLAS/cuDNN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980">
                <a:solidFill>
                  <a:srgbClr val="303030"/>
                </a:solidFill>
                <a:latin typeface="Aptos"/>
              </a:rPr>
              <a:t>JAX/XLA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980">
                <a:solidFill>
                  <a:srgbClr val="303030"/>
                </a:solidFill>
                <a:latin typeface="Aptos"/>
              </a:rPr>
              <a:t>PyTorch / TF / MLIR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Kernel CUDA C++ personnalisé : contrôle maximal.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Thrust/CUB: primitives parallèles réutilisables.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bibliothèques de production cuBLAS/cuDNN:.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JAX/XLA et frameworks : mathématiques de haut niveau gérées par le compilateur.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alternatives et compléments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Démo finale de bout en 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45/48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 projet complet peut créer, tester, comparer et empaqueter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Point de contrôle / exercice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Exécutez tous les tests.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Exécutez les benchmarks vector-add et MatMul.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Chargez l’image d’information simple GPU.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Exécutez l'image avec l'accès GPU.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cd projects/detailed
bazel test //...
bazel run //gpu:vector_add_benchmark
bazel run //linear_algebra:matmul_benchmark
cd ../simple
bazel run //src:load_gpu_info_image
docker run --rm --gpus all simple-gpu-info:latest</a:t>
            </a:r>
          </a:p>
        </p:txBody>
      </p:sp>
      <p:pic>
        <p:nvPicPr>
          <p:cNvPr id="12" name="Picture 11" descr="fina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03573"/>
            <a:ext cx="4251960" cy="14740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 + projects/simple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Ce qu'il faut réutiliser dans votre propre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46/48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Les actifs réutilisables sont des modèles, pas seulement des fichiers</a:t>
            </a:r>
          </a:p>
        </p:txBody>
      </p:sp>
      <p:pic>
        <p:nvPicPr>
          <p:cNvPr id="7" name="Picture 6" descr="repo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50491"/>
            <a:ext cx="6766560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Déclaration de toolchain hermétique.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CPU oracle + test.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 host/device divisé.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Erreur lors de la vérification des assistants.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Cible de benchmark.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Cible du conteneur.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Feuille de calcul des résultats.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copier des modèles, pas seulement les fichiers sources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Exercice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47/48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Étendre le dépôt sans changer son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Point de contrôle / exercice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Option 1 : ajouter une opération de multiplication scalaire CUDA.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Option 2 : ajoutez des notes de conception de stream à l'ajout de vecteurs.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Option 3 : ajoutez une cible d'image OCI pour les fichiers de benchmark détaillés.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Option 4 : ajoutez une ligne de benchmark et expliquez-la.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bazel test //...
bazel run //gpu:vector_add_benchmark</a:t>
            </a:r>
          </a:p>
        </p:txBody>
      </p:sp>
      <p:sp>
        <p:nvSpPr>
          <p:cNvPr id="20" name="Compact Target Graph Title"/>
          <p:cNvSpPr txBox="1"/>
          <p:nvPr/>
        </p:nvSpPr>
        <p:spPr>
          <a:xfrm>
            <a:off x="7607808" y="3767328"/>
            <a:ext cx="3840480" cy="256032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sz="760" b="1">
                <a:solidFill>
                  <a:srgbClr val="121B2A"/>
                </a:solidFill>
                <a:latin typeface="Aptos"/>
              </a:rPr>
              <a:t>graphe de cibles Bazel</a:t>
            </a:r>
          </a:p>
        </p:txBody>
      </p:sp>
      <p:sp>
        <p:nvSpPr>
          <p:cNvPr id="21" name="Compact Benchmark Node"/>
          <p:cNvSpPr/>
          <p:nvPr/>
        </p:nvSpPr>
        <p:spPr>
          <a:xfrm>
            <a:off x="7818120" y="4370832"/>
            <a:ext cx="640080" cy="274320"/>
          </a:xfrm>
          <a:prstGeom prst="roundRect">
            <a:avLst/>
          </a:prstGeom>
          <a:solidFill>
            <a:srgbClr val="E6F6F8"/>
          </a:solidFill>
          <a:ln w="10160">
            <a:solidFill>
              <a:srgbClr val="9BA9B8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460">
                <a:solidFill>
                  <a:srgbClr val="1C2430"/>
                </a:solidFill>
                <a:latin typeface="Aptos"/>
              </a:rPr>
              <a:t>benchmark</a:t>
            </a:r>
          </a:p>
        </p:txBody>
      </p:sp>
      <p:sp>
        <p:nvSpPr>
          <p:cNvPr id="22" name="Compact Vector CPU Node"/>
          <p:cNvSpPr/>
          <p:nvPr/>
        </p:nvSpPr>
        <p:spPr>
          <a:xfrm>
            <a:off x="8668512" y="4142232"/>
            <a:ext cx="731520" cy="274320"/>
          </a:xfrm>
          <a:prstGeom prst="roundRect">
            <a:avLst/>
          </a:prstGeom>
          <a:solidFill>
            <a:srgbClr val="E4EFFC"/>
          </a:solidFill>
          <a:ln w="10160">
            <a:solidFill>
              <a:srgbClr val="9BA9B8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460">
                <a:solidFill>
                  <a:srgbClr val="1C2430"/>
                </a:solidFill>
                <a:latin typeface="Aptos"/>
              </a:rPr>
              <a:t>vector_cpu</a:t>
            </a:r>
          </a:p>
        </p:txBody>
      </p:sp>
      <p:sp>
        <p:nvSpPr>
          <p:cNvPr id="23" name="Compact Vector Add Node"/>
          <p:cNvSpPr/>
          <p:nvPr/>
        </p:nvSpPr>
        <p:spPr>
          <a:xfrm>
            <a:off x="8668512" y="4617720"/>
            <a:ext cx="731520" cy="274320"/>
          </a:xfrm>
          <a:prstGeom prst="roundRect">
            <a:avLst/>
          </a:prstGeom>
          <a:solidFill>
            <a:srgbClr val="EAF8E7"/>
          </a:solidFill>
          <a:ln w="10160">
            <a:solidFill>
              <a:srgbClr val="9BA9B8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460">
                <a:solidFill>
                  <a:srgbClr val="1C2430"/>
                </a:solidFill>
                <a:latin typeface="Aptos"/>
              </a:rPr>
              <a:t>vector_add</a:t>
            </a:r>
          </a:p>
        </p:txBody>
      </p:sp>
      <p:sp>
        <p:nvSpPr>
          <p:cNvPr id="24" name="Compact Device Lib Node"/>
          <p:cNvSpPr/>
          <p:nvPr/>
        </p:nvSpPr>
        <p:spPr>
          <a:xfrm>
            <a:off x="9619488" y="4617720"/>
            <a:ext cx="749808" cy="274320"/>
          </a:xfrm>
          <a:prstGeom prst="roundRect">
            <a:avLst/>
          </a:prstGeom>
          <a:solidFill>
            <a:srgbClr val="FFF4DE"/>
          </a:solidFill>
          <a:ln w="10160">
            <a:solidFill>
              <a:srgbClr val="9BA9B8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460">
                <a:solidFill>
                  <a:srgbClr val="1C2430"/>
                </a:solidFill>
                <a:latin typeface="Aptos"/>
              </a:rPr>
              <a:t>device_lib</a:t>
            </a:r>
          </a:p>
        </p:txBody>
      </p:sp>
      <p:sp>
        <p:nvSpPr>
          <p:cNvPr id="25" name="Compact Runtime Node"/>
          <p:cNvSpPr/>
          <p:nvPr/>
        </p:nvSpPr>
        <p:spPr>
          <a:xfrm>
            <a:off x="10625328" y="4617720"/>
            <a:ext cx="694944" cy="274320"/>
          </a:xfrm>
          <a:prstGeom prst="roundRect">
            <a:avLst/>
          </a:prstGeom>
          <a:solidFill>
            <a:srgbClr val="EAE5FF"/>
          </a:solidFill>
          <a:ln w="10160">
            <a:solidFill>
              <a:srgbClr val="9BA9B8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460">
                <a:solidFill>
                  <a:srgbClr val="1C2430"/>
                </a:solidFill>
                <a:latin typeface="Aptos"/>
              </a:rPr>
              <a:t>runtime</a:t>
            </a:r>
          </a:p>
        </p:txBody>
      </p:sp>
      <p:sp>
        <p:nvSpPr>
          <p:cNvPr id="26" name="Compact Benchmark To Vector CPU Connector"/>
          <p:cNvSpPr/>
          <p:nvPr/>
        </p:nvSpPr>
        <p:spPr>
          <a:xfrm flipV="1">
            <a:off x="8458200" y="4279392"/>
            <a:ext cx="210312" cy="228600"/>
          </a:xfrm>
          <a:prstGeom prst="line">
            <a:avLst/>
          </a:prstGeom>
          <a:noFill/>
          <a:ln w="13970" cap="round">
            <a:solidFill>
              <a:srgbClr val="65B000"/>
            </a:solidFill>
            <a:tailEnd type="triangle" w="med" len="med"/>
          </a:ln>
        </p:spPr>
      </p:sp>
      <p:sp>
        <p:nvSpPr>
          <p:cNvPr id="27" name="Compact Benchmark To Vector Add Connector"/>
          <p:cNvSpPr/>
          <p:nvPr/>
        </p:nvSpPr>
        <p:spPr>
          <a:xfrm>
            <a:off x="8458200" y="4507992"/>
            <a:ext cx="210312" cy="246888"/>
          </a:xfrm>
          <a:prstGeom prst="line">
            <a:avLst/>
          </a:prstGeom>
          <a:noFill/>
          <a:ln w="13970" cap="round">
            <a:solidFill>
              <a:srgbClr val="65B000"/>
            </a:solidFill>
            <a:tailEnd type="triangle" w="med" len="med"/>
          </a:ln>
        </p:spPr>
      </p:sp>
      <p:sp>
        <p:nvSpPr>
          <p:cNvPr id="28" name="Compact Vector Add To Device Lib Connector"/>
          <p:cNvSpPr/>
          <p:nvPr/>
        </p:nvSpPr>
        <p:spPr>
          <a:xfrm>
            <a:off x="9400032" y="4754880"/>
            <a:ext cx="219456" cy="0"/>
          </a:xfrm>
          <a:prstGeom prst="line">
            <a:avLst/>
          </a:prstGeom>
          <a:noFill/>
          <a:ln w="13970" cap="round">
            <a:solidFill>
              <a:srgbClr val="65B000"/>
            </a:solidFill>
            <a:tailEnd type="triangle" w="med" len="med"/>
          </a:ln>
        </p:spPr>
      </p:sp>
      <p:sp>
        <p:nvSpPr>
          <p:cNvPr id="29" name="Compact Device Lib To Runtime Connector"/>
          <p:cNvSpPr/>
          <p:nvPr/>
        </p:nvSpPr>
        <p:spPr>
          <a:xfrm>
            <a:off x="10369296" y="4754880"/>
            <a:ext cx="256032" cy="0"/>
          </a:xfrm>
          <a:prstGeom prst="line">
            <a:avLst/>
          </a:prstGeom>
          <a:noFill/>
          <a:ln w="13970" cap="round">
            <a:solidFill>
              <a:srgbClr val="65B000"/>
            </a:solidFill>
            <a:tailEnd type="triangle" w="med" len="med"/>
          </a:ln>
        </p:spPr>
      </p:sp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extension de la pierre angulaire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Clôture : du SDK installé au projet GPU reproductible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48/48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L'objectif du cours est un stream de travail d'ingénierie GPU reproductible</a:t>
            </a:r>
          </a:p>
        </p:txBody>
      </p:sp>
      <p:pic>
        <p:nvPicPr>
          <p:cNvPr id="7" name="Picture 6" descr="fina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dépôt déclare la build.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CPU vérifie CUDA.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Les benchmarks expliquent les compromis.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Exécution du package de conteneurs.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JAX/XLA et les bibliothèques fournissent des options de niveau supérieur.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//runtime:device_info, //gpu:vector_add_test, //gpu:vector_add_benchmark, //linear_algebra:matmul_benchmark, //src:load_gpu_info_image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