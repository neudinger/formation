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3"/>
    <p:sldId id="296" r:id="rId4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presProps" Target="presProps.xml"/><Relationship Id="rId43" Type="http://schemas.openxmlformats.org/officeDocument/2006/relationships/slide" Target="slides/slide40.xml"/><Relationship Id="rId44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 style du titre principal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315DCE-8299-4336-9830-5991CD74FDD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 style du titre principal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de texte principal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43C0AB-A7A6-44F6-BE9A-394353BEB38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 style du titre principal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de texte principal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DC4634-1971-4FD3-A0DC-FBAEFB4BB60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 style du titre principal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de texte principal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6B1AA2-8A47-47CA-9497-CE6883ECFBC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Cliquez pour modifier le style du titre principal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Cliquez pour modifier les styles de texte principal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FD30B9-6275-4CB7-A238-5777D147A66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 style du titre principal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de texte principal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de texte principal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DAD906-F427-4994-BE3D-7783DE2D58D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 style du titre principal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de texte principal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de texte principal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de texte principal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de texte principal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B21EFF-35DA-40AA-AA1A-6F2D32E30DA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 style du titre principal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80BFAC-2461-4A88-87D6-D80E3CD3D7C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B422EC-1CE4-43CE-B564-3C35EE83ABF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 format du texte du titre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 format du texte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 de plan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 style du titre principal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de texte principal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de texte principal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3BDC89-F944-4045-9C13-FEE5F0E8183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 style du titre principal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 format du texte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de texte principal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32FB81-A79A-46BC-BA72-D0F2BF2BB88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Profiler CUDA MatMul avec de vrais résultats Nsight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Projet : //linear_algebra:matmul_benchmark  |  GPU : RTX 5090  |  runtime CUDA 12.8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01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Rounded Rectangle 5"/>
          <p:cNvSpPr/>
          <p:nvPr/>
        </p:nvSpPr>
        <p:spPr>
          <a:xfrm>
            <a:off x="640080" y="1828800"/>
            <a:ext cx="170640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685800" y="1993320"/>
            <a:ext cx="1614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Build Bazel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ight Arrow 7"/>
          <p:cNvSpPr/>
          <p:nvPr/>
        </p:nvSpPr>
        <p:spPr>
          <a:xfrm>
            <a:off x="2328840" y="21762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ounded Rectangle 8"/>
          <p:cNvSpPr/>
          <p:nvPr/>
        </p:nvSpPr>
        <p:spPr>
          <a:xfrm>
            <a:off x="2456640" y="1828800"/>
            <a:ext cx="170640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9"/>
          <p:cNvSpPr/>
          <p:nvPr/>
        </p:nvSpPr>
        <p:spPr>
          <a:xfrm>
            <a:off x="2502360" y="1993320"/>
            <a:ext cx="1614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Exécution simple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ight Arrow 10"/>
          <p:cNvSpPr/>
          <p:nvPr/>
        </p:nvSpPr>
        <p:spPr>
          <a:xfrm>
            <a:off x="4145400" y="21762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ounded Rectangle 11"/>
          <p:cNvSpPr/>
          <p:nvPr/>
        </p:nvSpPr>
        <p:spPr>
          <a:xfrm>
            <a:off x="4273200" y="1828800"/>
            <a:ext cx="170640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12"/>
          <p:cNvSpPr/>
          <p:nvPr/>
        </p:nvSpPr>
        <p:spPr>
          <a:xfrm>
            <a:off x="4318920" y="1993320"/>
            <a:ext cx="1614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Nsight Systems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ight Arrow 13"/>
          <p:cNvSpPr/>
          <p:nvPr/>
        </p:nvSpPr>
        <p:spPr>
          <a:xfrm>
            <a:off x="5961960" y="21762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ounded Rectangle 14"/>
          <p:cNvSpPr/>
          <p:nvPr/>
        </p:nvSpPr>
        <p:spPr>
          <a:xfrm>
            <a:off x="6089760" y="1828800"/>
            <a:ext cx="170640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15"/>
          <p:cNvSpPr/>
          <p:nvPr/>
        </p:nvSpPr>
        <p:spPr>
          <a:xfrm>
            <a:off x="6135480" y="1993320"/>
            <a:ext cx="1614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statistiques SQLite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ight Arrow 16"/>
          <p:cNvSpPr/>
          <p:nvPr/>
        </p:nvSpPr>
        <p:spPr>
          <a:xfrm>
            <a:off x="7778520" y="21762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ounded Rectangle 17"/>
          <p:cNvSpPr/>
          <p:nvPr/>
        </p:nvSpPr>
        <p:spPr>
          <a:xfrm>
            <a:off x="7906680" y="1828800"/>
            <a:ext cx="170640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8"/>
          <p:cNvSpPr/>
          <p:nvPr/>
        </p:nvSpPr>
        <p:spPr>
          <a:xfrm>
            <a:off x="7952400" y="1993320"/>
            <a:ext cx="1614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Tentative Nsight Compute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ight Arrow 19"/>
          <p:cNvSpPr/>
          <p:nvPr/>
        </p:nvSpPr>
        <p:spPr>
          <a:xfrm>
            <a:off x="9595080" y="21762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ounded Rectangle 20"/>
          <p:cNvSpPr/>
          <p:nvPr/>
        </p:nvSpPr>
        <p:spPr>
          <a:xfrm>
            <a:off x="9723240" y="1828800"/>
            <a:ext cx="170640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21"/>
          <p:cNvSpPr/>
          <p:nvPr/>
        </p:nvSpPr>
        <p:spPr>
          <a:xfrm>
            <a:off x="9768960" y="1993320"/>
            <a:ext cx="1614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Plan d'optimisation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2"/>
          <p:cNvSpPr/>
          <p:nvPr/>
        </p:nvSpPr>
        <p:spPr>
          <a:xfrm>
            <a:off x="822960" y="3291840"/>
            <a:ext cx="10332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Le profilage convertit l'intuition du benchmark en preuves : appels API, copies, durées du kernel, autorisations et prochaines modifications de code.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3"/>
          <p:cNvSpPr/>
          <p:nvPr/>
        </p:nvSpPr>
        <p:spPr>
          <a:xfrm>
            <a:off x="822960" y="4114800"/>
            <a:ext cx="10332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Mis à jour depuis README.md, benchmark_results.md, matmul_nsys.sqlite et matmul_nsys.nsys-rep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Environnement de mesure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Chaque numéro de cette section appartient à cette machine et à cette taille de benchmark.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03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6" name="Table 5"/>
          <p:cNvGraphicFramePr/>
          <p:nvPr/>
        </p:nvGraphicFramePr>
        <p:xfrm>
          <a:off x="731520" y="1234440"/>
          <a:ext cx="5486040" cy="42058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700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Champ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Valeur observée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700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GPU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NVIDIA GeForce RTX 5090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00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Exécution CUDA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12.8 (12080)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00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pilote CUDA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13.0 (13000)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00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forme MatMul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M=256, N=256, K=256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00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échantillon MatMul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512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87" name="Rounded Rectangle 6"/>
          <p:cNvSpPr/>
          <p:nvPr/>
        </p:nvSpPr>
        <p:spPr>
          <a:xfrm>
            <a:off x="6675120" y="1234440"/>
            <a:ext cx="4754520" cy="42058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7"/>
          <p:cNvSpPr/>
          <p:nvPr/>
        </p:nvSpPr>
        <p:spPr>
          <a:xfrm>
            <a:off x="6821280" y="1325880"/>
            <a:ext cx="4461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Limite d'interprétation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8"/>
          <p:cNvSpPr/>
          <p:nvPr/>
        </p:nvSpPr>
        <p:spPr>
          <a:xfrm>
            <a:off x="6903720" y="1737360"/>
            <a:ext cx="429732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Il s’agit de mesures en laboratoire et non de résultats finaux statistiquement stables.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Les petites tailles de matrice exagèrent les coûts d'exécution et de configuration fixes.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 but est d'apprendre à séparer le temps de l'application, la surcharge API, le mouvement des données et le temps du kernel.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Disponibilité des outils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Commencez le profilage en vérifiant les versions des outils et les outils manquants.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04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5"/>
          <p:cNvSpPr/>
          <p:nvPr/>
        </p:nvSpPr>
        <p:spPr>
          <a:xfrm>
            <a:off x="731520" y="1234440"/>
            <a:ext cx="4845960" cy="155412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877680" y="1325880"/>
            <a:ext cx="4553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Commande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7"/>
          <p:cNvSpPr/>
          <p:nvPr/>
        </p:nvSpPr>
        <p:spPr>
          <a:xfrm>
            <a:off x="896040" y="1645920"/>
            <a:ext cx="45259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5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nsys --version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ncu --version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command -v nvprof || true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7" name="Table 8"/>
          <p:cNvGraphicFramePr/>
          <p:nvPr/>
        </p:nvGraphicFramePr>
        <p:xfrm>
          <a:off x="5943600" y="1234440"/>
          <a:ext cx="5394600" cy="201168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</a:tblGrid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Outil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Statut observé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nsys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disponible, v2025.6.3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ncu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disponible, v2026.1.1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nvprof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non installé sur PATH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98" name="TextBox 9"/>
          <p:cNvSpPr/>
          <p:nvPr/>
        </p:nvSpPr>
        <p:spPr>
          <a:xfrm>
            <a:off x="822960" y="384048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Décision du cours : utilisez Nsight Systems pour les délais d'application et Nsight Compute pour les métriques du kernel; traitez nvprof comme un contexte historique uniquement.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Rôles des profilers : choisir l'outil selon la question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Chronologie applicative d'abord ; compteurs par kernel ensuite.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05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3" name="Table 5"/>
          <p:cNvGraphicFramePr/>
          <p:nvPr/>
        </p:nvGraphicFramePr>
        <p:xfrm>
          <a:off x="594360" y="1234440"/>
          <a:ext cx="10972440" cy="292608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Question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Outil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Preuve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Où passe le temps tout au long du processus ?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Systems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 API, memcpy, kernels au fil du temps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Pourquoi ce kernel est-il lent ?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Compute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occupation, charge mémoire, blocages de warp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Qu'utilisaient les anciens tutoriels ?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nvprof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forme de commande héritée timeline/metrics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104" name="Rounded Rectangle 6"/>
          <p:cNvSpPr/>
          <p:nvPr/>
        </p:nvSpPr>
        <p:spPr>
          <a:xfrm>
            <a:off x="640080" y="4663440"/>
            <a:ext cx="17064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7"/>
          <p:cNvSpPr/>
          <p:nvPr/>
        </p:nvSpPr>
        <p:spPr>
          <a:xfrm>
            <a:off x="685800" y="4827960"/>
            <a:ext cx="1614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Exécution de l'application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ight Arrow 8"/>
          <p:cNvSpPr/>
          <p:nvPr/>
        </p:nvSpPr>
        <p:spPr>
          <a:xfrm>
            <a:off x="2328840" y="497628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ounded Rectangle 9"/>
          <p:cNvSpPr/>
          <p:nvPr/>
        </p:nvSpPr>
        <p:spPr>
          <a:xfrm>
            <a:off x="2456640" y="4663440"/>
            <a:ext cx="17064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2502360" y="4827960"/>
            <a:ext cx="1614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Chronologie / Résumé API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ight Arrow 11"/>
          <p:cNvSpPr/>
          <p:nvPr/>
        </p:nvSpPr>
        <p:spPr>
          <a:xfrm>
            <a:off x="4145400" y="497628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ounded Rectangle 12"/>
          <p:cNvSpPr/>
          <p:nvPr/>
        </p:nvSpPr>
        <p:spPr>
          <a:xfrm>
            <a:off x="4273200" y="4663440"/>
            <a:ext cx="17064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13"/>
          <p:cNvSpPr/>
          <p:nvPr/>
        </p:nvSpPr>
        <p:spPr>
          <a:xfrm>
            <a:off x="4318920" y="4827960"/>
            <a:ext cx="1614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Rapport sur les métriques du kernel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ight Arrow 14"/>
          <p:cNvSpPr/>
          <p:nvPr/>
        </p:nvSpPr>
        <p:spPr>
          <a:xfrm>
            <a:off x="5961960" y="497628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ounded Rectangle 15"/>
          <p:cNvSpPr/>
          <p:nvPr/>
        </p:nvSpPr>
        <p:spPr>
          <a:xfrm>
            <a:off x="6089760" y="4663440"/>
            <a:ext cx="17064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16"/>
          <p:cNvSpPr/>
          <p:nvPr/>
        </p:nvSpPr>
        <p:spPr>
          <a:xfrm>
            <a:off x="6135480" y="4827960"/>
            <a:ext cx="1614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Hypothèse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Right Arrow 17"/>
          <p:cNvSpPr/>
          <p:nvPr/>
        </p:nvSpPr>
        <p:spPr>
          <a:xfrm>
            <a:off x="7778520" y="497628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ounded Rectangle 18"/>
          <p:cNvSpPr/>
          <p:nvPr/>
        </p:nvSpPr>
        <p:spPr>
          <a:xfrm>
            <a:off x="7906680" y="4663440"/>
            <a:ext cx="17064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9"/>
          <p:cNvSpPr/>
          <p:nvPr/>
        </p:nvSpPr>
        <p:spPr>
          <a:xfrm>
            <a:off x="7952400" y="4827960"/>
            <a:ext cx="1614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Changement de code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ight Arrow 20"/>
          <p:cNvSpPr/>
          <p:nvPr/>
        </p:nvSpPr>
        <p:spPr>
          <a:xfrm>
            <a:off x="9595080" y="497628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ounded Rectangle 21"/>
          <p:cNvSpPr/>
          <p:nvPr/>
        </p:nvSpPr>
        <p:spPr>
          <a:xfrm>
            <a:off x="9723240" y="4663440"/>
            <a:ext cx="17064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22"/>
          <p:cNvSpPr/>
          <p:nvPr/>
        </p:nvSpPr>
        <p:spPr>
          <a:xfrm>
            <a:off x="9768960" y="4827960"/>
            <a:ext cx="1614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Remesurer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Builder le benchmark une fois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Profiler l'exécutable buildé, pas le lanceur Bazel.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06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5"/>
          <p:cNvSpPr/>
          <p:nvPr/>
        </p:nvSpPr>
        <p:spPr>
          <a:xfrm>
            <a:off x="731520" y="1280160"/>
            <a:ext cx="5577480" cy="191988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877680" y="1371600"/>
            <a:ext cx="5284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Chemin d'exécution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7"/>
          <p:cNvSpPr/>
          <p:nvPr/>
        </p:nvSpPr>
        <p:spPr>
          <a:xfrm>
            <a:off x="896040" y="1691640"/>
            <a:ext cx="52574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cd projects/detailed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bazel build //linear_algebra:matmul_benchmark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bazel-bin/linear_algebra/matmul_benchmark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8"/>
          <p:cNvSpPr/>
          <p:nvPr/>
        </p:nvSpPr>
        <p:spPr>
          <a:xfrm>
            <a:off x="6720840" y="1280160"/>
            <a:ext cx="4571640" cy="19198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6867000" y="1371600"/>
            <a:ext cx="4278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Pourquoi c'est important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6949440" y="1737360"/>
            <a:ext cx="4114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bazel run ajoute le comportement du lanceur autour du vrai binaire.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 profilage du binaire construit donne une trace de processus plus propre.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 nom de la cible documente toujours le graphe de build.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1"/>
          <p:cNvSpPr/>
          <p:nvPr/>
        </p:nvSpPr>
        <p:spPr>
          <a:xfrm>
            <a:off x="914400" y="4114800"/>
            <a:ext cx="10149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Le profileur observe un processus. Faites de ce processus le binaire de benchmark autant que possible.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Sortie de l'exécution simple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Il s’agit du benchmark au niveau applicatif avant le profilage.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07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5"/>
          <p:cNvSpPr/>
          <p:nvPr/>
        </p:nvSpPr>
        <p:spPr>
          <a:xfrm>
            <a:off x="731520" y="1234440"/>
            <a:ext cx="5120280" cy="237708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6"/>
          <p:cNvSpPr/>
          <p:nvPr/>
        </p:nvSpPr>
        <p:spPr>
          <a:xfrm>
            <a:off x="877680" y="1325880"/>
            <a:ext cx="4827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Exemple de sortie README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7"/>
          <p:cNvSpPr/>
          <p:nvPr/>
        </p:nvSpPr>
        <p:spPr>
          <a:xfrm>
            <a:off x="896040" y="1645920"/>
            <a:ext cx="480024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7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shape      : M=256 N=256 K=256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cpu        : 39.414 ms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cuda basic : 242.505 ms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cuda tiled : 0.740 ms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sample     : 512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8"/>
          <p:cNvSpPr/>
          <p:nvPr/>
        </p:nvSpPr>
        <p:spPr>
          <a:xfrm>
            <a:off x="6309360" y="1234440"/>
            <a:ext cx="5211720" cy="23770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9"/>
          <p:cNvSpPr/>
          <p:nvPr/>
        </p:nvSpPr>
        <p:spPr>
          <a:xfrm>
            <a:off x="6455520" y="13258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Ce que cela mélange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6583680" y="1664280"/>
            <a:ext cx="4663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configuration de runtime/context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création de stream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allocation/free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copies hôte-périphérique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lancements du kernel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copies périphérique-hôte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synchronisation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1"/>
          <p:cNvSpPr/>
          <p:nvPr/>
        </p:nvSpPr>
        <p:spPr>
          <a:xfrm>
            <a:off x="868680" y="429768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La première leçon n'est pas « CUDA de base est 327x plus lent que tuilé ». La première leçon est : « le timing au niveau applicatif mélange de nombreux coûts ».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Instantané complet des benchmarks du cours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Cette leçon de profilage se trouve dans le tableau de mesure complet du projet.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08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5"/>
          <p:cNvSpPr/>
          <p:nvPr/>
        </p:nvSpPr>
        <p:spPr>
          <a:xfrm>
            <a:off x="594360" y="1143000"/>
            <a:ext cx="5394600" cy="48459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6"/>
          <p:cNvSpPr/>
          <p:nvPr/>
        </p:nvSpPr>
        <p:spPr>
          <a:xfrm>
            <a:off x="740520" y="1234440"/>
            <a:ext cx="5101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Temps d'ajout d'applications vectorielles (ms)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7"/>
          <p:cNvSpPr/>
          <p:nvPr/>
        </p:nvSpPr>
        <p:spPr>
          <a:xfrm>
            <a:off x="822960" y="173736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série CPU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8"/>
          <p:cNvSpPr/>
          <p:nvPr/>
        </p:nvSpPr>
        <p:spPr>
          <a:xfrm>
            <a:off x="3291840" y="1774080"/>
            <a:ext cx="1828440" cy="33804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ounded Rectangle 9"/>
          <p:cNvSpPr/>
          <p:nvPr/>
        </p:nvSpPr>
        <p:spPr>
          <a:xfrm>
            <a:off x="3310200" y="1792080"/>
            <a:ext cx="978840" cy="301320"/>
          </a:xfrm>
          <a:prstGeom prst="roundRect">
            <a:avLst>
              <a:gd name="adj" fmla="val 16667"/>
            </a:avLst>
          </a:prstGeom>
          <a:solidFill>
            <a:srgbClr val="41c7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5166360" y="173736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116.91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1"/>
          <p:cNvSpPr/>
          <p:nvPr/>
        </p:nvSpPr>
        <p:spPr>
          <a:xfrm>
            <a:off x="822960" y="246888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CPU fileté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12"/>
          <p:cNvSpPr/>
          <p:nvPr/>
        </p:nvSpPr>
        <p:spPr>
          <a:xfrm>
            <a:off x="3291840" y="2505600"/>
            <a:ext cx="1828440" cy="33804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ounded Rectangle 13"/>
          <p:cNvSpPr/>
          <p:nvPr/>
        </p:nvSpPr>
        <p:spPr>
          <a:xfrm>
            <a:off x="3310200" y="2523600"/>
            <a:ext cx="591120" cy="301320"/>
          </a:xfrm>
          <a:prstGeom prst="roundRect">
            <a:avLst>
              <a:gd name="adj" fmla="val 16667"/>
            </a:avLst>
          </a:prstGeom>
          <a:solidFill>
            <a:srgbClr val="41c7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14"/>
          <p:cNvSpPr/>
          <p:nvPr/>
        </p:nvSpPr>
        <p:spPr>
          <a:xfrm>
            <a:off x="5166360" y="246888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70.634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5"/>
          <p:cNvSpPr/>
          <p:nvPr/>
        </p:nvSpPr>
        <p:spPr>
          <a:xfrm>
            <a:off x="822960" y="320040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exécution de CUDA API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16"/>
          <p:cNvSpPr/>
          <p:nvPr/>
        </p:nvSpPr>
        <p:spPr>
          <a:xfrm>
            <a:off x="3291840" y="3237120"/>
            <a:ext cx="1828440" cy="33804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ounded Rectangle 17"/>
          <p:cNvSpPr/>
          <p:nvPr/>
        </p:nvSpPr>
        <p:spPr>
          <a:xfrm>
            <a:off x="3310200" y="3255120"/>
            <a:ext cx="1828440" cy="30132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18"/>
          <p:cNvSpPr/>
          <p:nvPr/>
        </p:nvSpPr>
        <p:spPr>
          <a:xfrm>
            <a:off x="5166360" y="320040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218.355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9"/>
          <p:cNvSpPr/>
          <p:nvPr/>
        </p:nvSpPr>
        <p:spPr>
          <a:xfrm>
            <a:off x="822960" y="393192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 &lt;&lt;&lt; &gt;&gt;&gt;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20"/>
          <p:cNvSpPr/>
          <p:nvPr/>
        </p:nvSpPr>
        <p:spPr>
          <a:xfrm>
            <a:off x="3291840" y="3968640"/>
            <a:ext cx="1828440" cy="33804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ounded Rectangle 21"/>
          <p:cNvSpPr/>
          <p:nvPr/>
        </p:nvSpPr>
        <p:spPr>
          <a:xfrm>
            <a:off x="3310200" y="3986640"/>
            <a:ext cx="788760" cy="30132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22"/>
          <p:cNvSpPr/>
          <p:nvPr/>
        </p:nvSpPr>
        <p:spPr>
          <a:xfrm>
            <a:off x="5166360" y="393192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94.239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23"/>
          <p:cNvSpPr/>
          <p:nvPr/>
        </p:nvSpPr>
        <p:spPr>
          <a:xfrm>
            <a:off x="6263640" y="1143000"/>
            <a:ext cx="5303160" cy="48459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24"/>
          <p:cNvSpPr/>
          <p:nvPr/>
        </p:nvSpPr>
        <p:spPr>
          <a:xfrm>
            <a:off x="640980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Temps d'application MatMul (ms)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25"/>
          <p:cNvSpPr/>
          <p:nvPr/>
        </p:nvSpPr>
        <p:spPr>
          <a:xfrm>
            <a:off x="6492240" y="173736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CPU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26"/>
          <p:cNvSpPr/>
          <p:nvPr/>
        </p:nvSpPr>
        <p:spPr>
          <a:xfrm>
            <a:off x="8961120" y="1774080"/>
            <a:ext cx="173700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ounded Rectangle 27"/>
          <p:cNvSpPr/>
          <p:nvPr/>
        </p:nvSpPr>
        <p:spPr>
          <a:xfrm>
            <a:off x="8979480" y="1792080"/>
            <a:ext cx="261360" cy="347040"/>
          </a:xfrm>
          <a:prstGeom prst="roundRect">
            <a:avLst>
              <a:gd name="adj" fmla="val 16667"/>
            </a:avLst>
          </a:prstGeom>
          <a:solidFill>
            <a:srgbClr val="41c7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28"/>
          <p:cNvSpPr/>
          <p:nvPr/>
        </p:nvSpPr>
        <p:spPr>
          <a:xfrm>
            <a:off x="10744200" y="1737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37.994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9"/>
          <p:cNvSpPr/>
          <p:nvPr/>
        </p:nvSpPr>
        <p:spPr>
          <a:xfrm>
            <a:off x="6492240" y="260604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 de base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30"/>
          <p:cNvSpPr/>
          <p:nvPr/>
        </p:nvSpPr>
        <p:spPr>
          <a:xfrm>
            <a:off x="8961120" y="2642760"/>
            <a:ext cx="173700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ounded Rectangle 31"/>
          <p:cNvSpPr/>
          <p:nvPr/>
        </p:nvSpPr>
        <p:spPr>
          <a:xfrm>
            <a:off x="8979480" y="2660760"/>
            <a:ext cx="1737000" cy="34704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32"/>
          <p:cNvSpPr/>
          <p:nvPr/>
        </p:nvSpPr>
        <p:spPr>
          <a:xfrm>
            <a:off x="10744200" y="2606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252.155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33"/>
          <p:cNvSpPr/>
          <p:nvPr/>
        </p:nvSpPr>
        <p:spPr>
          <a:xfrm>
            <a:off x="6492240" y="347472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 carrelé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34"/>
          <p:cNvSpPr/>
          <p:nvPr/>
        </p:nvSpPr>
        <p:spPr>
          <a:xfrm>
            <a:off x="8961120" y="3511440"/>
            <a:ext cx="173700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ounded Rectangle 35"/>
          <p:cNvSpPr/>
          <p:nvPr/>
        </p:nvSpPr>
        <p:spPr>
          <a:xfrm>
            <a:off x="8979480" y="3529440"/>
            <a:ext cx="18000" cy="34704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36"/>
          <p:cNvSpPr/>
          <p:nvPr/>
        </p:nvSpPr>
        <p:spPr>
          <a:xfrm>
            <a:off x="10744200" y="34747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0.741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37"/>
          <p:cNvSpPr/>
          <p:nvPr/>
        </p:nvSpPr>
        <p:spPr>
          <a:xfrm>
            <a:off x="6355080" y="4754880"/>
            <a:ext cx="5028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Utilisez ce tableau pour trouver des questions de profilage, et non pour déclarer les gagnants finaux des performances.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Mise en garde sur la syntaxe de lancement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Le benchmark vectoriel au niveau de l'application n'est pas un benchmark équitable en matière de syntaxe de lancement.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09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5"/>
          <p:cNvSpPr/>
          <p:nvPr/>
        </p:nvSpPr>
        <p:spPr>
          <a:xfrm>
            <a:off x="640080" y="1143000"/>
            <a:ext cx="5211720" cy="42058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6"/>
          <p:cNvSpPr/>
          <p:nvPr/>
        </p:nvSpPr>
        <p:spPr>
          <a:xfrm>
            <a:off x="786240" y="123444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Ajout de vecteur au niveau de l'application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6" name="Table 7"/>
          <p:cNvGraphicFramePr/>
          <p:nvPr/>
        </p:nvGraphicFramePr>
        <p:xfrm>
          <a:off x="868680" y="1691640"/>
          <a:ext cx="4754520" cy="13716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Variante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Mesuré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chemin cudaLaunchKernel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218.355 ms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chemin &lt;&lt;&lt; &gt;&gt;&gt;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94.239 ms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187" name="TextBox 8"/>
          <p:cNvSpPr/>
          <p:nvPr/>
        </p:nvSpPr>
        <p:spPr>
          <a:xfrm>
            <a:off x="868680" y="342900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b446"/>
                </a:solidFill>
                <a:effectLst/>
                <a:uFillTx/>
                <a:latin typeface="Aptos"/>
              </a:rPr>
              <a:t>Ce résultat inclut les effets de première utilisation et de commande.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9"/>
          <p:cNvSpPr/>
          <p:nvPr/>
        </p:nvSpPr>
        <p:spPr>
          <a:xfrm>
            <a:off x="6309360" y="1143000"/>
            <a:ext cx="5211720" cy="42058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10"/>
          <p:cNvSpPr/>
          <p:nvPr/>
        </p:nvSpPr>
        <p:spPr>
          <a:xfrm>
            <a:off x="6455520" y="123444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Bonne question de comparaison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1"/>
          <p:cNvSpPr/>
          <p:nvPr/>
        </p:nvSpPr>
        <p:spPr>
          <a:xfrm>
            <a:off x="6583680" y="1691640"/>
            <a:ext cx="45716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Réchauffez d'abord CUDA.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Exécutez les deux variantes de lancement à plusieurs reprises.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Alternez l’ordre à chaque tour.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Excluez cudaMalloc, cudaFree et cudaMemcpy de la région chronométrée.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2"/>
          <p:cNvSpPr/>
          <p:nvPr/>
        </p:nvSpPr>
        <p:spPr>
          <a:xfrm>
            <a:off x="6629400" y="41605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9fdc46"/>
                </a:solidFill>
                <a:effectLst/>
                <a:uFillTx/>
                <a:latin typeface="Aptos"/>
              </a:rPr>
              <a:t>Demandez : quelle est la surcharge de mise en file d'attente chaude de chaque chemin de lancement ?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Résultat du microbenchmark de lancement équitable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Une fois l’installation et les copies exclues, la syntaxe de lancement n’est pas l’histoire ici.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10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6" name="Table 5"/>
          <p:cNvGraphicFramePr/>
          <p:nvPr/>
        </p:nvGraphicFramePr>
        <p:xfrm>
          <a:off x="822960" y="1234440"/>
          <a:ext cx="5394600" cy="2194560"/>
        </p:xfrm>
        <a:graphic>
          <a:graphicData uri="http://schemas.openxmlformats.org/drawingml/2006/table">
            <a:tbl>
              <a:tblPr/>
              <a:tblGrid>
                <a:gridCol w="1798200"/>
                <a:gridCol w="1798200"/>
                <a:gridCol w="1798200"/>
              </a:tblGrid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Variante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Mise en file côté hôte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Mise en file + synchronisation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cudaLaunchKernel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1.878 us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2.092 us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&lt;&lt;&lt; &gt;&gt;&gt;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1.878 us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2.091 us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197" name="Rounded Rectangle 6"/>
          <p:cNvSpPr/>
          <p:nvPr/>
        </p:nvSpPr>
        <p:spPr>
          <a:xfrm>
            <a:off x="6583680" y="1234440"/>
            <a:ext cx="4571640" cy="2194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7"/>
          <p:cNvSpPr/>
          <p:nvPr/>
        </p:nvSpPr>
        <p:spPr>
          <a:xfrm>
            <a:off x="6729840" y="1325880"/>
            <a:ext cx="4278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Lecture du résultat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8"/>
          <p:cNvSpPr/>
          <p:nvPr/>
        </p:nvSpPr>
        <p:spPr>
          <a:xfrm>
            <a:off x="6812280" y="1691640"/>
            <a:ext cx="41144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La mise en file d'attente de l'hôte est identique dans cette exécution.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La mise en file d'attente + la synchronisation diffère ici de 0.001 us.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 résultat précédent 218 ms vs 94 ms est un artefact de mesure au niveau de l'application.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9"/>
          <p:cNvSpPr/>
          <p:nvPr/>
        </p:nvSpPr>
        <p:spPr>
          <a:xfrm>
            <a:off x="914400" y="4206240"/>
            <a:ext cx="1024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Règle du projet : comparez le APIs de lancement uniquement avec le benchmark de lancement dédié.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Arbre de questions de profiling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Nsight change la question de « rapide ou lent ? à « quelle couche ? »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11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5"/>
          <p:cNvSpPr/>
          <p:nvPr/>
        </p:nvSpPr>
        <p:spPr>
          <a:xfrm>
            <a:off x="548640" y="1417320"/>
            <a:ext cx="175212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6"/>
          <p:cNvSpPr/>
          <p:nvPr/>
        </p:nvSpPr>
        <p:spPr>
          <a:xfrm>
            <a:off x="594360" y="1581840"/>
            <a:ext cx="166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Exécution simple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Right Arrow 7"/>
          <p:cNvSpPr/>
          <p:nvPr/>
        </p:nvSpPr>
        <p:spPr>
          <a:xfrm>
            <a:off x="2283120" y="179964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Rounded Rectangle 8"/>
          <p:cNvSpPr/>
          <p:nvPr/>
        </p:nvSpPr>
        <p:spPr>
          <a:xfrm>
            <a:off x="2410920" y="1417320"/>
            <a:ext cx="175212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9"/>
          <p:cNvSpPr/>
          <p:nvPr/>
        </p:nvSpPr>
        <p:spPr>
          <a:xfrm>
            <a:off x="2456640" y="1581840"/>
            <a:ext cx="166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La durée de l'application est élevée ?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Right Arrow 10"/>
          <p:cNvSpPr/>
          <p:nvPr/>
        </p:nvSpPr>
        <p:spPr>
          <a:xfrm>
            <a:off x="4145400" y="179964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Rounded Rectangle 11"/>
          <p:cNvSpPr/>
          <p:nvPr/>
        </p:nvSpPr>
        <p:spPr>
          <a:xfrm>
            <a:off x="4273200" y="1417320"/>
            <a:ext cx="175212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12"/>
          <p:cNvSpPr/>
          <p:nvPr/>
        </p:nvSpPr>
        <p:spPr>
          <a:xfrm>
            <a:off x="4318920" y="1581840"/>
            <a:ext cx="166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Nsight Systems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Right Arrow 13"/>
          <p:cNvSpPr/>
          <p:nvPr/>
        </p:nvSpPr>
        <p:spPr>
          <a:xfrm>
            <a:off x="6007680" y="179964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Rounded Rectangle 14"/>
          <p:cNvSpPr/>
          <p:nvPr/>
        </p:nvSpPr>
        <p:spPr>
          <a:xfrm>
            <a:off x="6135480" y="1417320"/>
            <a:ext cx="175212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15"/>
          <p:cNvSpPr/>
          <p:nvPr/>
        </p:nvSpPr>
        <p:spPr>
          <a:xfrm>
            <a:off x="6181200" y="1581840"/>
            <a:ext cx="166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API/copy/kernel divisé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Right Arrow 16"/>
          <p:cNvSpPr/>
          <p:nvPr/>
        </p:nvSpPr>
        <p:spPr>
          <a:xfrm>
            <a:off x="7869960" y="179964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Rounded Rectangle 17"/>
          <p:cNvSpPr/>
          <p:nvPr/>
        </p:nvSpPr>
        <p:spPr>
          <a:xfrm>
            <a:off x="7998120" y="1417320"/>
            <a:ext cx="175212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18"/>
          <p:cNvSpPr/>
          <p:nvPr/>
        </p:nvSpPr>
        <p:spPr>
          <a:xfrm>
            <a:off x="8043840" y="1581840"/>
            <a:ext cx="166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Nsight Compute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Right Arrow 19"/>
          <p:cNvSpPr/>
          <p:nvPr/>
        </p:nvSpPr>
        <p:spPr>
          <a:xfrm>
            <a:off x="9732240" y="179964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ounded Rectangle 20"/>
          <p:cNvSpPr/>
          <p:nvPr/>
        </p:nvSpPr>
        <p:spPr>
          <a:xfrm>
            <a:off x="9860400" y="1417320"/>
            <a:ext cx="175212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21"/>
          <p:cNvSpPr/>
          <p:nvPr/>
        </p:nvSpPr>
        <p:spPr>
          <a:xfrm>
            <a:off x="9906120" y="1581840"/>
            <a:ext cx="166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Cause de la métrique du kernel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22"/>
          <p:cNvSpPr/>
          <p:nvPr/>
        </p:nvSpPr>
        <p:spPr>
          <a:xfrm>
            <a:off x="685800" y="2834640"/>
            <a:ext cx="3474360" cy="23313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23"/>
          <p:cNvSpPr/>
          <p:nvPr/>
        </p:nvSpPr>
        <p:spPr>
          <a:xfrm>
            <a:off x="831960" y="292608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Si API domine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24"/>
          <p:cNvSpPr/>
          <p:nvPr/>
        </p:nvSpPr>
        <p:spPr>
          <a:xfrm>
            <a:off x="914400" y="3310200"/>
            <a:ext cx="30171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Réchauffer.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Réutilisez les buffers.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Réduisez la configuration par appel.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Travail par lots.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Rounded Rectangle 25"/>
          <p:cNvSpPr/>
          <p:nvPr/>
        </p:nvSpPr>
        <p:spPr>
          <a:xfrm>
            <a:off x="4343400" y="2834640"/>
            <a:ext cx="3474360" cy="23313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26"/>
          <p:cNvSpPr/>
          <p:nvPr/>
        </p:nvSpPr>
        <p:spPr>
          <a:xfrm>
            <a:off x="4489560" y="292608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Si les copies dominent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27"/>
          <p:cNvSpPr/>
          <p:nvPr/>
        </p:nvSpPr>
        <p:spPr>
          <a:xfrm>
            <a:off x="4572000" y="3310200"/>
            <a:ext cx="30171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Réduisez les transferts.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Utilisez la mémoire épinglée.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Superposer avec les stream.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Gardez les données résidentes.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Rounded Rectangle 28"/>
          <p:cNvSpPr/>
          <p:nvPr/>
        </p:nvSpPr>
        <p:spPr>
          <a:xfrm>
            <a:off x="8001000" y="2834640"/>
            <a:ext cx="3474360" cy="23313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29"/>
          <p:cNvSpPr/>
          <p:nvPr/>
        </p:nvSpPr>
        <p:spPr>
          <a:xfrm>
            <a:off x="8147160" y="292608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Si le kernel domine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30"/>
          <p:cNvSpPr/>
          <p:nvPr/>
        </p:nvSpPr>
        <p:spPr>
          <a:xfrm>
            <a:off x="8229600" y="3310200"/>
            <a:ext cx="30171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Vérifiez l'accès à la mémoire.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Vérifiez occupation.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Utilisez la mémoire partagée.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Pensez aux bibliothèques.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Commande Nsight Systems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Collectez une chronologie et un résumé CUDA à partir du benchmark construit.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12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5"/>
          <p:cNvSpPr/>
          <p:nvPr/>
        </p:nvSpPr>
        <p:spPr>
          <a:xfrm>
            <a:off x="731520" y="1234440"/>
            <a:ext cx="7497720" cy="265140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6"/>
          <p:cNvSpPr/>
          <p:nvPr/>
        </p:nvSpPr>
        <p:spPr>
          <a:xfrm>
            <a:off x="877680" y="1325880"/>
            <a:ext cx="7205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Commande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7"/>
          <p:cNvSpPr/>
          <p:nvPr/>
        </p:nvSpPr>
        <p:spPr>
          <a:xfrm>
            <a:off x="896040" y="1645920"/>
            <a:ext cx="717768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nsys profile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--force-overwrite=true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--stats=true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--trace=cuda,osrt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--output=docs/profiling/matmul_nsys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bazel-bin/linear_algebra/matmul_benchmark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8"/>
          <p:cNvSpPr/>
          <p:nvPr/>
        </p:nvSpPr>
        <p:spPr>
          <a:xfrm>
            <a:off x="8549640" y="1234440"/>
            <a:ext cx="2742840" cy="26514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9"/>
          <p:cNvSpPr/>
          <p:nvPr/>
        </p:nvSpPr>
        <p:spPr>
          <a:xfrm>
            <a:off x="8695800" y="132588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Objectif du drapeau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0"/>
          <p:cNvSpPr/>
          <p:nvPr/>
        </p:nvSpPr>
        <p:spPr>
          <a:xfrm>
            <a:off x="8732520" y="1691640"/>
            <a:ext cx="2422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écraser l'ancien rapport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émettre des tableaux récapitulatifs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tracer l'exécution de CUDA + OS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écrire le nom du rapport stable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1"/>
          <p:cNvSpPr/>
          <p:nvPr/>
        </p:nvSpPr>
        <p:spPr>
          <a:xfrm>
            <a:off x="822960" y="470916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Nsight Systems CLI peut collecter un rapport à partir de la ligne de commande et nsys stats peut post-traiter les rapports existants.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Artefacts de profiling générés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Le rapport a un formulaire GUI et un formulaire SQLite interrogeable.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13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6" name="Table 5"/>
          <p:cNvGraphicFramePr/>
          <p:nvPr/>
        </p:nvGraphicFramePr>
        <p:xfrm>
          <a:off x="731520" y="1280160"/>
          <a:ext cx="10789560" cy="292572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Artefact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Rôle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matmul_nsys.nsys-rep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Ouvrir dans Nsight Systems UI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matmul_nsys.sqlite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Exécutez des requêtes nsys stats ou custom SQLite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README.md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Notes d'exécution locales et journal des commandes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benchmark_results.md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Tableau de référence à l'échelle du cours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247" name="TextBox 6"/>
          <p:cNvSpPr/>
          <p:nvPr/>
        </p:nvSpPr>
        <p:spPr>
          <a:xfrm>
            <a:off x="822960" y="480060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La présentation mise à jour regroupe les fichiers.nsys-rep et.sqlite téléchargés à côté des diapositives.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Résumé des kernels Nsight Systems depuis le README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Le résumé du rapport indique le travail du kernel en microsecondes et non en millisecondes.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14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Rounded Rectangle 5"/>
          <p:cNvSpPr/>
          <p:nvPr/>
        </p:nvSpPr>
        <p:spPr>
          <a:xfrm>
            <a:off x="640080" y="1143000"/>
            <a:ext cx="5303160" cy="4480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6"/>
          <p:cNvSpPr/>
          <p:nvPr/>
        </p:nvSpPr>
        <p:spPr>
          <a:xfrm>
            <a:off x="78624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Résumé des statistiques de README nsys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7"/>
          <p:cNvSpPr/>
          <p:nvPr/>
        </p:nvSpPr>
        <p:spPr>
          <a:xfrm>
            <a:off x="914400" y="18288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 carrelé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Rounded Rectangle 8"/>
          <p:cNvSpPr/>
          <p:nvPr/>
        </p:nvSpPr>
        <p:spPr>
          <a:xfrm>
            <a:off x="3383280" y="1865520"/>
            <a:ext cx="15541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Rounded Rectangle 9"/>
          <p:cNvSpPr/>
          <p:nvPr/>
        </p:nvSpPr>
        <p:spPr>
          <a:xfrm>
            <a:off x="3401640" y="1883520"/>
            <a:ext cx="1554120" cy="34704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10"/>
          <p:cNvSpPr/>
          <p:nvPr/>
        </p:nvSpPr>
        <p:spPr>
          <a:xfrm>
            <a:off x="498348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62.592 us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11"/>
          <p:cNvSpPr/>
          <p:nvPr/>
        </p:nvSpPr>
        <p:spPr>
          <a:xfrm>
            <a:off x="914400" y="265176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 de base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Rounded Rectangle 12"/>
          <p:cNvSpPr/>
          <p:nvPr/>
        </p:nvSpPr>
        <p:spPr>
          <a:xfrm>
            <a:off x="3383280" y="2688480"/>
            <a:ext cx="15541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ounded Rectangle 13"/>
          <p:cNvSpPr/>
          <p:nvPr/>
        </p:nvSpPr>
        <p:spPr>
          <a:xfrm>
            <a:off x="3401640" y="2706480"/>
            <a:ext cx="1541520" cy="34704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14"/>
          <p:cNvSpPr/>
          <p:nvPr/>
        </p:nvSpPr>
        <p:spPr>
          <a:xfrm>
            <a:off x="4983480" y="2651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62.079 us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15"/>
          <p:cNvSpPr/>
          <p:nvPr/>
        </p:nvSpPr>
        <p:spPr>
          <a:xfrm>
            <a:off x="914400" y="365760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Lire comme : les deux kernels CUDA sont minuscules à 256 x 256 dans cette capture.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Rounded Rectangle 16"/>
          <p:cNvSpPr/>
          <p:nvPr/>
        </p:nvSpPr>
        <p:spPr>
          <a:xfrm>
            <a:off x="6309360" y="1143000"/>
            <a:ext cx="5303160" cy="4480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17"/>
          <p:cNvSpPr/>
          <p:nvPr/>
        </p:nvSpPr>
        <p:spPr>
          <a:xfrm>
            <a:off x="645552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Pourquoi c'est important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8"/>
          <p:cNvSpPr/>
          <p:nvPr/>
        </p:nvSpPr>
        <p:spPr>
          <a:xfrm>
            <a:off x="6583680" y="1691640"/>
            <a:ext cx="46630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 temps CUDA de base au niveau de l'application était 252.155 ms.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 résumé du kernel README concerne 62 us pour les deux kernels.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L'énorme différence nous oblige à inspecter la configuration, l'allocation, les copies et la synchronisation du runtime.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Événements kernel SQLite bruts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Le SQLite téléchargé contient les événements bruts du kernel CUDA.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15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0" name="Table 5"/>
          <p:cNvGraphicFramePr/>
          <p:nvPr/>
        </p:nvGraphicFramePr>
        <p:xfrm>
          <a:off x="502920" y="1188720"/>
          <a:ext cx="11246760" cy="182844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Kernel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Durée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Grille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Bloc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Regs/thread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Statique partagé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matmul_basic_kernel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78.015 us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16 x 16 x 1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16 x 16 x 1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24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0 B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matmul_tiled_kernel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64.000 us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16 x 16 x 1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16 x 16 x 1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26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2048 B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271" name="Rounded Rectangle 6"/>
          <p:cNvSpPr/>
          <p:nvPr/>
        </p:nvSpPr>
        <p:spPr>
          <a:xfrm>
            <a:off x="685800" y="3429000"/>
            <a:ext cx="5303160" cy="201132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7"/>
          <p:cNvSpPr/>
          <p:nvPr/>
        </p:nvSpPr>
        <p:spPr>
          <a:xfrm>
            <a:off x="831960" y="3520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Pourquoi README et les événements bruts diffèrent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8"/>
          <p:cNvSpPr/>
          <p:nvPr/>
        </p:nvSpPr>
        <p:spPr>
          <a:xfrm>
            <a:off x="914400" y="3886200"/>
            <a:ext cx="4845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Les modes de rapport Nsight et l'extraction directe d'événements SQL peuvent afficher des vues légèrement différentes de la même capture.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La conclusion est inchangée : les événements du kernel durent des microsecondes alors que le timing des applications en inclut bien plus.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Rounded Rectangle 9"/>
          <p:cNvSpPr/>
          <p:nvPr/>
        </p:nvSpPr>
        <p:spPr>
          <a:xfrm>
            <a:off x="6263640" y="3429000"/>
            <a:ext cx="5303160" cy="201132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10"/>
          <p:cNvSpPr/>
          <p:nvPr/>
        </p:nvSpPr>
        <p:spPr>
          <a:xfrm>
            <a:off x="6409800" y="3520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Choix pédagogique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1"/>
          <p:cNvSpPr/>
          <p:nvPr/>
        </p:nvSpPr>
        <p:spPr>
          <a:xfrm>
            <a:off x="6492240" y="3886200"/>
            <a:ext cx="4845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Utilisez les valeurs README lorsque vous suivez les commandes nsys stats.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Utilisez les valeurs brutes SQLite lors de l'enseignement des champs d'extraction et d'événement de base de données.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Résumé des transferts mémoire CUDA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Le wrapper copie A, B et C pour les deux implémentations de CUDA.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16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1" name="Table 5"/>
          <p:cNvGraphicFramePr/>
          <p:nvPr/>
        </p:nvGraphicFramePr>
        <p:xfrm>
          <a:off x="731520" y="1234440"/>
          <a:ext cx="5668920" cy="201132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  <a:gridCol w="1417320"/>
              </a:tblGrid>
              <a:tr h="670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Direction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Copies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Taille totale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Temps de copie brute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670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HTOD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1.573 MB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222 us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70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DTOH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0.524 MB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69 us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282" name="Rounded Rectangle 6"/>
          <p:cNvSpPr/>
          <p:nvPr/>
        </p:nvSpPr>
        <p:spPr>
          <a:xfrm>
            <a:off x="6720840" y="1234440"/>
            <a:ext cx="4571640" cy="201132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7"/>
          <p:cNvSpPr/>
          <p:nvPr/>
        </p:nvSpPr>
        <p:spPr>
          <a:xfrm>
            <a:off x="6867000" y="1325880"/>
            <a:ext cx="4278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Interprétation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8"/>
          <p:cNvSpPr/>
          <p:nvPr/>
        </p:nvSpPr>
        <p:spPr>
          <a:xfrm>
            <a:off x="6949440" y="1691640"/>
            <a:ext cx="4160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6 copies hôte-périphérique : A, B, C pour les chemins de base et en mosaïque.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2 copies périphérique vers hôte : sortie C pour chaque chemin.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 rapport rend les mouvements de données comptables.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9"/>
          <p:cNvSpPr/>
          <p:nvPr/>
        </p:nvSpPr>
        <p:spPr>
          <a:xfrm>
            <a:off x="822960" y="42976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Le mouvement de la mémoire n’est pas invisible au-dessus de notre tête;  Nsight Systems le transforme en lignes et en nombre d'octets.</a:t>
            </a:r>
            <a:endParaRPr b="0" lang="en-US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Résumé de l'API CUDA Runtime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Pour ce court terme, la création de stream domine la chronologie de API.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17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0" name="Table 5"/>
          <p:cNvGraphicFramePr/>
          <p:nvPr/>
        </p:nvGraphicFramePr>
        <p:xfrm>
          <a:off x="685800" y="1143000"/>
          <a:ext cx="5668920" cy="4388760"/>
        </p:xfrm>
        <a:graphic>
          <a:graphicData uri="http://schemas.openxmlformats.org/drawingml/2006/table">
            <a:tbl>
              <a:tblPr/>
              <a:tblGrid>
                <a:gridCol w="1889640"/>
                <a:gridCol w="1889640"/>
                <a:gridCol w="1889640"/>
              </a:tblGrid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API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Appels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Temps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cudaStreamCreate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128.799 ms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cudaMemcpyAsync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409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cudaLaunchKernel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334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cudaFree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93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cudaMalloc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70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cudaStreamDestroy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9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cuModuleGetLoadingMode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5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cudaStreamSynchronize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4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291" name="Rounded Rectangle 6"/>
          <p:cNvSpPr/>
          <p:nvPr/>
        </p:nvSpPr>
        <p:spPr>
          <a:xfrm>
            <a:off x="6629400" y="1143000"/>
            <a:ext cx="4754520" cy="4388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7"/>
          <p:cNvSpPr/>
          <p:nvPr/>
        </p:nvSpPr>
        <p:spPr>
          <a:xfrm>
            <a:off x="6775560" y="1234440"/>
            <a:ext cx="4461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Résultat à enseigner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8"/>
          <p:cNvSpPr/>
          <p:nvPr/>
        </p:nvSpPr>
        <p:spPr>
          <a:xfrm>
            <a:off x="6858000" y="1691640"/>
            <a:ext cx="42516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cudaStreamCreate apparaît comme l'heure API dominante dans l'extraction brute de SQLite.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Ceci est cohérent avec le point README : la configuration CUDA runtime/context à la première utilisation peut dominer les petits benchmarks.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La cible d'optimisation est la structure de référence avant la micro-optimisation du kernel.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Temps applicatif vs temps kernel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Il s’agit de la diapositive centrale d’interprétation.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18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Rounded Rectangle 5"/>
          <p:cNvSpPr/>
          <p:nvPr/>
        </p:nvSpPr>
        <p:spPr>
          <a:xfrm>
            <a:off x="548640" y="1143000"/>
            <a:ext cx="5577480" cy="4480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6"/>
          <p:cNvSpPr/>
          <p:nvPr/>
        </p:nvSpPr>
        <p:spPr>
          <a:xfrm>
            <a:off x="694800" y="1234440"/>
            <a:ext cx="5284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Synchronisation MatMul au niveau de l'application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7"/>
          <p:cNvSpPr/>
          <p:nvPr/>
        </p:nvSpPr>
        <p:spPr>
          <a:xfrm>
            <a:off x="822960" y="18288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CPU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Rounded Rectangle 8"/>
          <p:cNvSpPr/>
          <p:nvPr/>
        </p:nvSpPr>
        <p:spPr>
          <a:xfrm>
            <a:off x="3291840" y="1865520"/>
            <a:ext cx="20113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Rounded Rectangle 9"/>
          <p:cNvSpPr/>
          <p:nvPr/>
        </p:nvSpPr>
        <p:spPr>
          <a:xfrm>
            <a:off x="3310200" y="1883520"/>
            <a:ext cx="302760" cy="347040"/>
          </a:xfrm>
          <a:prstGeom prst="roundRect">
            <a:avLst>
              <a:gd name="adj" fmla="val 16667"/>
            </a:avLst>
          </a:prstGeom>
          <a:solidFill>
            <a:srgbClr val="41c7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10"/>
          <p:cNvSpPr/>
          <p:nvPr/>
        </p:nvSpPr>
        <p:spPr>
          <a:xfrm>
            <a:off x="534924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37.994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11"/>
          <p:cNvSpPr/>
          <p:nvPr/>
        </p:nvSpPr>
        <p:spPr>
          <a:xfrm>
            <a:off x="822960" y="260604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 de base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Rounded Rectangle 12"/>
          <p:cNvSpPr/>
          <p:nvPr/>
        </p:nvSpPr>
        <p:spPr>
          <a:xfrm>
            <a:off x="3291840" y="2642760"/>
            <a:ext cx="20113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Rounded Rectangle 13"/>
          <p:cNvSpPr/>
          <p:nvPr/>
        </p:nvSpPr>
        <p:spPr>
          <a:xfrm>
            <a:off x="3310200" y="2660760"/>
            <a:ext cx="2011320" cy="34704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14"/>
          <p:cNvSpPr/>
          <p:nvPr/>
        </p:nvSpPr>
        <p:spPr>
          <a:xfrm>
            <a:off x="5349240" y="2606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252.155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15"/>
          <p:cNvSpPr/>
          <p:nvPr/>
        </p:nvSpPr>
        <p:spPr>
          <a:xfrm>
            <a:off x="822960" y="338328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 carrelé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Rounded Rectangle 16"/>
          <p:cNvSpPr/>
          <p:nvPr/>
        </p:nvSpPr>
        <p:spPr>
          <a:xfrm>
            <a:off x="3291840" y="3420000"/>
            <a:ext cx="20113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Rounded Rectangle 17"/>
          <p:cNvSpPr/>
          <p:nvPr/>
        </p:nvSpPr>
        <p:spPr>
          <a:xfrm>
            <a:off x="3310200" y="3438000"/>
            <a:ext cx="18000" cy="34704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TextBox 18"/>
          <p:cNvSpPr/>
          <p:nvPr/>
        </p:nvSpPr>
        <p:spPr>
          <a:xfrm>
            <a:off x="5349240" y="3383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0.741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Rounded Rectangle 19"/>
          <p:cNvSpPr/>
          <p:nvPr/>
        </p:nvSpPr>
        <p:spPr>
          <a:xfrm>
            <a:off x="6400800" y="1143000"/>
            <a:ext cx="5211720" cy="4480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TextBox 20"/>
          <p:cNvSpPr/>
          <p:nvPr/>
        </p:nvSpPr>
        <p:spPr>
          <a:xfrm>
            <a:off x="6546960" y="123444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Synchronisation des événements du kernel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21"/>
          <p:cNvSpPr/>
          <p:nvPr/>
        </p:nvSpPr>
        <p:spPr>
          <a:xfrm>
            <a:off x="6629400" y="18288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brut de base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Rounded Rectangle 22"/>
          <p:cNvSpPr/>
          <p:nvPr/>
        </p:nvSpPr>
        <p:spPr>
          <a:xfrm>
            <a:off x="9098280" y="1865520"/>
            <a:ext cx="15541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Rounded Rectangle 23"/>
          <p:cNvSpPr/>
          <p:nvPr/>
        </p:nvSpPr>
        <p:spPr>
          <a:xfrm>
            <a:off x="9116640" y="1883520"/>
            <a:ext cx="1554120" cy="34704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Box 24"/>
          <p:cNvSpPr/>
          <p:nvPr/>
        </p:nvSpPr>
        <p:spPr>
          <a:xfrm>
            <a:off x="1069848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78.015 us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25"/>
          <p:cNvSpPr/>
          <p:nvPr/>
        </p:nvSpPr>
        <p:spPr>
          <a:xfrm>
            <a:off x="6629400" y="260604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carrelé brut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Rounded Rectangle 26"/>
          <p:cNvSpPr/>
          <p:nvPr/>
        </p:nvSpPr>
        <p:spPr>
          <a:xfrm>
            <a:off x="9098280" y="2642760"/>
            <a:ext cx="15541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Rounded Rectangle 27"/>
          <p:cNvSpPr/>
          <p:nvPr/>
        </p:nvSpPr>
        <p:spPr>
          <a:xfrm>
            <a:off x="9116640" y="2660760"/>
            <a:ext cx="1274760" cy="34704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Box 28"/>
          <p:cNvSpPr/>
          <p:nvPr/>
        </p:nvSpPr>
        <p:spPr>
          <a:xfrm>
            <a:off x="10698480" y="2606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64 us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29"/>
          <p:cNvSpPr/>
          <p:nvPr/>
        </p:nvSpPr>
        <p:spPr>
          <a:xfrm>
            <a:off x="914400" y="571500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Ne comparez pas les longueurs des barres entre les unités sans dire « millisecondes par rapport aux microsecondes ».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Pourquoi le temps applicatif et le temps kernel diffèrent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Un appel de fonction CUDA est plus que le corps du kernel.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19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Rounded Rectangle 5"/>
          <p:cNvSpPr/>
          <p:nvPr/>
        </p:nvSpPr>
        <p:spPr>
          <a:xfrm>
            <a:off x="548640" y="1371600"/>
            <a:ext cx="17521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Box 6"/>
          <p:cNvSpPr/>
          <p:nvPr/>
        </p:nvSpPr>
        <p:spPr>
          <a:xfrm>
            <a:off x="594360" y="1536120"/>
            <a:ext cx="166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stream créer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Right Arrow 7"/>
          <p:cNvSpPr/>
          <p:nvPr/>
        </p:nvSpPr>
        <p:spPr>
          <a:xfrm>
            <a:off x="2283120" y="17190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Rounded Rectangle 8"/>
          <p:cNvSpPr/>
          <p:nvPr/>
        </p:nvSpPr>
        <p:spPr>
          <a:xfrm>
            <a:off x="2410920" y="1371600"/>
            <a:ext cx="17521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9"/>
          <p:cNvSpPr/>
          <p:nvPr/>
        </p:nvSpPr>
        <p:spPr>
          <a:xfrm>
            <a:off x="2456640" y="1536120"/>
            <a:ext cx="166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cudaMalloc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Right Arrow 10"/>
          <p:cNvSpPr/>
          <p:nvPr/>
        </p:nvSpPr>
        <p:spPr>
          <a:xfrm>
            <a:off x="4145400" y="17190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Rounded Rectangle 11"/>
          <p:cNvSpPr/>
          <p:nvPr/>
        </p:nvSpPr>
        <p:spPr>
          <a:xfrm>
            <a:off x="4273200" y="1371600"/>
            <a:ext cx="17521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Box 12"/>
          <p:cNvSpPr/>
          <p:nvPr/>
        </p:nvSpPr>
        <p:spPr>
          <a:xfrm>
            <a:off x="4318920" y="1536120"/>
            <a:ext cx="166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copies H2D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Right Arrow 13"/>
          <p:cNvSpPr/>
          <p:nvPr/>
        </p:nvSpPr>
        <p:spPr>
          <a:xfrm>
            <a:off x="6007680" y="17190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Rounded Rectangle 14"/>
          <p:cNvSpPr/>
          <p:nvPr/>
        </p:nvSpPr>
        <p:spPr>
          <a:xfrm>
            <a:off x="6135480" y="1371600"/>
            <a:ext cx="17521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15"/>
          <p:cNvSpPr/>
          <p:nvPr/>
        </p:nvSpPr>
        <p:spPr>
          <a:xfrm>
            <a:off x="6181200" y="1536120"/>
            <a:ext cx="166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lancement du kernel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Right Arrow 16"/>
          <p:cNvSpPr/>
          <p:nvPr/>
        </p:nvSpPr>
        <p:spPr>
          <a:xfrm>
            <a:off x="7869960" y="17190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Rounded Rectangle 17"/>
          <p:cNvSpPr/>
          <p:nvPr/>
        </p:nvSpPr>
        <p:spPr>
          <a:xfrm>
            <a:off x="7998120" y="1371600"/>
            <a:ext cx="17521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Box 18"/>
          <p:cNvSpPr/>
          <p:nvPr/>
        </p:nvSpPr>
        <p:spPr>
          <a:xfrm>
            <a:off x="8043840" y="1536120"/>
            <a:ext cx="166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copie D2H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Right Arrow 19"/>
          <p:cNvSpPr/>
          <p:nvPr/>
        </p:nvSpPr>
        <p:spPr>
          <a:xfrm>
            <a:off x="9732240" y="17190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Rounded Rectangle 20"/>
          <p:cNvSpPr/>
          <p:nvPr/>
        </p:nvSpPr>
        <p:spPr>
          <a:xfrm>
            <a:off x="9860400" y="1371600"/>
            <a:ext cx="17521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21"/>
          <p:cNvSpPr/>
          <p:nvPr/>
        </p:nvSpPr>
        <p:spPr>
          <a:xfrm>
            <a:off x="9906120" y="1536120"/>
            <a:ext cx="166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synchronisation + gratuit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Rounded Rectangle 22"/>
          <p:cNvSpPr/>
          <p:nvPr/>
        </p:nvSpPr>
        <p:spPr>
          <a:xfrm>
            <a:off x="822960" y="2834640"/>
            <a:ext cx="3474360" cy="2102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23"/>
          <p:cNvSpPr/>
          <p:nvPr/>
        </p:nvSpPr>
        <p:spPr>
          <a:xfrm>
            <a:off x="969120" y="292608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Temps du kernel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24"/>
          <p:cNvSpPr/>
          <p:nvPr/>
        </p:nvSpPr>
        <p:spPr>
          <a:xfrm>
            <a:off x="1005840" y="3474720"/>
            <a:ext cx="3108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9fdc46"/>
                </a:solidFill>
                <a:effectLst/>
                <a:uFillTx/>
                <a:latin typeface="Aptos"/>
              </a:rPr>
              <a:t>Des dizaines de microsecondes dans cette capture.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Rounded Rectangle 25"/>
          <p:cNvSpPr/>
          <p:nvPr/>
        </p:nvSpPr>
        <p:spPr>
          <a:xfrm>
            <a:off x="4343400" y="2834640"/>
            <a:ext cx="3474360" cy="2102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26"/>
          <p:cNvSpPr/>
          <p:nvPr/>
        </p:nvSpPr>
        <p:spPr>
          <a:xfrm>
            <a:off x="4489560" y="292608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Heure de l'application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27"/>
          <p:cNvSpPr/>
          <p:nvPr/>
        </p:nvSpPr>
        <p:spPr>
          <a:xfrm>
            <a:off x="4526280" y="338328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Peut inclure la configuration, l’allocation, les copies, la synchronisation et les libérations.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Rounded Rectangle 28"/>
          <p:cNvSpPr/>
          <p:nvPr/>
        </p:nvSpPr>
        <p:spPr>
          <a:xfrm>
            <a:off x="7863840" y="2834640"/>
            <a:ext cx="3474360" cy="2102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29"/>
          <p:cNvSpPr/>
          <p:nvPr/>
        </p:nvSpPr>
        <p:spPr>
          <a:xfrm>
            <a:off x="8010000" y="292608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Prochaine référence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30"/>
          <p:cNvSpPr/>
          <p:nvPr/>
        </p:nvSpPr>
        <p:spPr>
          <a:xfrm>
            <a:off x="8046720" y="3474720"/>
            <a:ext cx="3108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41c7ff"/>
                </a:solidFill>
                <a:effectLst/>
                <a:uFillTx/>
                <a:latin typeface="Aptos"/>
              </a:rPr>
              <a:t>Échauffement + régions de chronométrage séparées.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Effet de configuration CUDA au premier usage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Les benchmarks courts sont très sensibles à l’ordre d’initialisation.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20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Rounded Rectangle 5"/>
          <p:cNvSpPr/>
          <p:nvPr/>
        </p:nvSpPr>
        <p:spPr>
          <a:xfrm>
            <a:off x="685800" y="1143000"/>
            <a:ext cx="5303160" cy="4388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TextBox 6"/>
          <p:cNvSpPr/>
          <p:nvPr/>
        </p:nvSpPr>
        <p:spPr>
          <a:xfrm>
            <a:off x="83196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Avant l'warm-up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Rounded Rectangle 7"/>
          <p:cNvSpPr/>
          <p:nvPr/>
        </p:nvSpPr>
        <p:spPr>
          <a:xfrm>
            <a:off x="91440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Box 8"/>
          <p:cNvSpPr/>
          <p:nvPr/>
        </p:nvSpPr>
        <p:spPr>
          <a:xfrm>
            <a:off x="96012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context/runtime initialisation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Right Arrow 9"/>
          <p:cNvSpPr/>
          <p:nvPr/>
        </p:nvSpPr>
        <p:spPr>
          <a:xfrm>
            <a:off x="177768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Rounded Rectangle 10"/>
          <p:cNvSpPr/>
          <p:nvPr/>
        </p:nvSpPr>
        <p:spPr>
          <a:xfrm>
            <a:off x="190548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Box 11"/>
          <p:cNvSpPr/>
          <p:nvPr/>
        </p:nvSpPr>
        <p:spPr>
          <a:xfrm>
            <a:off x="195120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allocation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Right Arrow 12"/>
          <p:cNvSpPr/>
          <p:nvPr/>
        </p:nvSpPr>
        <p:spPr>
          <a:xfrm>
            <a:off x="276876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Rounded Rectangle 13"/>
          <p:cNvSpPr/>
          <p:nvPr/>
        </p:nvSpPr>
        <p:spPr>
          <a:xfrm>
            <a:off x="289692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TextBox 14"/>
          <p:cNvSpPr/>
          <p:nvPr/>
        </p:nvSpPr>
        <p:spPr>
          <a:xfrm>
            <a:off x="294264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copie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Right Arrow 15"/>
          <p:cNvSpPr/>
          <p:nvPr/>
        </p:nvSpPr>
        <p:spPr>
          <a:xfrm>
            <a:off x="375984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Rounded Rectangle 16"/>
          <p:cNvSpPr/>
          <p:nvPr/>
        </p:nvSpPr>
        <p:spPr>
          <a:xfrm>
            <a:off x="388800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TextBox 17"/>
          <p:cNvSpPr/>
          <p:nvPr/>
        </p:nvSpPr>
        <p:spPr>
          <a:xfrm>
            <a:off x="393372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Right Arrow 18"/>
          <p:cNvSpPr/>
          <p:nvPr/>
        </p:nvSpPr>
        <p:spPr>
          <a:xfrm>
            <a:off x="475128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Rounded Rectangle 19"/>
          <p:cNvSpPr/>
          <p:nvPr/>
        </p:nvSpPr>
        <p:spPr>
          <a:xfrm>
            <a:off x="487908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TextBox 20"/>
          <p:cNvSpPr/>
          <p:nvPr/>
        </p:nvSpPr>
        <p:spPr>
          <a:xfrm>
            <a:off x="492480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synchroniser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21"/>
          <p:cNvSpPr/>
          <p:nvPr/>
        </p:nvSpPr>
        <p:spPr>
          <a:xfrm>
            <a:off x="914400" y="310896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fb446"/>
                </a:solidFill>
                <a:effectLst/>
                <a:uFillTx/>
                <a:latin typeface="Aptos"/>
              </a:rPr>
              <a:t>Le premier chemin peut payer des frais d’installation cachés.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Rounded Rectangle 22"/>
          <p:cNvSpPr/>
          <p:nvPr/>
        </p:nvSpPr>
        <p:spPr>
          <a:xfrm>
            <a:off x="6263640" y="1143000"/>
            <a:ext cx="5303160" cy="4388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TextBox 23"/>
          <p:cNvSpPr/>
          <p:nvPr/>
        </p:nvSpPr>
        <p:spPr>
          <a:xfrm>
            <a:off x="640980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Après l'warm-up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Rounded Rectangle 24"/>
          <p:cNvSpPr/>
          <p:nvPr/>
        </p:nvSpPr>
        <p:spPr>
          <a:xfrm>
            <a:off x="649224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TextBox 25"/>
          <p:cNvSpPr/>
          <p:nvPr/>
        </p:nvSpPr>
        <p:spPr>
          <a:xfrm>
            <a:off x="653796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warm-up terminé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Right Arrow 26"/>
          <p:cNvSpPr/>
          <p:nvPr/>
        </p:nvSpPr>
        <p:spPr>
          <a:xfrm>
            <a:off x="735552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Rounded Rectangle 27"/>
          <p:cNvSpPr/>
          <p:nvPr/>
        </p:nvSpPr>
        <p:spPr>
          <a:xfrm>
            <a:off x="748332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TextBox 28"/>
          <p:cNvSpPr/>
          <p:nvPr/>
        </p:nvSpPr>
        <p:spPr>
          <a:xfrm>
            <a:off x="752904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allocation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Right Arrow 29"/>
          <p:cNvSpPr/>
          <p:nvPr/>
        </p:nvSpPr>
        <p:spPr>
          <a:xfrm>
            <a:off x="834660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Rounded Rectangle 30"/>
          <p:cNvSpPr/>
          <p:nvPr/>
        </p:nvSpPr>
        <p:spPr>
          <a:xfrm>
            <a:off x="847476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TextBox 31"/>
          <p:cNvSpPr/>
          <p:nvPr/>
        </p:nvSpPr>
        <p:spPr>
          <a:xfrm>
            <a:off x="852048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copie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Right Arrow 32"/>
          <p:cNvSpPr/>
          <p:nvPr/>
        </p:nvSpPr>
        <p:spPr>
          <a:xfrm>
            <a:off x="933768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Rounded Rectangle 33"/>
          <p:cNvSpPr/>
          <p:nvPr/>
        </p:nvSpPr>
        <p:spPr>
          <a:xfrm>
            <a:off x="946584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TextBox 34"/>
          <p:cNvSpPr/>
          <p:nvPr/>
        </p:nvSpPr>
        <p:spPr>
          <a:xfrm>
            <a:off x="951156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Right Arrow 35"/>
          <p:cNvSpPr/>
          <p:nvPr/>
        </p:nvSpPr>
        <p:spPr>
          <a:xfrm>
            <a:off x="1032912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Rounded Rectangle 36"/>
          <p:cNvSpPr/>
          <p:nvPr/>
        </p:nvSpPr>
        <p:spPr>
          <a:xfrm>
            <a:off x="1045692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TextBox 37"/>
          <p:cNvSpPr/>
          <p:nvPr/>
        </p:nvSpPr>
        <p:spPr>
          <a:xfrm>
            <a:off x="1050264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synchroniser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38"/>
          <p:cNvSpPr/>
          <p:nvPr/>
        </p:nvSpPr>
        <p:spPr>
          <a:xfrm>
            <a:off x="6492240" y="310896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9fdc46"/>
                </a:solidFill>
                <a:effectLst/>
                <a:uFillTx/>
                <a:latin typeface="Aptos"/>
              </a:rPr>
              <a:t>Les mesures ultérieures sont plus proches du comportement en régime permanent.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39"/>
          <p:cNvSpPr/>
          <p:nvPr/>
        </p:nvSpPr>
        <p:spPr>
          <a:xfrm>
            <a:off x="914400" y="516636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Règle de conception : initialisez CUDA avant de chronométrer le comportement que vous souhaitez comparer.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Limitation du profiling CPU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La trace CUDA est toujours utile même lorsque l'échantillonnage CPU est bloqué.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21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Rounded Rectangle 5"/>
          <p:cNvSpPr/>
          <p:nvPr/>
        </p:nvSpPr>
        <p:spPr>
          <a:xfrm>
            <a:off x="731520" y="1188720"/>
            <a:ext cx="5577480" cy="310860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6"/>
          <p:cNvSpPr/>
          <p:nvPr/>
        </p:nvSpPr>
        <p:spPr>
          <a:xfrm>
            <a:off x="877680" y="1280160"/>
            <a:ext cx="5284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Statut de l'environnement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7"/>
          <p:cNvSpPr/>
          <p:nvPr/>
        </p:nvSpPr>
        <p:spPr>
          <a:xfrm>
            <a:off x="896040" y="1600200"/>
            <a:ext cx="525744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nsys status --environment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Observé sur cette machine :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perf_event_open a échoué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L'échantillonnage CPU n'est pas disponible dans les paramètres système current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Le traçage CUDA fonctionnait toujours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Rounded Rectangle 8"/>
          <p:cNvSpPr/>
          <p:nvPr/>
        </p:nvSpPr>
        <p:spPr>
          <a:xfrm>
            <a:off x="6629400" y="1188720"/>
            <a:ext cx="4663080" cy="3108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TextBox 9"/>
          <p:cNvSpPr/>
          <p:nvPr/>
        </p:nvSpPr>
        <p:spPr>
          <a:xfrm>
            <a:off x="6775560" y="1280160"/>
            <a:ext cx="4370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Comment le présenter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10"/>
          <p:cNvSpPr/>
          <p:nvPr/>
        </p:nvSpPr>
        <p:spPr>
          <a:xfrm>
            <a:off x="6858000" y="1737360"/>
            <a:ext cx="42516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Marquer l'échantillonnage CPU comme indisponible et non comme une analyse ayant échoué.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Utilisez CUDA API, memcpy et les résumés du kernel du rapport.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Ne tirez pas de conclusions de planification CPU à partir de cette capture.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Commande Nsight Compute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Utilisez Nsight Compute lorsque la question devient un comportement par kernel.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22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Rounded Rectangle 5"/>
          <p:cNvSpPr/>
          <p:nvPr/>
        </p:nvSpPr>
        <p:spPr>
          <a:xfrm>
            <a:off x="640080" y="1143000"/>
            <a:ext cx="7131960" cy="292572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TextBox 6"/>
          <p:cNvSpPr/>
          <p:nvPr/>
        </p:nvSpPr>
        <p:spPr>
          <a:xfrm>
            <a:off x="786240" y="1234440"/>
            <a:ext cx="6839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Commande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7"/>
          <p:cNvSpPr/>
          <p:nvPr/>
        </p:nvSpPr>
        <p:spPr>
          <a:xfrm>
            <a:off x="804600" y="1554480"/>
            <a:ext cx="681192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ncu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--target-processes all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--kernel-name regex:matmul_.*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--set basic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--force-overwrite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--export docs/profiling/matmul_ncu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bazel-bin/linear_algebra/matmul_benchmark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Rounded Rectangle 8"/>
          <p:cNvSpPr/>
          <p:nvPr/>
        </p:nvSpPr>
        <p:spPr>
          <a:xfrm>
            <a:off x="8092440" y="1143000"/>
            <a:ext cx="3382920" cy="292572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TextBox 9"/>
          <p:cNvSpPr/>
          <p:nvPr/>
        </p:nvSpPr>
        <p:spPr>
          <a:xfrm>
            <a:off x="8238600" y="1234440"/>
            <a:ext cx="3090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Rôle attendu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10"/>
          <p:cNvSpPr/>
          <p:nvPr/>
        </p:nvSpPr>
        <p:spPr>
          <a:xfrm>
            <a:off x="8321040" y="1645920"/>
            <a:ext cx="29714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métriques spécifiques au kernel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ok cupancy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charge de travail de la mémoire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blocages de warp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comportement de la mémoire partagée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11"/>
          <p:cNvSpPr/>
          <p:nvPr/>
        </p:nvSpPr>
        <p:spPr>
          <a:xfrm>
            <a:off x="822960" y="48463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ffb446"/>
                </a:solidFill>
                <a:effectLst/>
                <a:uFillTx/>
                <a:latin typeface="Aptos"/>
              </a:rPr>
              <a:t>Cette commande a été tentée mais l'accès au compteur a été bloqué sur la machine current.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Résultat de permission Nsight Compute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ERR_NVGPUCTRPERM est un résultat de politique système, pas un bug de code.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23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Rounded Rectangle 5"/>
          <p:cNvSpPr/>
          <p:nvPr/>
        </p:nvSpPr>
        <p:spPr>
          <a:xfrm>
            <a:off x="731520" y="1188720"/>
            <a:ext cx="5303160" cy="3108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Box 6"/>
          <p:cNvSpPr/>
          <p:nvPr/>
        </p:nvSpPr>
        <p:spPr>
          <a:xfrm>
            <a:off x="877680" y="12801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Erreur observée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Rounded Rectangle 7"/>
          <p:cNvSpPr/>
          <p:nvPr/>
        </p:nvSpPr>
        <p:spPr>
          <a:xfrm>
            <a:off x="960120" y="1737360"/>
            <a:ext cx="4845960" cy="141696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0" name="TextBox 8"/>
          <p:cNvSpPr/>
          <p:nvPr/>
        </p:nvSpPr>
        <p:spPr>
          <a:xfrm>
            <a:off x="1124640" y="1874520"/>
            <a:ext cx="4525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ERR_NVGPUCTRPERM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L'utilisateur n'est pas autorisé à accéder aux compteurs de performances NVIDIA GPU sur le périphérique cible 0.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Rounded Rectangle 9"/>
          <p:cNvSpPr/>
          <p:nvPr/>
        </p:nvSpPr>
        <p:spPr>
          <a:xfrm>
            <a:off x="6400800" y="1188720"/>
            <a:ext cx="5120280" cy="3108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2" name="TextBox 10"/>
          <p:cNvSpPr/>
          <p:nvPr/>
        </p:nvSpPr>
        <p:spPr>
          <a:xfrm>
            <a:off x="6546960" y="1280160"/>
            <a:ext cx="4827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Chemin de résolution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11"/>
          <p:cNvSpPr/>
          <p:nvPr/>
        </p:nvSpPr>
        <p:spPr>
          <a:xfrm>
            <a:off x="6629400" y="1737360"/>
            <a:ext cx="46173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Exécuter avec les privilèges appropriés, ou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demandez à l'administrateur système d'activer l'accès au compteur de performances GPU pour les utilisateurs non administrateurs.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Ne modifiez pas les paramètres du pilote de laboratoire partagé avec désinvolture.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Ce à quoi Nsight Compute répondrait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Cette diapositive devient active une fois que les autorisations de compteur sont disponibles.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24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Rounded Rectangle 5"/>
          <p:cNvSpPr/>
          <p:nvPr/>
        </p:nvSpPr>
        <p:spPr>
          <a:xfrm>
            <a:off x="685800" y="1143000"/>
            <a:ext cx="3474360" cy="4388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Box 6"/>
          <p:cNvSpPr/>
          <p:nvPr/>
        </p:nvSpPr>
        <p:spPr>
          <a:xfrm>
            <a:off x="831960" y="123444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Oc cupancy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7"/>
          <p:cNvSpPr/>
          <p:nvPr/>
        </p:nvSpPr>
        <p:spPr>
          <a:xfrm>
            <a:off x="914400" y="1691640"/>
            <a:ext cx="30171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chaînes actives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théorique vs réalisé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enregistrer la pression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limites de mémoire partagée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Rounded Rectangle 8"/>
          <p:cNvSpPr/>
          <p:nvPr/>
        </p:nvSpPr>
        <p:spPr>
          <a:xfrm>
            <a:off x="4343400" y="1143000"/>
            <a:ext cx="3474360" cy="4388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TextBox 9"/>
          <p:cNvSpPr/>
          <p:nvPr/>
        </p:nvSpPr>
        <p:spPr>
          <a:xfrm>
            <a:off x="4489560" y="123444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Charge de travail de la mémoire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10"/>
          <p:cNvSpPr/>
          <p:nvPr/>
        </p:nvSpPr>
        <p:spPr>
          <a:xfrm>
            <a:off x="4572000" y="1691640"/>
            <a:ext cx="30171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efficacité globale load/store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comportement de la banque de mémoire partagée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Trafic L2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plafonds de débit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Rounded Rectangle 11"/>
          <p:cNvSpPr/>
          <p:nvPr/>
        </p:nvSpPr>
        <p:spPr>
          <a:xfrm>
            <a:off x="8001000" y="1143000"/>
            <a:ext cx="3474360" cy="4388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TextBox 12"/>
          <p:cNvSpPr/>
          <p:nvPr/>
        </p:nvSpPr>
        <p:spPr>
          <a:xfrm>
            <a:off x="8147160" y="123444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Planificateur / stands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13"/>
          <p:cNvSpPr/>
          <p:nvPr/>
        </p:nvSpPr>
        <p:spPr>
          <a:xfrm>
            <a:off x="8229600" y="1691640"/>
            <a:ext cx="30171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raisons du blocage de warp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problème actif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chaînes éligibles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mélange d'instructions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8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Correspondance avec l'ancien nvprof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Gardez les anciennes commandes du didacticiel lisibles sans enseigner nvprof comme chemin moderne.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25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41" name="Table 5"/>
          <p:cNvGraphicFramePr/>
          <p:nvPr/>
        </p:nvGraphicFramePr>
        <p:xfrm>
          <a:off x="731520" y="1234440"/>
          <a:ext cx="10789560" cy="2925720"/>
        </p:xfrm>
        <a:graphic>
          <a:graphicData uri="http://schemas.openxmlformats.org/drawingml/2006/table">
            <a:tbl>
              <a:tblPr/>
              <a:tblGrid>
                <a:gridCol w="3596400"/>
                <a:gridCol w="3596400"/>
                <a:gridCol w="3596400"/>
              </a:tblGrid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Vieille question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Commande héritée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Chemin moderne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Calendrier de candidature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nvprof./app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nsys profile ./app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Métriques du kernel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nvprof --métriques...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ncu --set basic ...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chronologie GUI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Visual Profiler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nsys-ui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rapport du kernel GUI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Visual Profiler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ncu-ui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442" name="TextBox 6"/>
          <p:cNvSpPr/>
          <p:nvPr/>
        </p:nvSpPr>
        <p:spPr>
          <a:xfrm>
            <a:off x="914400" y="4846320"/>
            <a:ext cx="10240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Dans cet environnement, nvprof n'était pas installé sur PATH; le deck utilise les chemins Nsight Systems et Nsight Compute.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4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Hypothèse d'optimisation 1 : warm-up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Déplacez l’initialisation du contexte hors de la région mesurée.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26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Rounded Rectangle 5"/>
          <p:cNvSpPr/>
          <p:nvPr/>
        </p:nvSpPr>
        <p:spPr>
          <a:xfrm>
            <a:off x="731520" y="1234440"/>
            <a:ext cx="4937400" cy="35658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" name="TextBox 6"/>
          <p:cNvSpPr/>
          <p:nvPr/>
        </p:nvSpPr>
        <p:spPr>
          <a:xfrm>
            <a:off x="877680" y="1325880"/>
            <a:ext cx="4644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Leçon actuelle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7"/>
          <p:cNvSpPr/>
          <p:nvPr/>
        </p:nvSpPr>
        <p:spPr>
          <a:xfrm>
            <a:off x="960120" y="1783080"/>
            <a:ext cx="448020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La configuration lors de la première utilisation peut dominer les courts tirages.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 benchmark doit initialiser CUDA avant les boucles mesurées.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Comparez le comportement du kernel une fois la configuration du runtime effectuée.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Rounded Rectangle 8"/>
          <p:cNvSpPr/>
          <p:nvPr/>
        </p:nvSpPr>
        <p:spPr>
          <a:xfrm>
            <a:off x="6217920" y="1234440"/>
            <a:ext cx="4937400" cy="35658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1" name="TextBox 9"/>
          <p:cNvSpPr/>
          <p:nvPr/>
        </p:nvSpPr>
        <p:spPr>
          <a:xfrm>
            <a:off x="6364080" y="1325880"/>
            <a:ext cx="4644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Esquisse d'implémentation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Rounded Rectangle 10"/>
          <p:cNvSpPr/>
          <p:nvPr/>
        </p:nvSpPr>
        <p:spPr>
          <a:xfrm>
            <a:off x="6446520" y="1783080"/>
            <a:ext cx="4480200" cy="146268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3" name="TextBox 11"/>
          <p:cNvSpPr/>
          <p:nvPr/>
        </p:nvSpPr>
        <p:spPr>
          <a:xfrm>
            <a:off x="6611040" y="1920240"/>
            <a:ext cx="4160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run_once_to_initialize_cuda();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for (int i = 0; i &lt; rounds; ++i) {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time_region_only();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12"/>
          <p:cNvSpPr/>
          <p:nvPr/>
        </p:nvSpPr>
        <p:spPr>
          <a:xfrm>
            <a:off x="6446520" y="3657600"/>
            <a:ext cx="4480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fdc46"/>
                </a:solidFill>
                <a:effectLst/>
                <a:uFillTx/>
                <a:latin typeface="Aptos"/>
              </a:rPr>
              <a:t>Résultat attendu : le premier chemin CUDA ne paie plus le bloc de configuration caché.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Hypothèse d'optimisation 2 : réutiliser les buffers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Le allocation/free répété n'est pas une conception de benchmark en production.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27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Rounded Rectangle 5"/>
          <p:cNvSpPr/>
          <p:nvPr/>
        </p:nvSpPr>
        <p:spPr>
          <a:xfrm>
            <a:off x="73152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0" name="TextBox 6"/>
          <p:cNvSpPr/>
          <p:nvPr/>
        </p:nvSpPr>
        <p:spPr>
          <a:xfrm>
            <a:off x="77724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cudaMalloc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Right Arrow 7"/>
          <p:cNvSpPr/>
          <p:nvPr/>
        </p:nvSpPr>
        <p:spPr>
          <a:xfrm>
            <a:off x="164952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Rounded Rectangle 8"/>
          <p:cNvSpPr/>
          <p:nvPr/>
        </p:nvSpPr>
        <p:spPr>
          <a:xfrm>
            <a:off x="177768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3" name="TextBox 9"/>
          <p:cNvSpPr/>
          <p:nvPr/>
        </p:nvSpPr>
        <p:spPr>
          <a:xfrm>
            <a:off x="182340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copier dans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Right Arrow 10"/>
          <p:cNvSpPr/>
          <p:nvPr/>
        </p:nvSpPr>
        <p:spPr>
          <a:xfrm>
            <a:off x="269568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5" name="Rounded Rectangle 11"/>
          <p:cNvSpPr/>
          <p:nvPr/>
        </p:nvSpPr>
        <p:spPr>
          <a:xfrm>
            <a:off x="282384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6" name="TextBox 12"/>
          <p:cNvSpPr/>
          <p:nvPr/>
        </p:nvSpPr>
        <p:spPr>
          <a:xfrm>
            <a:off x="286956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Right Arrow 13"/>
          <p:cNvSpPr/>
          <p:nvPr/>
        </p:nvSpPr>
        <p:spPr>
          <a:xfrm>
            <a:off x="374184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" name="Rounded Rectangle 14"/>
          <p:cNvSpPr/>
          <p:nvPr/>
        </p:nvSpPr>
        <p:spPr>
          <a:xfrm>
            <a:off x="386964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9" name="TextBox 15"/>
          <p:cNvSpPr/>
          <p:nvPr/>
        </p:nvSpPr>
        <p:spPr>
          <a:xfrm>
            <a:off x="391536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copier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Right Arrow 16"/>
          <p:cNvSpPr/>
          <p:nvPr/>
        </p:nvSpPr>
        <p:spPr>
          <a:xfrm>
            <a:off x="478764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Rounded Rectangle 17"/>
          <p:cNvSpPr/>
          <p:nvPr/>
        </p:nvSpPr>
        <p:spPr>
          <a:xfrm>
            <a:off x="491580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2" name="TextBox 18"/>
          <p:cNvSpPr/>
          <p:nvPr/>
        </p:nvSpPr>
        <p:spPr>
          <a:xfrm>
            <a:off x="496152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cudaFree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19"/>
          <p:cNvSpPr/>
          <p:nvPr/>
        </p:nvSpPr>
        <p:spPr>
          <a:xfrm>
            <a:off x="731520" y="237744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Chemin d'allocation par appel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Rounded Rectangle 20"/>
          <p:cNvSpPr/>
          <p:nvPr/>
        </p:nvSpPr>
        <p:spPr>
          <a:xfrm>
            <a:off x="635508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5" name="TextBox 21"/>
          <p:cNvSpPr/>
          <p:nvPr/>
        </p:nvSpPr>
        <p:spPr>
          <a:xfrm>
            <a:off x="640080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espace de travail créer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Right Arrow 22"/>
          <p:cNvSpPr/>
          <p:nvPr/>
        </p:nvSpPr>
        <p:spPr>
          <a:xfrm>
            <a:off x="727308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Rounded Rectangle 23"/>
          <p:cNvSpPr/>
          <p:nvPr/>
        </p:nvSpPr>
        <p:spPr>
          <a:xfrm>
            <a:off x="740124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8" name="TextBox 24"/>
          <p:cNvSpPr/>
          <p:nvPr/>
        </p:nvSpPr>
        <p:spPr>
          <a:xfrm>
            <a:off x="744696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copier dans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Right Arrow 25"/>
          <p:cNvSpPr/>
          <p:nvPr/>
        </p:nvSpPr>
        <p:spPr>
          <a:xfrm>
            <a:off x="831924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0" name="Rounded Rectangle 26"/>
          <p:cNvSpPr/>
          <p:nvPr/>
        </p:nvSpPr>
        <p:spPr>
          <a:xfrm>
            <a:off x="844740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1" name="TextBox 27"/>
          <p:cNvSpPr/>
          <p:nvPr/>
        </p:nvSpPr>
        <p:spPr>
          <a:xfrm>
            <a:off x="849312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boucle du kernel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Right Arrow 28"/>
          <p:cNvSpPr/>
          <p:nvPr/>
        </p:nvSpPr>
        <p:spPr>
          <a:xfrm>
            <a:off x="936540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3" name="Rounded Rectangle 29"/>
          <p:cNvSpPr/>
          <p:nvPr/>
        </p:nvSpPr>
        <p:spPr>
          <a:xfrm>
            <a:off x="949320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4" name="TextBox 30"/>
          <p:cNvSpPr/>
          <p:nvPr/>
        </p:nvSpPr>
        <p:spPr>
          <a:xfrm>
            <a:off x="953892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copier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Right Arrow 31"/>
          <p:cNvSpPr/>
          <p:nvPr/>
        </p:nvSpPr>
        <p:spPr>
          <a:xfrm>
            <a:off x="1041120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Rounded Rectangle 32"/>
          <p:cNvSpPr/>
          <p:nvPr/>
        </p:nvSpPr>
        <p:spPr>
          <a:xfrm>
            <a:off x="1053936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7" name="TextBox 33"/>
          <p:cNvSpPr/>
          <p:nvPr/>
        </p:nvSpPr>
        <p:spPr>
          <a:xfrm>
            <a:off x="1058508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espace de travail détruire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34"/>
          <p:cNvSpPr/>
          <p:nvPr/>
        </p:nvSpPr>
        <p:spPr>
          <a:xfrm>
            <a:off x="6355080" y="237744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Chemin avec espace de travail réutilisable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Box 35"/>
          <p:cNvSpPr/>
          <p:nvPr/>
        </p:nvSpPr>
        <p:spPr>
          <a:xfrm>
            <a:off x="914400" y="3886200"/>
            <a:ext cx="10240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Si les lignes cudaMalloc/cudaFree sont visibles dans chaque appel court, la conception du benchmark fait partie de l'optimisation.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1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Hypothèse d'optimisation 3 : matrices plus grandes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Les petites matrices sont souvent dominées par les frais généraux.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28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Rounded Rectangle 5"/>
          <p:cNvSpPr/>
          <p:nvPr/>
        </p:nvSpPr>
        <p:spPr>
          <a:xfrm>
            <a:off x="731520" y="1234440"/>
            <a:ext cx="5120280" cy="40230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5" name="TextBox 6"/>
          <p:cNvSpPr/>
          <p:nvPr/>
        </p:nvSpPr>
        <p:spPr>
          <a:xfrm>
            <a:off x="877680" y="1325880"/>
            <a:ext cx="4827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M=N=K=256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7"/>
          <p:cNvSpPr/>
          <p:nvPr/>
        </p:nvSpPr>
        <p:spPr>
          <a:xfrm>
            <a:off x="960120" y="1783080"/>
            <a:ext cx="4571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Seulement 16,8 millions d’itérations de multiplication-ajout.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Les coûts fixes peuvent dominer.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Les résumés du kernel sont en dizaines de microsecondes.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Rounded Rectangle 8"/>
          <p:cNvSpPr/>
          <p:nvPr/>
        </p:nvSpPr>
        <p:spPr>
          <a:xfrm>
            <a:off x="6217920" y="1234440"/>
            <a:ext cx="5120280" cy="40230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8" name="TextBox 9"/>
          <p:cNvSpPr/>
          <p:nvPr/>
        </p:nvSpPr>
        <p:spPr>
          <a:xfrm>
            <a:off x="6364080" y="1325880"/>
            <a:ext cx="4827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Tailles plus grandes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10"/>
          <p:cNvSpPr/>
          <p:nvPr/>
        </p:nvSpPr>
        <p:spPr>
          <a:xfrm>
            <a:off x="6446520" y="1783080"/>
            <a:ext cx="4571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Plus d'arithmétique par lancement.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Les effets de carrelage deviennent plus visibles.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Besoin d'une capture de profilage plus longue et de limites d'exécution prudentes.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Box 11"/>
          <p:cNvSpPr/>
          <p:nvPr/>
        </p:nvSpPr>
        <p:spPr>
          <a:xfrm>
            <a:off x="914400" y="516636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b446"/>
                </a:solidFill>
                <a:effectLst/>
                <a:uFillTx/>
                <a:latin typeface="Aptos"/>
              </a:rPr>
              <a:t>Ne tirez pas de conclusions solides sur la conception du kernel à partir d’une petite taille de matrice.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2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Hypothèse d'optimisation 4 : réutilisation de la mémoire partagée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Le kernel en mosaïque devrait être important lorsque la réutilisation de la mémoire domine la charge de travail.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29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Rounded Rectangle 5"/>
          <p:cNvSpPr/>
          <p:nvPr/>
        </p:nvSpPr>
        <p:spPr>
          <a:xfrm>
            <a:off x="685800" y="1143000"/>
            <a:ext cx="5303160" cy="4480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6" name="TextBox 6"/>
          <p:cNvSpPr/>
          <p:nvPr/>
        </p:nvSpPr>
        <p:spPr>
          <a:xfrm>
            <a:off x="83196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MatMul CUDA de base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Box 7"/>
          <p:cNvSpPr/>
          <p:nvPr/>
        </p:nvSpPr>
        <p:spPr>
          <a:xfrm>
            <a:off x="914400" y="1691640"/>
            <a:ext cx="48459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Chaque thread calcule un C[row,col].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Lit la ligne A et la colonne B de la mémoire globale.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Les threads voisins répètent de nombreuses lectures.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Rounded Rectangle 8"/>
          <p:cNvSpPr/>
          <p:nvPr/>
        </p:nvSpPr>
        <p:spPr>
          <a:xfrm>
            <a:off x="6263640" y="1143000"/>
            <a:ext cx="5303160" cy="4480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9" name="TextBox 9"/>
          <p:cNvSpPr/>
          <p:nvPr/>
        </p:nvSpPr>
        <p:spPr>
          <a:xfrm>
            <a:off x="640980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Carrelé CUDA MatMul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Box 10"/>
          <p:cNvSpPr/>
          <p:nvPr/>
        </p:nvSpPr>
        <p:spPr>
          <a:xfrm>
            <a:off x="6492240" y="1691640"/>
            <a:ext cx="48459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Les threads chargent de manière coopérative les tuiles A/B.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La mémoire partagée permet la réutilisation au sein d'un bloc.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__syncthreads coordonne les phases des tuiles.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Box 11"/>
          <p:cNvSpPr/>
          <p:nvPr/>
        </p:nvSpPr>
        <p:spPr>
          <a:xfrm>
            <a:off x="914400" y="50292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41c7ff"/>
                </a:solidFill>
                <a:effectLst/>
                <a:uFillTx/>
                <a:latin typeface="Aptos"/>
              </a:rPr>
              <a:t>Les métriques Nsight Compute quantifieraient la différence de charge de travail mémoire une fois que les compteurs seraient accessibles.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Étape tutoriel 1 : reproduire le rapport Nsight Systems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Commandes pour générer le même rapport dans le dépôt.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30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Rounded Rectangle 5"/>
          <p:cNvSpPr/>
          <p:nvPr/>
        </p:nvSpPr>
        <p:spPr>
          <a:xfrm>
            <a:off x="731520" y="1143000"/>
            <a:ext cx="7314840" cy="347436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7" name="TextBox 6"/>
          <p:cNvSpPr/>
          <p:nvPr/>
        </p:nvSpPr>
        <p:spPr>
          <a:xfrm>
            <a:off x="877680" y="1234440"/>
            <a:ext cx="7022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Pas à pas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Box 7"/>
          <p:cNvSpPr/>
          <p:nvPr/>
        </p:nvSpPr>
        <p:spPr>
          <a:xfrm>
            <a:off x="896040" y="1554480"/>
            <a:ext cx="699480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cd projects/detailed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bazel build //linear_algebra:matmul_benchmark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nsys profile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--force-overwrite=true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--stats=true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--trace=cuda,osrt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--output=docs/profiling/matmul_nsys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bazel-bin/linear_algebra/matmul_benchmark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Rounded Rectangle 8"/>
          <p:cNvSpPr/>
          <p:nvPr/>
        </p:nvSpPr>
        <p:spPr>
          <a:xfrm>
            <a:off x="8366760" y="1143000"/>
            <a:ext cx="2971440" cy="34743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0" name="TextBox 9"/>
          <p:cNvSpPr/>
          <p:nvPr/>
        </p:nvSpPr>
        <p:spPr>
          <a:xfrm>
            <a:off x="8512920" y="123444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Fichiers attendus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10"/>
          <p:cNvSpPr/>
          <p:nvPr/>
        </p:nvSpPr>
        <p:spPr>
          <a:xfrm>
            <a:off x="8595360" y="1691640"/>
            <a:ext cx="2514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matmul_nsys.nsys-rep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matmul_nsys.sqlite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Étape tutoriel 2 : extraire les lignes du rapport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Utilisez les statistiques nsys pour passer du fichier de rapport au tableau de preuves.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31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Rounded Rectangle 5"/>
          <p:cNvSpPr/>
          <p:nvPr/>
        </p:nvSpPr>
        <p:spPr>
          <a:xfrm>
            <a:off x="731520" y="1188720"/>
            <a:ext cx="7680600" cy="210276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7" name="TextBox 6"/>
          <p:cNvSpPr/>
          <p:nvPr/>
        </p:nvSpPr>
        <p:spPr>
          <a:xfrm>
            <a:off x="877680" y="1280160"/>
            <a:ext cx="7387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Commande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Box 7"/>
          <p:cNvSpPr/>
          <p:nvPr/>
        </p:nvSpPr>
        <p:spPr>
          <a:xfrm>
            <a:off x="896040" y="1600200"/>
            <a:ext cx="736056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nsys stats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--report cuda_gpu_kern_sum,cuda_gpu_mem_time_sum,cuda_gpu_mem_size_sum,cuda_api_sum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docs/profiling/matmul_nsys.sqlite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29" name="Table 8"/>
          <p:cNvGraphicFramePr/>
          <p:nvPr/>
        </p:nvGraphicFramePr>
        <p:xfrm>
          <a:off x="731520" y="3657600"/>
          <a:ext cx="10789560" cy="141696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3542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Rapport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Ce qu'il faut expliquer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3542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cuda_gpu_kern_sum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quels kernels ont fonctionné et pendant combien de temps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3542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cuda_gpu_mem_size_sum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direction de copie, nombre et octets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3542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cuda_api_sum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Appels d'exécution API et coût d'installation dominant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1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Étape tutoriel 3 : lire correctement une ligne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Le profilage consiste à lire des preuves, pas à collecter des fichiers.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32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34" name="Table 5"/>
          <p:cNvGraphicFramePr/>
          <p:nvPr/>
        </p:nvGraphicFramePr>
        <p:xfrm>
          <a:off x="594360" y="1188720"/>
          <a:ext cx="10972440" cy="256032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Type de ligne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Exemple de ligne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Question à laquelle elle répond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Kernel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matmul_tiled_kernel ~ 62 us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Combien de temps l'événement du kernel a-t-il duré ?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Mémoire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H2D : 6 exemplaires, 1.573 MB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Quelle quantité de données a été déplacée ?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API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cudaStreamCreate domine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L'installation a-t-elle masqué le comportement du kernel ?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535" name="TextBox 6"/>
          <p:cNvSpPr/>
          <p:nvPr/>
        </p:nvSpPr>
        <p:spPr>
          <a:xfrm>
            <a:off x="914400" y="4251960"/>
            <a:ext cx="10240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Pour chaque ligne, indiquez : quelle opération est mesurée, quelle unité est utilisée et quel changement de code suggère la ligne.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7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Étape tutoriel 4 : essayer Nsight Compute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Le résultat est soit un rapport du kernel, soit une recherche d'autorisation.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33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Rounded Rectangle 5"/>
          <p:cNvSpPr/>
          <p:nvPr/>
        </p:nvSpPr>
        <p:spPr>
          <a:xfrm>
            <a:off x="685800" y="1143000"/>
            <a:ext cx="6857640" cy="274284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1" name="TextBox 6"/>
          <p:cNvSpPr/>
          <p:nvPr/>
        </p:nvSpPr>
        <p:spPr>
          <a:xfrm>
            <a:off x="831960" y="1234440"/>
            <a:ext cx="6564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Commande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7"/>
          <p:cNvSpPr/>
          <p:nvPr/>
        </p:nvSpPr>
        <p:spPr>
          <a:xfrm>
            <a:off x="850320" y="1554480"/>
            <a:ext cx="6537600" cy="22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ncu --target-processes all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  --kernel-name regex:matmul_.*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  --set basic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  --force-overwrite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  --export docs/profiling/matmul_ncu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  bazel-bin/linear_algebra/matmul_benchmark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Rounded Rectangle 8"/>
          <p:cNvSpPr/>
          <p:nvPr/>
        </p:nvSpPr>
        <p:spPr>
          <a:xfrm>
            <a:off x="7909560" y="1143000"/>
            <a:ext cx="3565800" cy="27428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4" name="TextBox 9"/>
          <p:cNvSpPr/>
          <p:nvPr/>
        </p:nvSpPr>
        <p:spPr>
          <a:xfrm>
            <a:off x="8055720" y="1234440"/>
            <a:ext cx="3273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Si cela échoue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10"/>
          <p:cNvSpPr/>
          <p:nvPr/>
        </p:nvSpPr>
        <p:spPr>
          <a:xfrm>
            <a:off x="8138160" y="187452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b446"/>
                </a:solidFill>
                <a:effectLst/>
                <a:uFillTx/>
                <a:latin typeface="Aptos"/>
              </a:rPr>
              <a:t>Enregistrez ERR_NVGPUCTRPERM comme résultat d'autorisation de profilage.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Box 11"/>
          <p:cNvSpPr/>
          <p:nvPr/>
        </p:nvSpPr>
        <p:spPr>
          <a:xfrm>
            <a:off x="914400" y="4846320"/>
            <a:ext cx="10149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Cela fait partie de l'ingénierie GPU : l'accès au profileur dépend de la politique du système.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8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Point de contrôle projet : insérer le profiling après le benchmark MatMul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Ce bloc de profilage appartient immédiatement après le résultat du benchmark MatMul.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34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Rounded Rectangle 5"/>
          <p:cNvSpPr/>
          <p:nvPr/>
        </p:nvSpPr>
        <p:spPr>
          <a:xfrm>
            <a:off x="594360" y="1325880"/>
            <a:ext cx="210636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2" name="TextBox 6"/>
          <p:cNvSpPr/>
          <p:nvPr/>
        </p:nvSpPr>
        <p:spPr>
          <a:xfrm>
            <a:off x="640080" y="1490400"/>
            <a:ext cx="2014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Exécuter le benchmark MatMul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Right Arrow 7"/>
          <p:cNvSpPr/>
          <p:nvPr/>
        </p:nvSpPr>
        <p:spPr>
          <a:xfrm>
            <a:off x="2682720" y="170820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4" name="Rounded Rectangle 8"/>
          <p:cNvSpPr/>
          <p:nvPr/>
        </p:nvSpPr>
        <p:spPr>
          <a:xfrm>
            <a:off x="2810880" y="1325880"/>
            <a:ext cx="210636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5" name="TextBox 9"/>
          <p:cNvSpPr/>
          <p:nvPr/>
        </p:nvSpPr>
        <p:spPr>
          <a:xfrm>
            <a:off x="2856600" y="1490400"/>
            <a:ext cx="2014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Collecter le rapport nsys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Right Arrow 10"/>
          <p:cNvSpPr/>
          <p:nvPr/>
        </p:nvSpPr>
        <p:spPr>
          <a:xfrm>
            <a:off x="4899240" y="170820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7" name="Rounded Rectangle 11"/>
          <p:cNvSpPr/>
          <p:nvPr/>
        </p:nvSpPr>
        <p:spPr>
          <a:xfrm>
            <a:off x="5027400" y="1325880"/>
            <a:ext cx="210636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8" name="TextBox 12"/>
          <p:cNvSpPr/>
          <p:nvPr/>
        </p:nvSpPr>
        <p:spPr>
          <a:xfrm>
            <a:off x="5073120" y="1490400"/>
            <a:ext cx="2014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Comparez l'heure de l'application et celle du kernel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Right Arrow 13"/>
          <p:cNvSpPr/>
          <p:nvPr/>
        </p:nvSpPr>
        <p:spPr>
          <a:xfrm>
            <a:off x="7115760" y="170820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0" name="Rounded Rectangle 14"/>
          <p:cNvSpPr/>
          <p:nvPr/>
        </p:nvSpPr>
        <p:spPr>
          <a:xfrm>
            <a:off x="7243920" y="1325880"/>
            <a:ext cx="210636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1" name="TextBox 15"/>
          <p:cNvSpPr/>
          <p:nvPr/>
        </p:nvSpPr>
        <p:spPr>
          <a:xfrm>
            <a:off x="7289640" y="1490400"/>
            <a:ext cx="2014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Identifier la couche API/copy/kernel dominante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Right Arrow 16"/>
          <p:cNvSpPr/>
          <p:nvPr/>
        </p:nvSpPr>
        <p:spPr>
          <a:xfrm>
            <a:off x="9332280" y="170820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3" name="Rounded Rectangle 17"/>
          <p:cNvSpPr/>
          <p:nvPr/>
        </p:nvSpPr>
        <p:spPr>
          <a:xfrm>
            <a:off x="9460440" y="1325880"/>
            <a:ext cx="210636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4" name="TextBox 18"/>
          <p:cNvSpPr/>
          <p:nvPr/>
        </p:nvSpPr>
        <p:spPr>
          <a:xfrm>
            <a:off x="9506160" y="1490400"/>
            <a:ext cx="2014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Choisir le prochain changement de code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65" name="Table 19"/>
          <p:cNvGraphicFramePr/>
          <p:nvPr/>
        </p:nvGraphicFramePr>
        <p:xfrm>
          <a:off x="914400" y="2971800"/>
          <a:ext cx="10240920" cy="2011320"/>
        </p:xfrm>
        <a:graphic>
          <a:graphicData uri="http://schemas.openxmlformats.org/drawingml/2006/table">
            <a:tbl>
              <a:tblPr/>
              <a:tblGrid>
                <a:gridCol w="5120640"/>
                <a:gridCol w="5120640"/>
              </a:tblGrid>
              <a:tr h="402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Point existant du cours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Mis à jour avec des preuves guidées par les résultats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benchmark de l'application MatMul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Tableau de synchronisation de l'application CPU/basic/tiled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Systems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kernel, memcpy, lignes API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Compute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résultat de l'autorisation et plan métrique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Optimisation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warm-up, réutilisation des buffers, tailles plus grandes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7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Tableau de bord des preuves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Une diapositive qui explique toute la capture.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35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70" name="Table 5"/>
          <p:cNvGraphicFramePr/>
          <p:nvPr/>
        </p:nvGraphicFramePr>
        <p:xfrm>
          <a:off x="502920" y="1097280"/>
          <a:ext cx="11246760" cy="429732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716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Couche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Résultat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Signification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716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Benchmark des applications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 de base 252.155 ms, 0.741 ms en mosaïque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le coût au niveau de l'application est mitigé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16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Événements du kernel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SQLite brut : 78.015 us de base, 64.000 us en mosaïque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Les kernels GPU sont petits dans cette capture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16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Memcpy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6 exemplaires H2D, 1.573 MB; 2 exemplaires D2H, 0.524 MB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le mouvement des données est visible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16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 API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cudaStreamCreate domine le temps brut API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effet first-use/setup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16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ncu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ERR_NVGPUCTRPERM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l'accès au comptoir est bloqué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2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Enseignements guidés par les résultats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Le profileur a changé la question.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36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Box 5"/>
          <p:cNvSpPr/>
          <p:nvPr/>
        </p:nvSpPr>
        <p:spPr>
          <a:xfrm>
            <a:off x="822960" y="1234440"/>
            <a:ext cx="1060668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N'interprétez pas les timings des applications comme de purs timings du kernel.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 microbenchmark de lancement ne montre ici aucune différence significative de mise en file d'attente chaude entre cudaLaunchKernel et &lt;&lt;&lt; &gt;&gt;&gt;.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Nsight Systems prouve que le benchmark inclut la configuration, les copies, les kernels, la synchronisation et les libérations de API.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Nsight Compute est le prochain outil pour les métriques du kernel, mais cette machine bloque les compteurs de performances pour l'utilisateur current.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 prochain travail d'implémentation devrait réchauffer CUDA, réutiliser les buffers et profiler des matrices plus grandes.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7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Changements de code suggérés par le profil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Transformez les lignes du rapport en tâches de dépôt.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37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80" name="Table 5"/>
          <p:cNvGraphicFramePr/>
          <p:nvPr/>
        </p:nvGraphicFramePr>
        <p:xfrm>
          <a:off x="594360" y="1188720"/>
          <a:ext cx="10972440" cy="384048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Constat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Tâche dans le dépôt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La configuration dès la première utilisation domine le court terme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ajouter un warm-up explicite avant les boucles mesurées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cudaMalloc/cudaFree apparaît par appel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créer un espace de travail de périphérique réutilisable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Les petits kernels 256x 256 sont minuscules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ajouter des tailles de matrice configurables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Compute bloqué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faire l'exigence d'autorisation cument et le chemin de secours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décalage horaire App/kernel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utiliser les événements CUDA autour des régions réservées au kernel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2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Workflow de profiling mis à jour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Le workflow réutilisable pour les futurs kernels CUDA.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38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Rounded Rectangle 5"/>
          <p:cNvSpPr/>
          <p:nvPr/>
        </p:nvSpPr>
        <p:spPr>
          <a:xfrm>
            <a:off x="41148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6" name="TextBox 6"/>
          <p:cNvSpPr/>
          <p:nvPr/>
        </p:nvSpPr>
        <p:spPr>
          <a:xfrm>
            <a:off x="45720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Builder un binaire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Right Arrow 7"/>
          <p:cNvSpPr/>
          <p:nvPr/>
        </p:nvSpPr>
        <p:spPr>
          <a:xfrm>
            <a:off x="1918800" y="168444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8" name="Rounded Rectangle 8"/>
          <p:cNvSpPr/>
          <p:nvPr/>
        </p:nvSpPr>
        <p:spPr>
          <a:xfrm>
            <a:off x="204696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9" name="TextBox 9"/>
          <p:cNvSpPr/>
          <p:nvPr/>
        </p:nvSpPr>
        <p:spPr>
          <a:xfrm>
            <a:off x="209268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Exécuter la ligne de base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Right Arrow 10"/>
          <p:cNvSpPr/>
          <p:nvPr/>
        </p:nvSpPr>
        <p:spPr>
          <a:xfrm>
            <a:off x="3554280" y="168444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1" name="Rounded Rectangle 11"/>
          <p:cNvSpPr/>
          <p:nvPr/>
        </p:nvSpPr>
        <p:spPr>
          <a:xfrm>
            <a:off x="368244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2" name="TextBox 12"/>
          <p:cNvSpPr/>
          <p:nvPr/>
        </p:nvSpPr>
        <p:spPr>
          <a:xfrm>
            <a:off x="372816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Systèmes de profils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Right Arrow 13"/>
          <p:cNvSpPr/>
          <p:nvPr/>
        </p:nvSpPr>
        <p:spPr>
          <a:xfrm>
            <a:off x="5189760" y="168444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4" name="Rounded Rectangle 14"/>
          <p:cNvSpPr/>
          <p:nvPr/>
        </p:nvSpPr>
        <p:spPr>
          <a:xfrm>
            <a:off x="531792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5" name="TextBox 15"/>
          <p:cNvSpPr/>
          <p:nvPr/>
        </p:nvSpPr>
        <p:spPr>
          <a:xfrm>
            <a:off x="536364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Extraire les statistiques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Right Arrow 16"/>
          <p:cNvSpPr/>
          <p:nvPr/>
        </p:nvSpPr>
        <p:spPr>
          <a:xfrm>
            <a:off x="6825240" y="168444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7" name="Rounded Rectangle 17"/>
          <p:cNvSpPr/>
          <p:nvPr/>
        </p:nvSpPr>
        <p:spPr>
          <a:xfrm>
            <a:off x="695340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8" name="TextBox 18"/>
          <p:cNvSpPr/>
          <p:nvPr/>
        </p:nvSpPr>
        <p:spPr>
          <a:xfrm>
            <a:off x="699912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Essayez le calcul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Right Arrow 19"/>
          <p:cNvSpPr/>
          <p:nvPr/>
        </p:nvSpPr>
        <p:spPr>
          <a:xfrm>
            <a:off x="8460720" y="168444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0" name="Rounded Rectangle 20"/>
          <p:cNvSpPr/>
          <p:nvPr/>
        </p:nvSpPr>
        <p:spPr>
          <a:xfrm>
            <a:off x="858888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1" name="TextBox 21"/>
          <p:cNvSpPr/>
          <p:nvPr/>
        </p:nvSpPr>
        <p:spPr>
          <a:xfrm>
            <a:off x="863460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Changer le code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Right Arrow 22"/>
          <p:cNvSpPr/>
          <p:nvPr/>
        </p:nvSpPr>
        <p:spPr>
          <a:xfrm>
            <a:off x="10096200" y="168444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3" name="Rounded Rectangle 23"/>
          <p:cNvSpPr/>
          <p:nvPr/>
        </p:nvSpPr>
        <p:spPr>
          <a:xfrm>
            <a:off x="1022436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4" name="TextBox 24"/>
          <p:cNvSpPr/>
          <p:nvPr/>
        </p:nvSpPr>
        <p:spPr>
          <a:xfrm>
            <a:off x="1027008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Remesurer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Rounded Rectangle 25"/>
          <p:cNvSpPr/>
          <p:nvPr/>
        </p:nvSpPr>
        <p:spPr>
          <a:xfrm>
            <a:off x="822960" y="2743200"/>
            <a:ext cx="3382920" cy="22856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6" name="TextBox 26"/>
          <p:cNvSpPr/>
          <p:nvPr/>
        </p:nvSpPr>
        <p:spPr>
          <a:xfrm>
            <a:off x="969120" y="2834640"/>
            <a:ext cx="3090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Conserver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Box 27"/>
          <p:cNvSpPr/>
          <p:nvPr/>
        </p:nvSpPr>
        <p:spPr>
          <a:xfrm>
            <a:off x="1051560" y="3200400"/>
            <a:ext cx="2925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journal des commandes README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tableau benchmark_results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nsys .rep/.sqlite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notes de validation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Rounded Rectangle 28"/>
          <p:cNvSpPr/>
          <p:nvPr/>
        </p:nvSpPr>
        <p:spPr>
          <a:xfrm>
            <a:off x="4480560" y="2743200"/>
            <a:ext cx="3382920" cy="22856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9" name="TextBox 29"/>
          <p:cNvSpPr/>
          <p:nvPr/>
        </p:nvSpPr>
        <p:spPr>
          <a:xfrm>
            <a:off x="4626720" y="2834640"/>
            <a:ext cx="3090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Comparer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Box 30"/>
          <p:cNvSpPr/>
          <p:nvPr/>
        </p:nvSpPr>
        <p:spPr>
          <a:xfrm>
            <a:off x="4709160" y="3200400"/>
            <a:ext cx="2925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heure de l'application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temps du kernel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copier size/count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API appels dominants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Rounded Rectangle 31"/>
          <p:cNvSpPr/>
          <p:nvPr/>
        </p:nvSpPr>
        <p:spPr>
          <a:xfrm>
            <a:off x="8138160" y="2743200"/>
            <a:ext cx="3382920" cy="22856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2" name="TextBox 32"/>
          <p:cNvSpPr/>
          <p:nvPr/>
        </p:nvSpPr>
        <p:spPr>
          <a:xfrm>
            <a:off x="8284320" y="2834640"/>
            <a:ext cx="3090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Décider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Box 33"/>
          <p:cNvSpPr/>
          <p:nvPr/>
        </p:nvSpPr>
        <p:spPr>
          <a:xfrm>
            <a:off x="8366760" y="3200400"/>
            <a:ext cx="2925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réchauffer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réutilisation du tampon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plus grandes tailles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optimisation du kernel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référence de la bibliothèque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5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Sources documentaires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Sources utilisées pour le cadrage technique mis à jour.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39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18" name="Table 5"/>
          <p:cNvGraphicFramePr/>
          <p:nvPr/>
        </p:nvGraphicFramePr>
        <p:xfrm>
          <a:off x="685800" y="1143000"/>
          <a:ext cx="10789560" cy="384048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Sujet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Source principale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Systems CLI / statistiques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docs.nvidia.com/nsight-systems/UserGuide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Compute CLI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docs.nvidia.com/nsight-compute/NsightComputeCli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Autorisation du compteur de performances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developer.nvidia.com/ERR_NVGPUCTRPERM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Contexte nvprof hérité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docs.nvidia.com/cuda/profiler-users-guide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Résultats mesurés localement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README.md + benchmark_results.md + matmul_nsys.sqlite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619" name="TextBox 6"/>
          <p:cNvSpPr/>
          <p:nvPr/>
        </p:nvSpPr>
        <p:spPr>
          <a:xfrm>
            <a:off x="914400" y="52578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9fdc46"/>
                </a:solidFill>
                <a:effectLst/>
                <a:uFillTx/>
                <a:latin typeface="Aptos"/>
              </a:rPr>
              <a:t>Les diapositives mises à jour séparent le comportement officiel de l'outil des résultats de la machine locale.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1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Clôture : développement CUDA guidé par le profiler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Construisez, mesurez, inspectez les preuves, changez une chose, mesurez à nouveau.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Profiling CUDA/Bazel - preuves MatMul  |  40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Rounded Rectangle 5"/>
          <p:cNvSpPr/>
          <p:nvPr/>
        </p:nvSpPr>
        <p:spPr>
          <a:xfrm>
            <a:off x="41148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5" name="TextBox 6"/>
          <p:cNvSpPr/>
          <p:nvPr/>
        </p:nvSpPr>
        <p:spPr>
          <a:xfrm>
            <a:off x="45720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Build Bazel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Right Arrow 7"/>
          <p:cNvSpPr/>
          <p:nvPr/>
        </p:nvSpPr>
        <p:spPr>
          <a:xfrm>
            <a:off x="1918800" y="185616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7" name="Rounded Rectangle 8"/>
          <p:cNvSpPr/>
          <p:nvPr/>
        </p:nvSpPr>
        <p:spPr>
          <a:xfrm>
            <a:off x="204696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8" name="TextBox 9"/>
          <p:cNvSpPr/>
          <p:nvPr/>
        </p:nvSpPr>
        <p:spPr>
          <a:xfrm>
            <a:off x="209268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Exécution de référence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Right Arrow 10"/>
          <p:cNvSpPr/>
          <p:nvPr/>
        </p:nvSpPr>
        <p:spPr>
          <a:xfrm>
            <a:off x="3554280" y="185616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0" name="Rounded Rectangle 11"/>
          <p:cNvSpPr/>
          <p:nvPr/>
        </p:nvSpPr>
        <p:spPr>
          <a:xfrm>
            <a:off x="368244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1" name="TextBox 12"/>
          <p:cNvSpPr/>
          <p:nvPr/>
        </p:nvSpPr>
        <p:spPr>
          <a:xfrm>
            <a:off x="372816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Nsight Systems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Right Arrow 13"/>
          <p:cNvSpPr/>
          <p:nvPr/>
        </p:nvSpPr>
        <p:spPr>
          <a:xfrm>
            <a:off x="5189760" y="185616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3" name="Rounded Rectangle 14"/>
          <p:cNvSpPr/>
          <p:nvPr/>
        </p:nvSpPr>
        <p:spPr>
          <a:xfrm>
            <a:off x="531792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4" name="TextBox 15"/>
          <p:cNvSpPr/>
          <p:nvPr/>
        </p:nvSpPr>
        <p:spPr>
          <a:xfrm>
            <a:off x="536364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Nsight Compute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Right Arrow 16"/>
          <p:cNvSpPr/>
          <p:nvPr/>
        </p:nvSpPr>
        <p:spPr>
          <a:xfrm>
            <a:off x="6825240" y="185616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6" name="Rounded Rectangle 17"/>
          <p:cNvSpPr/>
          <p:nvPr/>
        </p:nvSpPr>
        <p:spPr>
          <a:xfrm>
            <a:off x="695340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7" name="TextBox 18"/>
          <p:cNvSpPr/>
          <p:nvPr/>
        </p:nvSpPr>
        <p:spPr>
          <a:xfrm>
            <a:off x="699912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Hypothèse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Right Arrow 19"/>
          <p:cNvSpPr/>
          <p:nvPr/>
        </p:nvSpPr>
        <p:spPr>
          <a:xfrm>
            <a:off x="8460720" y="185616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9" name="Rounded Rectangle 20"/>
          <p:cNvSpPr/>
          <p:nvPr/>
        </p:nvSpPr>
        <p:spPr>
          <a:xfrm>
            <a:off x="858888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0" name="TextBox 21"/>
          <p:cNvSpPr/>
          <p:nvPr/>
        </p:nvSpPr>
        <p:spPr>
          <a:xfrm>
            <a:off x="863460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Changement de code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Right Arrow 22"/>
          <p:cNvSpPr/>
          <p:nvPr/>
        </p:nvSpPr>
        <p:spPr>
          <a:xfrm>
            <a:off x="10096200" y="185616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2" name="Rounded Rectangle 23"/>
          <p:cNvSpPr/>
          <p:nvPr/>
        </p:nvSpPr>
        <p:spPr>
          <a:xfrm>
            <a:off x="1022436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3" name="TextBox 24"/>
          <p:cNvSpPr/>
          <p:nvPr/>
        </p:nvSpPr>
        <p:spPr>
          <a:xfrm>
            <a:off x="1027008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Remesurer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Box 25"/>
          <p:cNvSpPr/>
          <p:nvPr/>
        </p:nvSpPr>
        <p:spPr>
          <a:xfrm>
            <a:off x="914400" y="3474720"/>
            <a:ext cx="10240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Prochaine amélioration concrète du dépôt : refactoriser le benchmark MatMul pour réchauffer CUDA et réutiliser les buffers de périphérique avant de collecter de nouveaux profils.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Box 26"/>
          <p:cNvSpPr/>
          <p:nvPr/>
        </p:nvSpPr>
        <p:spPr>
          <a:xfrm>
            <a:off x="914400" y="498348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Ancre de commande : bazel build //linear_algebra:matmul_benchmark &amp;&amp; nsys profile --trace= cuda,osrt...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Slide Title"/>
          <p:cNvSpPr txBox="1"/>
          <p:nvPr/>
        </p:nvSpPr>
        <p:spPr>
          <a:xfrm>
            <a:off x="530352" y="246888"/>
            <a:ext cx="11064240" cy="4572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2600" b="1">
                <a:solidFill>
                  <a:srgbClr val="0E2138"/>
                </a:solidFill>
                <a:latin typeface="Georgia"/>
              </a:rPr>
              <a:t>API CUDA Runtime vs triple-chevron après warm-up</a:t>
            </a:r>
          </a:p>
        </p:txBody>
      </p:sp>
      <p:sp>
        <p:nvSpPr>
          <p:cNvPr id="5" name="Slide Subtitle"/>
          <p:cNvSpPr txBox="1"/>
          <p:nvPr/>
        </p:nvSpPr>
        <p:spPr>
          <a:xfrm>
            <a:off x="548640" y="758952"/>
            <a:ext cx="10972800" cy="256032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000">
                <a:solidFill>
                  <a:srgbClr val="425466"/>
                </a:solidFill>
                <a:latin typeface="Aptos"/>
              </a:rPr>
              <a:t>Benchmark dédié aux frais généraux de lancement, et non au timing d'ajout de vecteurs au niveau de l'application</a:t>
            </a:r>
          </a:p>
        </p:txBody>
      </p:sp>
      <p:sp>
        <p:nvSpPr>
          <p:cNvPr id="6" name="Misleading Result Accent Rail"/>
          <p:cNvSpPr/>
          <p:nvPr/>
        </p:nvSpPr>
        <p:spPr>
          <a:xfrm>
            <a:off x="530352" y="1143000"/>
            <a:ext cx="64008" cy="1965960"/>
          </a:xfrm>
          <a:prstGeom prst="rect">
            <a:avLst/>
          </a:prstGeom>
          <a:solidFill>
            <a:srgbClr val="D04747"/>
          </a:solidFill>
          <a:ln w="1270">
            <a:solidFill>
              <a:srgbClr val="D04747"/>
            </a:solidFill>
          </a:ln>
        </p:spPr>
      </p:sp>
      <p:sp>
        <p:nvSpPr>
          <p:cNvPr id="7" name="Misleading Result Panel"/>
          <p:cNvSpPr/>
          <p:nvPr/>
        </p:nvSpPr>
        <p:spPr>
          <a:xfrm>
            <a:off x="658368" y="1143000"/>
            <a:ext cx="3218688" cy="1965960"/>
          </a:xfrm>
          <a:prstGeom prst="rect">
            <a:avLst/>
          </a:prstGeom>
          <a:solidFill>
            <a:srgbClr val="F7FAFC"/>
          </a:solidFill>
          <a:ln w="10160">
            <a:solidFill>
              <a:srgbClr val="D7E0EA"/>
            </a:solidFill>
          </a:ln>
        </p:spPr>
      </p:sp>
      <p:sp>
        <p:nvSpPr>
          <p:cNvPr id="8" name="Misleading Result Heading"/>
          <p:cNvSpPr txBox="1"/>
          <p:nvPr/>
        </p:nvSpPr>
        <p:spPr>
          <a:xfrm>
            <a:off x="850392" y="1353312"/>
            <a:ext cx="2761488" cy="27432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320" b="1">
                <a:solidFill>
                  <a:srgbClr val="0E2138"/>
                </a:solidFill>
                <a:latin typeface="Georgia"/>
              </a:rPr>
              <a:t>Pourquoi le résultat précédent a induit en erreur</a:t>
            </a:r>
          </a:p>
        </p:txBody>
      </p:sp>
      <p:sp>
        <p:nvSpPr>
          <p:cNvPr id="9" name="Misleading Result Bullets"/>
          <p:cNvSpPr txBox="1"/>
          <p:nvPr/>
        </p:nvSpPr>
        <p:spPr>
          <a:xfrm>
            <a:off x="896112" y="1764792"/>
            <a:ext cx="2724912" cy="1115568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 marL="171450" indent="-114300">
              <a:spcAft>
                <a:spcPts val="480"/>
              </a:spcAft>
              <a:buFont typeface="Aptos"/>
              <a:buChar char="•"/>
            </a:pPr>
            <a:r>
              <a:rPr sz="920">
                <a:solidFill>
                  <a:srgbClr val="111827"/>
                </a:solidFill>
                <a:latin typeface="Aptos"/>
              </a:rPr>
              <a:t>le premier chemin CUDA peut payer les frais d'installation</a:t>
            </a:r>
          </a:p>
          <a:p>
            <a:pPr algn="l" marL="171450" indent="-114300">
              <a:spcAft>
                <a:spcPts val="480"/>
              </a:spcAft>
              <a:buFont typeface="Aptos"/>
              <a:buChar char="•"/>
            </a:pPr>
            <a:r>
              <a:rPr sz="920">
                <a:solidFill>
                  <a:srgbClr val="111827"/>
                </a:solidFill>
                <a:latin typeface="Aptos"/>
              </a:rPr>
              <a:t>l'allocation, les copies, le lancement, la synchronisation et la gratuité étaient mélangés</a:t>
            </a:r>
          </a:p>
          <a:p>
            <a:pPr algn="l" marL="171450" indent="-114300">
              <a:spcAft>
                <a:spcPts val="480"/>
              </a:spcAft>
              <a:buFont typeface="Aptos"/>
              <a:buChar char="•"/>
            </a:pPr>
            <a:r>
              <a:rPr sz="920">
                <a:solidFill>
                  <a:srgbClr val="111827"/>
                </a:solidFill>
                <a:latin typeface="Aptos"/>
              </a:rPr>
              <a:t>un numéro de première exécution n'est pas une comparaison API</a:t>
            </a:r>
          </a:p>
        </p:txBody>
      </p:sp>
      <p:sp>
        <p:nvSpPr>
          <p:cNvPr id="10" name="Fair Benchmark Accent Rail"/>
          <p:cNvSpPr/>
          <p:nvPr/>
        </p:nvSpPr>
        <p:spPr>
          <a:xfrm>
            <a:off x="530352" y="3383280"/>
            <a:ext cx="64008" cy="2084832"/>
          </a:xfrm>
          <a:prstGeom prst="rect">
            <a:avLst/>
          </a:prstGeom>
          <a:solidFill>
            <a:srgbClr val="15905D"/>
          </a:solidFill>
          <a:ln w="1270">
            <a:solidFill>
              <a:srgbClr val="15905D"/>
            </a:solidFill>
          </a:ln>
        </p:spPr>
      </p:sp>
      <p:sp>
        <p:nvSpPr>
          <p:cNvPr id="11" name="Fair Benchmark Panel"/>
          <p:cNvSpPr/>
          <p:nvPr/>
        </p:nvSpPr>
        <p:spPr>
          <a:xfrm>
            <a:off x="658368" y="3383280"/>
            <a:ext cx="3218688" cy="2084832"/>
          </a:xfrm>
          <a:prstGeom prst="rect">
            <a:avLst/>
          </a:prstGeom>
          <a:solidFill>
            <a:srgbClr val="F7FAFC"/>
          </a:solidFill>
          <a:ln w="10160">
            <a:solidFill>
              <a:srgbClr val="D7E0EA"/>
            </a:solidFill>
          </a:ln>
        </p:spPr>
      </p:sp>
      <p:sp>
        <p:nvSpPr>
          <p:cNvPr id="12" name="Fair Benchmark Heading"/>
          <p:cNvSpPr txBox="1"/>
          <p:nvPr/>
        </p:nvSpPr>
        <p:spPr>
          <a:xfrm>
            <a:off x="850392" y="3593592"/>
            <a:ext cx="2761488" cy="27432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320" b="1">
                <a:solidFill>
                  <a:srgbClr val="0E2138"/>
                </a:solidFill>
                <a:latin typeface="Georgia"/>
              </a:rPr>
              <a:t>Règles de référence équitables</a:t>
            </a:r>
          </a:p>
        </p:txBody>
      </p:sp>
      <p:sp>
        <p:nvSpPr>
          <p:cNvPr id="13" name="Fair Benchmark Bullets"/>
          <p:cNvSpPr txBox="1"/>
          <p:nvPr/>
        </p:nvSpPr>
        <p:spPr>
          <a:xfrm>
            <a:off x="896112" y="4005072"/>
            <a:ext cx="2724912" cy="1207008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 marL="171450" indent="-114300">
              <a:spcAft>
                <a:spcPts val="420"/>
              </a:spcAft>
              <a:buFont typeface="Aptos"/>
              <a:buChar char="•"/>
            </a:pPr>
            <a:r>
              <a:rPr sz="920">
                <a:solidFill>
                  <a:srgbClr val="111827"/>
                </a:solidFill>
                <a:latin typeface="Aptos"/>
              </a:rPr>
              <a:t>échauffez d'abord CUDA</a:t>
            </a:r>
          </a:p>
          <a:p>
            <a:pPr algn="l" marL="171450" indent="-114300">
              <a:spcAft>
                <a:spcPts val="420"/>
              </a:spcAft>
              <a:buFont typeface="Aptos"/>
              <a:buChar char="•"/>
            </a:pPr>
            <a:r>
              <a:rPr sz="920">
                <a:solidFill>
                  <a:srgbClr val="111827"/>
                </a:solidFill>
                <a:latin typeface="Aptos"/>
              </a:rPr>
              <a:t>exécutez les deux variantes plusieurs fois</a:t>
            </a:r>
          </a:p>
          <a:p>
            <a:pPr algn="l" marL="171450" indent="-114300">
              <a:spcAft>
                <a:spcPts val="420"/>
              </a:spcAft>
              <a:buFont typeface="Aptos"/>
              <a:buChar char="•"/>
            </a:pPr>
            <a:r>
              <a:rPr sz="920">
                <a:solidFill>
                  <a:srgbClr val="111827"/>
                </a:solidFill>
                <a:latin typeface="Aptos"/>
              </a:rPr>
              <a:t>ordre alterné à chaque tour</a:t>
            </a:r>
          </a:p>
          <a:p>
            <a:pPr algn="l" marL="171450" indent="-114300">
              <a:spcAft>
                <a:spcPts val="420"/>
              </a:spcAft>
              <a:buFont typeface="Aptos"/>
              <a:buChar char="•"/>
            </a:pPr>
            <a:r>
              <a:rPr sz="920">
                <a:solidFill>
                  <a:srgbClr val="111827"/>
                </a:solidFill>
                <a:latin typeface="Aptos"/>
              </a:rPr>
              <a:t>exclure malloc, free et copies</a:t>
            </a:r>
          </a:p>
        </p:txBody>
      </p:sp>
      <p:sp>
        <p:nvSpPr>
          <p:cNvPr id="14" name="Measured Results Panel"/>
          <p:cNvSpPr/>
          <p:nvPr/>
        </p:nvSpPr>
        <p:spPr>
          <a:xfrm>
            <a:off x="4160520" y="1143000"/>
            <a:ext cx="7360920" cy="4325112"/>
          </a:xfrm>
          <a:prstGeom prst="rect">
            <a:avLst/>
          </a:prstGeom>
          <a:solidFill>
            <a:srgbClr val="F7FAFC"/>
          </a:solidFill>
          <a:ln w="10160">
            <a:solidFill>
              <a:srgbClr val="D7E0EA"/>
            </a:solidFill>
          </a:ln>
        </p:spPr>
      </p:sp>
      <p:sp>
        <p:nvSpPr>
          <p:cNvPr id="15" name="Measured Results Heading"/>
          <p:cNvSpPr txBox="1"/>
          <p:nvPr/>
        </p:nvSpPr>
        <p:spPr>
          <a:xfrm>
            <a:off x="4443984" y="1371600"/>
            <a:ext cx="6766560" cy="310896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500" b="1">
                <a:solidFill>
                  <a:srgbClr val="0E2138"/>
                </a:solidFill>
                <a:latin typeface="Georgia"/>
              </a:rPr>
              <a:t>Résultats de lancement à chaud mesurés</a:t>
            </a:r>
          </a:p>
        </p:txBody>
      </p:sp>
      <p:sp>
        <p:nvSpPr>
          <p:cNvPr id="16" name="Host Enqueue Group Label"/>
          <p:cNvSpPr txBox="1"/>
          <p:nvPr/>
        </p:nvSpPr>
        <p:spPr>
          <a:xfrm>
            <a:off x="4443984" y="1847088"/>
            <a:ext cx="192024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20" b="1">
                <a:solidFill>
                  <a:srgbClr val="425466"/>
                </a:solidFill>
                <a:latin typeface="Aptos"/>
              </a:rPr>
              <a:t>mise en file d'attente de l'hôte uniquement</a:t>
            </a:r>
          </a:p>
        </p:txBody>
      </p:sp>
      <p:sp>
        <p:nvSpPr>
          <p:cNvPr id="17" name="Sync Group Label"/>
          <p:cNvSpPr txBox="1"/>
          <p:nvPr/>
        </p:nvSpPr>
        <p:spPr>
          <a:xfrm>
            <a:off x="4443984" y="3127248"/>
            <a:ext cx="219456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20" b="1">
                <a:solidFill>
                  <a:srgbClr val="425466"/>
                </a:solidFill>
                <a:latin typeface="Aptos"/>
              </a:rPr>
              <a:t>mise en file d'attente + synchronisation du stream</a:t>
            </a:r>
          </a:p>
        </p:txBody>
      </p:sp>
      <p:sp>
        <p:nvSpPr>
          <p:cNvPr id="18" name="cudaLaunchKernel label 2.38"/>
          <p:cNvSpPr txBox="1"/>
          <p:nvPr/>
        </p:nvSpPr>
        <p:spPr>
          <a:xfrm>
            <a:off x="4443984" y="2130552"/>
            <a:ext cx="196596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30">
                <a:solidFill>
                  <a:srgbClr val="111827"/>
                </a:solidFill>
                <a:latin typeface="Aptos"/>
              </a:rPr>
              <a:t>cudaLaunchKernel</a:t>
            </a:r>
          </a:p>
        </p:txBody>
      </p:sp>
      <p:sp>
        <p:nvSpPr>
          <p:cNvPr id="19" name="cudaLaunchKernel track 2.38"/>
          <p:cNvSpPr/>
          <p:nvPr/>
        </p:nvSpPr>
        <p:spPr>
          <a:xfrm>
            <a:off x="6720840" y="2176272"/>
            <a:ext cx="2834640" cy="164592"/>
          </a:xfrm>
          <a:prstGeom prst="rect">
            <a:avLst/>
          </a:prstGeom>
          <a:solidFill>
            <a:srgbClr val="E3E8EF"/>
          </a:solidFill>
          <a:ln w="1270">
            <a:solidFill>
              <a:srgbClr val="E3E8EF"/>
            </a:solidFill>
          </a:ln>
        </p:spPr>
      </p:sp>
      <p:sp>
        <p:nvSpPr>
          <p:cNvPr id="20" name="cudaLaunchKernel bar 2.38"/>
          <p:cNvSpPr/>
          <p:nvPr/>
        </p:nvSpPr>
        <p:spPr>
          <a:xfrm>
            <a:off x="6720840" y="2176272"/>
            <a:ext cx="2544672" cy="164592"/>
          </a:xfrm>
          <a:prstGeom prst="rect">
            <a:avLst/>
          </a:prstGeom>
          <a:solidFill>
            <a:srgbClr val="2E67B8"/>
          </a:solidFill>
          <a:ln w="1270">
            <a:solidFill>
              <a:srgbClr val="2E67B8"/>
            </a:solidFill>
          </a:ln>
        </p:spPr>
      </p:sp>
      <p:sp>
        <p:nvSpPr>
          <p:cNvPr id="21" name="cudaLaunchKernel value 2.38"/>
          <p:cNvSpPr txBox="1"/>
          <p:nvPr/>
        </p:nvSpPr>
        <p:spPr>
          <a:xfrm>
            <a:off x="9829800" y="2130552"/>
            <a:ext cx="77724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ptos"/>
              </a:rPr>
              <a:t>1.878 us</a:t>
            </a:r>
          </a:p>
        </p:txBody>
      </p:sp>
      <p:sp>
        <p:nvSpPr>
          <p:cNvPr id="22" name="&lt;&lt;&lt; &gt;&gt;&gt; label 2.88"/>
          <p:cNvSpPr txBox="1"/>
          <p:nvPr/>
        </p:nvSpPr>
        <p:spPr>
          <a:xfrm>
            <a:off x="4443984" y="2587752"/>
            <a:ext cx="196596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30">
                <a:solidFill>
                  <a:srgbClr val="111827"/>
                </a:solidFill>
                <a:latin typeface="Aptos"/>
              </a:rPr>
              <a:t>triple-chevron</a:t>
            </a:r>
          </a:p>
        </p:txBody>
      </p:sp>
      <p:sp>
        <p:nvSpPr>
          <p:cNvPr id="23" name="&lt;&lt;&lt; &gt;&gt;&gt; track 2.88"/>
          <p:cNvSpPr/>
          <p:nvPr/>
        </p:nvSpPr>
        <p:spPr>
          <a:xfrm>
            <a:off x="6720840" y="2633472"/>
            <a:ext cx="2834640" cy="164592"/>
          </a:xfrm>
          <a:prstGeom prst="rect">
            <a:avLst/>
          </a:prstGeom>
          <a:solidFill>
            <a:srgbClr val="E3E8EF"/>
          </a:solidFill>
          <a:ln w="1270">
            <a:solidFill>
              <a:srgbClr val="E3E8EF"/>
            </a:solidFill>
          </a:ln>
        </p:spPr>
      </p:sp>
      <p:sp>
        <p:nvSpPr>
          <p:cNvPr id="24" name="&lt;&lt;&lt; &gt;&gt;&gt; bar 2.88"/>
          <p:cNvSpPr/>
          <p:nvPr/>
        </p:nvSpPr>
        <p:spPr>
          <a:xfrm>
            <a:off x="6720840" y="2633472"/>
            <a:ext cx="2544672" cy="164592"/>
          </a:xfrm>
          <a:prstGeom prst="rect">
            <a:avLst/>
          </a:prstGeom>
          <a:solidFill>
            <a:srgbClr val="178F5D"/>
          </a:solidFill>
          <a:ln w="1270">
            <a:solidFill>
              <a:srgbClr val="178F5D"/>
            </a:solidFill>
          </a:ln>
        </p:spPr>
      </p:sp>
      <p:sp>
        <p:nvSpPr>
          <p:cNvPr id="25" name="&lt;&lt;&lt; &gt;&gt;&gt; value 2.88"/>
          <p:cNvSpPr txBox="1"/>
          <p:nvPr/>
        </p:nvSpPr>
        <p:spPr>
          <a:xfrm>
            <a:off x="9829800" y="2587752"/>
            <a:ext cx="77724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ptos"/>
              </a:rPr>
              <a:t>1.878 us</a:t>
            </a:r>
          </a:p>
        </p:txBody>
      </p:sp>
      <p:sp>
        <p:nvSpPr>
          <p:cNvPr id="26" name="cudaLaunchKernel label 3.78"/>
          <p:cNvSpPr txBox="1"/>
          <p:nvPr/>
        </p:nvSpPr>
        <p:spPr>
          <a:xfrm>
            <a:off x="4443984" y="3410712"/>
            <a:ext cx="196596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30">
                <a:solidFill>
                  <a:srgbClr val="111827"/>
                </a:solidFill>
                <a:latin typeface="Aptos"/>
              </a:rPr>
              <a:t>cudaLaunchKernel</a:t>
            </a:r>
          </a:p>
        </p:txBody>
      </p:sp>
      <p:sp>
        <p:nvSpPr>
          <p:cNvPr id="27" name="cudaLaunchKernel track 3.78"/>
          <p:cNvSpPr/>
          <p:nvPr/>
        </p:nvSpPr>
        <p:spPr>
          <a:xfrm>
            <a:off x="6720840" y="3456432"/>
            <a:ext cx="2834640" cy="164592"/>
          </a:xfrm>
          <a:prstGeom prst="rect">
            <a:avLst/>
          </a:prstGeom>
          <a:solidFill>
            <a:srgbClr val="E3E8EF"/>
          </a:solidFill>
          <a:ln w="1270">
            <a:solidFill>
              <a:srgbClr val="E3E8EF"/>
            </a:solidFill>
          </a:ln>
        </p:spPr>
      </p:sp>
      <p:sp>
        <p:nvSpPr>
          <p:cNvPr id="28" name="cudaLaunchKernel bar 3.78"/>
          <p:cNvSpPr/>
          <p:nvPr/>
        </p:nvSpPr>
        <p:spPr>
          <a:xfrm>
            <a:off x="6720840" y="3456432"/>
            <a:ext cx="2834640" cy="164592"/>
          </a:xfrm>
          <a:prstGeom prst="rect">
            <a:avLst/>
          </a:prstGeom>
          <a:solidFill>
            <a:srgbClr val="2E67B8"/>
          </a:solidFill>
          <a:ln w="1270">
            <a:solidFill>
              <a:srgbClr val="2E67B8"/>
            </a:solidFill>
          </a:ln>
        </p:spPr>
      </p:sp>
      <p:sp>
        <p:nvSpPr>
          <p:cNvPr id="29" name="cudaLaunchKernel value 3.78"/>
          <p:cNvSpPr txBox="1"/>
          <p:nvPr/>
        </p:nvSpPr>
        <p:spPr>
          <a:xfrm>
            <a:off x="9829800" y="3410712"/>
            <a:ext cx="77724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ptos"/>
              </a:rPr>
              <a:t>2.092 us</a:t>
            </a:r>
          </a:p>
        </p:txBody>
      </p:sp>
      <p:sp>
        <p:nvSpPr>
          <p:cNvPr id="30" name="&lt;&lt;&lt; &gt;&gt;&gt; label 4.28"/>
          <p:cNvSpPr txBox="1"/>
          <p:nvPr/>
        </p:nvSpPr>
        <p:spPr>
          <a:xfrm>
            <a:off x="4443984" y="3867912"/>
            <a:ext cx="196596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30">
                <a:solidFill>
                  <a:srgbClr val="111827"/>
                </a:solidFill>
                <a:latin typeface="Aptos"/>
              </a:rPr>
              <a:t>triple-chevron</a:t>
            </a:r>
          </a:p>
        </p:txBody>
      </p:sp>
      <p:sp>
        <p:nvSpPr>
          <p:cNvPr id="31" name="&lt;&lt;&lt; &gt;&gt;&gt; track 4.28"/>
          <p:cNvSpPr/>
          <p:nvPr/>
        </p:nvSpPr>
        <p:spPr>
          <a:xfrm>
            <a:off x="6720840" y="3913632"/>
            <a:ext cx="2834640" cy="164592"/>
          </a:xfrm>
          <a:prstGeom prst="rect">
            <a:avLst/>
          </a:prstGeom>
          <a:solidFill>
            <a:srgbClr val="E3E8EF"/>
          </a:solidFill>
          <a:ln w="1270">
            <a:solidFill>
              <a:srgbClr val="E3E8EF"/>
            </a:solidFill>
          </a:ln>
        </p:spPr>
      </p:sp>
      <p:sp>
        <p:nvSpPr>
          <p:cNvPr id="32" name="&lt;&lt;&lt; &gt;&gt;&gt; bar 4.28"/>
          <p:cNvSpPr/>
          <p:nvPr/>
        </p:nvSpPr>
        <p:spPr>
          <a:xfrm>
            <a:off x="6720840" y="3913632"/>
            <a:ext cx="2833285" cy="164592"/>
          </a:xfrm>
          <a:prstGeom prst="rect">
            <a:avLst/>
          </a:prstGeom>
          <a:solidFill>
            <a:srgbClr val="178F5D"/>
          </a:solidFill>
          <a:ln w="1270">
            <a:solidFill>
              <a:srgbClr val="178F5D"/>
            </a:solidFill>
          </a:ln>
        </p:spPr>
      </p:sp>
      <p:sp>
        <p:nvSpPr>
          <p:cNvPr id="33" name="&lt;&lt;&lt; &gt;&gt;&gt; value 4.28"/>
          <p:cNvSpPr txBox="1"/>
          <p:nvPr/>
        </p:nvSpPr>
        <p:spPr>
          <a:xfrm>
            <a:off x="9829800" y="3867912"/>
            <a:ext cx="77724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ptos"/>
              </a:rPr>
              <a:t>2.091 us</a:t>
            </a:r>
          </a:p>
        </p:txBody>
      </p:sp>
      <p:sp>
        <p:nvSpPr>
          <p:cNvPr id="34" name="Results Takeaway"/>
          <p:cNvSpPr txBox="1"/>
          <p:nvPr/>
        </p:nvSpPr>
        <p:spPr>
          <a:xfrm>
            <a:off x="4443984" y="4599432"/>
            <a:ext cx="6565392" cy="438912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1020" b="1">
                <a:solidFill>
                  <a:srgbClr val="0E2138"/>
                </a:solidFill>
                <a:latin typeface="Georgia"/>
              </a:rPr>
              <a:t>À retenir : une fois la configuration et les copies supprimées, les deux styles de lancement sont effectivement identiques dans cette mesure.</a:t>
            </a:r>
          </a:p>
        </p:txBody>
      </p:sp>
      <p:sp>
        <p:nvSpPr>
          <p:cNvPr id="35" name="Command Callout"/>
          <p:cNvSpPr/>
          <p:nvPr/>
        </p:nvSpPr>
        <p:spPr>
          <a:xfrm>
            <a:off x="4160520" y="5715000"/>
            <a:ext cx="7360920" cy="402336"/>
          </a:xfrm>
          <a:prstGeom prst="rect">
            <a:avLst/>
          </a:prstGeom>
          <a:solidFill>
            <a:srgbClr val="FFF7ED"/>
          </a:solidFill>
          <a:ln w="8890">
            <a:solidFill>
              <a:srgbClr val="FED7AA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1200" b="1">
                <a:solidFill>
                  <a:srgbClr val="C45113"/>
                </a:solidFill>
                <a:latin typeface="Cascadia Mono"/>
              </a:rPr>
              <a:t>bazel run //gpu:vector_launch_benchmark</a:t>
            </a:r>
          </a:p>
        </p:txBody>
      </p:sp>
      <p:sp>
        <p:nvSpPr>
          <p:cNvPr id="36" name="Source Footer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650">
                <a:solidFill>
                  <a:srgbClr val="425466"/>
                </a:solidFill>
                <a:latin typeface="Aptos"/>
              </a:rPr>
              <a:t>Source : projects/detailed/docs/benchmark_results.md et //gpu:vector_launch_benchmark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Slide Title"/>
          <p:cNvSpPr txBox="1"/>
          <p:nvPr/>
        </p:nvSpPr>
        <p:spPr>
          <a:xfrm>
            <a:off x="530352" y="246888"/>
            <a:ext cx="11064240" cy="4572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2700" b="1">
                <a:solidFill>
                  <a:srgbClr val="0E2138"/>
                </a:solidFill>
                <a:latin typeface="Georgia"/>
              </a:rPr>
              <a:t>Cible de benchmark de lancement mise à jour</a:t>
            </a:r>
          </a:p>
        </p:txBody>
      </p:sp>
      <p:sp>
        <p:nvSpPr>
          <p:cNvPr id="5" name="Source Path Subtitle"/>
          <p:cNvSpPr txBox="1"/>
          <p:nvPr/>
        </p:nvSpPr>
        <p:spPr>
          <a:xfrm>
            <a:off x="548640" y="758952"/>
            <a:ext cx="10972800" cy="256032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950">
                <a:solidFill>
                  <a:srgbClr val="425466"/>
                </a:solidFill>
                <a:latin typeface="Aptos"/>
              </a:rPr>
              <a:t>projects/detailed/gpu/vector_launch_benchmark.cc</a:t>
            </a:r>
          </a:p>
        </p:txBody>
      </p:sp>
      <p:sp>
        <p:nvSpPr>
          <p:cNvPr id="6" name="Left Accent Rail"/>
          <p:cNvSpPr/>
          <p:nvPr/>
        </p:nvSpPr>
        <p:spPr>
          <a:xfrm>
            <a:off x="530352" y="1170432"/>
            <a:ext cx="64008" cy="4526280"/>
          </a:xfrm>
          <a:prstGeom prst="rect">
            <a:avLst/>
          </a:prstGeom>
          <a:solidFill>
            <a:srgbClr val="0BA56B"/>
          </a:solidFill>
          <a:ln w="1270">
            <a:solidFill>
              <a:srgbClr val="0BA56B"/>
            </a:solidFill>
          </a:ln>
        </p:spPr>
      </p:sp>
      <p:sp>
        <p:nvSpPr>
          <p:cNvPr id="7" name="Measurement Contract Panel"/>
          <p:cNvSpPr/>
          <p:nvPr/>
        </p:nvSpPr>
        <p:spPr>
          <a:xfrm>
            <a:off x="658368" y="1170432"/>
            <a:ext cx="3218688" cy="4526280"/>
          </a:xfrm>
          <a:prstGeom prst="rect">
            <a:avLst/>
          </a:prstGeom>
          <a:solidFill>
            <a:srgbClr val="F7FAFC"/>
          </a:solidFill>
          <a:ln w="10160">
            <a:solidFill>
              <a:srgbClr val="D7E0EA"/>
            </a:solidFill>
          </a:ln>
        </p:spPr>
      </p:sp>
      <p:sp>
        <p:nvSpPr>
          <p:cNvPr id="8" name="Measurement Contract Heading"/>
          <p:cNvSpPr txBox="1"/>
          <p:nvPr/>
        </p:nvSpPr>
        <p:spPr>
          <a:xfrm>
            <a:off x="850392" y="1399032"/>
            <a:ext cx="2743200" cy="310896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450" b="1">
                <a:solidFill>
                  <a:srgbClr val="0E2138"/>
                </a:solidFill>
                <a:latin typeface="Georgia"/>
              </a:rPr>
              <a:t>Ce que fait maintenant la cible</a:t>
            </a:r>
          </a:p>
        </p:txBody>
      </p:sp>
      <p:sp>
        <p:nvSpPr>
          <p:cNvPr id="9" name="Measurement Contract Bullets"/>
          <p:cNvSpPr txBox="1"/>
          <p:nvPr/>
        </p:nvSpPr>
        <p:spPr>
          <a:xfrm>
            <a:off x="896112" y="1874520"/>
            <a:ext cx="2670048" cy="315468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 marL="171450" indent="-114300">
              <a:spcAft>
                <a:spcPts val="520"/>
              </a:spcAft>
              <a:buFont typeface="Aptos"/>
              <a:buChar char="•"/>
            </a:pPr>
            <a:r>
              <a:rPr sz="1100">
                <a:solidFill>
                  <a:srgbClr val="111827"/>
                </a:solidFill>
                <a:latin typeface="Aptos"/>
              </a:rPr>
              <a:t>alloue les buffers de périphérique une fois</a:t>
            </a:r>
          </a:p>
          <a:p>
            <a:pPr algn="l" marL="171450" indent="-114300">
              <a:spcAft>
                <a:spcPts val="520"/>
              </a:spcAft>
              <a:buFont typeface="Aptos"/>
              <a:buChar char="•"/>
            </a:pPr>
            <a:r>
              <a:rPr sz="1100">
                <a:solidFill>
                  <a:srgbClr val="111827"/>
                </a:solidFill>
                <a:latin typeface="Aptos"/>
              </a:rPr>
              <a:t>copie les entrées avant de chronométrer</a:t>
            </a:r>
          </a:p>
          <a:p>
            <a:pPr algn="l" marL="171450" indent="-114300">
              <a:spcAft>
                <a:spcPts val="520"/>
              </a:spcAft>
              <a:buFont typeface="Aptos"/>
              <a:buChar char="•"/>
            </a:pPr>
            <a:r>
              <a:rPr sz="1100">
                <a:solidFill>
                  <a:srgbClr val="111827"/>
                </a:solidFill>
                <a:latin typeface="Aptos"/>
              </a:rPr>
              <a:t>réchauffe les deux APIs de lancement</a:t>
            </a:r>
          </a:p>
          <a:p>
            <a:pPr algn="l" marL="171450" indent="-114300">
              <a:spcAft>
                <a:spcPts val="520"/>
              </a:spcAft>
              <a:buFont typeface="Aptos"/>
              <a:buChar char="•"/>
            </a:pPr>
            <a:r>
              <a:rPr sz="1100">
                <a:solidFill>
                  <a:srgbClr val="111827"/>
                </a:solidFill>
                <a:latin typeface="Aptos"/>
              </a:rPr>
              <a:t>lancements répétés uniquement</a:t>
            </a:r>
          </a:p>
          <a:p>
            <a:pPr algn="l" marL="171450" indent="-114300">
              <a:spcAft>
                <a:spcPts val="520"/>
              </a:spcAft>
              <a:buFont typeface="Aptos"/>
              <a:buChar char="•"/>
            </a:pPr>
            <a:r>
              <a:rPr sz="1100">
                <a:solidFill>
                  <a:srgbClr val="111827"/>
                </a:solidFill>
                <a:latin typeface="Aptos"/>
              </a:rPr>
              <a:t>alterne l'ordre à chaque tour</a:t>
            </a:r>
          </a:p>
          <a:p>
            <a:pPr algn="l" marL="171450" indent="-114300">
              <a:spcAft>
                <a:spcPts val="520"/>
              </a:spcAft>
              <a:buFont typeface="Aptos"/>
              <a:buChar char="•"/>
            </a:pPr>
            <a:r>
              <a:rPr sz="1100">
                <a:solidFill>
                  <a:srgbClr val="111827"/>
                </a:solidFill>
                <a:latin typeface="Aptos"/>
              </a:rPr>
              <a:t>signale la mise en file d'attente de l'hôte et la synchronisation du stream</a:t>
            </a:r>
          </a:p>
        </p:txBody>
      </p:sp>
      <p:sp>
        <p:nvSpPr>
          <p:cNvPr id="10" name="Readable Code Panel"/>
          <p:cNvSpPr/>
          <p:nvPr/>
        </p:nvSpPr>
        <p:spPr>
          <a:xfrm>
            <a:off x="4160520" y="1170432"/>
            <a:ext cx="7360920" cy="4526280"/>
          </a:xfrm>
          <a:prstGeom prst="rect">
            <a:avLst/>
          </a:prstGeom>
          <a:solidFill>
            <a:srgbClr val="252C36"/>
          </a:solidFill>
          <a:ln w="1270">
            <a:solidFill>
              <a:srgbClr val="252C36"/>
            </a:solidFill>
          </a:ln>
        </p:spPr>
      </p:sp>
      <p:sp>
        <p:nvSpPr>
          <p:cNvPr id="11" name="Code Panel Label"/>
          <p:cNvSpPr txBox="1"/>
          <p:nvPr/>
        </p:nvSpPr>
        <p:spPr>
          <a:xfrm>
            <a:off x="4443984" y="1389888"/>
            <a:ext cx="6784848" cy="27432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050" b="1">
                <a:solidFill>
                  <a:srgbClr val="A9D18E"/>
                </a:solidFill>
                <a:latin typeface="Aptos"/>
              </a:rPr>
              <a:t>Forme du benchmark après nettoyage</a:t>
            </a:r>
          </a:p>
        </p:txBody>
      </p:sp>
      <p:sp>
        <p:nvSpPr>
          <p:cNvPr id="12" name="Readable Code Extract"/>
          <p:cNvSpPr txBox="1"/>
          <p:nvPr/>
        </p:nvSpPr>
        <p:spPr>
          <a:xfrm>
            <a:off x="4443984" y="1783080"/>
            <a:ext cx="6720840" cy="356616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constexpr int warmup_iterations = 100;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constexpr int measured_iterations = 10'000;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constexpr int rounds = 8;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/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CUDA_CHECK(cudaFree(nullptr));   // initialize CUDA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CUDA_CHECK(cudaMemcpyAsync(...)); // copy before timing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CUDA_CHECK(cudaStreamSynchronize(stream.get()));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/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for (int i = 0; i &lt; warmup_iterations; ++i) {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  launch_vector_add_kernel(..., kRuntimeApi);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  launch_vector_add_kernel(..., kTripleChevron);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}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/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for (int round = 0; round &lt; rounds; ++round) {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  if (round % 2 == 0) { runtime(); chevron(); }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  else                { chevron(); runtime(); }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}</a:t>
            </a:r>
          </a:p>
        </p:txBody>
      </p:sp>
      <p:sp>
        <p:nvSpPr>
          <p:cNvPr id="13" name="New Lesson Callout"/>
          <p:cNvSpPr/>
          <p:nvPr/>
        </p:nvSpPr>
        <p:spPr>
          <a:xfrm>
            <a:off x="685800" y="5907024"/>
            <a:ext cx="10744200" cy="402336"/>
          </a:xfrm>
          <a:prstGeom prst="rect">
            <a:avLst/>
          </a:prstGeom>
          <a:solidFill>
            <a:srgbClr val="EFFAF4"/>
          </a:solidFill>
          <a:ln w="8890">
            <a:solidFill>
              <a:srgbClr val="BFE7D2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1050" b="1">
                <a:solidFill>
                  <a:srgbClr val="075B3B"/>
                </a:solidFill>
                <a:latin typeface="Aptos"/>
              </a:rPr>
              <a:t>Nouvelle leçon : utilisez //gpu:vector_launch_benchmark pour le discussion sur le coût de lancement; utilisez //gpu:vector_add_benchmark pour le coût total au niveau de l'application.</a:t>
            </a:r>
          </a:p>
        </p:txBody>
      </p:sp>
      <p:sp>
        <p:nvSpPr>
          <p:cNvPr id="14" name="Updated Source Footer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650">
                <a:solidFill>
                  <a:srgbClr val="425466"/>
                </a:solidFill>
                <a:latin typeface="Aptos"/>
              </a:rPr>
              <a:t>Source mise à jour : /home/neudinger/presentation/projects/detailed/gpu/vector_launch_benchmark.cc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LibreOffice/25.2.7.2$Linux_X86_64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2026-05-24T18:27:58Z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