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Cliquez pour modifier le style du titre principal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Cliquez pour modifier le style de sous-titre principal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Cliquez pour modifier le style du titre principal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Cliquez pour modifier les styles de texte principal</a:t>
            </a:r>
          </a:p>
          <a:p>
            <a:pPr lvl="1"/>
            <a:r>
              <a:rPr lang="en-US" smtClean="0"/>
              <a:t>Deuxième niveau</a:t>
            </a:r>
          </a:p>
          <a:p>
            <a:pPr lvl="2"/>
            <a:r>
              <a:rPr lang="en-US" smtClean="0"/>
              <a:t>Troisième niveau</a:t>
            </a:r>
          </a:p>
          <a:p>
            <a:pPr lvl="3"/>
            <a:r>
              <a:rPr lang="en-US" smtClean="0"/>
              <a:t>Quatrième niveau</a:t>
            </a:r>
          </a:p>
          <a:p>
            <a:pPr lvl="4"/>
            <a:r>
              <a:rPr lang="en-US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Cliquez pour modifier le style du titre principal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Cliquez pour modifier les styles de texte principal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Cliquez pour modifier le style du titre principal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Cliquez pour modifier les styles de texte principal</a:t>
            </a:r>
          </a:p>
          <a:p>
            <a:pPr lvl="1"/>
            <a:r>
              <a:rPr lang="en-US" smtClean="0"/>
              <a:t>Deuxième niveau</a:t>
            </a:r>
          </a:p>
          <a:p>
            <a:pPr lvl="2"/>
            <a:r>
              <a:rPr lang="en-US" smtClean="0"/>
              <a:t>Troisième niveau</a:t>
            </a:r>
          </a:p>
          <a:p>
            <a:pPr lvl="3"/>
            <a:r>
              <a:rPr lang="en-US" smtClean="0"/>
              <a:t>Quatrième niveau</a:t>
            </a:r>
          </a:p>
          <a:p>
            <a:pPr lvl="4"/>
            <a:r>
              <a:rPr lang="en-US" smtClean="0"/>
              <a:t>Cinquième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Cliquez pour modifier les styles de texte principal</a:t>
            </a:r>
          </a:p>
          <a:p>
            <a:pPr lvl="1"/>
            <a:r>
              <a:rPr lang="en-US" smtClean="0"/>
              <a:t>Deuxième niveau</a:t>
            </a:r>
          </a:p>
          <a:p>
            <a:pPr lvl="2"/>
            <a:r>
              <a:rPr lang="en-US" smtClean="0"/>
              <a:t>Troisième niveau</a:t>
            </a:r>
          </a:p>
          <a:p>
            <a:pPr lvl="3"/>
            <a:r>
              <a:rPr lang="en-US" smtClean="0"/>
              <a:t>Quatrième niveau</a:t>
            </a:r>
          </a:p>
          <a:p>
            <a:pPr lvl="4"/>
            <a:r>
              <a:rPr lang="en-US" smtClean="0"/>
              <a:t>Cinquième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Cliquez pour modifier le style du titre principal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Cliquez pour modifier les styles de texte principal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Cliquez pour modifier les styles de texte principal</a:t>
            </a:r>
          </a:p>
          <a:p>
            <a:pPr lvl="1"/>
            <a:r>
              <a:rPr lang="en-US" smtClean="0"/>
              <a:t>Deuxième niveau</a:t>
            </a:r>
          </a:p>
          <a:p>
            <a:pPr lvl="2"/>
            <a:r>
              <a:rPr lang="en-US" smtClean="0"/>
              <a:t>Troisième niveau</a:t>
            </a:r>
          </a:p>
          <a:p>
            <a:pPr lvl="3"/>
            <a:r>
              <a:rPr lang="en-US" smtClean="0"/>
              <a:t>Quatrième niveau</a:t>
            </a:r>
          </a:p>
          <a:p>
            <a:pPr lvl="4"/>
            <a:r>
              <a:rPr lang="en-US" smtClean="0"/>
              <a:t>Cinquième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Cliquez pour modifier les styles de texte principal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Cliquez pour modifier les styles de texte principal</a:t>
            </a:r>
          </a:p>
          <a:p>
            <a:pPr lvl="1"/>
            <a:r>
              <a:rPr lang="en-US" smtClean="0"/>
              <a:t>Deuxième niveau</a:t>
            </a:r>
          </a:p>
          <a:p>
            <a:pPr lvl="2"/>
            <a:r>
              <a:rPr lang="en-US" smtClean="0"/>
              <a:t>Troisième niveau</a:t>
            </a:r>
          </a:p>
          <a:p>
            <a:pPr lvl="3"/>
            <a:r>
              <a:rPr lang="en-US" smtClean="0"/>
              <a:t>Quatrième niveau</a:t>
            </a:r>
          </a:p>
          <a:p>
            <a:pPr lvl="4"/>
            <a:r>
              <a:rPr lang="en-US" smtClean="0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Cliquez pour modifier le style du titre principal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Cliquez pour modifier le style du titre principal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Cliquez pour modifier les styles de texte principal</a:t>
            </a:r>
          </a:p>
          <a:p>
            <a:pPr lvl="1"/>
            <a:r>
              <a:rPr lang="en-US" smtClean="0"/>
              <a:t>Deuxième niveau</a:t>
            </a:r>
          </a:p>
          <a:p>
            <a:pPr lvl="2"/>
            <a:r>
              <a:rPr lang="en-US" smtClean="0"/>
              <a:t>Troisième niveau</a:t>
            </a:r>
          </a:p>
          <a:p>
            <a:pPr lvl="3"/>
            <a:r>
              <a:rPr lang="en-US" smtClean="0"/>
              <a:t>Quatrième niveau</a:t>
            </a:r>
          </a:p>
          <a:p>
            <a:pPr lvl="4"/>
            <a:r>
              <a:rPr lang="en-US" smtClean="0"/>
              <a:t>Cinquième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Cliquez pour modifier les styles de texte principal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Cliquez pour modifier le style du titre principal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Cliquez pour modifier les styles de texte principal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Cliquez pour modifier le style du titre principal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Cliquez pour modifier les styles de texte principal</a:t>
            </a:r>
          </a:p>
          <a:p>
            <a:pPr lvl="1"/>
            <a:r>
              <a:rPr lang="en-US" smtClean="0"/>
              <a:t>Deuxième niveau</a:t>
            </a:r>
          </a:p>
          <a:p>
            <a:pPr lvl="2"/>
            <a:r>
              <a:rPr lang="en-US" smtClean="0"/>
              <a:t>Troisième niveau</a:t>
            </a:r>
          </a:p>
          <a:p>
            <a:pPr lvl="3"/>
            <a:r>
              <a:rPr lang="en-US" smtClean="0"/>
              <a:t>Quatrième niveau</a:t>
            </a:r>
          </a:p>
          <a:p>
            <a:pPr lvl="4"/>
            <a:r>
              <a:rPr lang="en-US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Cliquez pour modifier le style du titre principal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Cliquez pour modifier les styles de texte principal</a:t>
            </a:r>
          </a:p>
          <a:p>
            <a:pPr lvl="1"/>
            <a:r>
              <a:rPr lang="en-US" smtClean="0"/>
              <a:t>Deuxième niveau</a:t>
            </a:r>
          </a:p>
          <a:p>
            <a:pPr lvl="2"/>
            <a:r>
              <a:rPr lang="en-US" smtClean="0"/>
              <a:t>Troisième niveau</a:t>
            </a:r>
          </a:p>
          <a:p>
            <a:pPr lvl="3"/>
            <a:r>
              <a:rPr lang="en-US" smtClean="0"/>
              <a:t>Quatrième niveau</a:t>
            </a:r>
          </a:p>
          <a:p>
            <a:pPr lvl="4"/>
            <a:r>
              <a:rPr lang="en-US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Cliquez pour modifier le style du titre principal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Cliquez pour modifier les styles de texte principal</a:t>
            </a:r>
          </a:p>
          <a:p>
            <a:pPr lvl="1"/>
            <a:r>
              <a:rPr lang="en-US" smtClean="0"/>
              <a:t>Deuxième niveau</a:t>
            </a:r>
          </a:p>
          <a:p>
            <a:pPr lvl="2"/>
            <a:r>
              <a:rPr lang="en-US" smtClean="0"/>
              <a:t>Troisième niveau</a:t>
            </a:r>
          </a:p>
          <a:p>
            <a:pPr lvl="3"/>
            <a:r>
              <a:rPr lang="en-US" smtClean="0"/>
              <a:t>Quatrième niveau</a:t>
            </a:r>
          </a:p>
          <a:p>
            <a:pPr lvl="4"/>
            <a:r>
              <a:rPr lang="en-US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07899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400" b="1">
                <a:solidFill>
                  <a:srgbClr val="F5F8FA"/>
                </a:solidFill>
                <a:latin typeface="Aptos"/>
              </a:rPr>
              <a:t>Programmation parallèle C++ avec CUDA, Bazel et Clang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76B900"/>
                </a:solidFill>
                <a:latin typeface="Aptos"/>
              </a:rPr>
              <a:t>Jour 1 - Fondation du dépôt et première fonctionnalité CUDA</a:t>
            </a:r>
          </a:p>
        </p:txBody>
      </p:sp>
      <p:pic>
        <p:nvPicPr>
          <p:cNvPr id="4" name="Picture 3" descr="pipeline_day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543" y="2148840"/>
            <a:ext cx="8968153" cy="310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440680"/>
            <a:ext cx="102412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5F8FA"/>
                </a:solidFill>
              </a:defRPr>
            </a:pPr>
            <a:r>
              <a:t>Opération centrale : out[i] = alpha * a[i] + b[i]</a:t>
            </a:r>
          </a:p>
          <a:p>
            <a:pPr>
              <a:spcAft>
                <a:spcPts val="600"/>
              </a:spcAft>
              <a:defRPr sz="1600">
                <a:solidFill>
                  <a:srgbClr val="F5F8FA"/>
                </a:solidFill>
              </a:defRPr>
            </a:pPr>
            <a:r>
              <a:t>Chemin du projet : projects/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64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99A6B8"/>
                </a:solidFill>
                <a:latin typeface="Aptos"/>
              </a:rPr>
              <a:t>Cours CUDA/Bazel piloté par le dépôt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Pourquoi ce cours a été retravaillé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02/46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De la configuration IDE spécifique à la machine à l'ingénierie GPU reproductible</a:t>
            </a:r>
          </a:p>
        </p:txBody>
      </p:sp>
      <p:sp>
        <p:nvSpPr>
          <p:cNvPr id="10" name="Editable Old Flow Square"/>
          <p:cNvSpPr/>
          <p:nvPr/>
        </p:nvSpPr>
        <p:spPr>
          <a:xfrm>
            <a:off x="877824" y="2249424"/>
            <a:ext cx="2487168" cy="2432304"/>
          </a:xfrm>
          <a:prstGeom prst="rect">
            <a:avLst/>
          </a:prstGeom>
          <a:solidFill>
            <a:srgbClr val="FDEAEA"/>
          </a:solidFill>
          <a:ln w="12700">
            <a:solidFill>
              <a:srgbClr val="D83A34"/>
            </a:solidFill>
          </a:ln>
        </p:spPr>
      </p:sp>
      <p:sp>
        <p:nvSpPr>
          <p:cNvPr id="11" name="Editable New Flow Square"/>
          <p:cNvSpPr/>
          <p:nvPr/>
        </p:nvSpPr>
        <p:spPr>
          <a:xfrm>
            <a:off x="3941064" y="2249424"/>
            <a:ext cx="2487168" cy="2432304"/>
          </a:xfrm>
          <a:prstGeom prst="rect">
            <a:avLst/>
          </a:prstGeom>
          <a:solidFill>
            <a:srgbClr val="EDF9E9"/>
          </a:solidFill>
          <a:ln w="12700">
            <a:solidFill>
              <a:srgbClr val="62B000"/>
            </a:solidFill>
          </a:ln>
        </p:spPr>
      </p:sp>
      <p:sp>
        <p:nvSpPr>
          <p:cNvPr id="12" name="Editable Flow Arrow"/>
          <p:cNvSpPr/>
          <p:nvPr/>
        </p:nvSpPr>
        <p:spPr>
          <a:xfrm>
            <a:off x="3547872" y="3401568"/>
            <a:ext cx="320040" cy="164592"/>
          </a:xfrm>
          <a:prstGeom prst="rightArrow">
            <a:avLst/>
          </a:prstGeom>
          <a:solidFill>
            <a:srgbClr val="63AF00"/>
          </a:solidFill>
          <a:ln w="6350">
            <a:solidFill>
              <a:srgbClr val="63AF00"/>
            </a:solidFill>
          </a:ln>
        </p:spPr>
      </p:sp>
      <p:sp>
        <p:nvSpPr>
          <p:cNvPr id="13" name="Old Flow Label"/>
          <p:cNvSpPr txBox="1"/>
          <p:nvPr/>
        </p:nvSpPr>
        <p:spPr>
          <a:xfrm>
            <a:off x="1188720" y="2496312"/>
            <a:ext cx="1865376" cy="310896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ptos"/>
              </a:rPr>
              <a:t>Ancien flux</a:t>
            </a:r>
          </a:p>
        </p:txBody>
      </p:sp>
      <p:sp>
        <p:nvSpPr>
          <p:cNvPr id="14" name="New Flow Label"/>
          <p:cNvSpPr txBox="1"/>
          <p:nvPr/>
        </p:nvSpPr>
        <p:spPr>
          <a:xfrm>
            <a:off x="4251960" y="2496312"/>
            <a:ext cx="1865376" cy="310896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ptos"/>
              </a:rPr>
              <a:t>Nouveau flux</a:t>
            </a:r>
          </a:p>
        </p:txBody>
      </p:sp>
      <p:sp>
        <p:nvSpPr>
          <p:cNvPr id="15" name="Old Flow Bullets"/>
          <p:cNvSpPr txBox="1"/>
          <p:nvPr/>
        </p:nvSpPr>
        <p:spPr>
          <a:xfrm>
            <a:off x="1261872" y="2962656"/>
            <a:ext cx="1847088" cy="1572768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 marL="171450" indent="-114300">
              <a:spcAft>
                <a:spcPts val="600"/>
              </a:spcAft>
              <a:buFont typeface="Aptos"/>
              <a:buChar char="•"/>
            </a:pPr>
            <a:r>
              <a:rPr sz="1000">
                <a:solidFill>
                  <a:srgbClr val="303030"/>
                </a:solidFill>
                <a:latin typeface="Aptos"/>
              </a:rPr>
              <a:t>projet Visual Studio</a:t>
            </a:r>
          </a:p>
          <a:p>
            <a:pPr algn="l" marL="171450" indent="-114300">
              <a:spcAft>
                <a:spcPts val="600"/>
              </a:spcAft>
              <a:buFont typeface="Aptos"/>
              <a:buChar char="•"/>
            </a:pPr>
            <a:r>
              <a:rPr sz="1000">
                <a:solidFill>
                  <a:srgbClr val="303030"/>
                </a:solidFill>
                <a:latin typeface="Aptos"/>
              </a:rPr>
              <a:t>installation manuelle de CUDA SDK</a:t>
            </a:r>
          </a:p>
          <a:p>
            <a:pPr algn="l" marL="171450" indent="-114300">
              <a:spcAft>
                <a:spcPts val="600"/>
              </a:spcAft>
              <a:buFont typeface="Aptos"/>
              <a:buChar char="•"/>
            </a:pPr>
            <a:r>
              <a:rPr sz="1000">
                <a:solidFill>
                  <a:srgbClr val="303030"/>
                </a:solidFill>
                <a:latin typeface="Aptos"/>
              </a:rPr>
              <a:t>paramètres de la machine locale</a:t>
            </a:r>
          </a:p>
          <a:p>
            <a:pPr algn="l" marL="171450" indent="-114300">
              <a:spcAft>
                <a:spcPts val="600"/>
              </a:spcAft>
              <a:buFont typeface="Aptos"/>
              <a:buChar char="•"/>
            </a:pPr>
            <a:r>
              <a:rPr sz="1000">
                <a:solidFill>
                  <a:srgbClr val="303030"/>
                </a:solidFill>
                <a:latin typeface="Aptos"/>
              </a:rPr>
              <a:t>stream axé sur le débogueur</a:t>
            </a:r>
          </a:p>
        </p:txBody>
      </p:sp>
      <p:sp>
        <p:nvSpPr>
          <p:cNvPr id="16" name="New Flow Bullets"/>
          <p:cNvSpPr txBox="1"/>
          <p:nvPr/>
        </p:nvSpPr>
        <p:spPr>
          <a:xfrm>
            <a:off x="4325112" y="2962656"/>
            <a:ext cx="1847088" cy="1572768"/>
          </a:xfrm>
          <a:prstGeom prst="rect">
            <a:avLst/>
          </a:prstGeom>
          <a:noFill/>
        </p:spPr>
        <p:txBody>
          <a:bodyPr wrap="square" anchor="t" lIns="0" tIns="0" rIns="0" bIns="0">
            <a:normAutofit/>
          </a:bodyPr>
          <a:lstStyle/>
          <a:p>
            <a:pPr algn="l" marL="171450" indent="-114300">
              <a:spcAft>
                <a:spcPts val="600"/>
              </a:spcAft>
              <a:buFont typeface="Aptos"/>
              <a:buChar char="•"/>
            </a:pPr>
            <a:r>
              <a:rPr sz="1000">
                <a:solidFill>
                  <a:srgbClr val="303030"/>
                </a:solidFill>
                <a:latin typeface="Aptos"/>
              </a:rPr>
              <a:t>graphe de cibles Bazel</a:t>
            </a:r>
          </a:p>
          <a:p>
            <a:pPr algn="l" marL="171450" indent="-114300">
              <a:spcAft>
                <a:spcPts val="600"/>
              </a:spcAft>
              <a:buFont typeface="Aptos"/>
              <a:buChar char="•"/>
            </a:pPr>
            <a:r>
              <a:rPr sz="1000">
                <a:solidFill>
                  <a:srgbClr val="303030"/>
                </a:solidFill>
                <a:latin typeface="Aptos"/>
              </a:rPr>
              <a:t>hermétique Clang/CUDA</a:t>
            </a:r>
          </a:p>
          <a:p>
            <a:pPr algn="l" marL="171450" indent="-114300">
              <a:spcAft>
                <a:spcPts val="600"/>
              </a:spcAft>
              <a:buFont typeface="Aptos"/>
              <a:buChar char="•"/>
            </a:pPr>
            <a:r>
              <a:rPr sz="1000">
                <a:solidFill>
                  <a:srgbClr val="303030"/>
                </a:solidFill>
                <a:latin typeface="Aptos"/>
              </a:rPr>
              <a:t>tests + benchmarks</a:t>
            </a:r>
          </a:p>
          <a:p>
            <a:pPr algn="l" marL="171450" indent="-114300">
              <a:spcAft>
                <a:spcPts val="600"/>
              </a:spcAft>
              <a:buFont typeface="Aptos"/>
              <a:buChar char="•"/>
            </a:pPr>
            <a:r>
              <a:rPr sz="1000">
                <a:solidFill>
                  <a:srgbClr val="303030"/>
                </a:solidFill>
                <a:latin typeface="Aptos"/>
              </a:rPr>
              <a:t>emballage d'artefacts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Ancien cours : fichiers de projet Visual Studio, hypothèses locales CUDA SDK, stream axé sur le débogueur.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Nouveau cours : graphe cible Bazel, Clang/CUDA hermétique, tests, benchmarks, artefacts déployables.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 choix de l'éditeur reste flexible; le dépôt définit la build.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source.md -&gt; reworked.md   |   Source : Bazel Hermeticity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Feuille de route sur deux jours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03/46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Le jour 1 construit ; le jour 2 mesure, empaquette et compare</a:t>
            </a:r>
          </a:p>
        </p:txBody>
      </p:sp>
      <p:pic>
        <p:nvPicPr>
          <p:cNvPr id="7" name="Picture 6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Jour 1 : modèle GPU, Bazel, Clang/CUDA, oracle CPU, premier kernel, APIs de lancement, tests.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Jour 2 : mesure du runtime, stream, packaging OCI, modèle de build à distance, JAX/XLA, MatMul.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Chaque bloc se reconnecte à une cible Bazel exécutable.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cibles : //runtime:device_info, //cpp:vector_cpu_test, //gpu:vector_add_test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Forme finale du dépôt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04/46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Le dépôt est organisé par responsabilité d'apprentissage</a:t>
            </a:r>
          </a:p>
        </p:txBody>
      </p:sp>
      <p:pic>
        <p:nvPicPr>
          <p:cNvPr id="7" name="Picture 6" descr="repo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50491"/>
            <a:ext cx="6766560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projects/simple: minuscule info GPU + chemin de l'image OCI.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projects/detailed: projet d'algèbre CPU/CUDA/runtime/python/deploy/linear complet.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 deck suit les fichiers et les cibles réels.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Contrat d'apprentissage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05/46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L'exactitude d'abord, la performance ensuite, l'emballage en troisième</a:t>
            </a:r>
          </a:p>
        </p:txBody>
      </p:sp>
      <p:pic>
        <p:nvPicPr>
          <p:cNvPr id="7" name="Picture 6" descr="learning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oracle CPU avant CUDA.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Testez avant de comparer.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Graphe de build avant le déploiement.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Évitez les erreurs de code rapides en faisant de la vérification une cible.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bazel test //...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Le GPU comme ressource de calcul séparée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06/46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Le code hôte orchestre le travail de l'appareil au-delà d'une limite de mémoire</a:t>
            </a:r>
          </a:p>
        </p:txBody>
      </p:sp>
      <p:pic>
        <p:nvPicPr>
          <p:cNvPr id="7" name="Picture 6" descr="host_de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88819"/>
            <a:ext cx="6766560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 code CPU prépare les données et lance les kernels.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 code du périphérique GPU exécute de nombreux threads sur la mémoire du périphérique.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 mouvement des données fait partie du programme, pas un détail.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runtime/device_info.cc   |   Source : CUDA C++ Programming Guide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Forme du travail CPU vs GPU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07/46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GPUs aime beaucoup de travaux similaires;  CPUs gère les travaux mixtes sensibles à la latence</a:t>
            </a:r>
          </a:p>
        </p:txBody>
      </p:sp>
      <p:sp>
        <p:nvSpPr>
          <p:cNvPr id="10" name="Work Shape Diagram Title"/>
          <p:cNvSpPr txBox="1"/>
          <p:nvPr/>
        </p:nvSpPr>
        <p:spPr>
          <a:xfrm>
            <a:off x="832104" y="2386584"/>
            <a:ext cx="6126480" cy="292608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sz="1150" b="1">
                <a:solidFill>
                  <a:srgbClr val="121B2A"/>
                </a:solidFill>
                <a:latin typeface="Aptos"/>
              </a:rPr>
              <a:t>Fils série CPU vs CPU vs grille GPU</a:t>
            </a:r>
          </a:p>
        </p:txBody>
      </p:sp>
      <p:sp>
        <p:nvSpPr>
          <p:cNvPr id="11" name="Editable Serial CPU Square"/>
          <p:cNvSpPr/>
          <p:nvPr/>
        </p:nvSpPr>
        <p:spPr>
          <a:xfrm>
            <a:off x="886968" y="2907792"/>
            <a:ext cx="1691640" cy="1755648"/>
          </a:xfrm>
          <a:prstGeom prst="roundRect">
            <a:avLst/>
          </a:prstGeom>
          <a:solidFill>
            <a:srgbClr val="E7F0FF"/>
          </a:solidFill>
          <a:ln w="10160">
            <a:solidFill>
              <a:srgbClr val="2F6BFF"/>
            </a:solidFill>
          </a:ln>
        </p:spPr>
      </p:sp>
      <p:sp>
        <p:nvSpPr>
          <p:cNvPr id="12" name="Editable CPU Threads Square"/>
          <p:cNvSpPr/>
          <p:nvPr/>
        </p:nvSpPr>
        <p:spPr>
          <a:xfrm>
            <a:off x="3154680" y="2907792"/>
            <a:ext cx="1691640" cy="1755648"/>
          </a:xfrm>
          <a:prstGeom prst="roundRect">
            <a:avLst/>
          </a:prstGeom>
          <a:solidFill>
            <a:srgbClr val="FFF3DD"/>
          </a:solidFill>
          <a:ln w="10160">
            <a:solidFill>
              <a:srgbClr val="F28A2E"/>
            </a:solidFill>
          </a:ln>
        </p:spPr>
      </p:sp>
      <p:sp>
        <p:nvSpPr>
          <p:cNvPr id="13" name="Editable CUDA Grid Square"/>
          <p:cNvSpPr/>
          <p:nvPr/>
        </p:nvSpPr>
        <p:spPr>
          <a:xfrm>
            <a:off x="5431536" y="2907792"/>
            <a:ext cx="1691640" cy="1755648"/>
          </a:xfrm>
          <a:prstGeom prst="roundRect">
            <a:avLst/>
          </a:prstGeom>
          <a:solidFill>
            <a:srgbClr val="EDF9E9"/>
          </a:solidFill>
          <a:ln w="10160">
            <a:solidFill>
              <a:srgbClr val="62B000"/>
            </a:solidFill>
          </a:ln>
        </p:spPr>
      </p:sp>
      <p:sp>
        <p:nvSpPr>
          <p:cNvPr id="14" name="Serial CPU Label"/>
          <p:cNvSpPr txBox="1"/>
          <p:nvPr/>
        </p:nvSpPr>
        <p:spPr>
          <a:xfrm>
            <a:off x="1115568" y="3474720"/>
            <a:ext cx="1234440" cy="566928"/>
          </a:xfrm>
          <a:prstGeom prst="rect">
            <a:avLst/>
          </a:prstGeom>
          <a:noFill/>
          <a:ln/>
        </p:spPr>
        <p:txBody>
          <a:bodyPr wrap="square" anchor="ctr" lIns="0" tIns="0" rIns="0" bIns="0">
            <a:normAutofit/>
          </a:bodyPr>
          <a:lstStyle/>
          <a:p>
            <a:pPr algn="ctr"/>
            <a:r>
              <a:rPr sz="820">
                <a:solidFill>
                  <a:srgbClr val="121B2A"/>
                </a:solidFill>
                <a:latin typeface="Aptos"/>
              </a:rPr>
              <a:t>Série CPU</a:t>
            </a:r>
          </a:p>
          <a:p>
            <a:pPr algn="ctr"/>
            <a:r>
              <a:rPr sz="820">
                <a:solidFill>
                  <a:srgbClr val="121B2A"/>
                </a:solidFill>
                <a:latin typeface="Aptos"/>
              </a:rPr>
              <a:t>for (i)</a:t>
            </a:r>
          </a:p>
          <a:p>
            <a:pPr algn="ctr"/>
            <a:r>
              <a:rPr sz="820">
                <a:solidFill>
                  <a:srgbClr val="121B2A"/>
                </a:solidFill>
                <a:latin typeface="Aptos"/>
              </a:rPr>
              <a:t>travailler (je)</a:t>
            </a:r>
          </a:p>
        </p:txBody>
      </p:sp>
      <p:sp>
        <p:nvSpPr>
          <p:cNvPr id="15" name="CPU Threads Label"/>
          <p:cNvSpPr txBox="1"/>
          <p:nvPr/>
        </p:nvSpPr>
        <p:spPr>
          <a:xfrm>
            <a:off x="3355848" y="3218688"/>
            <a:ext cx="1289304" cy="566928"/>
          </a:xfrm>
          <a:prstGeom prst="rect">
            <a:avLst/>
          </a:prstGeom>
          <a:noFill/>
          <a:ln/>
        </p:spPr>
        <p:txBody>
          <a:bodyPr wrap="square" anchor="ctr" lIns="0" tIns="0" rIns="0" bIns="0">
            <a:normAutofit/>
          </a:bodyPr>
          <a:lstStyle/>
          <a:p>
            <a:pPr algn="ctr"/>
            <a:r>
              <a:rPr sz="760">
                <a:solidFill>
                  <a:srgbClr val="121B2A"/>
                </a:solidFill>
                <a:latin typeface="Aptos"/>
              </a:rPr>
              <a:t>fils de discussion CPU</a:t>
            </a:r>
          </a:p>
          <a:p>
            <a:pPr algn="ctr"/>
            <a:r>
              <a:rPr sz="760">
                <a:solidFill>
                  <a:srgbClr val="121B2A"/>
                </a:solidFill>
                <a:latin typeface="Aptos"/>
              </a:rPr>
              <a:t>morceaux de N</a:t>
            </a:r>
          </a:p>
          <a:p>
            <a:pPr algn="ctr"/>
            <a:r>
              <a:rPr sz="760">
                <a:solidFill>
                  <a:srgbClr val="121B2A"/>
                </a:solidFill>
                <a:latin typeface="Aptos"/>
              </a:rPr>
              <a:t>std::thread</a:t>
            </a:r>
          </a:p>
        </p:txBody>
      </p:sp>
      <p:sp>
        <p:nvSpPr>
          <p:cNvPr id="16" name="CPU Thread Chunk 1"/>
          <p:cNvSpPr/>
          <p:nvPr/>
        </p:nvSpPr>
        <p:spPr>
          <a:xfrm>
            <a:off x="3447288" y="3913632"/>
            <a:ext cx="1106424" cy="50292"/>
          </a:xfrm>
          <a:prstGeom prst="rect">
            <a:avLst/>
          </a:prstGeom>
          <a:solidFill>
            <a:srgbClr val="F28A2E"/>
          </a:solidFill>
          <a:ln w="2540">
            <a:solidFill>
              <a:srgbClr val="F28A2E"/>
            </a:solidFill>
          </a:ln>
        </p:spPr>
      </p:sp>
      <p:sp>
        <p:nvSpPr>
          <p:cNvPr id="17" name="CPU Thread Chunk 2"/>
          <p:cNvSpPr/>
          <p:nvPr/>
        </p:nvSpPr>
        <p:spPr>
          <a:xfrm>
            <a:off x="3447288" y="4050792"/>
            <a:ext cx="1106424" cy="50292"/>
          </a:xfrm>
          <a:prstGeom prst="rect">
            <a:avLst/>
          </a:prstGeom>
          <a:solidFill>
            <a:srgbClr val="F28A2E"/>
          </a:solidFill>
          <a:ln w="2540">
            <a:solidFill>
              <a:srgbClr val="F28A2E"/>
            </a:solidFill>
          </a:ln>
        </p:spPr>
      </p:sp>
      <p:sp>
        <p:nvSpPr>
          <p:cNvPr id="18" name="CPU Thread Chunk 3"/>
          <p:cNvSpPr/>
          <p:nvPr/>
        </p:nvSpPr>
        <p:spPr>
          <a:xfrm>
            <a:off x="3447288" y="4187952"/>
            <a:ext cx="1106424" cy="50292"/>
          </a:xfrm>
          <a:prstGeom prst="rect">
            <a:avLst/>
          </a:prstGeom>
          <a:solidFill>
            <a:srgbClr val="F28A2E"/>
          </a:solidFill>
          <a:ln w="2540">
            <a:solidFill>
              <a:srgbClr val="F28A2E"/>
            </a:solidFill>
          </a:ln>
        </p:spPr>
      </p:sp>
      <p:sp>
        <p:nvSpPr>
          <p:cNvPr id="19" name="CPU Thread Chunk 4"/>
          <p:cNvSpPr/>
          <p:nvPr/>
        </p:nvSpPr>
        <p:spPr>
          <a:xfrm>
            <a:off x="3447288" y="4325112"/>
            <a:ext cx="1106424" cy="50292"/>
          </a:xfrm>
          <a:prstGeom prst="rect">
            <a:avLst/>
          </a:prstGeom>
          <a:solidFill>
            <a:srgbClr val="F28A2E"/>
          </a:solidFill>
          <a:ln w="2540">
            <a:solidFill>
              <a:srgbClr val="F28A2E"/>
            </a:solidFill>
          </a:ln>
        </p:spPr>
      </p:sp>
      <p:sp>
        <p:nvSpPr>
          <p:cNvPr id="20" name="CPU Thread Chunk 5"/>
          <p:cNvSpPr/>
          <p:nvPr/>
        </p:nvSpPr>
        <p:spPr>
          <a:xfrm>
            <a:off x="3447288" y="4462272"/>
            <a:ext cx="1106424" cy="50292"/>
          </a:xfrm>
          <a:prstGeom prst="rect">
            <a:avLst/>
          </a:prstGeom>
          <a:solidFill>
            <a:srgbClr val="F28A2E"/>
          </a:solidFill>
          <a:ln w="2540">
            <a:solidFill>
              <a:srgbClr val="F28A2E"/>
            </a:solidFill>
          </a:ln>
        </p:spPr>
      </p:sp>
      <p:sp>
        <p:nvSpPr>
          <p:cNvPr id="21" name="CPU Thread Chunk 6"/>
          <p:cNvSpPr/>
          <p:nvPr/>
        </p:nvSpPr>
        <p:spPr>
          <a:xfrm>
            <a:off x="3447288" y="4599432"/>
            <a:ext cx="1106424" cy="50292"/>
          </a:xfrm>
          <a:prstGeom prst="rect">
            <a:avLst/>
          </a:prstGeom>
          <a:solidFill>
            <a:srgbClr val="F28A2E"/>
          </a:solidFill>
          <a:ln w="2540">
            <a:solidFill>
              <a:srgbClr val="F28A2E"/>
            </a:solidFill>
          </a:ln>
        </p:spPr>
      </p:sp>
      <p:sp>
        <p:nvSpPr>
          <p:cNvPr id="22" name="CUDA Grid Label"/>
          <p:cNvSpPr txBox="1"/>
          <p:nvPr/>
        </p:nvSpPr>
        <p:spPr>
          <a:xfrm>
            <a:off x="5632704" y="3200400"/>
            <a:ext cx="1289304" cy="384048"/>
          </a:xfrm>
          <a:prstGeom prst="rect">
            <a:avLst/>
          </a:prstGeom>
          <a:noFill/>
          <a:ln/>
        </p:spPr>
        <p:txBody>
          <a:bodyPr wrap="square" anchor="ctr" lIns="0" tIns="0" rIns="0" bIns="0">
            <a:normAutofit/>
          </a:bodyPr>
          <a:lstStyle/>
          <a:p>
            <a:pPr algn="ctr"/>
            <a:r>
              <a:rPr sz="760">
                <a:solidFill>
                  <a:srgbClr val="121B2A"/>
                </a:solidFill>
                <a:latin typeface="Aptos"/>
              </a:rPr>
              <a:t>grille CUDA</a:t>
            </a:r>
          </a:p>
          <a:p>
            <a:pPr algn="ctr"/>
            <a:r>
              <a:rPr sz="760">
                <a:solidFill>
                  <a:srgbClr val="121B2A"/>
                </a:solidFill>
                <a:latin typeface="Aptos"/>
              </a:rPr>
              <a:t>blocs x fils</a:t>
            </a:r>
          </a:p>
        </p:txBody>
      </p:sp>
      <p:sp>
        <p:nvSpPr>
          <p:cNvPr id="23" name="CUDA Thread Cell 1-1"/>
          <p:cNvSpPr/>
          <p:nvPr/>
        </p:nvSpPr>
        <p:spPr>
          <a:xfrm>
            <a:off x="5742432" y="3712464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24" name="CUDA Thread Cell 1-2"/>
          <p:cNvSpPr/>
          <p:nvPr/>
        </p:nvSpPr>
        <p:spPr>
          <a:xfrm>
            <a:off x="5907024" y="3712464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25" name="CUDA Thread Cell 1-3"/>
          <p:cNvSpPr/>
          <p:nvPr/>
        </p:nvSpPr>
        <p:spPr>
          <a:xfrm>
            <a:off x="6071616" y="3712464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26" name="CUDA Thread Cell 1-4"/>
          <p:cNvSpPr/>
          <p:nvPr/>
        </p:nvSpPr>
        <p:spPr>
          <a:xfrm>
            <a:off x="6236208" y="3712464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27" name="CUDA Thread Cell 1-5"/>
          <p:cNvSpPr/>
          <p:nvPr/>
        </p:nvSpPr>
        <p:spPr>
          <a:xfrm>
            <a:off x="6400800" y="3712464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28" name="CUDA Thread Cell 1-6"/>
          <p:cNvSpPr/>
          <p:nvPr/>
        </p:nvSpPr>
        <p:spPr>
          <a:xfrm>
            <a:off x="6565392" y="3712464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29" name="CUDA Thread Cell 1-7"/>
          <p:cNvSpPr/>
          <p:nvPr/>
        </p:nvSpPr>
        <p:spPr>
          <a:xfrm>
            <a:off x="6729984" y="3712464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30" name="CUDA Thread Cell 2-1"/>
          <p:cNvSpPr/>
          <p:nvPr/>
        </p:nvSpPr>
        <p:spPr>
          <a:xfrm>
            <a:off x="5742432" y="3877056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31" name="CUDA Thread Cell 2-2"/>
          <p:cNvSpPr/>
          <p:nvPr/>
        </p:nvSpPr>
        <p:spPr>
          <a:xfrm>
            <a:off x="5907024" y="3877056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32" name="CUDA Thread Cell 2-3"/>
          <p:cNvSpPr/>
          <p:nvPr/>
        </p:nvSpPr>
        <p:spPr>
          <a:xfrm>
            <a:off x="6071616" y="3877056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33" name="CUDA Thread Cell 2-4"/>
          <p:cNvSpPr/>
          <p:nvPr/>
        </p:nvSpPr>
        <p:spPr>
          <a:xfrm>
            <a:off x="6236208" y="3877056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34" name="CUDA Thread Cell 2-5"/>
          <p:cNvSpPr/>
          <p:nvPr/>
        </p:nvSpPr>
        <p:spPr>
          <a:xfrm>
            <a:off x="6400800" y="3877056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35" name="CUDA Thread Cell 2-6"/>
          <p:cNvSpPr/>
          <p:nvPr/>
        </p:nvSpPr>
        <p:spPr>
          <a:xfrm>
            <a:off x="6565392" y="3877056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36" name="CUDA Thread Cell 2-7"/>
          <p:cNvSpPr/>
          <p:nvPr/>
        </p:nvSpPr>
        <p:spPr>
          <a:xfrm>
            <a:off x="6729984" y="3877056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37" name="CUDA Thread Cell 3-1"/>
          <p:cNvSpPr/>
          <p:nvPr/>
        </p:nvSpPr>
        <p:spPr>
          <a:xfrm>
            <a:off x="5742432" y="4041648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38" name="CUDA Thread Cell 3-2"/>
          <p:cNvSpPr/>
          <p:nvPr/>
        </p:nvSpPr>
        <p:spPr>
          <a:xfrm>
            <a:off x="5907024" y="4041648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39" name="CUDA Thread Cell 3-3"/>
          <p:cNvSpPr/>
          <p:nvPr/>
        </p:nvSpPr>
        <p:spPr>
          <a:xfrm>
            <a:off x="6071616" y="4041648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40" name="CUDA Thread Cell 3-4"/>
          <p:cNvSpPr/>
          <p:nvPr/>
        </p:nvSpPr>
        <p:spPr>
          <a:xfrm>
            <a:off x="6236208" y="4041648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41" name="CUDA Thread Cell 3-5"/>
          <p:cNvSpPr/>
          <p:nvPr/>
        </p:nvSpPr>
        <p:spPr>
          <a:xfrm>
            <a:off x="6400800" y="4041648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42" name="CUDA Thread Cell 3-6"/>
          <p:cNvSpPr/>
          <p:nvPr/>
        </p:nvSpPr>
        <p:spPr>
          <a:xfrm>
            <a:off x="6565392" y="4041648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43" name="CUDA Thread Cell 3-7"/>
          <p:cNvSpPr/>
          <p:nvPr/>
        </p:nvSpPr>
        <p:spPr>
          <a:xfrm>
            <a:off x="6729984" y="4041648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44" name="CUDA Thread Cell 4-1"/>
          <p:cNvSpPr/>
          <p:nvPr/>
        </p:nvSpPr>
        <p:spPr>
          <a:xfrm>
            <a:off x="5742432" y="4206240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45" name="CUDA Thread Cell 4-2"/>
          <p:cNvSpPr/>
          <p:nvPr/>
        </p:nvSpPr>
        <p:spPr>
          <a:xfrm>
            <a:off x="5907024" y="4206240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46" name="CUDA Thread Cell 4-3"/>
          <p:cNvSpPr/>
          <p:nvPr/>
        </p:nvSpPr>
        <p:spPr>
          <a:xfrm>
            <a:off x="6071616" y="4206240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47" name="CUDA Thread Cell 4-4"/>
          <p:cNvSpPr/>
          <p:nvPr/>
        </p:nvSpPr>
        <p:spPr>
          <a:xfrm>
            <a:off x="6236208" y="4206240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48" name="CUDA Thread Cell 4-5"/>
          <p:cNvSpPr/>
          <p:nvPr/>
        </p:nvSpPr>
        <p:spPr>
          <a:xfrm>
            <a:off x="6400800" y="4206240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49" name="CUDA Thread Cell 4-6"/>
          <p:cNvSpPr/>
          <p:nvPr/>
        </p:nvSpPr>
        <p:spPr>
          <a:xfrm>
            <a:off x="6565392" y="4206240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50" name="CUDA Thread Cell 4-7"/>
          <p:cNvSpPr/>
          <p:nvPr/>
        </p:nvSpPr>
        <p:spPr>
          <a:xfrm>
            <a:off x="6729984" y="4206240"/>
            <a:ext cx="96012" cy="96012"/>
          </a:xfrm>
          <a:prstGeom prst="rect">
            <a:avLst/>
          </a:prstGeom>
          <a:solidFill>
            <a:srgbClr val="64B900"/>
          </a:solidFill>
          <a:ln w="2540">
            <a:solidFill>
              <a:srgbClr val="64B900"/>
            </a:solidFill>
          </a:ln>
        </p:spPr>
      </p:sp>
      <p:sp>
        <p:nvSpPr>
          <p:cNvPr id="51" name="CUDA Many Elements Label"/>
          <p:cNvSpPr txBox="1"/>
          <p:nvPr/>
        </p:nvSpPr>
        <p:spPr>
          <a:xfrm>
            <a:off x="5751576" y="4352544"/>
            <a:ext cx="1051560" cy="201168"/>
          </a:xfrm>
          <a:prstGeom prst="rect">
            <a:avLst/>
          </a:prstGeom>
          <a:noFill/>
          <a:ln/>
        </p:spPr>
        <p:txBody>
          <a:bodyPr wrap="square" anchor="ctr" lIns="0" tIns="0" rIns="0" bIns="0">
            <a:normAutofit/>
          </a:bodyPr>
          <a:lstStyle/>
          <a:p>
            <a:pPr algn="ctr"/>
            <a:r>
              <a:rPr sz="650">
                <a:solidFill>
                  <a:srgbClr val="121B2A"/>
                </a:solidFill>
                <a:latin typeface="Aptos"/>
              </a:rPr>
              <a:t>de nombreux éléments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Serial CPU : une seule boucle fait tout le travail.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Threads CPU : quelques travailleurs traitent des morceaux.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Grille CUDA : de nombreux threads correspondent naturellement à de nombreux éléments.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cpp/vector_threaded.cc -&gt; gpu/vector_add_device.cu   |   Source : CUDA C++ Programming Guide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L'opération du cours : addition vectorielle de type SAXPY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08/46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Une petite opération enseigne le chemin complet</a:t>
            </a:r>
          </a:p>
        </p:txBody>
      </p:sp>
      <p:pic>
        <p:nvPicPr>
          <p:cNvPr id="7" name="Picture 6" descr="saxp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Entrées : a[N], b[N], alpha scalaire.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Sortie : out[i] = alpha * a[i] + b[i].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La même sémantique est implémentée sur les threads CPU, CPU, CUDA et JAX.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cpp/vector_cpu.cc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Première démo live : demander au GPU qui il 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09/46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Avant les kernels, inspectez l'environnement d'exécution CUDA</a:t>
            </a:r>
          </a:p>
        </p:txBody>
      </p:sp>
      <p:pic>
        <p:nvPicPr>
          <p:cNvPr id="7" name="Picture 6" descr="code_9_First_Live_Demo_Ask_the_GPU_Who_It_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92271"/>
            <a:ext cx="7040880" cy="39592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Exécutez d'abord la plus petite cible compatible avec CUDA.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Cela confirme l’accès à l’exécution, la visibilité du pilote et l’énumération des périphériques.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303520"/>
            <a:ext cx="3749039" cy="685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413248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EBEEF2"/>
                </a:solidFill>
                <a:latin typeface="Courier New"/>
              </a:rPr>
              <a:t>cd projects/simple
bazel run //src:gpu_info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projects/simple/src/main.cc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Ce que cudaDeviceProp enseigne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10/46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Les propriétés de l'appareil relient les contraintes matérielles aux choix de code</a:t>
            </a:r>
          </a:p>
        </p:txBody>
      </p:sp>
      <p:pic>
        <p:nvPicPr>
          <p:cNvPr id="7" name="Picture 6" descr="code_10_What_cudaDeviceProp_Tea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915" y="1234440"/>
            <a:ext cx="6020889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capacité de calcul major/minor:.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multiProcessorCount : capacité parallèle.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warpSize : granularité de la planification.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maxThreadsPerBlock et la mémoire partagée guident les choix de lancement ultérieurs.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projects/simple/src/main.cc   |   Source : CUDA C++ Programming Guide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Pourquoi les builds hermétiques comptent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11/46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Works-on-my-machine n'est pas une architecture de cours</a:t>
            </a:r>
          </a:p>
        </p:txBody>
      </p:sp>
      <p:pic>
        <p:nvPicPr>
          <p:cNvPr id="7" name="Picture 6" descr="herme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Bazel isole les entrées de build de la dérive de la machine hôte.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Les versions et dépendances des outils sont déclarées dans le dépôt.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 même source/config devrait produire le même artefact.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MODULE.bazel +.bazelrc   |   Source : Bazel Hermeticity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Vocabulaire Bazel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12/46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Quatre mots rendent le dépôt lisible</a:t>
            </a:r>
          </a:p>
        </p:txBody>
      </p:sp>
      <p:pic>
        <p:nvPicPr>
          <p:cNvPr id="7" name="Picture 6" descr="bazel_voc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MODULE.bazel : dépendances externes et extensions de la toolchain.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BUILD.bazel : cibles du package.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cible : unité à builder.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label : adresse canonique telle que //gpu:vector_add_test.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//cpp:vector_cpu_test, //gpu:vector_add_benchmark   |   Source : Bazel concepts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Fichier de module : dépendances et toolchains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13/46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MODULE.bazel déclare l'univers externe</a:t>
            </a:r>
          </a:p>
        </p:txBody>
      </p:sp>
      <p:pic>
        <p:nvPicPr>
          <p:cNvPr id="7" name="Picture 6" descr="code_13_Module_File_Dependencies_and_Toolcha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44404"/>
            <a:ext cx="7040880" cy="50549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rules_cc pour les cibles C++.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rules_cuda pour les cibles CUDA et la prise en charge de la boîte à outils hermétique.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rules_python pour les hooks Python.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toolchains_llvm pour Clang C++ 26.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projects/detailed/MODULE.bazel   |   Source : rules_cuda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.bazelrc : politique de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14/46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Le dépôt choisit systématiquement le mode compilateur et CUDA</a:t>
            </a:r>
          </a:p>
        </p:txBody>
      </p:sp>
      <p:pic>
        <p:nvPicPr>
          <p:cNvPr id="7" name="Picture 6" descr="code_14__bazelrc_Build_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27358"/>
            <a:ext cx="7040880" cy="26890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extra_toolchains sélectionne la toolchain LLVM.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Le compilateur rules_cuda est défini sur clang.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archs sélectionne la cible de génération de code de périphérique.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La politique de build reste en dehors des fichiers sources.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projects/detailed/.bazelrc   |   Source : rules_cuda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Chemin de compilation CUDA avec Clang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15/46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Clang compile les côtés hôte et périphérique; ptxas génère le code de l'appareil</a:t>
            </a:r>
          </a:p>
        </p:txBody>
      </p:sp>
      <p:pic>
        <p:nvPicPr>
          <p:cNvPr id="7" name="Picture 6" descr="clan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14372"/>
            <a:ext cx="6766560" cy="2932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Clang analyse CUDA et sépare la compilation host/device.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PTX est la forme intermédiaire du périphérique.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ptxas assemble PTX en code de périphérique spécifique à l'architecture.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--@rules_cuda//cuda:compiler=clang   |   Source: LLVM: Compiling CUDA with Clang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Point de contrôle labo 1 : builder le monde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16/46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Le dépôt donne une référence reproductible avant les modifications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Point de contrôle / exercice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Passez au projet détaillé.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Exécutez l’ensemble de tests complet.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Confirmez quelles cibles nécessitent un accès à l'exécution GPU.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Enregistrez tous les bloqueurs d’environnement.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cd projects/detailed
bazel test //...</a:t>
            </a:r>
          </a:p>
        </p:txBody>
      </p:sp>
      <p:pic>
        <p:nvPicPr>
          <p:cNvPr id="12" name="Picture 11" descr="target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648456"/>
            <a:ext cx="4251960" cy="19842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Source de l'oracle CPU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17/46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L'exactitude de CUDA commence par une implémentation ennuyeuse de CPU</a:t>
            </a:r>
          </a:p>
        </p:txBody>
      </p:sp>
      <p:pic>
        <p:nvPicPr>
          <p:cNvPr id="7" name="Picture 6" descr="code_17_CPU_Oracle_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94241"/>
            <a:ext cx="7040880" cy="33553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Validez les tailles d’entrée avant de travailler.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Utilisez une simple boucle pour exprimer le contrat.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Ce résultat devient la référence de comparaison.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projects/detailed/cpp/vector_cpu.cc   |   Source : CUDA C++ Best Practices Guide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Cible de test CPU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18/46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Les tests capturent le contrat avant l'accélération</a:t>
            </a:r>
          </a:p>
        </p:txBody>
      </p:sp>
      <p:pic>
        <p:nvPicPr>
          <p:cNvPr id="7" name="Picture 6" descr="code_18_CPU_Test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267" y="1234440"/>
            <a:ext cx="5784185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cc_test crée l'exécutable de l'oracle CPU dans le graphe de build.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La cible du test dépend des bibliothèques CPU, pas de CUDA.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Cela sépare la sémantique de l'accélération.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bazel test //cpp:vector_cpu_test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Baseline CPU multithreadée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19/46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La comparaison GPU doit inclure le parallélisme CPU, pas seulement la série CPU</a:t>
            </a:r>
          </a:p>
        </p:txBody>
      </p:sp>
      <p:pic>
        <p:nvPicPr>
          <p:cNvPr id="7" name="Picture 6" descr="code_19_CPU_Threaded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676" y="1234440"/>
            <a:ext cx="5535366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Divisez N éléments en morceaux.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Utilisez les threads hôtes pour afficher le travail parallèle de CPU.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Cela relie C++ avec le parallélisme currency et GPU.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projects/detailed/cpp/vector_threaded.cc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Lecture de la sortie du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20/46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Un benchmark n'enseigne que si nous savons ce qui a été mesuré</a:t>
            </a:r>
          </a:p>
        </p:txBody>
      </p:sp>
      <p:pic>
        <p:nvPicPr>
          <p:cNvPr id="7" name="Picture 6" descr="code_20_Benchmark_Output_Re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643" y="1234440"/>
            <a:ext cx="6013432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Enregistrez la taille d’entrée.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Chemins série et threadés séparés.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Traitez soigneusement les écarts de première passe et de machine.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303520"/>
            <a:ext cx="3749039" cy="685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413248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EBEEF2"/>
                </a:solidFill>
                <a:latin typeface="Courier New"/>
              </a:rPr>
              <a:t>bazel run //cpp:vector_cpu_benchmark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projects/detailed/cpp/vector_cpu_benchmark.cc   |   Source : CUDA C++ Best Practices Guide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Séparation des sources CUDA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21/46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Gardez l'orchestration de l'hôte et le code du kernel du périphérique clairement séparés</a:t>
            </a:r>
          </a:p>
        </p:txBody>
      </p:sp>
      <p:pic>
        <p:nvPicPr>
          <p:cNvPr id="7" name="Picture 6" descr="file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API publique : gpu/vector_add.h.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Wrapper hôte : gpu/vector_add_cuda.cc.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Lanceur de périphérique + kernel : gpu/vector_add_device. {h,cu}.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Cela évite un fichier.cu enchevêtré.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projects/detailed/gpu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Cible CUDA dans Bazel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22/46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La source CUDA devient une cible Bazel comme tout le reste</a:t>
            </a:r>
          </a:p>
        </p:txBody>
      </p:sp>
      <p:pic>
        <p:nvPicPr>
          <p:cNvPr id="7" name="Picture 6" descr="code_22_CUDA_Target_in_Baz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982" y="1234440"/>
            <a:ext cx="4340754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cuda_library compile le code de l'appareil.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cc_library encapsule la logique côté hôte.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Les tests et les benchmarks dépendent de la cible API, et non des fichiers bruts.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projects/detailed/gpu/BUILD.bazel   |   Source : rules_cuda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Code kernel : un thread, un élément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23/46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L'index de thread global mappe les threads CUDA aux éléments vectoriels</a:t>
            </a:r>
          </a:p>
        </p:txBody>
      </p:sp>
      <p:pic>
        <p:nvPicPr>
          <p:cNvPr id="7" name="Picture 6" descr="code_23_Kernel_Code_One_Thread_One_El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51220"/>
            <a:ext cx="7040880" cy="184135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blockIdx.x identifie le bloc.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blockDim.x est la taille du bloc.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threadIdx.x identifie le thread à l'intérieur du bloc.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La vérification des limites protège le bloc partiel final.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projects/detailed/gpu/vector_add_device.cu   |   Source : CUDA C++ Programming Guide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Hiérarchie des threads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24/46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CUDA expose la grille -&gt; bloc -&gt; hiérarchie des threads</a:t>
            </a:r>
          </a:p>
        </p:txBody>
      </p:sp>
      <p:pic>
        <p:nvPicPr>
          <p:cNvPr id="7" name="Picture 6" descr="thread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88819"/>
            <a:ext cx="6766560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Un lancement de kernel crée une grille.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Une grille contient des blocs.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Les blocs contiennent des threads.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Les threads d'un bloc peuvent coopérer avec la mémoire partagée.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blockIdx, blockDim, threadIdx   |   Source : CUDA C++ Programming Guide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Choisir la taille des blocs et de la grille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25/46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La configuration de lancement contrôle le nombre de threads exécutés</a:t>
            </a:r>
          </a:p>
        </p:txBody>
      </p:sp>
      <p:pic>
        <p:nvPicPr>
          <p:cNvPr id="7" name="Picture 6" descr="vector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472145"/>
            <a:ext cx="6766560" cy="24166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Utilisez une taille de bloc fixe pour le premier kernel.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Taille de la grille ronde jusqu'à couvrir tous les N éléments.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Conservez if (i &lt; n) à l’intérieur du kernel.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constexpr int block_size = 256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Wrapper hôte : propriété mémoire et lancement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26/46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L'hôte C++ possède l'allocation, les copies, le lancement, la synchronisation et le transfert des résultats</a:t>
            </a:r>
          </a:p>
        </p:txBody>
      </p:sp>
      <p:pic>
        <p:nvPicPr>
          <p:cNvPr id="7" name="Picture 6" descr="code_26_Host_Wrapper_Memory_and_Launch_Owner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969" y="1234440"/>
            <a:ext cx="3502780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Validez les entrées et calculez le nombre d’octets.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Allouez des buffers de périphérique.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Copiez l'hôte vers l'appareil, lancez, synchronisez, recopiez.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Buffers de périphérique gratuits.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projects/detailed/gpu/vector_add_cuda.cc   |   Source : CUDA Runtime API - Execution Control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Appels à l'API CUDA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27/46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CUDA Runtime API est la surface de contrôle pour le travail de l'appareil</a:t>
            </a:r>
          </a:p>
        </p:txBody>
      </p:sp>
      <p:pic>
        <p:nvPicPr>
          <p:cNvPr id="7" name="Picture 6" descr="api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cudaMalloc crée des buffers de périphérique.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cudaMemcpy déplace les données.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cudaLaunchKernel lance le travail explicitement.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cudaDeviceSynchronize attend la fin.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cudaFree libère la mémoire de l'appareil.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gpu/vector_add_cuda.cc + gpu/vector_add_device.cu   |   Source : CUDA Runtime API - Execution Control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Helper de gestion des erreurs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28/46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Chaque appel CUDA doit être vérifié</a:t>
            </a:r>
          </a:p>
        </p:txBody>
      </p:sp>
      <p:pic>
        <p:nvPicPr>
          <p:cNvPr id="7" name="Picture 6" descr="code_28_Error_Handling_Hel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81" y="1234440"/>
            <a:ext cx="6413556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Les erreurs CUDA non vérifiées rendent le débogage peu fiable.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L'assistant capture le contexte du fichier et de la ligne.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Utilisez-le pour l'allocation, les copies, la synchronisation et les lancements d'exécution.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projects/detailed/runtime/cuda_errors.h   |   Source : CUDA C++ Best Practices Guide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Helpers de streams et d'événements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29/46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Les petits assistants RAII rendent les objets d'exécution CUDA plus sûrs</a:t>
            </a:r>
          </a:p>
        </p:txBody>
      </p:sp>
      <p:pic>
        <p:nvPicPr>
          <p:cNvPr id="7" name="Picture 6" descr="code_29_Stream_and_Event_Help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382" y="1234440"/>
            <a:ext cx="4193955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Le wrapper de stream possède cudaStreamCreate/cudaStreamDestroy.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Le wrapper d'événement possède cudaEventCreate/cudaEventDestroy.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elapsed_ms centralise le timing des événements CUDA.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projects/detailed/runtime/cuda_launch.h   |   Source : CUDA C++ Programming Guide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Deux styles de lancement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30/46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La syntaxe à triple-chevron et cudaLaunchKernel lancent la même fonction de périphérique</a:t>
            </a:r>
          </a:p>
        </p:txBody>
      </p:sp>
      <p:pic>
        <p:nvPicPr>
          <p:cNvPr id="7" name="Picture 6" descr="launch_sty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78815"/>
            <a:ext cx="6766560" cy="28032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 triple-chevron est la syntaxe CUDA C++ lisible normale.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cudaLaunchKernel expose explicitement le mécanisme Runtime API.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 projet permet de comparer et de tester les deux voies.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énumération LaunchApi + vector_add_device.cu   |   Source : CUDA Runtime API - Execution Control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Test de correction : CPU vs CUDA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31/46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Le résultat GPU doit correspondre à l'oracle CPU</a:t>
            </a:r>
          </a:p>
        </p:txBody>
      </p:sp>
      <p:pic>
        <p:nvPicPr>
          <p:cNvPr id="7" name="Picture 6" descr="code_31_Correctness_Test_CPU_vs_CU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407" y="1234440"/>
            <a:ext cx="5059905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Les chemins CPU et CUDA partagent les mêmes entrées.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Les résultats sont comparés élément par élément.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Aucune performance ne discussion jusqu'à ce que cet objectif soit atteint.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303520"/>
            <a:ext cx="3749039" cy="685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413248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EBEEF2"/>
                </a:solidFill>
                <a:latin typeface="Courier New"/>
              </a:rPr>
              <a:t>bazel test //gpu:vector_add_test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projects/detailed/gpu/vector_add_test.cc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Démo live : exécuter le test CUDA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32/46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La première fonctionnalité CUDA est désormais réelle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Point de contrôle / exercice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Exécutez la cible de test.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S'il est mis en cache, utilisez -- nocache_test_results pour une exécution en direct.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Confirmez que les deux styles de lancement sont couverts par les tests.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cd projects/detailed
bazel test //gpu:vector_add_test
# optional: --nocache_test_results</a:t>
            </a:r>
          </a:p>
        </p:txBody>
      </p:sp>
      <p:pic>
        <p:nvPicPr>
          <p:cNvPr id="12" name="Picture 11" descr="launch_sty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759816"/>
            <a:ext cx="4251960" cy="176152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//gpu:vector_add_test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Aquery : prouver que Clang est hermétique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33/46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Faites confiance, puis inspectez le graphe d'action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Point de contrôle / exercice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aquery révèle les actions de compilation que Bazel exécutera.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Recherchez les chemins externes de la chaîne d’outils LLVM.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Le but est de prouver que le compilateur n'est pas une supposition ambiante /usr/bin.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bazel aquery 'mnemonic("CppCompile", //gpu:vector_add_test)'</a:t>
            </a:r>
          </a:p>
        </p:txBody>
      </p:sp>
      <p:pic>
        <p:nvPicPr>
          <p:cNvPr id="12" name="Picture 11" descr="clan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719322"/>
            <a:ext cx="4251960" cy="18425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graphe d'action Bazel   |   Source : Bazel Hermeticity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Le graphe de build comme outil pédagogique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34/46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Builder des dépendances reflète les décisions d'architecture</a:t>
            </a:r>
          </a:p>
        </p:txBody>
      </p:sp>
      <p:sp>
        <p:nvSpPr>
          <p:cNvPr id="10" name="Target Graph Diagram Title"/>
          <p:cNvSpPr txBox="1"/>
          <p:nvPr/>
        </p:nvSpPr>
        <p:spPr>
          <a:xfrm>
            <a:off x="786384" y="2240280"/>
            <a:ext cx="6309360" cy="32004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sz="1200" b="1">
                <a:solidFill>
                  <a:srgbClr val="121B2A"/>
                </a:solidFill>
                <a:latin typeface="Aptos"/>
              </a:rPr>
              <a:t>Le graphe de cibles Bazel reflète l'architecture du projet</a:t>
            </a:r>
          </a:p>
        </p:txBody>
      </p:sp>
      <p:sp>
        <p:nvSpPr>
          <p:cNvPr id="11" name="Benchmark Target Node"/>
          <p:cNvSpPr/>
          <p:nvPr/>
        </p:nvSpPr>
        <p:spPr>
          <a:xfrm>
            <a:off x="960120" y="3200400"/>
            <a:ext cx="1325880" cy="512064"/>
          </a:xfrm>
          <a:prstGeom prst="roundRect">
            <a:avLst/>
          </a:prstGeom>
          <a:solidFill>
            <a:srgbClr val="E6F6F8"/>
          </a:solidFill>
          <a:ln w="10160">
            <a:solidFill>
              <a:srgbClr val="9BA9B8"/>
            </a:solidFill>
          </a:ln>
        </p:spPr>
        <p:txBody>
          <a:bodyPr wrap="square" anchor="ctr" lIns="91440" tIns="36576" rIns="91440" bIns="36576">
            <a:normAutofit/>
          </a:bodyPr>
          <a:lstStyle/>
          <a:p>
            <a:pPr algn="ctr"/>
            <a:r>
              <a:rPr sz="950">
                <a:solidFill>
                  <a:srgbClr val="1C2430"/>
                </a:solidFill>
                <a:latin typeface="Aptos"/>
              </a:rPr>
              <a:t>benchmark</a:t>
            </a:r>
          </a:p>
        </p:txBody>
      </p:sp>
      <p:sp>
        <p:nvSpPr>
          <p:cNvPr id="12" name="Vector CPU Target Node"/>
          <p:cNvSpPr/>
          <p:nvPr/>
        </p:nvSpPr>
        <p:spPr>
          <a:xfrm>
            <a:off x="2606040" y="2816352"/>
            <a:ext cx="1417320" cy="512064"/>
          </a:xfrm>
          <a:prstGeom prst="roundRect">
            <a:avLst/>
          </a:prstGeom>
          <a:solidFill>
            <a:srgbClr val="E4EFFC"/>
          </a:solidFill>
          <a:ln w="10160">
            <a:solidFill>
              <a:srgbClr val="9BA9B8"/>
            </a:solidFill>
          </a:ln>
        </p:spPr>
        <p:txBody>
          <a:bodyPr wrap="square" anchor="ctr" lIns="91440" tIns="36576" rIns="91440" bIns="36576">
            <a:normAutofit/>
          </a:bodyPr>
          <a:lstStyle/>
          <a:p>
            <a:pPr algn="ctr"/>
            <a:r>
              <a:rPr sz="950">
                <a:solidFill>
                  <a:srgbClr val="1C2430"/>
                </a:solidFill>
                <a:latin typeface="Aptos"/>
              </a:rPr>
              <a:t>vector_cpu</a:t>
            </a:r>
          </a:p>
        </p:txBody>
      </p:sp>
      <p:sp>
        <p:nvSpPr>
          <p:cNvPr id="13" name="Vector Add Target Node"/>
          <p:cNvSpPr/>
          <p:nvPr/>
        </p:nvSpPr>
        <p:spPr>
          <a:xfrm>
            <a:off x="2606040" y="3730752"/>
            <a:ext cx="1417320" cy="512064"/>
          </a:xfrm>
          <a:prstGeom prst="roundRect">
            <a:avLst/>
          </a:prstGeom>
          <a:solidFill>
            <a:srgbClr val="EAF8E7"/>
          </a:solidFill>
          <a:ln w="10160">
            <a:solidFill>
              <a:srgbClr val="9BA9B8"/>
            </a:solidFill>
          </a:ln>
        </p:spPr>
        <p:txBody>
          <a:bodyPr wrap="square" anchor="ctr" lIns="91440" tIns="36576" rIns="91440" bIns="36576">
            <a:normAutofit/>
          </a:bodyPr>
          <a:lstStyle/>
          <a:p>
            <a:pPr algn="ctr"/>
            <a:r>
              <a:rPr sz="950">
                <a:solidFill>
                  <a:srgbClr val="1C2430"/>
                </a:solidFill>
                <a:latin typeface="Aptos"/>
              </a:rPr>
              <a:t>vector_add</a:t>
            </a:r>
          </a:p>
        </p:txBody>
      </p:sp>
      <p:sp>
        <p:nvSpPr>
          <p:cNvPr id="14" name="Device Lib Target Node"/>
          <p:cNvSpPr/>
          <p:nvPr/>
        </p:nvSpPr>
        <p:spPr>
          <a:xfrm>
            <a:off x="4343400" y="3730752"/>
            <a:ext cx="1325880" cy="512064"/>
          </a:xfrm>
          <a:prstGeom prst="roundRect">
            <a:avLst/>
          </a:prstGeom>
          <a:solidFill>
            <a:srgbClr val="FFF4DE"/>
          </a:solidFill>
          <a:ln w="10160">
            <a:solidFill>
              <a:srgbClr val="9BA9B8"/>
            </a:solidFill>
          </a:ln>
        </p:spPr>
        <p:txBody>
          <a:bodyPr wrap="square" anchor="ctr" lIns="91440" tIns="36576" rIns="91440" bIns="36576">
            <a:normAutofit/>
          </a:bodyPr>
          <a:lstStyle/>
          <a:p>
            <a:pPr algn="ctr"/>
            <a:r>
              <a:rPr sz="950">
                <a:solidFill>
                  <a:srgbClr val="1C2430"/>
                </a:solidFill>
                <a:latin typeface="Aptos"/>
              </a:rPr>
              <a:t>device_lib</a:t>
            </a:r>
          </a:p>
        </p:txBody>
      </p:sp>
      <p:sp>
        <p:nvSpPr>
          <p:cNvPr id="15" name="Runtime Target Node"/>
          <p:cNvSpPr/>
          <p:nvPr/>
        </p:nvSpPr>
        <p:spPr>
          <a:xfrm>
            <a:off x="5943600" y="3730752"/>
            <a:ext cx="1234440" cy="512064"/>
          </a:xfrm>
          <a:prstGeom prst="roundRect">
            <a:avLst/>
          </a:prstGeom>
          <a:solidFill>
            <a:srgbClr val="EAE5FF"/>
          </a:solidFill>
          <a:ln w="10160">
            <a:solidFill>
              <a:srgbClr val="9BA9B8"/>
            </a:solidFill>
          </a:ln>
        </p:spPr>
        <p:txBody>
          <a:bodyPr wrap="square" anchor="ctr" lIns="91440" tIns="36576" rIns="91440" bIns="36576">
            <a:normAutofit/>
          </a:bodyPr>
          <a:lstStyle/>
          <a:p>
            <a:pPr algn="ctr"/>
            <a:r>
              <a:rPr sz="950">
                <a:solidFill>
                  <a:srgbClr val="1C2430"/>
                </a:solidFill>
                <a:latin typeface="Aptos"/>
              </a:rPr>
              <a:t>runtime</a:t>
            </a:r>
          </a:p>
        </p:txBody>
      </p:sp>
      <p:sp>
        <p:nvSpPr>
          <p:cNvPr id="16" name="Benchmark To Vector CPU Connector"/>
          <p:cNvSpPr/>
          <p:nvPr/>
        </p:nvSpPr>
        <p:spPr>
          <a:xfrm flipV="1">
            <a:off x="2286000" y="3072384"/>
            <a:ext cx="320040" cy="384048"/>
          </a:xfrm>
          <a:prstGeom prst="line">
            <a:avLst/>
          </a:prstGeom>
          <a:noFill/>
          <a:ln w="22860" cap="round">
            <a:solidFill>
              <a:srgbClr val="65B000"/>
            </a:solidFill>
            <a:tailEnd type="triangle" w="med" len="med"/>
          </a:ln>
        </p:spPr>
      </p:sp>
      <p:sp>
        <p:nvSpPr>
          <p:cNvPr id="17" name="Benchmark To Vector Add Connector"/>
          <p:cNvSpPr/>
          <p:nvPr/>
        </p:nvSpPr>
        <p:spPr>
          <a:xfrm>
            <a:off x="2286000" y="3456432"/>
            <a:ext cx="320040" cy="530352"/>
          </a:xfrm>
          <a:prstGeom prst="line">
            <a:avLst/>
          </a:prstGeom>
          <a:noFill/>
          <a:ln w="22860" cap="round">
            <a:solidFill>
              <a:srgbClr val="65B000"/>
            </a:solidFill>
            <a:tailEnd type="triangle" w="med" len="med"/>
          </a:ln>
        </p:spPr>
      </p:sp>
      <p:sp>
        <p:nvSpPr>
          <p:cNvPr id="18" name="Vector Add To Device Lib Connector"/>
          <p:cNvSpPr/>
          <p:nvPr/>
        </p:nvSpPr>
        <p:spPr>
          <a:xfrm>
            <a:off x="4023360" y="3986784"/>
            <a:ext cx="320040" cy="0"/>
          </a:xfrm>
          <a:prstGeom prst="line">
            <a:avLst/>
          </a:prstGeom>
          <a:noFill/>
          <a:ln w="22860" cap="round">
            <a:solidFill>
              <a:srgbClr val="65B000"/>
            </a:solidFill>
            <a:tailEnd type="triangle" w="med" len="med"/>
          </a:ln>
        </p:spPr>
      </p:sp>
      <p:sp>
        <p:nvSpPr>
          <p:cNvPr id="19" name="Device Lib To Runtime Connector"/>
          <p:cNvSpPr/>
          <p:nvPr/>
        </p:nvSpPr>
        <p:spPr>
          <a:xfrm>
            <a:off x="5669280" y="3986784"/>
            <a:ext cx="274320" cy="0"/>
          </a:xfrm>
          <a:prstGeom prst="line">
            <a:avLst/>
          </a:prstGeom>
          <a:noFill/>
          <a:ln w="22860" cap="round">
            <a:solidFill>
              <a:srgbClr val="65B000"/>
            </a:solidFill>
            <a:tailEnd type="triangle" w="med" len="med"/>
          </a:ln>
        </p:spPr>
      </p:sp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La cible de benchmark dépend des implémentations de CPU et CUDA.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 wrapper CUDA dépend de la bibliothèque de périphériques.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La bibliothèque de périphériques utilise des assistants d'exécution.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 graphe de cibles est un diagramme de conception.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projects/detailed/gpu/BUILD.bazel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Flag d'architecture CUDA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35/46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Le code de l'appareil est compilé pour les choix d'architecture GPU</a:t>
            </a:r>
          </a:p>
        </p:txBody>
      </p:sp>
      <p:pic>
        <p:nvPicPr>
          <p:cNvPr id="7" name="Picture 6" descr="arch_fla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La configuration Bazel sélectionne les cibles compute/PTX et sm/SASS.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 chemin PTX donne la compatibilité;  Le chemin SASS est spécifique à l’architecture.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Les laboratoires peuvent modifier cela pour une flotte GPU différente.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projects/detailed/.bazelrc   |   Source : rules_cuda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Ce qui peut mal tourner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36/46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Les échecs de CUDA sont généralement des bogues d'environnement, d'architecture, de mémoire ou de lancement.</a:t>
            </a:r>
          </a:p>
        </p:txBody>
      </p:sp>
      <p:pic>
        <p:nvPicPr>
          <p:cNvPr id="7" name="Picture 6" descr="diagnos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Pas de pilote ou pas d'accès GPU.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Inadéquation des drapeaux d’architecture.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Mauvais format ou direction de copie.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Échec du lancement non contrôlé.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Utilisez device_info et CUDA_CHECK pour localiser.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runtime/device_info + runtime/cuda_errors.h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Labo 2 : lire et expliquer le kernel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37/46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Être capable de raconter le kernel CUDA ligne par ligne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Point de contrôle / exercice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Ouvrir gpu/vector_add_device.cu.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Identifiez l'index cal culation.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Identifiez la vérification des limites.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Identifiez où les tailles de grille et de bloc sont choisies.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code projects/detailed/gpu/vector_add_device.cu</a:t>
            </a:r>
          </a:p>
        </p:txBody>
      </p:sp>
      <p:pic>
        <p:nvPicPr>
          <p:cNvPr id="12" name="Picture 11" descr="thread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577589"/>
            <a:ext cx="4251960" cy="21259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gpu/vector_add_device.cu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Labo 3 : changer la taille du vecteur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38/46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Les modifications de configuration doivent préserver l'exactitude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Point de contrôle / exercice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Modifiez la taille du vecteur de référence.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Réexécutez le test CUDA.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Exécutez le benchmark.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Enregistrez les temps de série CPU, threadés CPU, d'exécution API CUDA et triple-chevron CUDA.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bazel test //gpu:vector_add_test
bazel run //gpu:vector_add_benchmark</a:t>
            </a:r>
          </a:p>
        </p:txBody>
      </p:sp>
      <p:pic>
        <p:nvPicPr>
          <p:cNvPr id="12" name="Picture 11" descr="saxp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903573"/>
            <a:ext cx="4251960" cy="14740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gpu/vector_add_benchmark.cc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Aperçu de la cible de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39/46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Le premier jour se termine avec l'objectif de référence prêt pour une analyse plus approfondie</a:t>
            </a:r>
          </a:p>
        </p:txBody>
      </p:sp>
      <p:pic>
        <p:nvPicPr>
          <p:cNvPr id="7" name="Picture 6" descr="code_39_Benchmark_Target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792" y="1234440"/>
            <a:ext cx="4397134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Le test invoque les variantes CPU série, CPU threadée et CUDA.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Le jour 2 expliquera le timing, le coût de la mémoire et l'interprétation.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303520"/>
            <a:ext cx="3749039" cy="685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413248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EBEEF2"/>
                </a:solidFill>
                <a:latin typeface="Courier New"/>
              </a:rPr>
              <a:t>bazel run //gpu:vector_add_benchmark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projects/detailed/gpu/vector_add_benchmark.cc   |   Source : CUDA C++ Best Practices Guide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Du debugger Visual Studio au workflow de dépôt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40/46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L'ancien stream du débogueur d'abord devient build/test/run en premier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2588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A"/>
                          </a:solidFill>
                        </a:defRPr>
                      </a:pPr>
                      <a:r>
                        <a:t>Ancienne étape de cours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A"/>
                          </a:solidFill>
                        </a:defRPr>
                      </a:pPr>
                      <a:r>
                        <a:t>Remplacement basé sur le dépôt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Installer CUDA SDK manuellement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Chaîne d'outils cuda.redist_json + rules_cuda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Créer un projet Visual Studio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cibles BUILD.bazel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Exécuter un exemple d'application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bazel run //runtime:device_info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Comparez manuellement CPU/GPU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bazel test //gpu:vector_add_test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Package en copiant des fichiers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cible d'image rules_oci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5806440"/>
            <a:ext cx="105156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C2430"/>
                </a:solidFill>
              </a:defRPr>
            </a:pPr>
            <a:r>
              <a:t>Le choix de l'éditeur reste indépendant de la définition du build.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source.md -&gt; dépôt retravaillé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Récapitulatif d'architecture du jour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41/46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Les bases d'un véritable projet CUDA sont désormais en place</a:t>
            </a:r>
          </a:p>
        </p:txBody>
      </p:sp>
      <p:sp>
        <p:nvSpPr>
          <p:cNvPr id="10" name="Target Graph Diagram Title"/>
          <p:cNvSpPr txBox="1"/>
          <p:nvPr/>
        </p:nvSpPr>
        <p:spPr>
          <a:xfrm>
            <a:off x="786384" y="2240280"/>
            <a:ext cx="6309360" cy="32004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sz="1200" b="1">
                <a:solidFill>
                  <a:srgbClr val="121B2A"/>
                </a:solidFill>
                <a:latin typeface="Aptos"/>
              </a:rPr>
              <a:t>Le graphe de cibles Bazel reflète l'architecture du projet</a:t>
            </a:r>
          </a:p>
        </p:txBody>
      </p:sp>
      <p:sp>
        <p:nvSpPr>
          <p:cNvPr id="11" name="Benchmark Target Node"/>
          <p:cNvSpPr/>
          <p:nvPr/>
        </p:nvSpPr>
        <p:spPr>
          <a:xfrm>
            <a:off x="960120" y="3200400"/>
            <a:ext cx="1325880" cy="512064"/>
          </a:xfrm>
          <a:prstGeom prst="roundRect">
            <a:avLst/>
          </a:prstGeom>
          <a:solidFill>
            <a:srgbClr val="E6F6F8"/>
          </a:solidFill>
          <a:ln w="10160">
            <a:solidFill>
              <a:srgbClr val="9BA9B8"/>
            </a:solidFill>
          </a:ln>
        </p:spPr>
        <p:txBody>
          <a:bodyPr wrap="square" anchor="ctr" lIns="91440" tIns="36576" rIns="91440" bIns="36576">
            <a:normAutofit/>
          </a:bodyPr>
          <a:lstStyle/>
          <a:p>
            <a:pPr algn="ctr"/>
            <a:r>
              <a:rPr sz="950">
                <a:solidFill>
                  <a:srgbClr val="1C2430"/>
                </a:solidFill>
                <a:latin typeface="Aptos"/>
              </a:rPr>
              <a:t>benchmark</a:t>
            </a:r>
          </a:p>
        </p:txBody>
      </p:sp>
      <p:sp>
        <p:nvSpPr>
          <p:cNvPr id="12" name="Vector CPU Target Node"/>
          <p:cNvSpPr/>
          <p:nvPr/>
        </p:nvSpPr>
        <p:spPr>
          <a:xfrm>
            <a:off x="2606040" y="2816352"/>
            <a:ext cx="1417320" cy="512064"/>
          </a:xfrm>
          <a:prstGeom prst="roundRect">
            <a:avLst/>
          </a:prstGeom>
          <a:solidFill>
            <a:srgbClr val="E4EFFC"/>
          </a:solidFill>
          <a:ln w="10160">
            <a:solidFill>
              <a:srgbClr val="9BA9B8"/>
            </a:solidFill>
          </a:ln>
        </p:spPr>
        <p:txBody>
          <a:bodyPr wrap="square" anchor="ctr" lIns="91440" tIns="36576" rIns="91440" bIns="36576">
            <a:normAutofit/>
          </a:bodyPr>
          <a:lstStyle/>
          <a:p>
            <a:pPr algn="ctr"/>
            <a:r>
              <a:rPr sz="950">
                <a:solidFill>
                  <a:srgbClr val="1C2430"/>
                </a:solidFill>
                <a:latin typeface="Aptos"/>
              </a:rPr>
              <a:t>vector_cpu</a:t>
            </a:r>
          </a:p>
        </p:txBody>
      </p:sp>
      <p:sp>
        <p:nvSpPr>
          <p:cNvPr id="13" name="Vector Add Target Node"/>
          <p:cNvSpPr/>
          <p:nvPr/>
        </p:nvSpPr>
        <p:spPr>
          <a:xfrm>
            <a:off x="2606040" y="3730752"/>
            <a:ext cx="1417320" cy="512064"/>
          </a:xfrm>
          <a:prstGeom prst="roundRect">
            <a:avLst/>
          </a:prstGeom>
          <a:solidFill>
            <a:srgbClr val="EAF8E7"/>
          </a:solidFill>
          <a:ln w="10160">
            <a:solidFill>
              <a:srgbClr val="9BA9B8"/>
            </a:solidFill>
          </a:ln>
        </p:spPr>
        <p:txBody>
          <a:bodyPr wrap="square" anchor="ctr" lIns="91440" tIns="36576" rIns="91440" bIns="36576">
            <a:normAutofit/>
          </a:bodyPr>
          <a:lstStyle/>
          <a:p>
            <a:pPr algn="ctr"/>
            <a:r>
              <a:rPr sz="950">
                <a:solidFill>
                  <a:srgbClr val="1C2430"/>
                </a:solidFill>
                <a:latin typeface="Aptos"/>
              </a:rPr>
              <a:t>vector_add</a:t>
            </a:r>
          </a:p>
        </p:txBody>
      </p:sp>
      <p:sp>
        <p:nvSpPr>
          <p:cNvPr id="14" name="Device Lib Target Node"/>
          <p:cNvSpPr/>
          <p:nvPr/>
        </p:nvSpPr>
        <p:spPr>
          <a:xfrm>
            <a:off x="4343400" y="3730752"/>
            <a:ext cx="1325880" cy="512064"/>
          </a:xfrm>
          <a:prstGeom prst="roundRect">
            <a:avLst/>
          </a:prstGeom>
          <a:solidFill>
            <a:srgbClr val="FFF4DE"/>
          </a:solidFill>
          <a:ln w="10160">
            <a:solidFill>
              <a:srgbClr val="9BA9B8"/>
            </a:solidFill>
          </a:ln>
        </p:spPr>
        <p:txBody>
          <a:bodyPr wrap="square" anchor="ctr" lIns="91440" tIns="36576" rIns="91440" bIns="36576">
            <a:normAutofit/>
          </a:bodyPr>
          <a:lstStyle/>
          <a:p>
            <a:pPr algn="ctr"/>
            <a:r>
              <a:rPr sz="950">
                <a:solidFill>
                  <a:srgbClr val="1C2430"/>
                </a:solidFill>
                <a:latin typeface="Aptos"/>
              </a:rPr>
              <a:t>device_lib</a:t>
            </a:r>
          </a:p>
        </p:txBody>
      </p:sp>
      <p:sp>
        <p:nvSpPr>
          <p:cNvPr id="15" name="Runtime Target Node"/>
          <p:cNvSpPr/>
          <p:nvPr/>
        </p:nvSpPr>
        <p:spPr>
          <a:xfrm>
            <a:off x="5943600" y="3730752"/>
            <a:ext cx="1234440" cy="512064"/>
          </a:xfrm>
          <a:prstGeom prst="roundRect">
            <a:avLst/>
          </a:prstGeom>
          <a:solidFill>
            <a:srgbClr val="EAE5FF"/>
          </a:solidFill>
          <a:ln w="10160">
            <a:solidFill>
              <a:srgbClr val="9BA9B8"/>
            </a:solidFill>
          </a:ln>
        </p:spPr>
        <p:txBody>
          <a:bodyPr wrap="square" anchor="ctr" lIns="91440" tIns="36576" rIns="91440" bIns="36576">
            <a:normAutofit/>
          </a:bodyPr>
          <a:lstStyle/>
          <a:p>
            <a:pPr algn="ctr"/>
            <a:r>
              <a:rPr sz="950">
                <a:solidFill>
                  <a:srgbClr val="1C2430"/>
                </a:solidFill>
                <a:latin typeface="Aptos"/>
              </a:rPr>
              <a:t>runtime</a:t>
            </a:r>
          </a:p>
        </p:txBody>
      </p:sp>
      <p:sp>
        <p:nvSpPr>
          <p:cNvPr id="16" name="Benchmark To Vector CPU Connector"/>
          <p:cNvSpPr/>
          <p:nvPr/>
        </p:nvSpPr>
        <p:spPr>
          <a:xfrm flipV="1">
            <a:off x="2286000" y="3072384"/>
            <a:ext cx="320040" cy="384048"/>
          </a:xfrm>
          <a:prstGeom prst="line">
            <a:avLst/>
          </a:prstGeom>
          <a:noFill/>
          <a:ln w="22860" cap="round">
            <a:solidFill>
              <a:srgbClr val="65B000"/>
            </a:solidFill>
            <a:tailEnd type="triangle" w="med" len="med"/>
          </a:ln>
        </p:spPr>
      </p:sp>
      <p:sp>
        <p:nvSpPr>
          <p:cNvPr id="17" name="Benchmark To Vector Add Connector"/>
          <p:cNvSpPr/>
          <p:nvPr/>
        </p:nvSpPr>
        <p:spPr>
          <a:xfrm>
            <a:off x="2286000" y="3456432"/>
            <a:ext cx="320040" cy="530352"/>
          </a:xfrm>
          <a:prstGeom prst="line">
            <a:avLst/>
          </a:prstGeom>
          <a:noFill/>
          <a:ln w="22860" cap="round">
            <a:solidFill>
              <a:srgbClr val="65B000"/>
            </a:solidFill>
            <a:tailEnd type="triangle" w="med" len="med"/>
          </a:ln>
        </p:spPr>
      </p:sp>
      <p:sp>
        <p:nvSpPr>
          <p:cNvPr id="18" name="Vector Add To Device Lib Connector"/>
          <p:cNvSpPr/>
          <p:nvPr/>
        </p:nvSpPr>
        <p:spPr>
          <a:xfrm>
            <a:off x="4023360" y="3986784"/>
            <a:ext cx="320040" cy="0"/>
          </a:xfrm>
          <a:prstGeom prst="line">
            <a:avLst/>
          </a:prstGeom>
          <a:noFill/>
          <a:ln w="22860" cap="round">
            <a:solidFill>
              <a:srgbClr val="65B000"/>
            </a:solidFill>
            <a:tailEnd type="triangle" w="med" len="med"/>
          </a:ln>
        </p:spPr>
      </p:sp>
      <p:sp>
        <p:nvSpPr>
          <p:cNvPr id="19" name="Device Lib To Runtime Connector"/>
          <p:cNvSpPr/>
          <p:nvPr/>
        </p:nvSpPr>
        <p:spPr>
          <a:xfrm>
            <a:off x="5669280" y="3986784"/>
            <a:ext cx="274320" cy="0"/>
          </a:xfrm>
          <a:prstGeom prst="line">
            <a:avLst/>
          </a:prstGeom>
          <a:noFill/>
          <a:ln w="22860" cap="round">
            <a:solidFill>
              <a:srgbClr val="65B000"/>
            </a:solidFill>
            <a:tailEnd type="triangle" w="med" len="med"/>
          </a:ln>
        </p:spPr>
      </p:sp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Compilateur hermétique C++.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Boîte à outils hermétique CUDA.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CPU oracle et ligne de base filetée.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Kernel de périphérique CUDA et wrapper d'hôte.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Assistant d’erreur et chemin de lancement du runtime.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Tests et objectif de benchmark.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Ancrages documentaires du jour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42/46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Utiliser des documents officiels pour soutenir les décisions du dépôt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2588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A"/>
                          </a:solidFill>
                        </a:defRPr>
                      </a:pPr>
                      <a:r>
                        <a:t>Sujet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A"/>
                          </a:solidFill>
                        </a:defRPr>
                      </a:pPr>
                      <a:r>
                        <a:t>Source principale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A"/>
                          </a:solidFill>
                        </a:defRPr>
                      </a:pPr>
                      <a:r>
                        <a:t>Ancrage dans le dépôt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modèle de programmation CUDA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CUDA C++ Programming Guide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gpu/vector_add_device.cu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Lancement du runtime API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CUDA Exécution API exe contrôle cution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chemin cudaLaunchKernel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Clang CUDA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LLVM Clang CUDA docs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.bazelrc + rules_cuda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Build hermétique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Bazel herméticité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MODULE.bazel + chaînes d'outils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règles CUDA Bazel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rules_cuda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gpu/BUILD.bazel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mappage documents-code   |   Source : CUDA / LLVM / Bazel official docs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Démo d'intégration du jour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43/46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Exécutez le chemin du jour 1 de bout en bout en quatre commandes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Point de contrôle / exercice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Inspectez l’appareil.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Exécutez le test CPU.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Exécutez le test CUDA.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Exécutez l’aperçu de référence d’ajout de vecteur.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cd projects/detailed
bazel run //runtime:device_info
bazel test //cpp:vector_cpu_test
bazel test //gpu:vector_add_test
bazel run //gpu:vector_add_benchmark</a:t>
            </a:r>
          </a:p>
        </p:txBody>
      </p:sp>
      <p:pic>
        <p:nvPicPr>
          <p:cNvPr id="12" name="Picture 11" descr="fina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903573"/>
            <a:ext cx="4251960" cy="14740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Préparer le jour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44/46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Le deuxième jour demande combien coûte le travail de GPU et comment nous le déployons</a:t>
            </a:r>
          </a:p>
        </p:txBody>
      </p:sp>
      <p:pic>
        <p:nvPicPr>
          <p:cNvPr id="7" name="Picture 6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Combien de temps dure le lancement, le transfert et le calcul ?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Comment fonctionnent les stream superposés ?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Qu'est-ce qui appartient à un conteneur ?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Comment JAX/XLA se compare-t-il ?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Pourquoi MatMul est-il différent de l'ajout vectoriel 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Objectifs du jour 2 : benchmark, déploiement, JAX, MatMul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Pack d'exercices du jour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45/46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Tâches pratiques concrètes qui étendent le dépôt sans changer l'architecture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Point de contrôle / exercice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Réexécutez //runtime:device_info et identifiez trois champs matériels.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Ajoutez une nouvelle assertion à vector_add_test.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Modifiez la taille de benchmark et enregistrez les horaires.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Inspectez le chemin du compilateur avec aquery.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bazel run //runtime:device_info
bazel test //gpu:vector_add_test
bazel aquery 'mnemonic("CppCompile", //gpu:vector_add_test)'</a:t>
            </a:r>
          </a:p>
        </p:txBody>
      </p:sp>
      <p:pic>
        <p:nvPicPr>
          <p:cNvPr id="12" name="Picture 11" descr="diagnos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903573"/>
            <a:ext cx="4251960" cy="14740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Clôture du jour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46/46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Fondation terminée : code, build, test et première fonctionnalité GPU</a:t>
            </a:r>
          </a:p>
        </p:txBody>
      </p:sp>
      <p:pic>
        <p:nvPicPr>
          <p:cNvPr id="7" name="Picture 6" descr="fina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 dépôt déclare la build.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 CPU vérifie CUDA.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Clang compile le code hôte et CUDA.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ptxas fait partie de la génération de code de périphérique.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Le jour 2 mesure, se chevauche, regroupe et compare.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bazel test //...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