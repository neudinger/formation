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notesMasters/theme/theme2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Layouts/slideLayout2.xml" ContentType="application/vnd.openxmlformats-officedocument.presentationml.slideLayout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  <ns0:Override PartName="/ppt/slides/slide32.xml" ContentType="application/vnd.openxmlformats-officedocument.presentationml.slide+xml"/>
  <ns0:Override PartName="/ppt/notesSlides/notesSlide32.xml" ContentType="application/vnd.openxmlformats-officedocument.presentationml.notesSlide+xml"/>
  <ns0:Override PartName="/ppt/slides/slide33.xml" ContentType="application/vnd.openxmlformats-officedocument.presentationml.slide+xml"/>
  <ns0:Override PartName="/ppt/notesSlides/notesSlide33.xml" ContentType="application/vnd.openxmlformats-officedocument.presentationml.notesSlide+xml"/>
  <ns0:Override PartName="/ppt/slides/slide34.xml" ContentType="application/vnd.openxmlformats-officedocument.presentationml.slide+xml"/>
  <ns0:Override PartName="/ppt/notesSlides/notesSlide34.xml" ContentType="application/vnd.openxmlformats-officedocument.presentationml.notesSlide+xml"/>
  <ns0:Override PartName="/ppt/slides/slide35.xml" ContentType="application/vnd.openxmlformats-officedocument.presentationml.slide+xml"/>
  <ns0:Override PartName="/ppt/notesSlides/notesSlide35.xml" ContentType="application/vnd.openxmlformats-officedocument.presentationml.notesSlide+xml"/>
  <ns0:Override PartName="/ppt/slides/slide36.xml" ContentType="application/vnd.openxmlformats-officedocument.presentationml.slide+xml"/>
  <ns0:Override PartName="/ppt/notesSlides/notesSlide36.xml" ContentType="application/vnd.openxmlformats-officedocument.presentationml.notesSlide+xml"/>
  <ns0:Default Extension="gif" ContentType="image/gif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0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8d2cc37474f5b" /><Relationship Type="http://schemas.openxmlformats.org/officeDocument/2006/relationships/extended-properties" Target="/docProps/app.xml" Id="Rd0dad3e5a2ac4f28" /><Relationship Type="http://schemas.openxmlformats.org/officeDocument/2006/relationships/officeDocument" Target="/ppt/presentation.xml" Id="R4e3a5ae3be1044a8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d713dbb56e8a4df9"/>
  </p:sldMasterIdLst>
  <p:notesMasterIdLst>
    <p:notesMasterId r:id="R0ea6ddcf4c4d4de5"/>
  </p:notesMasterIdLst>
  <p:sldIdLst>
    <p:sldId id="256" r:id="Ra2b3e591ec6a43d1"/>
    <p:sldId id="257" r:id="Rd4335428efb34d67"/>
    <p:sldId id="258" r:id="R31255fdfda7d43f0"/>
    <p:sldId id="259" r:id="Ra961e24e917b453d"/>
    <p:sldId id="260" r:id="Rc31d79070a1444da"/>
    <p:sldId id="261" r:id="Rdfe3547e5a7e4ca1"/>
    <p:sldId id="262" r:id="R4c63c6f4859f4437"/>
    <p:sldId id="263" r:id="R43f75891e7954446"/>
    <p:sldId id="264" r:id="R8ad2a67114d34916"/>
    <p:sldId id="292" r:id="RtritonGifSlide37"/>
    <p:sldId id="265" r:id="Rbbeb497e3d8a4129"/>
    <p:sldId id="266" r:id="R300dc3ff09d3426c"/>
    <p:sldId id="267" r:id="R59195c015c744761"/>
    <p:sldId id="268" r:id="R7c17d5b6065e41ae"/>
    <p:sldId id="269" r:id="R563773e8e5524558"/>
    <p:sldId id="270" r:id="Re18b63e40b1947e0"/>
    <p:sldId id="271" r:id="R8b89f46b93b54604"/>
    <p:sldId id="272" r:id="Rbb508990b5a84611"/>
    <p:sldId id="273" r:id="Rca47080532804155"/>
    <p:sldId id="293" r:id="RtritonGifSlide38"/>
    <p:sldId id="274" r:id="R98e3e41d549449e2"/>
    <p:sldId id="275" r:id="Rca895c242a144ffc"/>
    <p:sldId id="276" r:id="Rc683d6833dc14036"/>
    <p:sldId id="294" r:id="RtritonGifSlide39"/>
    <p:sldId id="277" r:id="R218c7f19acc8464c"/>
    <p:sldId id="295" r:id="RtritonGifSlide40"/>
    <p:sldId id="278" r:id="R71e947676d794abd"/>
    <p:sldId id="279" r:id="R44278612244d4a8c"/>
    <p:sldId id="280" r:id="Redabe85b4fea49ad"/>
    <p:sldId id="281" r:id="R56dd6be718a14e54"/>
    <p:sldId id="282" r:id="Ra38dcd6ff62b441b"/>
    <p:sldId id="283" r:id="R4c7959fc8a6d4477"/>
    <p:sldId id="284" r:id="R6bbddd6511ac48b9"/>
    <p:sldId id="285" r:id="R869ed47dda514c2f"/>
    <p:sldId id="286" r:id="R08f86ddab154427d"/>
    <p:sldId id="287" r:id="R61168c2390b647bb"/>
    <p:sldId id="288" r:id="R941bdef9cecb45df"/>
    <p:sldId id="289" r:id="R16c9240ec6184a34"/>
    <p:sldId id="290" r:id="R28f141e4a4034d7b"/>
    <p:sldId id="291" r:id="R33c5d09fcbe14ef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713dbb56e8a4df9" /><Relationship Type="http://schemas.openxmlformats.org/officeDocument/2006/relationships/theme" Target="/ppt/theme/theme1.xml" Id="Rf295457f11b34949" /><Relationship Type="http://schemas.openxmlformats.org/officeDocument/2006/relationships/notesMaster" Target="/ppt/notesMasters/notesMaster1.xml" Id="R0ea6ddcf4c4d4de5" /><Relationship Type="http://schemas.openxmlformats.org/officeDocument/2006/relationships/presProps" Target="/ppt/presProps.xml" Id="R3fe0e9759c354c08" /><Relationship Type="http://schemas.openxmlformats.org/officeDocument/2006/relationships/viewProps" Target="/ppt/viewProps.xml" Id="Rb5f700334b834db7" /><Relationship Type="http://schemas.openxmlformats.org/officeDocument/2006/relationships/tableStyles" Target="/ppt/tableStyles.xml" Id="R35adee42f79a4891" /><Relationship Type="http://schemas.openxmlformats.org/officeDocument/2006/relationships/slide" Target="/ppt/slides/slide1.xml" Id="Ra2b3e591ec6a43d1" /><Relationship Type="http://schemas.openxmlformats.org/officeDocument/2006/relationships/slide" Target="/ppt/slides/slide2.xml" Id="Rd4335428efb34d67" /><Relationship Type="http://schemas.openxmlformats.org/officeDocument/2006/relationships/slide" Target="/ppt/slides/slide3.xml" Id="R31255fdfda7d43f0" /><Relationship Type="http://schemas.openxmlformats.org/officeDocument/2006/relationships/slide" Target="/ppt/slides/slide4.xml" Id="Ra961e24e917b453d" /><Relationship Type="http://schemas.openxmlformats.org/officeDocument/2006/relationships/slide" Target="/ppt/slides/slide5.xml" Id="Rc31d79070a1444da" /><Relationship Type="http://schemas.openxmlformats.org/officeDocument/2006/relationships/slide" Target="/ppt/slides/slide6.xml" Id="Rdfe3547e5a7e4ca1" /><Relationship Type="http://schemas.openxmlformats.org/officeDocument/2006/relationships/slide" Target="/ppt/slides/slide7.xml" Id="R4c63c6f4859f4437" /><Relationship Type="http://schemas.openxmlformats.org/officeDocument/2006/relationships/slide" Target="/ppt/slides/slide8.xml" Id="R43f75891e7954446" /><Relationship Type="http://schemas.openxmlformats.org/officeDocument/2006/relationships/slide" Target="/ppt/slides/slide9.xml" Id="R8ad2a67114d34916" /><Relationship Type="http://schemas.openxmlformats.org/officeDocument/2006/relationships/slide" Target="/ppt/slides/slide10.xml" Id="Rbbeb497e3d8a4129" /><Relationship Type="http://schemas.openxmlformats.org/officeDocument/2006/relationships/slide" Target="/ppt/slides/slide11.xml" Id="R300dc3ff09d3426c" /><Relationship Type="http://schemas.openxmlformats.org/officeDocument/2006/relationships/slide" Target="/ppt/slides/slide12.xml" Id="R59195c015c744761" /><Relationship Type="http://schemas.openxmlformats.org/officeDocument/2006/relationships/slide" Target="/ppt/slides/slide13.xml" Id="R7c17d5b6065e41ae" /><Relationship Type="http://schemas.openxmlformats.org/officeDocument/2006/relationships/slide" Target="/ppt/slides/slide14.xml" Id="R563773e8e5524558" /><Relationship Type="http://schemas.openxmlformats.org/officeDocument/2006/relationships/slide" Target="/ppt/slides/slide15.xml" Id="Re18b63e40b1947e0" /><Relationship Type="http://schemas.openxmlformats.org/officeDocument/2006/relationships/slide" Target="/ppt/slides/slide16.xml" Id="R8b89f46b93b54604" /><Relationship Type="http://schemas.openxmlformats.org/officeDocument/2006/relationships/slide" Target="/ppt/slides/slide17.xml" Id="Rbb508990b5a84611" /><Relationship Type="http://schemas.openxmlformats.org/officeDocument/2006/relationships/slide" Target="/ppt/slides/slide18.xml" Id="Rca47080532804155" /><Relationship Type="http://schemas.openxmlformats.org/officeDocument/2006/relationships/slide" Target="/ppt/slides/slide19.xml" Id="R98e3e41d549449e2" /><Relationship Type="http://schemas.openxmlformats.org/officeDocument/2006/relationships/slide" Target="/ppt/slides/slide20.xml" Id="Rca895c242a144ffc" /><Relationship Type="http://schemas.openxmlformats.org/officeDocument/2006/relationships/slide" Target="/ppt/slides/slide21.xml" Id="Rc683d6833dc14036" /><Relationship Type="http://schemas.openxmlformats.org/officeDocument/2006/relationships/slide" Target="/ppt/slides/slide22.xml" Id="R218c7f19acc8464c" /><Relationship Type="http://schemas.openxmlformats.org/officeDocument/2006/relationships/slide" Target="/ppt/slides/slide23.xml" Id="R71e947676d794abd" /><Relationship Type="http://schemas.openxmlformats.org/officeDocument/2006/relationships/slide" Target="/ppt/slides/slide24.xml" Id="R44278612244d4a8c" /><Relationship Type="http://schemas.openxmlformats.org/officeDocument/2006/relationships/slide" Target="/ppt/slides/slide25.xml" Id="Redabe85b4fea49ad" /><Relationship Type="http://schemas.openxmlformats.org/officeDocument/2006/relationships/slide" Target="/ppt/slides/slide26.xml" Id="R56dd6be718a14e54" /><Relationship Type="http://schemas.openxmlformats.org/officeDocument/2006/relationships/slide" Target="/ppt/slides/slide27.xml" Id="Ra38dcd6ff62b441b" /><Relationship Type="http://schemas.openxmlformats.org/officeDocument/2006/relationships/slide" Target="/ppt/slides/slide28.xml" Id="R4c7959fc8a6d4477" /><Relationship Type="http://schemas.openxmlformats.org/officeDocument/2006/relationships/slide" Target="/ppt/slides/slide29.xml" Id="R6bbddd6511ac48b9" /><Relationship Type="http://schemas.openxmlformats.org/officeDocument/2006/relationships/slide" Target="/ppt/slides/slide30.xml" Id="R869ed47dda514c2f" /><Relationship Type="http://schemas.openxmlformats.org/officeDocument/2006/relationships/slide" Target="/ppt/slides/slide31.xml" Id="R08f86ddab154427d" /><Relationship Type="http://schemas.openxmlformats.org/officeDocument/2006/relationships/slide" Target="/ppt/slides/slide32.xml" Id="R61168c2390b647bb" /><Relationship Type="http://schemas.openxmlformats.org/officeDocument/2006/relationships/slide" Target="/ppt/slides/slide33.xml" Id="R941bdef9cecb45df" /><Relationship Type="http://schemas.openxmlformats.org/officeDocument/2006/relationships/slide" Target="/ppt/slides/slide34.xml" Id="R16c9240ec6184a34" /><Relationship Type="http://schemas.openxmlformats.org/officeDocument/2006/relationships/slide" Target="/ppt/slides/slide35.xml" Id="R28f141e4a4034d7b" /><Relationship Type="http://schemas.openxmlformats.org/officeDocument/2006/relationships/slide" Target="/ppt/slides/slide36.xml" Id="R33c5d09fcbe14ef4" /><Relationship Type="http://schemas.openxmlformats.org/officeDocument/2006/relationships/slide" Target="/ppt/slides/slide37.xml" Id="RtritonGifSlide37" /><Relationship Type="http://schemas.openxmlformats.org/officeDocument/2006/relationships/slide" Target="/ppt/slides/slide38.xml" Id="RtritonGifSlide38" /><Relationship Type="http://schemas.openxmlformats.org/officeDocument/2006/relationships/slide" Target="/ppt/slides/slide39.xml" Id="RtritonGifSlide39" /><Relationship Type="http://schemas.openxmlformats.org/officeDocument/2006/relationships/slide" Target="/ppt/slides/slide40.xml" Id="RtritonGifSlid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28b69dd5bce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dbf38280d4804" /><Relationship Type="http://schemas.openxmlformats.org/officeDocument/2006/relationships/notesMaster" Target="/ppt/notesMasters/notesMaster1.xml" Id="Ra847b389cf834b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944942c6f4d0a" /><Relationship Type="http://schemas.openxmlformats.org/officeDocument/2006/relationships/notesMaster" Target="/ppt/notesMasters/notesMaster1.xml" Id="Ra2452ecade6844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1ba16d6674eed" /><Relationship Type="http://schemas.openxmlformats.org/officeDocument/2006/relationships/notesMaster" Target="/ppt/notesMasters/notesMaster1.xml" Id="Re2a49df53c6144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cf620662f4e8e" /><Relationship Type="http://schemas.openxmlformats.org/officeDocument/2006/relationships/notesMaster" Target="/ppt/notesMasters/notesMaster1.xml" Id="R3f403405c4564d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ca69f9e3384157" /><Relationship Type="http://schemas.openxmlformats.org/officeDocument/2006/relationships/notesMaster" Target="/ppt/notesMasters/notesMaster1.xml" Id="Rfe05bdc6aeea4a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3649306a043fd" /><Relationship Type="http://schemas.openxmlformats.org/officeDocument/2006/relationships/notesMaster" Target="/ppt/notesMasters/notesMaster1.xml" Id="R945f49ee7bc2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bb9b473cc4d95" /><Relationship Type="http://schemas.openxmlformats.org/officeDocument/2006/relationships/notesMaster" Target="/ppt/notesMasters/notesMaster1.xml" Id="R2cda07f16613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27030144694ad4" /><Relationship Type="http://schemas.openxmlformats.org/officeDocument/2006/relationships/notesMaster" Target="/ppt/notesMasters/notesMaster1.xml" Id="Rfd01a8593bc64f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e7b1aaa6b14087" /><Relationship Type="http://schemas.openxmlformats.org/officeDocument/2006/relationships/notesMaster" Target="/ppt/notesMasters/notesMaster1.xml" Id="Rfbdc8289bd884a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7588f72a244e60" /><Relationship Type="http://schemas.openxmlformats.org/officeDocument/2006/relationships/notesMaster" Target="/ppt/notesMasters/notesMaster1.xml" Id="R1ab4523e458d4a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bdef359cf04d98" /><Relationship Type="http://schemas.openxmlformats.org/officeDocument/2006/relationships/notesMaster" Target="/ppt/notesMasters/notesMaster1.xml" Id="R817fd92fe37248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eedd8660241e3" /><Relationship Type="http://schemas.openxmlformats.org/officeDocument/2006/relationships/notesMaster" Target="/ppt/notesMasters/notesMaster1.xml" Id="R87655fd290e943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330ccf423d48a5" /><Relationship Type="http://schemas.openxmlformats.org/officeDocument/2006/relationships/notesMaster" Target="/ppt/notesMasters/notesMaster1.xml" Id="R12a4675f28f541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e3a54a40c145ec" /><Relationship Type="http://schemas.openxmlformats.org/officeDocument/2006/relationships/notesMaster" Target="/ppt/notesMasters/notesMaster1.xml" Id="Rfb4ec89a64b74b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c0188fffa04008" /><Relationship Type="http://schemas.openxmlformats.org/officeDocument/2006/relationships/notesMaster" Target="/ppt/notesMasters/notesMaster1.xml" Id="R74a8ad679a614b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7de376789b4f4d" /><Relationship Type="http://schemas.openxmlformats.org/officeDocument/2006/relationships/notesMaster" Target="/ppt/notesMasters/notesMaster1.xml" Id="R9b75d9262c9245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d7d1c7bf4c4f0b" /><Relationship Type="http://schemas.openxmlformats.org/officeDocument/2006/relationships/notesMaster" Target="/ppt/notesMasters/notesMaster1.xml" Id="R78d28431477441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c842cdec3649dc" /><Relationship Type="http://schemas.openxmlformats.org/officeDocument/2006/relationships/notesMaster" Target="/ppt/notesMasters/notesMaster1.xml" Id="Rd13a0d4ec75249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8c84b0f4074f27" /><Relationship Type="http://schemas.openxmlformats.org/officeDocument/2006/relationships/notesMaster" Target="/ppt/notesMasters/notesMaster1.xml" Id="Rfe7033f5909f4a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f23ca9be274172" /><Relationship Type="http://schemas.openxmlformats.org/officeDocument/2006/relationships/notesMaster" Target="/ppt/notesMasters/notesMaster1.xml" Id="R042e109f725f4d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0655f805304453" /><Relationship Type="http://schemas.openxmlformats.org/officeDocument/2006/relationships/notesMaster" Target="/ppt/notesMasters/notesMaster1.xml" Id="R6f2b02ff549a4a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39b3160dd24843" /><Relationship Type="http://schemas.openxmlformats.org/officeDocument/2006/relationships/notesMaster" Target="/ppt/notesMasters/notesMaster1.xml" Id="R8199998eb35d41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eed6d52d68495a" /><Relationship Type="http://schemas.openxmlformats.org/officeDocument/2006/relationships/notesMaster" Target="/ppt/notesMasters/notesMaster1.xml" Id="Rb8aebadee62f49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619180a5bd401a" /><Relationship Type="http://schemas.openxmlformats.org/officeDocument/2006/relationships/notesMaster" Target="/ppt/notesMasters/notesMaster1.xml" Id="R255efebe36fa46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628ab573a4494c" /><Relationship Type="http://schemas.openxmlformats.org/officeDocument/2006/relationships/notesMaster" Target="/ppt/notesMasters/notesMaster1.xml" Id="R764c3baa47af4a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31adbdd6914a66" /><Relationship Type="http://schemas.openxmlformats.org/officeDocument/2006/relationships/notesMaster" Target="/ppt/notesMasters/notesMaster1.xml" Id="R1db95f6b46d443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f25daf10dd4003" /><Relationship Type="http://schemas.openxmlformats.org/officeDocument/2006/relationships/notesMaster" Target="/ppt/notesMasters/notesMaster1.xml" Id="Rb7ae5bb6ac894f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1663cd6d6e4ed6" /><Relationship Type="http://schemas.openxmlformats.org/officeDocument/2006/relationships/notesMaster" Target="/ppt/notesMasters/notesMaster1.xml" Id="R1ecb2a95d2004e1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ab658bd4114d2f" /><Relationship Type="http://schemas.openxmlformats.org/officeDocument/2006/relationships/notesMaster" Target="/ppt/notesMasters/notesMaster1.xml" Id="Rfc8337ecfe6144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a184997acd442b" /><Relationship Type="http://schemas.openxmlformats.org/officeDocument/2006/relationships/notesMaster" Target="/ppt/notesMasters/notesMaster1.xml" Id="R9edb2abed73449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2a24ba73ab4250" /><Relationship Type="http://schemas.openxmlformats.org/officeDocument/2006/relationships/notesMaster" Target="/ppt/notesMasters/notesMaster1.xml" Id="Ra7104ac9402b439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43d30af5a04797" /><Relationship Type="http://schemas.openxmlformats.org/officeDocument/2006/relationships/notesMaster" Target="/ppt/notesMasters/notesMaster1.xml" Id="R55f68b3622c94d1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a162356125e471b" /><Relationship Type="http://schemas.openxmlformats.org/officeDocument/2006/relationships/notesMaster" Target="/ppt/notesMasters/notesMaster1.xml" Id="R454cc92906d34b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3ede16e5cec4a0d" /><Relationship Type="http://schemas.openxmlformats.org/officeDocument/2006/relationships/notesMaster" Target="/ppt/notesMasters/notesMaster1.xml" Id="Rc3f2378c9a544b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8f1d84f12464d7c" /><Relationship Type="http://schemas.openxmlformats.org/officeDocument/2006/relationships/notesMaster" Target="/ppt/notesMasters/notesMaster1.xml" Id="Re9aa241f84db4cf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2449d7def124979" /><Relationship Type="http://schemas.openxmlformats.org/officeDocument/2006/relationships/notesMaster" Target="/ppt/notesMasters/notesMaster1.xml" Id="R2d594fc326b8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d995616b046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2918301f15405b" /><Relationship Type="http://schemas.openxmlformats.org/officeDocument/2006/relationships/slideLayout" Target="/ppt/slideLayouts/slideLayout2.xml" Id="R6bbfccea8b7947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fccea8b79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09beade484a19" /><Relationship Type="http://schemas.openxmlformats.org/officeDocument/2006/relationships/notesSlide" Target="/ppt/notesSlides/notesSlide1.xml" Id="R38a88d820d3c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64fbfd56e040a8" /><Relationship Type="http://schemas.openxmlformats.org/officeDocument/2006/relationships/notesSlide" Target="/ppt/notesSlides/notesSlide2.xml" Id="Rdd7c947040dc47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10e6cdad34550" /><Relationship Type="http://schemas.openxmlformats.org/officeDocument/2006/relationships/notesSlide" Target="/ppt/notesSlides/notesSlide3.xml" Id="R2361b2e129f348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873ee1387c46ea" /><Relationship Type="http://schemas.openxmlformats.org/officeDocument/2006/relationships/notesSlide" Target="/ppt/notesSlides/notesSlide4.xml" Id="R077d8927b01b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4ff3cdb444413" /><Relationship Type="http://schemas.openxmlformats.org/officeDocument/2006/relationships/notesSlide" Target="/ppt/notesSlides/notesSlide5.xml" Id="Ra5bab2bb328f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6f3c72d2544fc" /><Relationship Type="http://schemas.openxmlformats.org/officeDocument/2006/relationships/notesSlide" Target="/ppt/notesSlides/notesSlide6.xml" Id="R2b159f4a2a8346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0a689b9d64bc1" /><Relationship Type="http://schemas.openxmlformats.org/officeDocument/2006/relationships/notesSlide" Target="/ppt/notesSlides/notesSlide7.xml" Id="R86db3a1e034146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dec50eac7e4c56" /><Relationship Type="http://schemas.openxmlformats.org/officeDocument/2006/relationships/notesSlide" Target="/ppt/notesSlides/notesSlide8.xml" Id="Ra45e6e1f7ba742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74c5866784c71" /><Relationship Type="http://schemas.openxmlformats.org/officeDocument/2006/relationships/notesSlide" Target="/ppt/notesSlides/notesSlide9.xml" Id="Re4c2635d652f4a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14547837241a9" /><Relationship Type="http://schemas.openxmlformats.org/officeDocument/2006/relationships/notesSlide" Target="/ppt/notesSlides/notesSlide10.xml" Id="Rca1d121b37c943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30394d3fe48df" /><Relationship Type="http://schemas.openxmlformats.org/officeDocument/2006/relationships/notesSlide" Target="/ppt/notesSlides/notesSlide11.xml" Id="Raf79f944f2a0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fa5f85b7f4a70" /><Relationship Type="http://schemas.openxmlformats.org/officeDocument/2006/relationships/notesSlide" Target="/ppt/notesSlides/notesSlide12.xml" Id="Rc3ec364611b24b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d038973044277" /><Relationship Type="http://schemas.openxmlformats.org/officeDocument/2006/relationships/notesSlide" Target="/ppt/notesSlides/notesSlide13.xml" Id="Ra7df28958c6e4f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632226c0d4281" /><Relationship Type="http://schemas.openxmlformats.org/officeDocument/2006/relationships/notesSlide" Target="/ppt/notesSlides/notesSlide14.xml" Id="Rddcdb3bc148343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b9146443141fd" /><Relationship Type="http://schemas.openxmlformats.org/officeDocument/2006/relationships/notesSlide" Target="/ppt/notesSlides/notesSlide15.xml" Id="R2a643bebf51c4a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3ce546f6644e1" /><Relationship Type="http://schemas.openxmlformats.org/officeDocument/2006/relationships/notesSlide" Target="/ppt/notesSlides/notesSlide16.xml" Id="Rb0297feb38dd4a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6c3369060b44a0" /><Relationship Type="http://schemas.openxmlformats.org/officeDocument/2006/relationships/notesSlide" Target="/ppt/notesSlides/notesSlide17.xml" Id="R12bc1bfc6a1f49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317b967b0485e" /><Relationship Type="http://schemas.openxmlformats.org/officeDocument/2006/relationships/notesSlide" Target="/ppt/notesSlides/notesSlide18.xml" Id="R6822f1e8f57146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ac66f8c2b547d0" /><Relationship Type="http://schemas.openxmlformats.org/officeDocument/2006/relationships/notesSlide" Target="/ppt/notesSlides/notesSlide19.xml" Id="Rd4c2057d0213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7688e4a8642b3" /><Relationship Type="http://schemas.openxmlformats.org/officeDocument/2006/relationships/notesSlide" Target="/ppt/notesSlides/notesSlide20.xml" Id="Rfb130198574640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15e16dfae44f6" /><Relationship Type="http://schemas.openxmlformats.org/officeDocument/2006/relationships/notesSlide" Target="/ppt/notesSlides/notesSlide21.xml" Id="Rdf1a7e39da1e4c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5484f268d4dc0" /><Relationship Type="http://schemas.openxmlformats.org/officeDocument/2006/relationships/notesSlide" Target="/ppt/notesSlides/notesSlide22.xml" Id="Rdcf56a95a69b49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3e4aff38ac40d1" /><Relationship Type="http://schemas.openxmlformats.org/officeDocument/2006/relationships/notesSlide" Target="/ppt/notesSlides/notesSlide23.xml" Id="R300e44c86e9040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45f524dfb409f" /><Relationship Type="http://schemas.openxmlformats.org/officeDocument/2006/relationships/notesSlide" Target="/ppt/notesSlides/notesSlide24.xml" Id="R0f2bf49b3d8c4b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da67bf2ab4284" /><Relationship Type="http://schemas.openxmlformats.org/officeDocument/2006/relationships/notesSlide" Target="/ppt/notesSlides/notesSlide25.xml" Id="R299a0346031c4f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af900f9af24ad9" /><Relationship Type="http://schemas.openxmlformats.org/officeDocument/2006/relationships/notesSlide" Target="/ppt/notesSlides/notesSlide26.xml" Id="R188a6db1b62a45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6d87eca6f4174" /><Relationship Type="http://schemas.openxmlformats.org/officeDocument/2006/relationships/notesSlide" Target="/ppt/notesSlides/notesSlide27.xml" Id="R7c991a986a0a4c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7cc3d85a44b7c" /><Relationship Type="http://schemas.openxmlformats.org/officeDocument/2006/relationships/notesSlide" Target="/ppt/notesSlides/notesSlide28.xml" Id="Rd14c9e56681444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7a11ad61434453" /><Relationship Type="http://schemas.openxmlformats.org/officeDocument/2006/relationships/notesSlide" Target="/ppt/notesSlides/notesSlide29.xml" Id="R8a370a7b94524d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3a041ff14414f" /><Relationship Type="http://schemas.openxmlformats.org/officeDocument/2006/relationships/notesSlide" Target="/ppt/notesSlides/notesSlide30.xml" Id="R42fa261da70b46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397be59bb44dc" /><Relationship Type="http://schemas.openxmlformats.org/officeDocument/2006/relationships/notesSlide" Target="/ppt/notesSlides/notesSlide31.xml" Id="R915665da6a2c45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17bd4c16f245e4" /><Relationship Type="http://schemas.openxmlformats.org/officeDocument/2006/relationships/notesSlide" Target="/ppt/notesSlides/notesSlide32.xml" Id="R8dfddc070aa844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4501c69d54d2f" /><Relationship Type="http://schemas.openxmlformats.org/officeDocument/2006/relationships/notesSlide" Target="/ppt/notesSlides/notesSlide33.xml" Id="R74cd20ff1aed4ce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8016c29eb4813" /><Relationship Type="http://schemas.openxmlformats.org/officeDocument/2006/relationships/notesSlide" Target="/ppt/notesSlides/notesSlide34.xml" Id="Rdbbd48c0812b459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f4a339fd244fe6" /><Relationship Type="http://schemas.openxmlformats.org/officeDocument/2006/relationships/notesSlide" Target="/ppt/notesSlides/notesSlide35.xml" Id="Rf9382f5a5e0c408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e8b15932cc4bba" /><Relationship Type="http://schemas.openxmlformats.org/officeDocument/2006/relationships/notesSlide" Target="/ppt/notesSlides/notesSlide36.xml" Id="R5c3c3208ebbd43e5" 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Layout"/><Relationship Type="http://schemas.openxmlformats.org/officeDocument/2006/relationships/image" Target="../media/triton_program_grid.gif" Id="rIdGif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Layout"/><Relationship Type="http://schemas.openxmlformats.org/officeDocument/2006/relationships/image" Target="../media/triton_matmul_tile_sweep.gif" Id="rIdGif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Layout"/><Relationship Type="http://schemas.openxmlformats.org/officeDocument/2006/relationships/image" Target="../media/triton_k_tile_accumulation.gif" Id="rIdGif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IdLayout"/><Relationship Type="http://schemas.openxmlformats.org/officeDocument/2006/relationships/image" Target="../media/triton_shared_tile_reuse.gif" Id="rIdGif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F1309-6AC3-46D7-A491-4B85EB54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DB836-0CEB-4873-883C-7528D16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2A048-DCF6-458A-BDD1-05C2260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54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D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4812D-FA89-4612-ADB6-A4A3F198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547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41810-88AC-4AC0-83BB-BBB8AA8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D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25774-EEFC-4A0B-A043-1F66137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547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89578-BAE9-4A6D-A92B-D5667CEC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D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B0E4D-5EE6-4492-8474-14A4C15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547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7C251-F591-49AA-914A-6E652777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D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20FA5-3143-4E65-A0EA-2F30D25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547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96368-1FDA-4320-BDC2-EF384BFB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8763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333D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0E0C8-81F5-4447-8724-3B7B08E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09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Triton Programming DSL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84FF4-1D4D-4FB2-9116-F5F37A0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Vector add, SAXPY, and block MatMul in a Python-embedded GPU kernel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0BBA5-F6B5-49BD-B122-03253CF3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F24D0-0899-4DB2-8558-9736695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tl.program_id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FD28B-B597-4042-A576-DAAF314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FA675-D45B-4EB7-AC2D-D3067DAC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tl.arange + masks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24D33-DD7B-4F6E-A2A1-2247805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EE33F-FBCE-4D9A-BA02-CC4DD413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BBF24"/>
                </a:solidFill>
                <a:latin typeface="Aptos"/>
                <a:ea typeface="Aptos"/>
                <a:cs typeface="Aptos"/>
              </a:rPr>
              <a:t>tl.load / tl.store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5A057-17C3-4E2B-8398-B2B3AC3F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 deck: tritondsl.pptx\nNew lab: tp/stretch/ex13_triton_dsl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1EA98-953C-4496-8D3E-D035605A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Triton docs, OpenAI Triton intro, supplied Medium article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94EF7-CDF4-4801-9A1B-38AB1F5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p14:creationId xmlns:p14="http://schemas.microsoft.com/office/powerpoint/2010/main" val="86238177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BBDDF27-34A1-4440-A227-A445BE50C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5F3B02AC-1308-4D8B-BE04-4FC69C357CC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02/40</a:t>
            </a:r>
          </a:p>
        </p:txBody>
      </p:sp>
      <p:sp>
        <p:nvSpPr>
          <p:cNvPr id="3" name="">
            <a:extLst>
              <a:ext uri="{FF2B5EF4-FFF2-40B4-BE49-F238E27FC236}">
                <ns2:creationId id="{00DDC9B4-7CE7-420F-9C65-374B02F4F8C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Where Triton Fits</a:t>
            </a:r>
          </a:p>
        </p:txBody>
      </p:sp>
      <p:sp>
        <p:nvSpPr>
          <p:cNvPr id="4" name="">
            <a:extLst>
              <a:ext uri="{FF2B5EF4-FFF2-40B4-BE49-F238E27FC236}">
                <ns2:creationId id="{F1D06C24-20C2-409B-8433-E1894825BC5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Day 1 taught explicit CUDA mechanics; Day 2 added measurement, JAX/XLA, and MatMul. Triton belongs between custom CUDA and compiler-managed arrays.</a:t>
            </a:r>
          </a:p>
        </p:txBody>
      </p:sp>
      <p:sp>
        <p:nvSpPr>
          <p:cNvPr id="5" name="">
            <a:extLst>
              <a:ext uri="{FF2B5EF4-FFF2-40B4-BE49-F238E27FC236}">
                <ns2:creationId id="{12AC0A63-9FEE-4E24-9D15-3C5EB0C2337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EE5A6110-FD83-44D5-A4D8-E8AFDC90A89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CA1F2264-1348-4DEE-B630-CFAFB349D4E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9B8BB51A-0A49-47A1-A69E-A60682F8A6AB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What learners already know</a:t>
            </a:r>
          </a:p>
        </p:txBody>
      </p:sp>
      <p:sp>
        <p:nvSpPr>
          <p:cNvPr id="9" name="">
            <a:extLst>
              <a:ext uri="{FF2B5EF4-FFF2-40B4-BE49-F238E27FC236}">
                <ns2:creationId id="{726CCF96-E8B3-44F6-AF5A-EDEB236DFFF8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CPU oracle before acceleration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CUDA host wrapper owns memory, launch, sync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Vector add is memory-bound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MatMul needs data reuse and blocking</a:t>
            </a:r>
          </a:p>
        </p:txBody>
      </p:sp>
      <p:sp>
        <p:nvSpPr>
          <p:cNvPr id="10" name="">
            <a:extLst>
              <a:ext uri="{FF2B5EF4-FFF2-40B4-BE49-F238E27FC236}">
                <ns2:creationId id="{567B1FB6-E56E-44A1-A5B3-84DD1BA7EC9C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52DF3264-20D1-456D-AA96-3FD8E7B794F3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576FEF48-6CEF-436F-AC13-28664DCB4D71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What Triton adds</a:t>
            </a:r>
          </a:p>
        </p:txBody>
      </p:sp>
      <p:sp>
        <p:nvSpPr>
          <p:cNvPr id="13" name="">
            <a:extLst>
              <a:ext uri="{FF2B5EF4-FFF2-40B4-BE49-F238E27FC236}">
                <ns2:creationId id="{205727F3-5889-4356-A61A-549A295BC58F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Python syntax for custom GPU kernels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Program instances work on blocks, not scalar threads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Explicit pointer arithmetic and masks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Compiler handles many thread-level details</a:t>
            </a:r>
          </a:p>
        </p:txBody>
      </p:sp>
      <p:sp>
        <p:nvSpPr>
          <p:cNvPr id="14" name="">
            <a:extLst>
              <a:ext uri="{FF2B5EF4-FFF2-40B4-BE49-F238E27FC236}">
                <ns2:creationId id="{2AF7017B-7B9E-4B09-9F89-48EF460FA96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Course anchors: Day1 and Day2 decks</a:t>
            </a:r>
          </a:p>
        </p:txBody>
      </p:sp>
      <p:sp>
        <p:nvSpPr>
          <p:cNvPr id="15" name="">
            <a:extLst>
              <a:ext uri="{FF2B5EF4-FFF2-40B4-BE49-F238E27FC236}">
                <ns2:creationId id="{5F287023-FEAD-4F9F-BEC5-8557D5CCE886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52797445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36288FD-5B98-4EF5-929E-5C327DDEA1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71FE1E0F-9EBE-46D9-BCA1-593919FAB8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03/40</a:t>
            </a:r>
          </a:p>
        </p:txBody>
      </p:sp>
      <p:sp>
        <p:nvSpPr>
          <p:cNvPr id="3" name="">
            <a:extLst>
              <a:ext uri="{FF2B5EF4-FFF2-40B4-BE49-F238E27FC236}">
                <ns2:creationId id="{D35E7D0A-E609-40F5-902B-858739C5EB2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4" name="">
            <a:extLst>
              <a:ext uri="{FF2B5EF4-FFF2-40B4-BE49-F238E27FC236}">
                <ns2:creationId id="{EDC3034A-95EF-41FA-AEA7-27E4F8233BE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By the end, students can read and modify a Triton kernel without pretending it is ordinary Python.</a:t>
            </a:r>
          </a:p>
        </p:txBody>
      </p:sp>
      <p:sp>
        <p:nvSpPr>
          <p:cNvPr id="5" name="">
            <a:extLst>
              <a:ext uri="{FF2B5EF4-FFF2-40B4-BE49-F238E27FC236}">
                <ns2:creationId id="{FA54B95A-0243-4AB0-9B15-CCC0C4075A9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4F4B1B3-CF7A-4F1C-9C0F-73E414D8E12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0D4CE6E0-8279-4F86-8F40-AF484D79952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7EF1CF83-28B4-4CF6-9C60-F417C2FC32BD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Concepts</a:t>
            </a:r>
          </a:p>
        </p:txBody>
      </p:sp>
      <p:sp>
        <p:nvSpPr>
          <p:cNvPr id="9" name="">
            <a:extLst>
              <a:ext uri="{FF2B5EF4-FFF2-40B4-BE49-F238E27FC236}">
                <ns2:creationId id="{ECA7A508-2E82-4DCC-B5D5-158D1A47EF9E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Explain blocked program instances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Map `pid` to a tile of output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masks for partial edge tiles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Separate first-run JIT cost from steady-state timing</a:t>
            </a:r>
          </a:p>
        </p:txBody>
      </p:sp>
      <p:sp>
        <p:nvSpPr>
          <p:cNvPr id="10" name="">
            <a:extLst>
              <a:ext uri="{FF2B5EF4-FFF2-40B4-BE49-F238E27FC236}">
                <ns2:creationId id="{C752D822-D39A-43B0-9BAA-A6EFB428CF5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0F735F37-2ABA-490D-8BB9-3DA8D04B2595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44C858C4-8CF0-4E1B-98B4-BE2D563666E0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3" name="">
            <a:extLst>
              <a:ext uri="{FF2B5EF4-FFF2-40B4-BE49-F238E27FC236}">
                <ns2:creationId id="{AEE7F701-A582-47CC-A370-7FE5C18735A3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Implement vector add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Implement SAXPY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Implement a basic blocked MatMul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Compare results and timings with Torch references</a:t>
            </a:r>
          </a:p>
        </p:txBody>
      </p:sp>
      <p:sp>
        <p:nvSpPr>
          <p:cNvPr id="14" name="">
            <a:extLst>
              <a:ext uri="{FF2B5EF4-FFF2-40B4-BE49-F238E27FC236}">
                <ns2:creationId id="{568DFEBA-6E9D-48A3-A2C2-D09F5C68A1C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</a:t>
            </a:r>
          </a:p>
        </p:txBody>
      </p:sp>
      <p:sp>
        <p:nvSpPr>
          <p:cNvPr id="15" name="">
            <a:extLst>
              <a:ext uri="{FF2B5EF4-FFF2-40B4-BE49-F238E27FC236}">
                <ns2:creationId id="{22E0A944-E5BC-4044-9C29-7A0FA454A03A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30116192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B176C05-8304-44E3-959A-6A6217C0FC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DFEA301F-3FB6-459C-855C-E728560DC7E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04/40</a:t>
            </a:r>
          </a:p>
        </p:txBody>
      </p:sp>
      <p:sp>
        <p:nvSpPr>
          <p:cNvPr id="3" name="">
            <a:extLst>
              <a:ext uri="{FF2B5EF4-FFF2-40B4-BE49-F238E27FC236}">
                <ns2:creationId id="{476CF51A-80D6-4124-9B1B-00B10B3B459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From CUDA Feature to Triton Lab</a:t>
            </a:r>
          </a:p>
        </p:txBody>
      </p:sp>
      <p:sp>
        <p:nvSpPr>
          <p:cNvPr id="4" name="">
            <a:extLst>
              <a:ext uri="{FF2B5EF4-FFF2-40B4-BE49-F238E27FC236}">
                <ns2:creationId id="{E334378C-9DC5-4DBD-AE88-4E26D843C206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same repository discipline still applies: correctness target first, benchmark target second.</a:t>
            </a:r>
          </a:p>
        </p:txBody>
      </p:sp>
      <p:sp>
        <p:nvSpPr>
          <p:cNvPr id="5" name="">
            <a:extLst>
              <a:ext uri="{FF2B5EF4-FFF2-40B4-BE49-F238E27FC236}">
                <ns2:creationId id="{6EE01B7E-E720-46BE-A261-637C9EC0F3B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8DF2F049-1ED8-4E96-8B29-80FDFFC3E437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7" name="">
            <a:extLst>
              <a:ext uri="{FF2B5EF4-FFF2-40B4-BE49-F238E27FC236}">
                <ns2:creationId id="{3E7AD7C4-B104-4A2E-89A3-891EA65E30D3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CPU oracle</a:t>
            </a:r>
          </a:p>
        </p:txBody>
      </p:sp>
      <p:sp>
        <p:nvSpPr>
          <p:cNvPr id="8" name="">
            <a:extLst>
              <a:ext uri="{FF2B5EF4-FFF2-40B4-BE49-F238E27FC236}">
                <ns2:creationId id="{9BC41678-85FD-4D2C-B4CD-C368E02D350B}"/>
              </a:ext>
            </a:extLst>
          </p:cNvPr>
          <p:cNvSpPr>
            <a:spLocks noGrp="1"/>
          </p:cNvSpPr>
          <p:nvPr/>
        </p:nvSpPr>
        <p:spPr>
          <a:xfrm>
            <a:off x="26098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9" name="">
            <a:extLst>
              <a:ext uri="{FF2B5EF4-FFF2-40B4-BE49-F238E27FC236}">
                <ns2:creationId id="{15EED9C0-E7FC-4862-AC2D-B8058BC65802}"/>
              </a:ext>
            </a:extLst>
          </p:cNvPr>
          <p:cNvSpPr>
            <a:spLocks noGrp="1"/>
          </p:cNvSpPr>
          <p:nvPr/>
        </p:nvSpPr>
        <p:spPr>
          <a:xfrm>
            <a:off x="28003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0" name="">
            <a:extLst>
              <a:ext uri="{FF2B5EF4-FFF2-40B4-BE49-F238E27FC236}">
                <ns2:creationId id="{86AC93E6-10D5-416D-87CE-9C327849A299}"/>
              </a:ext>
            </a:extLst>
          </p:cNvPr>
          <p:cNvSpPr>
            <a:spLocks noGrp="1"/>
          </p:cNvSpPr>
          <p:nvPr/>
        </p:nvSpPr>
        <p:spPr>
          <a:xfrm>
            <a:off x="29146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CUDA vector add</a:t>
            </a:r>
          </a:p>
        </p:txBody>
      </p:sp>
      <p:sp>
        <p:nvSpPr>
          <p:cNvPr id="11" name="">
            <a:extLst>
              <a:ext uri="{FF2B5EF4-FFF2-40B4-BE49-F238E27FC236}">
                <ns2:creationId id="{90721112-3406-440D-91B7-12EF420FF5E5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2" name="">
            <a:extLst>
              <a:ext uri="{FF2B5EF4-FFF2-40B4-BE49-F238E27FC236}">
                <ns2:creationId id="{D12E1334-4BF0-4E9A-A9E3-070D020C956C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3" name="">
            <a:extLst>
              <a:ext uri="{FF2B5EF4-FFF2-40B4-BE49-F238E27FC236}">
                <ns2:creationId id="{BFE9CF59-D88D-4887-AD8B-44DB8936A2FF}"/>
              </a:ext>
            </a:extLst>
          </p:cNvPr>
          <p:cNvSpPr>
            <a:spLocks noGrp="1"/>
          </p:cNvSpPr>
          <p:nvPr/>
        </p:nvSpPr>
        <p:spPr>
          <a:xfrm>
            <a:off x="48387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JAX/XLA hook</a:t>
            </a:r>
          </a:p>
        </p:txBody>
      </p:sp>
      <p:sp>
        <p:nvSpPr>
          <p:cNvPr id="14" name="">
            <a:extLst>
              <a:ext uri="{FF2B5EF4-FFF2-40B4-BE49-F238E27FC236}">
                <ns2:creationId id="{C0885D68-E78A-4E87-A655-B231A551B4E8}"/>
              </a:ext>
            </a:extLst>
          </p:cNvPr>
          <p:cNvSpPr>
            <a:spLocks noGrp="1"/>
          </p:cNvSpPr>
          <p:nvPr/>
        </p:nvSpPr>
        <p:spPr>
          <a:xfrm>
            <a:off x="64579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5" name="">
            <a:extLst>
              <a:ext uri="{FF2B5EF4-FFF2-40B4-BE49-F238E27FC236}">
                <ns2:creationId id="{39C1CC22-FA4C-4D1A-B54A-2BBF1A2C4AA9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6" name="">
            <a:extLst>
              <a:ext uri="{FF2B5EF4-FFF2-40B4-BE49-F238E27FC236}">
                <ns2:creationId id="{5F997BFA-FD0F-4912-8B99-770CF03DE2DC}"/>
              </a:ext>
            </a:extLst>
          </p:cNvPr>
          <p:cNvSpPr>
            <a:spLocks noGrp="1"/>
          </p:cNvSpPr>
          <p:nvPr/>
        </p:nvSpPr>
        <p:spPr>
          <a:xfrm>
            <a:off x="67627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CUDA MatMul</a:t>
            </a:r>
          </a:p>
        </p:txBody>
      </p:sp>
      <p:sp>
        <p:nvSpPr>
          <p:cNvPr id="17" name="">
            <a:extLst>
              <a:ext uri="{FF2B5EF4-FFF2-40B4-BE49-F238E27FC236}">
                <ns2:creationId id="{E8800408-8784-468D-94F6-4FA78DB48C99}"/>
              </a:ext>
            </a:extLst>
          </p:cNvPr>
          <p:cNvSpPr>
            <a:spLocks noGrp="1"/>
          </p:cNvSpPr>
          <p:nvPr/>
        </p:nvSpPr>
        <p:spPr>
          <a:xfrm>
            <a:off x="83820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8" name="">
            <a:extLst>
              <a:ext uri="{FF2B5EF4-FFF2-40B4-BE49-F238E27FC236}">
                <ns2:creationId id="{531A7091-DE21-4E36-B403-A5AF5A171762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9" name="">
            <a:extLst>
              <a:ext uri="{FF2B5EF4-FFF2-40B4-BE49-F238E27FC236}">
                <ns2:creationId id="{0BB2D56E-DF94-4835-A771-6460D4DDC5EF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Triton DSL lab</a:t>
            </a:r>
          </a:p>
        </p:txBody>
      </p:sp>
      <p:sp>
        <p:nvSpPr>
          <p:cNvPr id="20" name="">
            <a:extLst>
              <a:ext uri="{FF2B5EF4-FFF2-40B4-BE49-F238E27FC236}">
                <ns2:creationId id="{B31BB532-E82C-4B82-8758-99AE56DA47F3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9334500" cy="552450"/>
          </a:xfrm>
          <a:prstGeom prst="rect">
            <a:avLst/>
          </a:prstGeom>
        </p:spPr>
        <p:txBody>
          <a:bodyPr anchor="t"/>
          <a:lstStyle/>
          <a:p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Triton is introduced as another implementation level, not as a replacement for correctness discipline.</a:t>
            </a:r>
          </a:p>
        </p:txBody>
      </p:sp>
      <p:sp>
        <p:nvSpPr>
          <p:cNvPr id="21" name="">
            <a:extLst>
              <a:ext uri="{FF2B5EF4-FFF2-40B4-BE49-F238E27FC236}">
                <ns2:creationId id="{82BCE3F7-FAA2-4690-B044-FA90CFDD8F5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Course path: projects/detailed and tp/stretch</a:t>
            </a:r>
          </a:p>
        </p:txBody>
      </p:sp>
      <p:sp>
        <p:nvSpPr>
          <p:cNvPr id="22" name="">
            <a:extLst>
              <a:ext uri="{FF2B5EF4-FFF2-40B4-BE49-F238E27FC236}">
                <ns2:creationId id="{7AE33BA2-DDF3-4B1A-AEAE-172C1AA1EC4A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886498628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9583A20-898C-4590-BAD1-09B738D27C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C4F80A06-FE06-4FB5-8578-F3F08658503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05/40</a:t>
            </a:r>
          </a:p>
        </p:txBody>
      </p:sp>
      <p:sp>
        <p:nvSpPr>
          <p:cNvPr id="3" name="">
            <a:extLst>
              <a:ext uri="{FF2B5EF4-FFF2-40B4-BE49-F238E27FC236}">
                <ns2:creationId id="{9C35CD42-15E0-49A6-9E00-4D5097E857B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Another GPU DSL?</a:t>
            </a:r>
          </a:p>
        </p:txBody>
      </p:sp>
      <p:sp>
        <p:nvSpPr>
          <p:cNvPr id="4" name="">
            <a:extLst>
              <a:ext uri="{FF2B5EF4-FFF2-40B4-BE49-F238E27FC236}">
                <ns2:creationId id="{366B2D82-58C1-4884-BDC2-CFC33AE5E8A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Triton keeps memory and tiling visible while hiding much of the CUDA thread-block machinery.</a:t>
            </a:r>
          </a:p>
        </p:txBody>
      </p:sp>
      <p:sp>
        <p:nvSpPr>
          <p:cNvPr id="5" name="">
            <a:extLst>
              <a:ext uri="{FF2B5EF4-FFF2-40B4-BE49-F238E27FC236}">
                <ns2:creationId id="{4798B425-32B9-4FC3-A60F-6C0DE6047D95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1906BF9B-6A8A-45E5-86A5-4E7ABFDA41E5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2D20A5AC-2830-4347-8865-2B5382047C3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77EE091D-40FD-4437-997D-2340227DF256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CUDA C++ strength</a:t>
            </a:r>
          </a:p>
        </p:txBody>
      </p:sp>
      <p:sp>
        <p:nvSpPr>
          <p:cNvPr id="9" name="">
            <a:extLst>
              <a:ext uri="{FF2B5EF4-FFF2-40B4-BE49-F238E27FC236}">
                <ns2:creationId id="{619FAB36-B0CA-4986-A998-A03B47478397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Precise runtime and memory ownership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Explicit launch geometry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Direct control over low-level device code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Best fit when every detail matters</a:t>
            </a:r>
          </a:p>
        </p:txBody>
      </p:sp>
      <p:sp>
        <p:nvSpPr>
          <p:cNvPr id="10" name="">
            <a:extLst>
              <a:ext uri="{FF2B5EF4-FFF2-40B4-BE49-F238E27FC236}">
                <ns2:creationId id="{F8AA2BFF-2474-427B-A163-6CBBB742800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AC3C43B2-9FC8-4026-904A-252857AFA677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D8C4071D-C030-4B51-B638-0FC435A97163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Triton strength</a:t>
            </a:r>
          </a:p>
        </p:txBody>
      </p:sp>
      <p:sp>
        <p:nvSpPr>
          <p:cNvPr id="13" name="">
            <a:extLst>
              <a:ext uri="{FF2B5EF4-FFF2-40B4-BE49-F238E27FC236}">
                <ns2:creationId id="{97582800-C4B8-498D-BD80-1BBE511097FF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Fast iteration in Python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Block-level thinking for tensor kernels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Composable with Torch tensors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Great fit for custom ML kernels and fused operations</a:t>
            </a:r>
          </a:p>
        </p:txBody>
      </p:sp>
      <p:sp>
        <p:nvSpPr>
          <p:cNvPr id="14" name="">
            <a:extLst>
              <a:ext uri="{FF2B5EF4-FFF2-40B4-BE49-F238E27FC236}">
                <ns2:creationId id="{5F181D2F-3344-4757-B1A8-D0063F7C7E3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OpenAI Triton introduction</a:t>
            </a:r>
          </a:p>
        </p:txBody>
      </p:sp>
      <p:sp>
        <p:nvSpPr>
          <p:cNvPr id="15" name="">
            <a:extLst>
              <a:ext uri="{FF2B5EF4-FFF2-40B4-BE49-F238E27FC236}">
                <ns2:creationId id="{F8A5A590-10E5-4C4D-8118-B00107C48E8F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04378675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321A39C-3D8C-412D-AB76-D070C2F6A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44F5EDB0-6158-4360-AADC-6465FD60110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06/40</a:t>
            </a:r>
          </a:p>
        </p:txBody>
      </p:sp>
      <p:sp>
        <p:nvSpPr>
          <p:cNvPr id="3" name="">
            <a:extLst>
              <a:ext uri="{FF2B5EF4-FFF2-40B4-BE49-F238E27FC236}">
                <ns2:creationId id="{B9CBE25F-2695-4A0B-9E1F-608D4C937F5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CUDA Threads vs Triton Programs</a:t>
            </a:r>
          </a:p>
        </p:txBody>
      </p:sp>
      <p:sp>
        <p:nvSpPr>
          <p:cNvPr id="4" name="">
            <a:extLst>
              <a:ext uri="{FF2B5EF4-FFF2-40B4-BE49-F238E27FC236}">
                <ns2:creationId id="{4E443667-CDEC-46E6-A454-FD68334947E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useful mental shift: CUDA code is often written from one thread's perspective; Triton code is written from one block program's perspective.</a:t>
            </a:r>
          </a:p>
        </p:txBody>
      </p:sp>
      <p:sp>
        <p:nvSpPr>
          <p:cNvPr id="5" name="">
            <a:extLst>
              <a:ext uri="{FF2B5EF4-FFF2-40B4-BE49-F238E27FC236}">
                <ns2:creationId id="{D19B8A4C-D844-4E1E-8ECF-E87EA0AAD6D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36874787-5643-498D-B9E9-ADC171A8E601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8477250" cy="51435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5FA1FA16-5B9C-40E9-97DE-86A17895772D}"/>
              </a:ext>
            </a:extLst>
          </p:cNvPr>
          <p:cNvSpPr>
            <a:spLocks noGrp="1"/>
          </p:cNvSpPr>
          <p:nvPr/>
        </p:nvSpPr>
        <p:spPr>
          <a:xfrm>
            <a:off x="1200150" y="2428875"/>
            <a:ext cx="188595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8" name="">
            <a:extLst>
              <a:ext uri="{FF2B5EF4-FFF2-40B4-BE49-F238E27FC236}">
                <ns2:creationId id="{33EB22D2-9C80-4085-92B4-582EA7193611}"/>
              </a:ext>
            </a:extLst>
          </p:cNvPr>
          <p:cNvSpPr>
            <a:spLocks noGrp="1"/>
          </p:cNvSpPr>
          <p:nvPr/>
        </p:nvSpPr>
        <p:spPr>
          <a:xfrm>
            <a:off x="3390900" y="2428875"/>
            <a:ext cx="283845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you write</a:t>
            </a:r>
          </a:p>
        </p:txBody>
      </p:sp>
      <p:sp>
        <p:nvSpPr>
          <p:cNvPr id="9" name="">
            <a:extLst>
              <a:ext uri="{FF2B5EF4-FFF2-40B4-BE49-F238E27FC236}">
                <ns2:creationId id="{58F5D2AB-4A93-439E-917C-757984796B1A}"/>
              </a:ext>
            </a:extLst>
          </p:cNvPr>
          <p:cNvSpPr>
            <a:spLocks noGrp="1"/>
          </p:cNvSpPr>
          <p:nvPr/>
        </p:nvSpPr>
        <p:spPr>
          <a:xfrm>
            <a:off x="6534150" y="2428875"/>
            <a:ext cx="283845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0" name="">
            <a:extLst>
              <a:ext uri="{FF2B5EF4-FFF2-40B4-BE49-F238E27FC236}">
                <ns2:creationId id="{CCABE019-E657-4FCA-A9BB-70F573631DCA}"/>
              </a:ext>
            </a:extLst>
          </p:cNvPr>
          <p:cNvSpPr>
            <a:spLocks noGrp="1"/>
          </p:cNvSpPr>
          <p:nvPr/>
        </p:nvSpPr>
        <p:spPr>
          <a:xfrm>
            <a:off x="1028700" y="2781300"/>
            <a:ext cx="8477250" cy="704850"/>
          </a:xfrm>
          <a:prstGeom prst="rect">
            <a:avLst/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05886B17-35B4-4B1F-A4AF-0447C9B0FE16}"/>
              </a:ext>
            </a:extLst>
          </p:cNvPr>
          <p:cNvSpPr>
            <a:spLocks noGrp="1"/>
          </p:cNvSpPr>
          <p:nvPr/>
        </p:nvSpPr>
        <p:spPr>
          <a:xfrm>
            <a:off x="1200150" y="2943225"/>
            <a:ext cx="18859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CUDA kernel</a:t>
            </a:r>
          </a:p>
        </p:txBody>
      </p:sp>
      <p:sp>
        <p:nvSpPr>
          <p:cNvPr id="12" name="">
            <a:extLst>
              <a:ext uri="{FF2B5EF4-FFF2-40B4-BE49-F238E27FC236}">
                <ns2:creationId id="{CAAB8867-AA1D-4E13-B232-58D3AEBEAF05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thread index -&gt; one element or fragment</a:t>
            </a:r>
          </a:p>
        </p:txBody>
      </p:sp>
      <p:sp>
        <p:nvSpPr>
          <p:cNvPr id="13" name="">
            <a:extLst>
              <a:ext uri="{FF2B5EF4-FFF2-40B4-BE49-F238E27FC236}">
                <ns2:creationId id="{2AD9A263-53D7-4A27-8091-A2BA526D76F0}"/>
              </a:ext>
            </a:extLst>
          </p:cNvPr>
          <p:cNvSpPr>
            <a:spLocks noGrp="1"/>
          </p:cNvSpPr>
          <p:nvPr/>
        </p:nvSpPr>
        <p:spPr>
          <a:xfrm>
            <a:off x="6534150" y="294322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block size, synchronization, shared memory</a:t>
            </a:r>
          </a:p>
        </p:txBody>
      </p:sp>
      <p:sp>
        <p:nvSpPr>
          <p:cNvPr id="14" name="">
            <a:extLst>
              <a:ext uri="{FF2B5EF4-FFF2-40B4-BE49-F238E27FC236}">
                <ns2:creationId id="{0167709F-882E-49E8-9D94-341BCFA82BA5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8477250" cy="70485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15" name="">
            <a:extLst>
              <a:ext uri="{FF2B5EF4-FFF2-40B4-BE49-F238E27FC236}">
                <ns2:creationId id="{8A4A4C39-079D-49E6-8048-DA742660F1F1}"/>
              </a:ext>
            </a:extLst>
          </p:cNvPr>
          <p:cNvSpPr>
            <a:spLocks noGrp="1"/>
          </p:cNvSpPr>
          <p:nvPr/>
        </p:nvSpPr>
        <p:spPr>
          <a:xfrm>
            <a:off x="1200150" y="3648075"/>
            <a:ext cx="18859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Triton kernel</a:t>
            </a:r>
          </a:p>
        </p:txBody>
      </p:sp>
      <p:sp>
        <p:nvSpPr>
          <p:cNvPr id="16" name="">
            <a:extLst>
              <a:ext uri="{FF2B5EF4-FFF2-40B4-BE49-F238E27FC236}">
                <ns2:creationId id="{ADE71C1F-599A-4484-8A1A-B7D26EB6BD54}"/>
              </a:ext>
            </a:extLst>
          </p:cNvPr>
          <p:cNvSpPr>
            <a:spLocks noGrp="1"/>
          </p:cNvSpPr>
          <p:nvPr/>
        </p:nvSpPr>
        <p:spPr>
          <a:xfrm>
            <a:off x="3390900" y="364807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program id -&gt; one tile of elements</a:t>
            </a:r>
          </a:p>
        </p:txBody>
      </p:sp>
      <p:sp>
        <p:nvSpPr>
          <p:cNvPr id="17" name="">
            <a:extLst>
              <a:ext uri="{FF2B5EF4-FFF2-40B4-BE49-F238E27FC236}">
                <ns2:creationId id="{1B8BB611-4124-42CE-B014-DE1DF040D730}"/>
              </a:ext>
            </a:extLst>
          </p:cNvPr>
          <p:cNvSpPr>
            <a:spLocks noGrp="1"/>
          </p:cNvSpPr>
          <p:nvPr/>
        </p:nvSpPr>
        <p:spPr>
          <a:xfrm>
            <a:off x="6534150" y="364807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tile shape, pointer math, masks</a:t>
            </a:r>
          </a:p>
        </p:txBody>
      </p:sp>
      <p:sp>
        <p:nvSpPr>
          <p:cNvPr id="18" name="">
            <a:extLst>
              <a:ext uri="{FF2B5EF4-FFF2-40B4-BE49-F238E27FC236}">
                <ns2:creationId id="{A3F14C6F-98FF-43D1-8490-0B2E1D698003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8477250" cy="704850"/>
          </a:xfrm>
          <a:prstGeom prst="rect">
            <a:avLst/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9" name="">
            <a:extLst>
              <a:ext uri="{FF2B5EF4-FFF2-40B4-BE49-F238E27FC236}">
                <ns2:creationId id="{EE7A6589-DB58-449D-B9EE-EB0CB624A679}"/>
              </a:ext>
            </a:extLst>
          </p:cNvPr>
          <p:cNvSpPr>
            <a:spLocks noGrp="1"/>
          </p:cNvSpPr>
          <p:nvPr/>
        </p:nvSpPr>
        <p:spPr>
          <a:xfrm>
            <a:off x="1200150" y="4352925"/>
            <a:ext cx="18859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Both</a:t>
            </a:r>
          </a:p>
        </p:txBody>
      </p:sp>
      <p:sp>
        <p:nvSpPr>
          <p:cNvPr id="20" name="">
            <a:extLst>
              <a:ext uri="{FF2B5EF4-FFF2-40B4-BE49-F238E27FC236}">
                <ns2:creationId id="{7DC3524B-5780-43E8-9DF4-6A3741BCF51B}"/>
              </a:ext>
            </a:extLst>
          </p:cNvPr>
          <p:cNvSpPr>
            <a:spLocks noGrp="1"/>
          </p:cNvSpPr>
          <p:nvPr/>
        </p:nvSpPr>
        <p:spPr>
          <a:xfrm>
            <a:off x="3390900" y="435292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launch grid covers the output</a:t>
            </a:r>
          </a:p>
        </p:txBody>
      </p:sp>
      <p:sp>
        <p:nvSpPr>
          <p:cNvPr id="21" name="">
            <a:extLst>
              <a:ext uri="{FF2B5EF4-FFF2-40B4-BE49-F238E27FC236}">
                <ns2:creationId id="{8903045A-417E-4CED-ADBE-595AAA216CCA}"/>
              </a:ext>
            </a:extLst>
          </p:cNvPr>
          <p:cNvSpPr>
            <a:spLocks noGrp="1"/>
          </p:cNvSpPr>
          <p:nvPr/>
        </p:nvSpPr>
        <p:spPr>
          <a:xfrm>
            <a:off x="6534150" y="4352925"/>
            <a:ext cx="2838450" cy="3810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correctness, memory traffic, benchmark scope</a:t>
            </a:r>
          </a:p>
        </p:txBody>
      </p:sp>
      <p:sp>
        <p:nvSpPr>
          <p:cNvPr id="22" name="">
            <a:extLst>
              <a:ext uri="{FF2B5EF4-FFF2-40B4-BE49-F238E27FC236}">
                <ns2:creationId id="{437F81F1-28E3-48AC-A161-9083885FA14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Programming Guide - Introduction</a:t>
            </a:r>
          </a:p>
        </p:txBody>
      </p:sp>
      <p:sp>
        <p:nvSpPr>
          <p:cNvPr id="23" name="">
            <a:extLst>
              <a:ext uri="{FF2B5EF4-FFF2-40B4-BE49-F238E27FC236}">
                <ns2:creationId id="{E4D63E9A-50B0-482E-8159-17C59D3158BD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82231961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07CA0FD-219F-44D1-A6B1-3CA97C151B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6C67FECD-B3F0-461F-A2B0-BDDB119BC12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07/40</a:t>
            </a:r>
          </a:p>
        </p:txBody>
      </p:sp>
      <p:sp>
        <p:nvSpPr>
          <p:cNvPr id="3" name="">
            <a:extLst>
              <a:ext uri="{FF2B5EF4-FFF2-40B4-BE49-F238E27FC236}">
                <ns2:creationId id="{50897721-6436-4246-A1B7-EDDBF1B8214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Host, JIT, Device Flow</a:t>
            </a:r>
          </a:p>
        </p:txBody>
      </p:sp>
      <p:sp>
        <p:nvSpPr>
          <p:cNvPr id="4" name="">
            <a:extLst>
              <a:ext uri="{FF2B5EF4-FFF2-40B4-BE49-F238E27FC236}">
                <ns2:creationId id="{74520C8E-4EBE-4D00-9929-95B015F76FD1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host wrapper allocates Torch tensors and launches a JIT-compiled Triton kernel.</a:t>
            </a:r>
          </a:p>
        </p:txBody>
      </p:sp>
      <p:sp>
        <p:nvSpPr>
          <p:cNvPr id="5" name="">
            <a:extLst>
              <a:ext uri="{FF2B5EF4-FFF2-40B4-BE49-F238E27FC236}">
                <ns2:creationId id="{0371ACC2-60E7-4FEA-88DF-925456472884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93F00CF7-F172-4746-A397-080F4CE7378E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7" name="">
            <a:extLst>
              <a:ext uri="{FF2B5EF4-FFF2-40B4-BE49-F238E27FC236}">
                <ns2:creationId id="{389C98C7-D71F-42AE-9DC0-E9F48B55BD83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Python wrapper</a:t>
            </a:r>
          </a:p>
        </p:txBody>
      </p:sp>
      <p:sp>
        <p:nvSpPr>
          <p:cNvPr id="8" name="">
            <a:extLst>
              <a:ext uri="{FF2B5EF4-FFF2-40B4-BE49-F238E27FC236}">
                <ns2:creationId id="{9B9305BE-CA50-4D5E-840F-B469988C743E}"/>
              </a:ext>
            </a:extLst>
          </p:cNvPr>
          <p:cNvSpPr>
            <a:spLocks noGrp="1"/>
          </p:cNvSpPr>
          <p:nvPr/>
        </p:nvSpPr>
        <p:spPr>
          <a:xfrm>
            <a:off x="26098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9" name="">
            <a:extLst>
              <a:ext uri="{FF2B5EF4-FFF2-40B4-BE49-F238E27FC236}">
                <ns2:creationId id="{426F7C42-0F92-43F0-BEFC-52F49B14F718}"/>
              </a:ext>
            </a:extLst>
          </p:cNvPr>
          <p:cNvSpPr>
            <a:spLocks noGrp="1"/>
          </p:cNvSpPr>
          <p:nvPr/>
        </p:nvSpPr>
        <p:spPr>
          <a:xfrm>
            <a:off x="28003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0" name="">
            <a:extLst>
              <a:ext uri="{FF2B5EF4-FFF2-40B4-BE49-F238E27FC236}">
                <ns2:creationId id="{89EEDD9A-27AB-42FC-9161-5DF00889F04D}"/>
              </a:ext>
            </a:extLst>
          </p:cNvPr>
          <p:cNvSpPr>
            <a:spLocks noGrp="1"/>
          </p:cNvSpPr>
          <p:nvPr/>
        </p:nvSpPr>
        <p:spPr>
          <a:xfrm>
            <a:off x="29146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@triton.jit kernel</a:t>
            </a:r>
          </a:p>
        </p:txBody>
      </p:sp>
      <p:sp>
        <p:nvSpPr>
          <p:cNvPr id="11" name="">
            <a:extLst>
              <a:ext uri="{FF2B5EF4-FFF2-40B4-BE49-F238E27FC236}">
                <ns2:creationId id="{982B5DD7-F910-4598-8643-AF3695C24BD0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2" name="">
            <a:extLst>
              <a:ext uri="{FF2B5EF4-FFF2-40B4-BE49-F238E27FC236}">
                <ns2:creationId id="{0E4F449D-58FC-4E52-9A53-0659FFE609E1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3" name="">
            <a:extLst>
              <a:ext uri="{FF2B5EF4-FFF2-40B4-BE49-F238E27FC236}">
                <ns2:creationId id="{914859CB-D4C4-43A4-9BFE-F652A6899C65}"/>
              </a:ext>
            </a:extLst>
          </p:cNvPr>
          <p:cNvSpPr>
            <a:spLocks noGrp="1"/>
          </p:cNvSpPr>
          <p:nvPr/>
        </p:nvSpPr>
        <p:spPr>
          <a:xfrm>
            <a:off x="48387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first launch compile</a:t>
            </a:r>
          </a:p>
        </p:txBody>
      </p:sp>
      <p:sp>
        <p:nvSpPr>
          <p:cNvPr id="14" name="">
            <a:extLst>
              <a:ext uri="{FF2B5EF4-FFF2-40B4-BE49-F238E27FC236}">
                <ns2:creationId id="{937402C1-7FC9-46B6-8B6A-E4FD9BE67835}"/>
              </a:ext>
            </a:extLst>
          </p:cNvPr>
          <p:cNvSpPr>
            <a:spLocks noGrp="1"/>
          </p:cNvSpPr>
          <p:nvPr/>
        </p:nvSpPr>
        <p:spPr>
          <a:xfrm>
            <a:off x="64579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5" name="">
            <a:extLst>
              <a:ext uri="{FF2B5EF4-FFF2-40B4-BE49-F238E27FC236}">
                <ns2:creationId id="{900C1636-F36E-40B7-9114-75332F846E7B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6" name="">
            <a:extLst>
              <a:ext uri="{FF2B5EF4-FFF2-40B4-BE49-F238E27FC236}">
                <ns2:creationId id="{AD407E14-BB79-4C1C-9A36-26229C7FB1C7}"/>
              </a:ext>
            </a:extLst>
          </p:cNvPr>
          <p:cNvSpPr>
            <a:spLocks noGrp="1"/>
          </p:cNvSpPr>
          <p:nvPr/>
        </p:nvSpPr>
        <p:spPr>
          <a:xfrm>
            <a:off x="67627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GPU program grid</a:t>
            </a:r>
          </a:p>
        </p:txBody>
      </p:sp>
      <p:sp>
        <p:nvSpPr>
          <p:cNvPr id="17" name="">
            <a:extLst>
              <a:ext uri="{FF2B5EF4-FFF2-40B4-BE49-F238E27FC236}">
                <ns2:creationId id="{A192FB45-DFF4-4085-9623-EF70C2E05156}"/>
              </a:ext>
            </a:extLst>
          </p:cNvPr>
          <p:cNvSpPr>
            <a:spLocks noGrp="1"/>
          </p:cNvSpPr>
          <p:nvPr/>
        </p:nvSpPr>
        <p:spPr>
          <a:xfrm>
            <a:off x="83820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8" name="">
            <a:extLst>
              <a:ext uri="{FF2B5EF4-FFF2-40B4-BE49-F238E27FC236}">
                <ns2:creationId id="{31A012C3-3007-4C90-B2C5-8FF3556BF7B1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9" name="">
            <a:extLst>
              <a:ext uri="{FF2B5EF4-FFF2-40B4-BE49-F238E27FC236}">
                <ns2:creationId id="{D4C1DA7B-6A92-4657-8AB7-3767D3BD6974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Torch output tensor</a:t>
            </a:r>
          </a:p>
        </p:txBody>
      </p:sp>
      <p:sp>
        <p:nvSpPr>
          <p:cNvPr id="20" name="">
            <a:extLst>
              <a:ext uri="{FF2B5EF4-FFF2-40B4-BE49-F238E27FC236}">
                <ns2:creationId id="{661B6841-8900-48BC-84D0-F638458E6457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9334500" cy="552450"/>
          </a:xfrm>
          <a:prstGeom prst="rect">
            <a:avLst/>
          </a:prstGeom>
        </p:spPr>
        <p:txBody>
          <a:bodyPr anchor="t"/>
          <a:lstStyle/>
          <a:p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first launch can include compilation; benchmarks must warm up before comparison.</a:t>
            </a:r>
          </a:p>
        </p:txBody>
      </p:sp>
      <p:sp>
        <p:nvSpPr>
          <p:cNvPr id="21" name="">
            <a:extLst>
              <a:ext uri="{FF2B5EF4-FFF2-40B4-BE49-F238E27FC236}">
                <ns2:creationId id="{9C64779E-A673-45AA-AF3B-95949EF0BAE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22" name="">
            <a:extLst>
              <a:ext uri="{FF2B5EF4-FFF2-40B4-BE49-F238E27FC236}">
                <ns2:creationId id="{DCE5157D-53F5-4628-BEDD-038C77FD7953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576150874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55F3616-DCC8-4FD8-AFF3-1605D5928F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52E1B452-6018-4E94-93D0-750BC4D268F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08/40</a:t>
            </a:r>
          </a:p>
        </p:txBody>
      </p:sp>
      <p:sp>
        <p:nvSpPr>
          <p:cNvPr id="3" name="">
            <a:extLst>
              <a:ext uri="{FF2B5EF4-FFF2-40B4-BE49-F238E27FC236}">
                <ns2:creationId id="{E3192A4C-B64E-4723-8D97-AD5DA35F715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Kernel Anatomy</a:t>
            </a:r>
          </a:p>
        </p:txBody>
      </p:sp>
      <p:sp>
        <p:nvSpPr>
          <p:cNvPr id="4" name="">
            <a:extLst>
              <a:ext uri="{FF2B5EF4-FFF2-40B4-BE49-F238E27FC236}">
                <ns2:creationId id="{820DB931-4C03-4E8F-830D-EA8178EDB836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Triton kernel is a Python function whose body is compiled into GPU code.</a:t>
            </a:r>
          </a:p>
        </p:txBody>
      </p:sp>
      <p:sp>
        <p:nvSpPr>
          <p:cNvPr id="5" name="">
            <a:extLst>
              <a:ext uri="{FF2B5EF4-FFF2-40B4-BE49-F238E27FC236}">
                <ns2:creationId id="{F590E195-56E5-4E8C-9A57-842839E7E4F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3203937A-1930-4937-884F-7EF78389642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AAF2CCDA-56E2-4921-A748-2AE2C735E6E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45A2EA44-5E48-4E00-B2F5-180BF914C1B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Read it as GPU code</a:t>
            </a:r>
          </a:p>
        </p:txBody>
      </p:sp>
      <p:sp>
        <p:nvSpPr>
          <p:cNvPr id="9" name="">
            <a:extLst>
              <a:ext uri="{FF2B5EF4-FFF2-40B4-BE49-F238E27FC236}">
                <ns2:creationId id="{875759F8-639F-4455-90B0-D8613CCA8BC6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Arguments are device pointers or metadata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`tl.constexpr` values are compile-time meta-parameters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The launch grid chooses how many program instances run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Torch tensors become pointer-like kernel arguments</a:t>
            </a:r>
          </a:p>
        </p:txBody>
      </p:sp>
      <p:sp>
        <p:nvSpPr>
          <p:cNvPr id="10" name="">
            <a:extLst>
              <a:ext uri="{FF2B5EF4-FFF2-40B4-BE49-F238E27FC236}">
                <ns2:creationId id="{38F37ECD-B389-4324-A4F3-D48AB6FFAD8E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A7221733-CAF4-4177-A98A-A48383A41C68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shape of a Triton kernel</a:t>
            </a:r>
          </a:p>
        </p:txBody>
      </p:sp>
      <p:sp>
        <p:nvSpPr>
          <p:cNvPr id="12" name="">
            <a:extLst>
              <a:ext uri="{FF2B5EF4-FFF2-40B4-BE49-F238E27FC236}">
                <ns2:creationId id="{2195AA26-9637-4348-86C9-31D8255EB9BC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import triton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import triton.language as tl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@triton.jit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def kernel(a_ptr, b_ptr, out_ptr,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   n_elements,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   BLOCK_SIZE: tl.constexpr):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pid = tl.program_id(axis=0)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offsets = pid * BLOCK_SIZE + tl.arange(0, BLOCK_SIZE)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mask = offsets &lt; n_elements</a:t>
            </a:r>
          </a:p>
        </p:txBody>
      </p:sp>
      <p:sp>
        <p:nvSpPr>
          <p:cNvPr id="13" name="">
            <a:extLst>
              <a:ext uri="{FF2B5EF4-FFF2-40B4-BE49-F238E27FC236}">
                <ns2:creationId id="{DB552244-C62D-4E7B-B455-98C9432700D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C58586C4-96D3-467C-8A54-E040E30976BA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0904672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155BF4C-F333-4060-BA6D-DAD7AA3388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DA2176B9-5C10-4448-8EF4-5E527CD36AB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09/40</a:t>
            </a:r>
          </a:p>
        </p:txBody>
      </p:sp>
      <p:sp>
        <p:nvSpPr>
          <p:cNvPr id="3" name="">
            <a:extLst>
              <a:ext uri="{FF2B5EF4-FFF2-40B4-BE49-F238E27FC236}">
                <ns2:creationId id="{83349278-1BB8-4A9D-A51F-3929938F12C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Program ID Owns a Block</a:t>
            </a:r>
          </a:p>
        </p:txBody>
      </p:sp>
      <p:sp>
        <p:nvSpPr>
          <p:cNvPr id="4" name="">
            <a:extLst>
              <a:ext uri="{FF2B5EF4-FFF2-40B4-BE49-F238E27FC236}">
                <ns2:creationId id="{122B8422-B343-4375-8AA5-D0BAA2CE2A8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`tl.program_id(axis=0)` tells each program instance which slice of the 1D output it owns.</a:t>
            </a:r>
          </a:p>
        </p:txBody>
      </p:sp>
      <p:sp>
        <p:nvSpPr>
          <p:cNvPr id="5" name="">
            <a:extLst>
              <a:ext uri="{FF2B5EF4-FFF2-40B4-BE49-F238E27FC236}">
                <ns2:creationId id="{F1E395CC-7D8E-42AD-8ECD-07B77D3BA0C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006A54F-408A-4F93-9B2D-4D5D52267CE2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7" name="">
            <a:extLst>
              <a:ext uri="{FF2B5EF4-FFF2-40B4-BE49-F238E27FC236}">
                <ns2:creationId id="{9A184E99-66CA-4886-8BAE-85C1FF9F563A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pid=0</a:t>
            </a:r>
          </a:p>
        </p:txBody>
      </p:sp>
      <p:sp>
        <p:nvSpPr>
          <p:cNvPr id="8" name="">
            <a:extLst>
              <a:ext uri="{FF2B5EF4-FFF2-40B4-BE49-F238E27FC236}">
                <ns2:creationId id="{7B5CAEE0-79E6-4131-8F1D-DA9CAFE143B7}"/>
              </a:ext>
            </a:extLst>
          </p:cNvPr>
          <p:cNvSpPr>
            <a:spLocks noGrp="1"/>
          </p:cNvSpPr>
          <p:nvPr/>
        </p:nvSpPr>
        <p:spPr>
          <a:xfrm>
            <a:off x="11430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[0*B,\n1*B)</a:t>
            </a:r>
          </a:p>
        </p:txBody>
      </p:sp>
      <p:sp>
        <p:nvSpPr>
          <p:cNvPr id="9" name="">
            <a:extLst>
              <a:ext uri="{FF2B5EF4-FFF2-40B4-BE49-F238E27FC236}">
                <ns2:creationId id="{B067178C-9ACB-4C97-BC98-4B6320F01047}"/>
              </a:ext>
            </a:extLst>
          </p:cNvPr>
          <p:cNvSpPr>
            <a:spLocks noGrp="1"/>
          </p:cNvSpPr>
          <p:nvPr/>
        </p:nvSpPr>
        <p:spPr>
          <a:xfrm>
            <a:off x="23050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10" name="">
            <a:extLst>
              <a:ext uri="{FF2B5EF4-FFF2-40B4-BE49-F238E27FC236}">
                <ns2:creationId id="{5CF1D069-D35A-49FB-9EED-C3BCFA66B705}"/>
              </a:ext>
            </a:extLst>
          </p:cNvPr>
          <p:cNvSpPr>
            <a:spLocks noGrp="1"/>
          </p:cNvSpPr>
          <p:nvPr/>
        </p:nvSpPr>
        <p:spPr>
          <a:xfrm>
            <a:off x="24003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pid=1</a:t>
            </a:r>
          </a:p>
        </p:txBody>
      </p:sp>
      <p:sp>
        <p:nvSpPr>
          <p:cNvPr id="11" name="">
            <a:extLst>
              <a:ext uri="{FF2B5EF4-FFF2-40B4-BE49-F238E27FC236}">
                <ns2:creationId id="{1C287214-0040-4E7F-959C-DD68D4EECE37}"/>
              </a:ext>
            </a:extLst>
          </p:cNvPr>
          <p:cNvSpPr>
            <a:spLocks noGrp="1"/>
          </p:cNvSpPr>
          <p:nvPr/>
        </p:nvSpPr>
        <p:spPr>
          <a:xfrm>
            <a:off x="24003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[1*B,\n2*B)</a:t>
            </a:r>
          </a:p>
        </p:txBody>
      </p:sp>
      <p:sp>
        <p:nvSpPr>
          <p:cNvPr id="12" name="">
            <a:extLst>
              <a:ext uri="{FF2B5EF4-FFF2-40B4-BE49-F238E27FC236}">
                <ns2:creationId id="{F3DCDA05-F3ED-4BE9-81C4-063FCED81557}"/>
              </a:ext>
            </a:extLst>
          </p:cNvPr>
          <p:cNvSpPr>
            <a:spLocks noGrp="1"/>
          </p:cNvSpPr>
          <p:nvPr/>
        </p:nvSpPr>
        <p:spPr>
          <a:xfrm>
            <a:off x="35623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13" name="">
            <a:extLst>
              <a:ext uri="{FF2B5EF4-FFF2-40B4-BE49-F238E27FC236}">
                <ns2:creationId id="{9A392D19-618F-4D27-BD2F-BFB00542A032}"/>
              </a:ext>
            </a:extLst>
          </p:cNvPr>
          <p:cNvSpPr>
            <a:spLocks noGrp="1"/>
          </p:cNvSpPr>
          <p:nvPr/>
        </p:nvSpPr>
        <p:spPr>
          <a:xfrm>
            <a:off x="36576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pid=2</a:t>
            </a:r>
          </a:p>
        </p:txBody>
      </p:sp>
      <p:sp>
        <p:nvSpPr>
          <p:cNvPr id="14" name="">
            <a:extLst>
              <a:ext uri="{FF2B5EF4-FFF2-40B4-BE49-F238E27FC236}">
                <ns2:creationId id="{83C9770A-5832-47A6-9B49-5140AA3F3844}"/>
              </a:ext>
            </a:extLst>
          </p:cNvPr>
          <p:cNvSpPr>
            <a:spLocks noGrp="1"/>
          </p:cNvSpPr>
          <p:nvPr/>
        </p:nvSpPr>
        <p:spPr>
          <a:xfrm>
            <a:off x="36576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[2*B,\n3*B)</a:t>
            </a:r>
          </a:p>
        </p:txBody>
      </p:sp>
      <p:sp>
        <p:nvSpPr>
          <p:cNvPr id="15" name="">
            <a:extLst>
              <a:ext uri="{FF2B5EF4-FFF2-40B4-BE49-F238E27FC236}">
                <ns2:creationId id="{8DDAD028-C084-4B10-BD75-0061164C552A}"/>
              </a:ext>
            </a:extLst>
          </p:cNvPr>
          <p:cNvSpPr>
            <a:spLocks noGrp="1"/>
          </p:cNvSpPr>
          <p:nvPr/>
        </p:nvSpPr>
        <p:spPr>
          <a:xfrm>
            <a:off x="48196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16" name="">
            <a:extLst>
              <a:ext uri="{FF2B5EF4-FFF2-40B4-BE49-F238E27FC236}">
                <ns2:creationId id="{61E41C8E-F9B0-4132-B7E8-2CC8CA30AAAC}"/>
              </a:ext>
            </a:extLst>
          </p:cNvPr>
          <p:cNvSpPr>
            <a:spLocks noGrp="1"/>
          </p:cNvSpPr>
          <p:nvPr/>
        </p:nvSpPr>
        <p:spPr>
          <a:xfrm>
            <a:off x="49149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pid=3</a:t>
            </a:r>
          </a:p>
        </p:txBody>
      </p:sp>
      <p:sp>
        <p:nvSpPr>
          <p:cNvPr id="17" name="">
            <a:extLst>
              <a:ext uri="{FF2B5EF4-FFF2-40B4-BE49-F238E27FC236}">
                <ns2:creationId id="{3DADB6AA-E95D-492A-9FB7-18934946CFB3}"/>
              </a:ext>
            </a:extLst>
          </p:cNvPr>
          <p:cNvSpPr>
            <a:spLocks noGrp="1"/>
          </p:cNvSpPr>
          <p:nvPr/>
        </p:nvSpPr>
        <p:spPr>
          <a:xfrm>
            <a:off x="49149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[3*B,\n4*B)</a:t>
            </a:r>
          </a:p>
        </p:txBody>
      </p:sp>
      <p:sp>
        <p:nvSpPr>
          <p:cNvPr id="18" name="">
            <a:extLst>
              <a:ext uri="{FF2B5EF4-FFF2-40B4-BE49-F238E27FC236}">
                <ns2:creationId id="{F8F41C98-C534-44C7-A0CC-7D431BBC960A}"/>
              </a:ext>
            </a:extLst>
          </p:cNvPr>
          <p:cNvSpPr>
            <a:spLocks noGrp="1"/>
          </p:cNvSpPr>
          <p:nvPr/>
        </p:nvSpPr>
        <p:spPr>
          <a:xfrm>
            <a:off x="60769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19" name="">
            <a:extLst>
              <a:ext uri="{FF2B5EF4-FFF2-40B4-BE49-F238E27FC236}">
                <ns2:creationId id="{90CA0960-90BD-43AD-8116-DC5449A19847}"/>
              </a:ext>
            </a:extLst>
          </p:cNvPr>
          <p:cNvSpPr>
            <a:spLocks noGrp="1"/>
          </p:cNvSpPr>
          <p:nvPr/>
        </p:nvSpPr>
        <p:spPr>
          <a:xfrm>
            <a:off x="61722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pid=4</a:t>
            </a:r>
          </a:p>
        </p:txBody>
      </p:sp>
      <p:sp>
        <p:nvSpPr>
          <p:cNvPr id="20" name="">
            <a:extLst>
              <a:ext uri="{FF2B5EF4-FFF2-40B4-BE49-F238E27FC236}">
                <ns2:creationId id="{E22DA26A-F1FA-466D-81E2-C4D18D693BE9}"/>
              </a:ext>
            </a:extLst>
          </p:cNvPr>
          <p:cNvSpPr>
            <a:spLocks noGrp="1"/>
          </p:cNvSpPr>
          <p:nvPr/>
        </p:nvSpPr>
        <p:spPr>
          <a:xfrm>
            <a:off x="61722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[4*B,\n5*B)</a:t>
            </a:r>
          </a:p>
        </p:txBody>
      </p:sp>
      <p:sp>
        <p:nvSpPr>
          <p:cNvPr id="21" name="">
            <a:extLst>
              <a:ext uri="{FF2B5EF4-FFF2-40B4-BE49-F238E27FC236}">
                <ns2:creationId id="{A57DB94D-B303-4179-9B84-14C74295A85F}"/>
              </a:ext>
            </a:extLst>
          </p:cNvPr>
          <p:cNvSpPr>
            <a:spLocks noGrp="1"/>
          </p:cNvSpPr>
          <p:nvPr/>
        </p:nvSpPr>
        <p:spPr>
          <a:xfrm>
            <a:off x="73342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22" name="">
            <a:extLst>
              <a:ext uri="{FF2B5EF4-FFF2-40B4-BE49-F238E27FC236}">
                <ns2:creationId id="{4AA18F67-E5DF-4486-B7F7-04DD3E1EEE3E}"/>
              </a:ext>
            </a:extLst>
          </p:cNvPr>
          <p:cNvSpPr>
            <a:spLocks noGrp="1"/>
          </p:cNvSpPr>
          <p:nvPr/>
        </p:nvSpPr>
        <p:spPr>
          <a:xfrm>
            <a:off x="74295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pid=5</a:t>
            </a:r>
          </a:p>
        </p:txBody>
      </p:sp>
      <p:sp>
        <p:nvSpPr>
          <p:cNvPr id="23" name="">
            <a:extLst>
              <a:ext uri="{FF2B5EF4-FFF2-40B4-BE49-F238E27FC236}">
                <ns2:creationId id="{A3E70266-9C94-4640-93AC-86D9900B1E0E}"/>
              </a:ext>
            </a:extLst>
          </p:cNvPr>
          <p:cNvSpPr>
            <a:spLocks noGrp="1"/>
          </p:cNvSpPr>
          <p:nvPr/>
        </p:nvSpPr>
        <p:spPr>
          <a:xfrm>
            <a:off x="74295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[5*B,\n6*B)</a:t>
            </a:r>
          </a:p>
        </p:txBody>
      </p:sp>
      <p:sp>
        <p:nvSpPr>
          <p:cNvPr id="24" name="">
            <a:extLst>
              <a:ext uri="{FF2B5EF4-FFF2-40B4-BE49-F238E27FC236}">
                <ns2:creationId id="{398E0101-3DD5-4D1D-8745-B8C1353AB8E1}"/>
              </a:ext>
            </a:extLst>
          </p:cNvPr>
          <p:cNvSpPr>
            <a:spLocks noGrp="1"/>
          </p:cNvSpPr>
          <p:nvPr/>
        </p:nvSpPr>
        <p:spPr>
          <a:xfrm>
            <a:off x="8591550" y="2819400"/>
            <a:ext cx="1181100" cy="838200"/>
          </a:xfrm>
          <a:prstGeom prst="roundRect">
            <a:avLst>
              <a:gd name="adj" fmla="val 4545"/>
            </a:avLst>
          </a:prstGeom>
          <a:solidFill>
            <a:srgbClr val="2B2238"/>
          </a:solidFill>
          <a:ln w="19050">
            <a:solidFill>
              <a:srgbClr val="F472B6"/>
            </a:solidFill>
          </a:ln>
        </p:spPr>
      </p:sp>
      <p:sp>
        <p:nvSpPr>
          <p:cNvPr id="25" name="">
            <a:extLst>
              <a:ext uri="{FF2B5EF4-FFF2-40B4-BE49-F238E27FC236}">
                <ns2:creationId id="{C96628B8-401C-4597-8DAD-D6454BF2CCDE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990600" cy="1714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1" i="0">
                <a:solidFill>
                  <a:srgbClr val="F472B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472B6"/>
                </a:solidFill>
                <a:latin typeface="Aptos"/>
                <a:ea typeface="Aptos"/>
                <a:cs typeface="Aptos"/>
              </a:rPr>
              <a:t>pid=6</a:t>
            </a:r>
          </a:p>
        </p:txBody>
      </p:sp>
      <p:sp>
        <p:nvSpPr>
          <p:cNvPr id="26" name="">
            <a:extLst>
              <a:ext uri="{FF2B5EF4-FFF2-40B4-BE49-F238E27FC236}">
                <ns2:creationId id="{B6438D14-3012-4CFC-91CF-FF85161BBFCF}"/>
              </a:ext>
            </a:extLst>
          </p:cNvPr>
          <p:cNvSpPr>
            <a:spLocks noGrp="1"/>
          </p:cNvSpPr>
          <p:nvPr/>
        </p:nvSpPr>
        <p:spPr>
          <a:xfrm>
            <a:off x="8686800" y="3248025"/>
            <a:ext cx="990600" cy="285750"/>
          </a:xfrm>
          <a:prstGeom prst="rect">
            <a:avLst/>
          </a:prstGeom>
        </p:spPr>
        <p:txBody>
          <a:bodyPr anchor="t"/>
          <a:lstStyle/>
          <a:p>
            <a:pPr algn="ctr">
              <a:defRPr sz="9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[6*B,\n7*B)</a:t>
            </a:r>
          </a:p>
        </p:txBody>
      </p:sp>
      <p:sp>
        <p:nvSpPr>
          <p:cNvPr id="27" name="">
            <a:extLst>
              <a:ext uri="{FF2B5EF4-FFF2-40B4-BE49-F238E27FC236}">
                <ns2:creationId id="{FA516A59-CC97-4C3A-B93E-DC9CE0A4EEF6}"/>
              </a:ext>
            </a:extLst>
          </p:cNvPr>
          <p:cNvSpPr>
            <a:spLocks noGrp="1"/>
          </p:cNvSpPr>
          <p:nvPr/>
        </p:nvSpPr>
        <p:spPr>
          <a:xfrm>
            <a:off x="2247900" y="4038600"/>
            <a:ext cx="6858000" cy="247650"/>
          </a:xfrm>
          <a:prstGeom prst="rect">
            <a:avLst/>
          </a:prstGeom>
        </p:spPr>
        <p:txBody>
          <a:bodyPr anchor="t"/>
          <a:lstStyle/>
          <a:p>
            <a:pPr algn="ctr">
              <a:defRPr sz="13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last program may over-cover; mask keeps memory accesses legal</a:t>
            </a:r>
          </a:p>
        </p:txBody>
      </p:sp>
      <p:sp>
        <p:nvSpPr>
          <p:cNvPr id="28" name="">
            <a:extLst>
              <a:ext uri="{FF2B5EF4-FFF2-40B4-BE49-F238E27FC236}">
                <ns2:creationId id="{DE50CCEE-94C9-40A0-968F-180B61831EE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29" name="">
            <a:extLst>
              <a:ext uri="{FF2B5EF4-FFF2-40B4-BE49-F238E27FC236}">
                <ns2:creationId id="{985C3FBC-5D42-469A-A098-A360F826A072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510486265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B687C9F-293D-480B-BA93-C6BF4F0B19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D0025858-19AB-48E2-A2AE-3C364DEF813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11/40</a:t>
            </a:r>
          </a:p>
        </p:txBody>
      </p:sp>
      <p:sp>
        <p:nvSpPr>
          <p:cNvPr id="3" name="">
            <a:extLst>
              <a:ext uri="{FF2B5EF4-FFF2-40B4-BE49-F238E27FC236}">
                <ns2:creationId id="{840BB60E-6C6D-4B9F-A9A5-2CC76FBBE86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Offsets and Masks</a:t>
            </a:r>
          </a:p>
        </p:txBody>
      </p:sp>
      <p:sp>
        <p:nvSpPr>
          <p:cNvPr id="4" name="">
            <a:extLst>
              <a:ext uri="{FF2B5EF4-FFF2-40B4-BE49-F238E27FC236}">
                <ns2:creationId id="{CD73D622-8908-488C-B029-B2906B51ACC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Triton kernels build pointer vectors, then use masks to suppress unsafe edge accesses.</a:t>
            </a:r>
          </a:p>
        </p:txBody>
      </p:sp>
      <p:sp>
        <p:nvSpPr>
          <p:cNvPr id="5" name="">
            <a:extLst>
              <a:ext uri="{FF2B5EF4-FFF2-40B4-BE49-F238E27FC236}">
                <ns2:creationId id="{8CB81415-5CEC-4CD3-849E-630E4E013A0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8D1FEF1E-1BDF-4A3D-9D46-C943EF6C522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C35AFC9F-C277-48A1-91F8-C681A96937D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6574EC29-B311-4E4B-B185-311DA4815462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The important pattern</a:t>
            </a:r>
          </a:p>
        </p:txBody>
      </p:sp>
      <p:sp>
        <p:nvSpPr>
          <p:cNvPr id="9" name="">
            <a:extLst>
              <a:ext uri="{FF2B5EF4-FFF2-40B4-BE49-F238E27FC236}">
                <ns2:creationId id="{9441F356-623B-4C9A-B112-493152D992F7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Compute a vector of offsets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Compare offsets against the true element count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the same mask for loads and stores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Over-launch safely to cover all elements</a:t>
            </a:r>
          </a:p>
        </p:txBody>
      </p:sp>
      <p:sp>
        <p:nvSpPr>
          <p:cNvPr id="10" name="">
            <a:extLst>
              <a:ext uri="{FF2B5EF4-FFF2-40B4-BE49-F238E27FC236}">
                <ns2:creationId id="{A75B6A7E-A99F-4C4F-A316-CAB0FF4F3FF2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F8D2F6B4-6706-4D03-9CE6-AFAC5A1A0BAD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masked 1D memory access</a:t>
            </a:r>
          </a:p>
        </p:txBody>
      </p:sp>
      <p:sp>
        <p:nvSpPr>
          <p:cNvPr id="12" name="">
            <a:extLst>
              <a:ext uri="{FF2B5EF4-FFF2-40B4-BE49-F238E27FC236}">
                <ns2:creationId id="{2B06EA76-30E1-45CE-B447-60B82DEE2945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block_start = pid * BLOCK_SIZE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offsets = block_start + tl.arange(0, BLOCK_SIZE)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mask = offsets &lt; n_elements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a = tl.load(a_ptr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 = tl.load(b_ptr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tl.store(out_ptr + offsets, a + b, mask=mask)</a:t>
            </a:r>
          </a:p>
        </p:txBody>
      </p:sp>
      <p:sp>
        <p:nvSpPr>
          <p:cNvPr id="13" name="">
            <a:extLst>
              <a:ext uri="{FF2B5EF4-FFF2-40B4-BE49-F238E27FC236}">
                <ns2:creationId id="{2696B0F9-8CCD-446A-A97D-D7F40C28101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C33D548B-DAE5-4C7F-BFD4-FCBD9094AB8D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18886072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86EBD89-0463-4845-8CBD-D51ED2C37E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52890BED-CAA7-4BF9-8501-70689182199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12/40</a:t>
            </a:r>
          </a:p>
        </p:txBody>
      </p:sp>
      <p:sp>
        <p:nvSpPr>
          <p:cNvPr id="3" name="">
            <a:extLst>
              <a:ext uri="{FF2B5EF4-FFF2-40B4-BE49-F238E27FC236}">
                <ns2:creationId id="{F4856E25-7F49-492A-BC63-6618EB3BB2E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Vector Add</a:t>
            </a:r>
          </a:p>
        </p:txBody>
      </p:sp>
      <p:sp>
        <p:nvSpPr>
          <p:cNvPr id="4" name="">
            <a:extLst>
              <a:ext uri="{FF2B5EF4-FFF2-40B4-BE49-F238E27FC236}">
                <ns2:creationId id="{8D0485E0-C779-4D68-9362-40373096F8D6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first kernel mirrors Day 1 CUDA vector add, but the block is expressed as a vector operation inside one program.</a:t>
            </a:r>
          </a:p>
        </p:txBody>
      </p:sp>
      <p:sp>
        <p:nvSpPr>
          <p:cNvPr id="5" name="">
            <a:extLst>
              <a:ext uri="{FF2B5EF4-FFF2-40B4-BE49-F238E27FC236}">
                <ns2:creationId id="{3480B3F9-AAE4-4B90-864B-9BE2AAF62AE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35E9A62-7125-4BAA-B2C4-33A3444BE7B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5A6CD1FE-F392-409A-8DEF-53482943E19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D6161D0A-17CD-4950-8D3F-DBEDF6A3ECAC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Exercise target</a:t>
            </a:r>
          </a:p>
        </p:txBody>
      </p:sp>
      <p:sp>
        <p:nvSpPr>
          <p:cNvPr id="9" name="">
            <a:extLst>
              <a:ext uri="{FF2B5EF4-FFF2-40B4-BE49-F238E27FC236}">
                <ns2:creationId id="{2B0236E2-D0C5-40A2-836B-5A9B569DE1AD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Function: `triton_vector_add(a, b, block_size=1024)`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Inputs are contiguous CUDA tensors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Output shape equals input shape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Test uses an edge size that is not divisible by block size</a:t>
            </a:r>
          </a:p>
        </p:txBody>
      </p:sp>
      <p:sp>
        <p:nvSpPr>
          <p:cNvPr id="10" name="">
            <a:extLst>
              <a:ext uri="{FF2B5EF4-FFF2-40B4-BE49-F238E27FC236}">
                <ns2:creationId id="{19A2CFB1-FE18-43CB-9C49-05D9B26D6877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CE26727E-9A9E-47B6-9117-5E26A4842550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completed vector add core</a:t>
            </a:r>
          </a:p>
        </p:txBody>
      </p:sp>
      <p:sp>
        <p:nvSpPr>
          <p:cNvPr id="12" name="">
            <a:extLst>
              <a:ext uri="{FF2B5EF4-FFF2-40B4-BE49-F238E27FC236}">
                <ns2:creationId id="{F47389D0-4203-49D2-A963-28E9B282C539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pid = tl.program_id(axis=0)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offsets = pid * BLOCK_SIZE + tl.arange(0, BLOCK_SIZE)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mask = offsets &lt; n_elements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a = tl.load(a_ptr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 = tl.load(b_ptr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tl.store(out_ptr + offsets, a + b, mask=mask)</a:t>
            </a:r>
          </a:p>
        </p:txBody>
      </p:sp>
      <p:sp>
        <p:nvSpPr>
          <p:cNvPr id="13" name="">
            <a:extLst>
              <a:ext uri="{FF2B5EF4-FFF2-40B4-BE49-F238E27FC236}">
                <ns2:creationId id="{892F8786-27EB-4ACB-8692-B0ECB98DECC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tp/solutions/stretch/ex13_triton_dsl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DE7E66A6-ABBF-4363-8D66-0518BB404876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30837032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AD4D1C2-A407-44A6-B2FC-0DE12BBA9C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DAF20E3C-7066-4245-826F-31C062EB377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13/40</a:t>
            </a:r>
          </a:p>
        </p:txBody>
      </p:sp>
      <p:sp>
        <p:nvSpPr>
          <p:cNvPr id="3" name="">
            <a:extLst>
              <a:ext uri="{FF2B5EF4-FFF2-40B4-BE49-F238E27FC236}">
                <ns2:creationId id="{A8B3B5B9-5F2B-4104-A07B-CDD68D25B60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Vector Add Wrapper</a:t>
            </a:r>
          </a:p>
        </p:txBody>
      </p:sp>
      <p:sp>
        <p:nvSpPr>
          <p:cNvPr id="4" name="">
            <a:extLst>
              <a:ext uri="{FF2B5EF4-FFF2-40B4-BE49-F238E27FC236}">
                <ns2:creationId id="{75E1BEEF-7CEF-4B97-8BCF-A0FA9C64230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wrapper is ordinary Python; the indexed call launches the GPU kernel.</a:t>
            </a:r>
          </a:p>
        </p:txBody>
      </p:sp>
      <p:sp>
        <p:nvSpPr>
          <p:cNvPr id="5" name="">
            <a:extLst>
              <a:ext uri="{FF2B5EF4-FFF2-40B4-BE49-F238E27FC236}">
                <ns2:creationId id="{64657F40-C17B-46B8-9789-DEB2529A96D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996FF447-3D50-47CF-A240-C77C6B8B103E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E7AE6096-239A-4576-8F72-CE948EDBF60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67CC22C0-47B6-4E2E-83FD-D4B1484F7AA6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Wrapper responsibilities</a:t>
            </a:r>
          </a:p>
        </p:txBody>
      </p:sp>
      <p:sp>
        <p:nvSpPr>
          <p:cNvPr id="9" name="">
            <a:extLst>
              <a:ext uri="{FF2B5EF4-FFF2-40B4-BE49-F238E27FC236}">
                <ns2:creationId id="{155EEC08-4231-48C5-9331-1ACA4E4B98B2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Validate CUDA and contiguous tensors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Allocate output with `torch.empty_like`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Compute `n_elements`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`triton.cdiv` for the launch grid</a:t>
            </a:r>
          </a:p>
        </p:txBody>
      </p:sp>
      <p:sp>
        <p:nvSpPr>
          <p:cNvPr id="10" name="">
            <a:extLst>
              <a:ext uri="{FF2B5EF4-FFF2-40B4-BE49-F238E27FC236}">
                <ns2:creationId id="{68591BAD-47E3-426A-B9C6-6E6C84F4B15B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2F17F244-75FC-4562-AFF0-AFE009FB77E3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Python host wrapper</a:t>
            </a:r>
          </a:p>
        </p:txBody>
      </p:sp>
      <p:sp>
        <p:nvSpPr>
          <p:cNvPr id="12" name="">
            <a:extLst>
              <a:ext uri="{FF2B5EF4-FFF2-40B4-BE49-F238E27FC236}">
                <ns2:creationId id="{A096AD03-1D48-4954-80F0-BD58A032679B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def triton_vector_add(a, b, block_size=1024):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out = torch.empty_like(a)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n_elements = out.numel()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grid = lambda meta: 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triton.cdiv(n_elements, meta["BLOCK_SIZE"]),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_vector_add_kernel[grid](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a, b, out, n_elements,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BLOCK_SIZE=block_size,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return out</a:t>
            </a:r>
          </a:p>
        </p:txBody>
      </p:sp>
      <p:sp>
        <p:nvSpPr>
          <p:cNvPr id="13" name="">
            <a:extLst>
              <a:ext uri="{FF2B5EF4-FFF2-40B4-BE49-F238E27FC236}">
                <ns2:creationId id="{5B48004C-4C90-42B8-979F-5ED741FD6C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96151D57-49A1-41BB-95BF-9C336ADBE2AA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65198935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1343C81-7590-4432-902B-C43D9866DF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BC7D403A-19BC-44E9-9035-361C8A9EC8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14/40</a:t>
            </a:r>
          </a:p>
        </p:txBody>
      </p:sp>
      <p:sp>
        <p:nvSpPr>
          <p:cNvPr id="3" name="">
            <a:extLst>
              <a:ext uri="{FF2B5EF4-FFF2-40B4-BE49-F238E27FC236}">
                <ns2:creationId id="{63BC8377-3694-4851-8932-D007D12327D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SAXPY Is a Small Mutation</a:t>
            </a:r>
          </a:p>
        </p:txBody>
      </p:sp>
      <p:sp>
        <p:nvSpPr>
          <p:cNvPr id="4" name="">
            <a:extLst>
              <a:ext uri="{FF2B5EF4-FFF2-40B4-BE49-F238E27FC236}">
                <ns2:creationId id="{195447E4-4DE4-4386-99F7-94F4D6F7CED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SAXPY keeps the same memory shape but adds a scalar multiply before the add.</a:t>
            </a:r>
          </a:p>
        </p:txBody>
      </p:sp>
      <p:sp>
        <p:nvSpPr>
          <p:cNvPr id="5" name="">
            <a:extLst>
              <a:ext uri="{FF2B5EF4-FFF2-40B4-BE49-F238E27FC236}">
                <ns2:creationId id="{F9F80177-A71D-4FA0-B15E-10FA5E362D9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67D7270D-959C-4931-BF71-B3B90E58D6C8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9382E9DB-BBC4-40B3-88C8-B7CE0807BAA0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B7B8AB4A-13B0-484B-97CC-628E51A6427D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9" name="">
            <a:extLst>
              <a:ext uri="{FF2B5EF4-FFF2-40B4-BE49-F238E27FC236}">
                <ns2:creationId id="{4979A300-5AB6-49CD-8E58-A6A41119318A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Same offsets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Same mask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Same grid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Only the arithmetic expression changes</a:t>
            </a:r>
          </a:p>
        </p:txBody>
      </p:sp>
      <p:sp>
        <p:nvSpPr>
          <p:cNvPr id="10" name="">
            <a:extLst>
              <a:ext uri="{FF2B5EF4-FFF2-40B4-BE49-F238E27FC236}">
                <ns2:creationId id="{BE8DB49A-FD0A-4A57-8B07-16A7B9DE46A4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3B9B1208-9C38-427B-A1C9-1B4D4BD714D4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SAXPY core</a:t>
            </a:r>
          </a:p>
        </p:txBody>
      </p:sp>
      <p:sp>
        <p:nvSpPr>
          <p:cNvPr id="12" name="">
            <a:extLst>
              <a:ext uri="{FF2B5EF4-FFF2-40B4-BE49-F238E27FC236}">
                <ns2:creationId id="{7FB78AD5-D317-4C77-A467-BD68E1BBF0C3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@triton.jit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def _saxpy_kernel(a_ptr, b_ptr, out_ptr,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          alpha, n_elements,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              BLOCK_SIZE: tl.constexpr):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pid = tl.program_id(axis=0)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offsets = pid * BLOCK_SIZE + tl.arange(0, BLOCK_SIZE)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mask = offsets &lt; n_elements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a = tl.load(a_ptr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b = tl.load(b_ptr + offsets, mask=mask,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tl.store(out_ptr + offsets, alpha * a + b, mask=mask)</a:t>
            </a:r>
          </a:p>
        </p:txBody>
      </p:sp>
      <p:sp>
        <p:nvSpPr>
          <p:cNvPr id="13" name="">
            <a:extLst>
              <a:ext uri="{FF2B5EF4-FFF2-40B4-BE49-F238E27FC236}">
                <ns2:creationId id="{8B405C97-8911-4C22-B6D3-6D267A3E65D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tp/solutions/stretch/ex13_triton_dsl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32119E30-6DFD-4451-A76F-EADD12B54D6A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0446103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54FE340-A460-4156-9B78-48967762C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1E84157E-DAF0-4BD6-9059-B27927F107C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15/40</a:t>
            </a:r>
          </a:p>
        </p:txBody>
      </p:sp>
      <p:sp>
        <p:nvSpPr>
          <p:cNvPr id="3" name="">
            <a:extLst>
              <a:ext uri="{FF2B5EF4-FFF2-40B4-BE49-F238E27FC236}">
                <ns2:creationId id="{6A312C13-2742-4551-B773-18617F05F87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Vector Add vs SAXPY</a:t>
            </a:r>
          </a:p>
        </p:txBody>
      </p:sp>
      <p:sp>
        <p:nvSpPr>
          <p:cNvPr id="4" name="">
            <a:extLst>
              <a:ext uri="{FF2B5EF4-FFF2-40B4-BE49-F238E27FC236}">
                <ns2:creationId id="{1B3F3121-6701-4A36-9E91-5D833A842EA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This pair is useful pedagogically because it changes compute without changing the indexing model.</a:t>
            </a:r>
          </a:p>
        </p:txBody>
      </p:sp>
      <p:sp>
        <p:nvSpPr>
          <p:cNvPr id="5" name="">
            <a:extLst>
              <a:ext uri="{FF2B5EF4-FFF2-40B4-BE49-F238E27FC236}">
                <ns2:creationId id="{15C672D7-28A5-43D3-BAB1-46473C69C1D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F6D992F9-A2ED-472A-A96B-361E8FE3E88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5CEE046E-132E-4F5A-8AFA-359CE5BEAA5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069CECDB-EDAF-4650-9086-59F353BEF051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Vector add</a:t>
            </a:r>
          </a:p>
        </p:txBody>
      </p:sp>
      <p:sp>
        <p:nvSpPr>
          <p:cNvPr id="9" name="">
            <a:extLst>
              <a:ext uri="{FF2B5EF4-FFF2-40B4-BE49-F238E27FC236}">
                <ns2:creationId id="{DDD6F151-CBB5-4C18-A10B-79F98EB26C93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`out = a + b`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- 3 tensor memory movements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Mostly bandwidth-bound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Best for learning block coverage</a:t>
            </a:r>
          </a:p>
        </p:txBody>
      </p:sp>
      <p:sp>
        <p:nvSpPr>
          <p:cNvPr id="10" name="">
            <a:extLst>
              <a:ext uri="{FF2B5EF4-FFF2-40B4-BE49-F238E27FC236}">
                <ns2:creationId id="{89173C05-3957-46D0-B787-BE3DC7E91890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7C625E08-6B2F-4D04-96F8-E8493AD24C5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E4B77BBB-D0D9-4231-A44E-B90F917070AC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SAXPY</a:t>
            </a:r>
          </a:p>
        </p:txBody>
      </p:sp>
      <p:sp>
        <p:nvSpPr>
          <p:cNvPr id="13" name="">
            <a:extLst>
              <a:ext uri="{FF2B5EF4-FFF2-40B4-BE49-F238E27FC236}">
                <ns2:creationId id="{C791508B-0F23-47E5-8D39-DA5E6CD46C3B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`out = alpha * a + b`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Same memory movement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One scalar multiply per element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Best for seeing arithmetic as the easy part</a:t>
            </a:r>
          </a:p>
        </p:txBody>
      </p:sp>
      <p:sp>
        <p:nvSpPr>
          <p:cNvPr id="14" name="">
            <a:extLst>
              <a:ext uri="{FF2B5EF4-FFF2-40B4-BE49-F238E27FC236}">
                <ns2:creationId id="{6B01590B-7BA5-4A2A-AA6A-9F6680F445F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CUDA course operation: out[i] = alpha * a[i] + b[i]</a:t>
            </a:r>
          </a:p>
        </p:txBody>
      </p:sp>
      <p:sp>
        <p:nvSpPr>
          <p:cNvPr id="15" name="">
            <a:extLst>
              <a:ext uri="{FF2B5EF4-FFF2-40B4-BE49-F238E27FC236}">
                <ns2:creationId id="{39D8074B-B3A1-4E7F-ADAA-CFB78BCD2B05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85064081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A8EA036-39BE-4974-A323-CB33C81E9F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E165E8D3-1284-4A99-A6AD-5E1238B1E05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16/40</a:t>
            </a:r>
          </a:p>
        </p:txBody>
      </p:sp>
      <p:sp>
        <p:nvSpPr>
          <p:cNvPr id="3" name="">
            <a:extLst>
              <a:ext uri="{FF2B5EF4-FFF2-40B4-BE49-F238E27FC236}">
                <ns2:creationId id="{9C8D82EC-7F45-4CA1-9882-2586A41C086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Benchmark Elementwise Kernels</a:t>
            </a:r>
          </a:p>
        </p:txBody>
      </p:sp>
      <p:sp>
        <p:nvSpPr>
          <p:cNvPr id="4" name="">
            <a:extLst>
              <a:ext uri="{FF2B5EF4-FFF2-40B4-BE49-F238E27FC236}">
                <ns2:creationId id="{2A46FDDF-017F-4185-B861-E3D1BD75F6BE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benchmark compares Torch eager expressions with the custom Triton wrappers.</a:t>
            </a:r>
          </a:p>
        </p:txBody>
      </p:sp>
      <p:sp>
        <p:nvSpPr>
          <p:cNvPr id="5" name="">
            <a:extLst>
              <a:ext uri="{FF2B5EF4-FFF2-40B4-BE49-F238E27FC236}">
                <ns2:creationId id="{AA83AD76-DAAB-4163-BDD3-A55CA3B76E34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80AE276D-61DA-404F-B101-23286957004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8BDD1162-F439-4133-97CD-ABD2EE0280D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3AFCEA19-33A4-4DAE-BD7D-2D08F565504E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Interpretation rules</a:t>
            </a:r>
          </a:p>
        </p:txBody>
      </p:sp>
      <p:sp>
        <p:nvSpPr>
          <p:cNvPr id="9" name="">
            <a:extLst>
              <a:ext uri="{FF2B5EF4-FFF2-40B4-BE49-F238E27FC236}">
                <ns2:creationId id="{8ED55E9A-F563-440E-BBC1-D3E2C47515D2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Run once to populate JIT/cache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Run again for steady-state timing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same tensor sizes for Torch and Triton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GB/s is a better first read than raw ms</a:t>
            </a:r>
          </a:p>
        </p:txBody>
      </p:sp>
      <p:sp>
        <p:nvSpPr>
          <p:cNvPr id="10" name="">
            <a:extLst>
              <a:ext uri="{FF2B5EF4-FFF2-40B4-BE49-F238E27FC236}">
                <ns2:creationId id="{53265928-C53C-48D5-B286-573EA95F16D7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0891585B-C8C9-4A25-865D-75C18121BA98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benchmark skeleton</a:t>
            </a:r>
          </a:p>
        </p:txBody>
      </p:sp>
      <p:sp>
        <p:nvSpPr>
          <p:cNvPr id="12" name="">
            <a:extLst>
              <a:ext uri="{FF2B5EF4-FFF2-40B4-BE49-F238E27FC236}">
                <ns2:creationId id="{4B19D6B2-3483-44C9-ADF3-848F655F23B8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torch_ms = triton.testing.do_bench(lambda: a + b)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triton_ms = triton.testing.do_bench(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lambda: triton_vector_add(a, b)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gb_s = bytes_moved * 1e-9 / (ms * 1e-3)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bytes_moved = 3 * a.numel() * a.element_size()</a:t>
            </a:r>
          </a:p>
        </p:txBody>
      </p:sp>
      <p:sp>
        <p:nvSpPr>
          <p:cNvPr id="13" name="">
            <a:extLst>
              <a:ext uri="{FF2B5EF4-FFF2-40B4-BE49-F238E27FC236}">
                <ns2:creationId id="{3F94E15E-8FBE-44F5-A993-80ECC0ADCE4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E2ADEFBD-3D37-4C52-94C6-5FFDC65B6A83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218374903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096B9D6-3E0D-4DCA-BE8E-8AC03CB334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4694C4E2-3B58-4469-BAB1-E6D3560735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17/40</a:t>
            </a:r>
          </a:p>
        </p:txBody>
      </p:sp>
      <p:sp>
        <p:nvSpPr>
          <p:cNvPr id="3" name="">
            <a:extLst>
              <a:ext uri="{FF2B5EF4-FFF2-40B4-BE49-F238E27FC236}">
                <ns2:creationId id="{9DE8B864-83D7-46DD-98F2-E76EBE4CE3A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Debugging Triton</a:t>
            </a:r>
          </a:p>
        </p:txBody>
      </p:sp>
      <p:sp>
        <p:nvSpPr>
          <p:cNvPr id="4" name="">
            <a:extLst>
              <a:ext uri="{FF2B5EF4-FFF2-40B4-BE49-F238E27FC236}">
                <ns2:creationId id="{F79C9AB1-D481-4AF8-954D-A00F91DD40F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Keep the same debugging posture from CUDA: reduce, isolate, verify, then benchmark.</a:t>
            </a:r>
          </a:p>
        </p:txBody>
      </p:sp>
      <p:sp>
        <p:nvSpPr>
          <p:cNvPr id="5" name="">
            <a:extLst>
              <a:ext uri="{FF2B5EF4-FFF2-40B4-BE49-F238E27FC236}">
                <ns2:creationId id="{A4000934-AFE7-4DEB-B563-B1786267C06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17B66827-8026-4435-BDF2-35F92CF036D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AA72F1AD-159A-4245-8070-227A999D84B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F1D2935E-4B46-4D20-962C-BEBAB8CCC2BE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Runtime checks</a:t>
            </a:r>
          </a:p>
        </p:txBody>
      </p:sp>
      <p:sp>
        <p:nvSpPr>
          <p:cNvPr id="9" name="">
            <a:extLst>
              <a:ext uri="{FF2B5EF4-FFF2-40B4-BE49-F238E27FC236}">
                <ns2:creationId id="{BBFD45DD-52D2-4826-A6D1-A561B30A3C25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Start with Torch reference output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small sizes before large benchmarks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Force non-divisible edge sizes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Compare with `torch.testing.assert_close`</a:t>
            </a:r>
          </a:p>
        </p:txBody>
      </p:sp>
      <p:sp>
        <p:nvSpPr>
          <p:cNvPr id="10" name="">
            <a:extLst>
              <a:ext uri="{FF2B5EF4-FFF2-40B4-BE49-F238E27FC236}">
                <ns2:creationId id="{E22913E3-EAA7-4DCD-96AF-8EB99DBCCD8D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D4005DAA-5D6A-49CF-9DF8-A444A88562D1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C8432E35-D5C1-478E-B846-7E4CBDC59635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Triton tools</a:t>
            </a:r>
          </a:p>
        </p:txBody>
      </p:sp>
      <p:sp>
        <p:nvSpPr>
          <p:cNvPr id="13" name="">
            <a:extLst>
              <a:ext uri="{FF2B5EF4-FFF2-40B4-BE49-F238E27FC236}">
                <ns2:creationId id="{516523A1-92A8-458F-9409-D4BD3D2783F6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`static_print` and `static_assert` for compile-time debugging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`device_print` and `device_assert` for runtime debugging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`TRITON_INTERPRET=1` can simulate kernels on CPU for some cases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Remember interpreter limitations</a:t>
            </a:r>
          </a:p>
        </p:txBody>
      </p:sp>
      <p:sp>
        <p:nvSpPr>
          <p:cNvPr id="14" name="">
            <a:extLst>
              <a:ext uri="{FF2B5EF4-FFF2-40B4-BE49-F238E27FC236}">
                <ns2:creationId id="{083357CC-1121-4500-96D3-36046E56576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Programming Guide - Debugging</a:t>
            </a:r>
          </a:p>
        </p:txBody>
      </p:sp>
      <p:sp>
        <p:nvSpPr>
          <p:cNvPr id="15" name="">
            <a:extLst>
              <a:ext uri="{FF2B5EF4-FFF2-40B4-BE49-F238E27FC236}">
                <ns2:creationId id="{48C09A79-988F-42D8-85EF-AAC9706A0192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68291278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BF07EABD-3C92-42BD-BD03-1717D04F03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E86424A9-0100-4A96-8954-10153B487B6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18/40</a:t>
            </a:r>
          </a:p>
        </p:txBody>
      </p:sp>
      <p:sp>
        <p:nvSpPr>
          <p:cNvPr id="3" name="">
            <a:extLst>
              <a:ext uri="{FF2B5EF4-FFF2-40B4-BE49-F238E27FC236}">
                <ns2:creationId id="{F1B9F9DF-186F-429F-9922-A0FBD1A572E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Transition to MatMul</a:t>
            </a:r>
          </a:p>
        </p:txBody>
      </p:sp>
      <p:sp>
        <p:nvSpPr>
          <p:cNvPr id="4" name="">
            <a:extLst>
              <a:ext uri="{FF2B5EF4-FFF2-40B4-BE49-F238E27FC236}">
                <ns2:creationId id="{2AB80878-B1A6-4F03-B853-BCCAB3946D4E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Vector add and SAXPY teach coverage. MatMul teaches two-dimensional tiles and K-dimension accumulation.</a:t>
            </a:r>
          </a:p>
        </p:txBody>
      </p:sp>
      <p:sp>
        <p:nvSpPr>
          <p:cNvPr id="5" name="">
            <a:extLst>
              <a:ext uri="{FF2B5EF4-FFF2-40B4-BE49-F238E27FC236}">
                <ns2:creationId id="{F787509A-32B9-4420-88C9-7054C79271B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3502B162-528C-446E-A28C-A461C1528FCD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7" name="">
            <a:extLst>
              <a:ext uri="{FF2B5EF4-FFF2-40B4-BE49-F238E27FC236}">
                <ns2:creationId id="{08624AF8-C89F-424D-8B3B-D23315EC669A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1D offsets</a:t>
            </a:r>
          </a:p>
        </p:txBody>
      </p:sp>
      <p:sp>
        <p:nvSpPr>
          <p:cNvPr id="8" name="">
            <a:extLst>
              <a:ext uri="{FF2B5EF4-FFF2-40B4-BE49-F238E27FC236}">
                <ns2:creationId id="{4F6E697D-C686-4C1E-BCC6-A1CBD3CD6658}"/>
              </a:ext>
            </a:extLst>
          </p:cNvPr>
          <p:cNvSpPr>
            <a:spLocks noGrp="1"/>
          </p:cNvSpPr>
          <p:nvPr/>
        </p:nvSpPr>
        <p:spPr>
          <a:xfrm>
            <a:off x="26098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9" name="">
            <a:extLst>
              <a:ext uri="{FF2B5EF4-FFF2-40B4-BE49-F238E27FC236}">
                <ns2:creationId id="{93A1D413-C3DF-437F-A5BE-B85662FFC665}"/>
              </a:ext>
            </a:extLst>
          </p:cNvPr>
          <p:cNvSpPr>
            <a:spLocks noGrp="1"/>
          </p:cNvSpPr>
          <p:nvPr/>
        </p:nvSpPr>
        <p:spPr>
          <a:xfrm>
            <a:off x="28003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0" name="">
            <a:extLst>
              <a:ext uri="{FF2B5EF4-FFF2-40B4-BE49-F238E27FC236}">
                <ns2:creationId id="{2DCB2B27-D9DF-4251-882F-278CD7995EB8}"/>
              </a:ext>
            </a:extLst>
          </p:cNvPr>
          <p:cNvSpPr>
            <a:spLocks noGrp="1"/>
          </p:cNvSpPr>
          <p:nvPr/>
        </p:nvSpPr>
        <p:spPr>
          <a:xfrm>
            <a:off x="29146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masked loads</a:t>
            </a:r>
          </a:p>
        </p:txBody>
      </p:sp>
      <p:sp>
        <p:nvSpPr>
          <p:cNvPr id="11" name="">
            <a:extLst>
              <a:ext uri="{FF2B5EF4-FFF2-40B4-BE49-F238E27FC236}">
                <ns2:creationId id="{ECD0DADE-595F-4E75-BD38-08272E672CFE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2" name="">
            <a:extLst>
              <a:ext uri="{FF2B5EF4-FFF2-40B4-BE49-F238E27FC236}">
                <ns2:creationId id="{B7C1EF3F-5980-4AFA-A458-279F1FB84DD6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3" name="">
            <a:extLst>
              <a:ext uri="{FF2B5EF4-FFF2-40B4-BE49-F238E27FC236}">
                <ns2:creationId id="{EB0B8717-8263-4C2C-8A49-F33908001E93}"/>
              </a:ext>
            </a:extLst>
          </p:cNvPr>
          <p:cNvSpPr>
            <a:spLocks noGrp="1"/>
          </p:cNvSpPr>
          <p:nvPr/>
        </p:nvSpPr>
        <p:spPr>
          <a:xfrm>
            <a:off x="48387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SAXPY expression</a:t>
            </a:r>
          </a:p>
        </p:txBody>
      </p:sp>
      <p:sp>
        <p:nvSpPr>
          <p:cNvPr id="14" name="">
            <a:extLst>
              <a:ext uri="{FF2B5EF4-FFF2-40B4-BE49-F238E27FC236}">
                <ns2:creationId id="{31A79629-B541-4539-AF7D-8D23DBCDACC3}"/>
              </a:ext>
            </a:extLst>
          </p:cNvPr>
          <p:cNvSpPr>
            <a:spLocks noGrp="1"/>
          </p:cNvSpPr>
          <p:nvPr/>
        </p:nvSpPr>
        <p:spPr>
          <a:xfrm>
            <a:off x="645795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5" name="">
            <a:extLst>
              <a:ext uri="{FF2B5EF4-FFF2-40B4-BE49-F238E27FC236}">
                <ns2:creationId id="{BDF30F30-9FA5-4131-854D-4EA9CFE758A8}"/>
              </a:ext>
            </a:extLst>
          </p:cNvPr>
          <p:cNvSpPr>
            <a:spLocks noGrp="1"/>
          </p:cNvSpPr>
          <p:nvPr/>
        </p:nvSpPr>
        <p:spPr>
          <a:xfrm>
            <a:off x="664845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34D399"/>
            </a:solidFill>
          </a:ln>
        </p:spPr>
      </p:sp>
      <p:sp>
        <p:nvSpPr>
          <p:cNvPr id="16" name="">
            <a:extLst>
              <a:ext uri="{FF2B5EF4-FFF2-40B4-BE49-F238E27FC236}">
                <ns2:creationId id="{DE6E8253-4174-40E7-A447-1982871FEC75}"/>
              </a:ext>
            </a:extLst>
          </p:cNvPr>
          <p:cNvSpPr>
            <a:spLocks noGrp="1"/>
          </p:cNvSpPr>
          <p:nvPr/>
        </p:nvSpPr>
        <p:spPr>
          <a:xfrm>
            <a:off x="676275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2D output tile</a:t>
            </a:r>
          </a:p>
        </p:txBody>
      </p:sp>
      <p:sp>
        <p:nvSpPr>
          <p:cNvPr id="17" name="">
            <a:extLst>
              <a:ext uri="{FF2B5EF4-FFF2-40B4-BE49-F238E27FC236}">
                <ns2:creationId id="{B1C730AB-6581-4D78-BB3F-60417DC1F9A9}"/>
              </a:ext>
            </a:extLst>
          </p:cNvPr>
          <p:cNvSpPr>
            <a:spLocks noGrp="1"/>
          </p:cNvSpPr>
          <p:nvPr/>
        </p:nvSpPr>
        <p:spPr>
          <a:xfrm>
            <a:off x="8382000" y="3524250"/>
            <a:ext cx="15240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8" name="">
            <a:extLst>
              <a:ext uri="{FF2B5EF4-FFF2-40B4-BE49-F238E27FC236}">
                <ns2:creationId id="{C37F6F8C-8465-4882-84FA-444A922ACA1C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1695450" cy="781050"/>
          </a:xfrm>
          <a:prstGeom prst="roundRect">
            <a:avLst>
              <a:gd name="adj" fmla="val 7317"/>
            </a:avLst>
          </a:prstGeom>
          <a:solidFill>
            <a:srgbClr val="1F2937"/>
          </a:solidFill>
          <a:ln w="19050">
            <a:solidFill>
              <a:srgbClr val="22D3EE"/>
            </a:solidFill>
          </a:ln>
        </p:spPr>
      </p:sp>
      <p:sp>
        <p:nvSpPr>
          <p:cNvPr id="19" name="">
            <a:extLst>
              <a:ext uri="{FF2B5EF4-FFF2-40B4-BE49-F238E27FC236}">
                <ns2:creationId id="{D9EC0DD6-C7B8-4579-9B95-A6BEAEE5A9C2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1466850" cy="342900"/>
          </a:xfrm>
          <a:prstGeom prst="rect">
            <a:avLst/>
          </a:prstGeom>
        </p:spPr>
        <p:txBody>
          <a:bodyPr anchor="t"/>
          <a:lstStyle/>
          <a:p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K-loop dot</a:t>
            </a:r>
          </a:p>
        </p:txBody>
      </p:sp>
      <p:sp>
        <p:nvSpPr>
          <p:cNvPr id="20" name="">
            <a:extLst>
              <a:ext uri="{FF2B5EF4-FFF2-40B4-BE49-F238E27FC236}">
                <ns2:creationId id="{F18A0974-A9D8-42F8-A4B1-2AAB47483443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9334500" cy="552450"/>
          </a:xfrm>
          <a:prstGeom prst="rect">
            <a:avLst/>
          </a:prstGeom>
        </p:spPr>
        <p:txBody>
          <a:bodyPr anchor="t"/>
          <a:lstStyle/>
          <a:p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mental move is from a 1D block of elements to a 2D block of output.</a:t>
            </a:r>
          </a:p>
        </p:txBody>
      </p:sp>
      <p:sp>
        <p:nvSpPr>
          <p:cNvPr id="21" name="">
            <a:extLst>
              <a:ext uri="{FF2B5EF4-FFF2-40B4-BE49-F238E27FC236}">
                <ns2:creationId id="{B9FD8050-19E9-42C0-A6AB-393B5F14BB9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22" name="">
            <a:extLst>
              <a:ext uri="{FF2B5EF4-FFF2-40B4-BE49-F238E27FC236}">
                <ns2:creationId id="{7FD75CA9-7A13-4D9E-ABE6-1EAD5ACE6AB2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270860809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AFFF8F2-1512-4758-8625-9CC6EE44A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29130B4C-1997-4922-9EC0-9A488AC09E7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19/40</a:t>
            </a:r>
          </a:p>
        </p:txBody>
      </p:sp>
      <p:sp>
        <p:nvSpPr>
          <p:cNvPr id="3" name="">
            <a:extLst>
              <a:ext uri="{FF2B5EF4-FFF2-40B4-BE49-F238E27FC236}">
                <ns2:creationId id="{43A3F924-24E6-428B-A593-201189B5E56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Blocked MatMul Algorithm</a:t>
            </a:r>
          </a:p>
        </p:txBody>
      </p:sp>
      <p:sp>
        <p:nvSpPr>
          <p:cNvPr id="4" name="">
            <a:extLst>
              <a:ext uri="{FF2B5EF4-FFF2-40B4-BE49-F238E27FC236}">
                <ns2:creationId id="{788CB722-551D-4A17-A145-99920DCA4B46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Triton program computes one tile of C, accumulating over K tiles.</a:t>
            </a:r>
          </a:p>
        </p:txBody>
      </p:sp>
      <p:sp>
        <p:nvSpPr>
          <p:cNvPr id="5" name="">
            <a:extLst>
              <a:ext uri="{FF2B5EF4-FFF2-40B4-BE49-F238E27FC236}">
                <ns2:creationId id="{2913F557-194E-43A2-ABAF-C73C5BCC48A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CE69C42A-0888-43FD-893A-308DFC00EB9F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2362200" cy="1600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9050">
            <a:solidFill>
              <a:srgbClr val="22D3EE"/>
            </a:solidFill>
          </a:ln>
        </p:spPr>
      </p:sp>
      <p:sp>
        <p:nvSpPr>
          <p:cNvPr id="7" name="">
            <a:extLst>
              <a:ext uri="{FF2B5EF4-FFF2-40B4-BE49-F238E27FC236}">
                <ns2:creationId id="{7FEA0FD0-0D0E-4AB0-A79E-6E874E9CAF51}"/>
              </a:ext>
            </a:extLst>
          </p:cNvPr>
          <p:cNvSpPr>
            <a:spLocks noGrp="1"/>
          </p:cNvSpPr>
          <p:nvPr/>
        </p:nvSpPr>
        <p:spPr>
          <a:xfrm>
            <a:off x="3562350" y="2419350"/>
            <a:ext cx="1600200" cy="2362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9050">
            <a:solidFill>
              <a:srgbClr val="34D399"/>
            </a:solidFill>
          </a:ln>
        </p:spPr>
      </p:sp>
      <p:sp>
        <p:nvSpPr>
          <p:cNvPr id="8" name="">
            <a:extLst>
              <a:ext uri="{FF2B5EF4-FFF2-40B4-BE49-F238E27FC236}">
                <ns2:creationId id="{C6ADF1D2-40A7-4D36-BEB3-877F39776BC0}"/>
              </a:ext>
            </a:extLst>
          </p:cNvPr>
          <p:cNvSpPr>
            <a:spLocks noGrp="1"/>
          </p:cNvSpPr>
          <p:nvPr/>
        </p:nvSpPr>
        <p:spPr>
          <a:xfrm>
            <a:off x="6210300" y="2419350"/>
            <a:ext cx="2362200" cy="2362200"/>
          </a:xfrm>
          <a:prstGeom prst="roundRect">
            <a:avLst>
              <a:gd name="adj" fmla="val 1613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</p:sp>
      <p:sp>
        <p:nvSpPr>
          <p:cNvPr id="9" name="">
            <a:extLst>
              <a:ext uri="{FF2B5EF4-FFF2-40B4-BE49-F238E27FC236}">
                <ns2:creationId id="{874B1AC9-1A19-4F37-81DE-09F4930E6258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876300" cy="685800"/>
          </a:xfrm>
          <a:prstGeom prst="roundRect">
            <a:avLst>
              <a:gd name="adj" fmla="val 5556"/>
            </a:avLst>
          </a:prstGeom>
          <a:solidFill>
            <a:srgbClr val="164E63"/>
          </a:solidFill>
          <a:ln w="9525">
            <a:solidFill>
              <a:srgbClr val="22D3EE"/>
            </a:solidFill>
          </a:ln>
        </p:spPr>
      </p:sp>
      <p:sp>
        <p:nvSpPr>
          <p:cNvPr id="10" name="">
            <a:extLst>
              <a:ext uri="{FF2B5EF4-FFF2-40B4-BE49-F238E27FC236}">
                <ns2:creationId id="{10D4BBB3-312B-4B35-A3EB-86345BE9F188}"/>
              </a:ext>
            </a:extLst>
          </p:cNvPr>
          <p:cNvSpPr>
            <a:spLocks noGrp="1"/>
          </p:cNvSpPr>
          <p:nvPr/>
        </p:nvSpPr>
        <p:spPr>
          <a:xfrm>
            <a:off x="3562350" y="2419350"/>
            <a:ext cx="685800" cy="876300"/>
          </a:xfrm>
          <a:prstGeom prst="roundRect">
            <a:avLst>
              <a:gd name="adj" fmla="val 5556"/>
            </a:avLst>
          </a:prstGeom>
          <a:solidFill>
            <a:srgbClr val="14532D"/>
          </a:solidFill>
          <a:ln w="9525">
            <a:solidFill>
              <a:srgbClr val="34D399"/>
            </a:solidFill>
          </a:ln>
        </p:spPr>
      </p:sp>
      <p:sp>
        <p:nvSpPr>
          <p:cNvPr id="11" name="">
            <a:extLst>
              <a:ext uri="{FF2B5EF4-FFF2-40B4-BE49-F238E27FC236}">
                <ns2:creationId id="{C864D615-3BF3-4899-A1BC-228B8B808A50}"/>
              </a:ext>
            </a:extLst>
          </p:cNvPr>
          <p:cNvSpPr>
            <a:spLocks noGrp="1"/>
          </p:cNvSpPr>
          <p:nvPr/>
        </p:nvSpPr>
        <p:spPr>
          <a:xfrm>
            <a:off x="6210300" y="2419350"/>
            <a:ext cx="876300" cy="876300"/>
          </a:xfrm>
          <a:prstGeom prst="roundRect">
            <a:avLst>
              <a:gd name="adj" fmla="val 4348"/>
            </a:avLst>
          </a:prstGeom>
          <a:solidFill>
            <a:srgbClr val="713F12"/>
          </a:solidFill>
          <a:ln w="9525">
            <a:solidFill>
              <a:srgbClr val="FBBF24"/>
            </a:solidFill>
          </a:ln>
        </p:spPr>
      </p:sp>
      <p:sp>
        <p:nvSpPr>
          <p:cNvPr id="12" name="">
            <a:extLst>
              <a:ext uri="{FF2B5EF4-FFF2-40B4-BE49-F238E27FC236}">
                <ns2:creationId id="{3F3AB844-0762-49D0-BFAD-F14A86F7A9B8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1428750" cy="4000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tile\nBLOCK_M x BLOCK_K</a:t>
            </a:r>
          </a:p>
        </p:txBody>
      </p:sp>
      <p:sp>
        <p:nvSpPr>
          <p:cNvPr id="13" name="">
            <a:extLst>
              <a:ext uri="{FF2B5EF4-FFF2-40B4-BE49-F238E27FC236}">
                <ns2:creationId id="{B8400487-7A86-4020-AD26-7DE2C8C59287}"/>
              </a:ext>
            </a:extLst>
          </p:cNvPr>
          <p:cNvSpPr>
            <a:spLocks noGrp="1"/>
          </p:cNvSpPr>
          <p:nvPr/>
        </p:nvSpPr>
        <p:spPr>
          <a:xfrm>
            <a:off x="3695700" y="2590800"/>
            <a:ext cx="1352550" cy="4000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 tile\nBLOCK_K x BLOCK_N</a:t>
            </a:r>
          </a:p>
        </p:txBody>
      </p:sp>
      <p:sp>
        <p:nvSpPr>
          <p:cNvPr id="14" name="">
            <a:extLst>
              <a:ext uri="{FF2B5EF4-FFF2-40B4-BE49-F238E27FC236}">
                <ns2:creationId id="{3622B730-9146-4678-B29C-000A0940FE62}"/>
              </a:ext>
            </a:extLst>
          </p:cNvPr>
          <p:cNvSpPr>
            <a:spLocks noGrp="1"/>
          </p:cNvSpPr>
          <p:nvPr/>
        </p:nvSpPr>
        <p:spPr>
          <a:xfrm>
            <a:off x="6400800" y="2590800"/>
            <a:ext cx="1524000" cy="400050"/>
          </a:xfrm>
          <a:prstGeom prst="rect">
            <a:avLst/>
          </a:prstGeom>
        </p:spPr>
        <p:txBody>
          <a:bodyPr anchor="t"/>
          <a:lstStyle/>
          <a:p>
            <a:pPr algn="ctr">
              <a:defRPr sz="9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 tile\nBLOCK_M x BLOCK_N</a:t>
            </a:r>
          </a:p>
        </p:txBody>
      </p:sp>
      <p:sp>
        <p:nvSpPr>
          <p:cNvPr id="15" name="">
            <a:extLst>
              <a:ext uri="{FF2B5EF4-FFF2-40B4-BE49-F238E27FC236}">
                <ns2:creationId id="{66E1B7C4-548E-4AA0-BA68-CC48498857B7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1238250" cy="22860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A[M,K]</a:t>
            </a:r>
          </a:p>
        </p:txBody>
      </p:sp>
      <p:sp>
        <p:nvSpPr>
          <p:cNvPr id="16" name="">
            <a:extLst>
              <a:ext uri="{FF2B5EF4-FFF2-40B4-BE49-F238E27FC236}">
                <ns2:creationId id="{BA19E646-939A-4158-A2ED-AA8EDCFA21A1}"/>
              </a:ext>
            </a:extLst>
          </p:cNvPr>
          <p:cNvSpPr>
            <a:spLocks noGrp="1"/>
          </p:cNvSpPr>
          <p:nvPr/>
        </p:nvSpPr>
        <p:spPr>
          <a:xfrm>
            <a:off x="3867150" y="4933950"/>
            <a:ext cx="1238250" cy="22860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B[K,N]</a:t>
            </a:r>
          </a:p>
        </p:txBody>
      </p:sp>
      <p:sp>
        <p:nvSpPr>
          <p:cNvPr id="17" name="">
            <a:extLst>
              <a:ext uri="{FF2B5EF4-FFF2-40B4-BE49-F238E27FC236}">
                <ns2:creationId id="{4B4DCE7B-9F06-4AEE-BE05-658EB5C0949E}"/>
              </a:ext>
            </a:extLst>
          </p:cNvPr>
          <p:cNvSpPr>
            <a:spLocks noGrp="1"/>
          </p:cNvSpPr>
          <p:nvPr/>
        </p:nvSpPr>
        <p:spPr>
          <a:xfrm>
            <a:off x="6896100" y="4933950"/>
            <a:ext cx="1238250" cy="22860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BBF24"/>
                </a:solidFill>
                <a:latin typeface="Aptos"/>
                <a:ea typeface="Aptos"/>
                <a:cs typeface="Aptos"/>
              </a:rPr>
              <a:t>C[M,N]</a:t>
            </a:r>
          </a:p>
        </p:txBody>
      </p:sp>
      <p:sp>
        <p:nvSpPr>
          <p:cNvPr id="18" name="">
            <a:extLst>
              <a:ext uri="{FF2B5EF4-FFF2-40B4-BE49-F238E27FC236}">
                <ns2:creationId id="{431B0AE8-8110-43C2-B182-4640F8DB9E2A}"/>
              </a:ext>
            </a:extLst>
          </p:cNvPr>
          <p:cNvSpPr>
            <a:spLocks noGrp="1"/>
          </p:cNvSpPr>
          <p:nvPr/>
        </p:nvSpPr>
        <p:spPr>
          <a:xfrm>
            <a:off x="5334000" y="3238500"/>
            <a:ext cx="400050" cy="361950"/>
          </a:xfrm>
          <a:prstGeom prst="rect">
            <a:avLst/>
          </a:prstGeom>
        </p:spPr>
        <p:txBody>
          <a:bodyPr anchor="t"/>
          <a:lstStyle/>
          <a:p>
            <a:pPr algn="ctr">
              <a:defRPr sz="21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@</a:t>
            </a:r>
          </a:p>
        </p:txBody>
      </p:sp>
      <p:sp>
        <p:nvSpPr>
          <p:cNvPr id="19" name="">
            <a:extLst>
              <a:ext uri="{FF2B5EF4-FFF2-40B4-BE49-F238E27FC236}">
                <ns2:creationId id="{789B2D0B-D80B-484A-B8C9-FCB543C64A03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400050" cy="361950"/>
          </a:xfrm>
          <a:prstGeom prst="rect">
            <a:avLst/>
          </a:prstGeom>
        </p:spPr>
        <p:txBody>
          <a:bodyPr anchor="t"/>
          <a:lstStyle/>
          <a:p>
            <a:pPr algn="ctr">
              <a:defRPr sz="21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20" name="">
            <a:extLst>
              <a:ext uri="{FF2B5EF4-FFF2-40B4-BE49-F238E27FC236}">
                <ns2:creationId id="{64CFEEF6-6AC1-4C09-8B44-63107BEFD9B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21" name="">
            <a:extLst>
              <a:ext uri="{FF2B5EF4-FFF2-40B4-BE49-F238E27FC236}">
                <ns2:creationId id="{B25A62CC-76F9-44CB-B1CA-F0903BBC102C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799537304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F0A81A9-C4C9-49B4-9A4E-8A64865D78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6AC8A188-90B2-4E2A-BC6F-9E1C3CBF657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21/40</a:t>
            </a:r>
          </a:p>
        </p:txBody>
      </p:sp>
      <p:sp>
        <p:nvSpPr>
          <p:cNvPr id="3" name="">
            <a:extLst>
              <a:ext uri="{FF2B5EF4-FFF2-40B4-BE49-F238E27FC236}">
                <ns2:creationId id="{9CB702E0-06E7-4C44-AF4A-4F824F546C3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Map Program ID to C Tile</a:t>
            </a:r>
          </a:p>
        </p:txBody>
      </p:sp>
      <p:sp>
        <p:nvSpPr>
          <p:cNvPr id="4" name="">
            <a:extLst>
              <a:ext uri="{FF2B5EF4-FFF2-40B4-BE49-F238E27FC236}">
                <ns2:creationId id="{A6E5BDB4-FBFF-4D4E-8F9C-80CCF844A0B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1D launch grid can still cover a 2D matrix by decoding the program id.</a:t>
            </a:r>
          </a:p>
        </p:txBody>
      </p:sp>
      <p:sp>
        <p:nvSpPr>
          <p:cNvPr id="5" name="">
            <a:extLst>
              <a:ext uri="{FF2B5EF4-FFF2-40B4-BE49-F238E27FC236}">
                <ns2:creationId id="{27D93744-4CAE-4CD6-B631-608B9C8B3C2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EFF43DA-F1F1-468C-95D5-281137BEFF78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D922BB13-45F8-47E6-8D52-F22A7BEB66F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E16F65EF-FB35-4D71-B7D1-864874E96409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Tile ownership</a:t>
            </a:r>
          </a:p>
        </p:txBody>
      </p:sp>
      <p:sp>
        <p:nvSpPr>
          <p:cNvPr id="9" name="">
            <a:extLst>
              <a:ext uri="{FF2B5EF4-FFF2-40B4-BE49-F238E27FC236}">
                <ns2:creationId id="{A22B1506-A9BD-4595-A3D9-EC8C39373DF4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`num_pid_n` is the number of tile columns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`pid_m` selects the row tile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`pid_n` selects the column tile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The lab uses simple row-major tile order</a:t>
            </a:r>
          </a:p>
        </p:txBody>
      </p:sp>
      <p:sp>
        <p:nvSpPr>
          <p:cNvPr id="10" name="">
            <a:extLst>
              <a:ext uri="{FF2B5EF4-FFF2-40B4-BE49-F238E27FC236}">
                <ns2:creationId id="{39A15C24-9703-4295-B419-12E5724F3362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D3DCC7EB-0F4D-4340-B08E-0BE49B16E6F6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program id to tile coordinates</a:t>
            </a:r>
          </a:p>
        </p:txBody>
      </p:sp>
      <p:sp>
        <p:nvSpPr>
          <p:cNvPr id="12" name="">
            <a:extLst>
              <a:ext uri="{FF2B5EF4-FFF2-40B4-BE49-F238E27FC236}">
                <ns2:creationId id="{BCEF074E-8FAD-424B-BDF3-721EE61EA143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pid = tl.program_id(axis=0)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num_pid_n = tl.cdiv(n, BLOCK_N)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pid_m = pid // num_pid_n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pid_n = pid % num_pid_n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offs_m = pid_m * BLOCK_M + tl.arange(0, BLOCK_M)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offs_n = pid_n * BLOCK_N + tl.arange(0, BLOCK_N)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offs_k = tl.arange(0, BLOCK_K)</a:t>
            </a:r>
          </a:p>
        </p:txBody>
      </p:sp>
      <p:sp>
        <p:nvSpPr>
          <p:cNvPr id="13" name="">
            <a:extLst>
              <a:ext uri="{FF2B5EF4-FFF2-40B4-BE49-F238E27FC236}">
                <ns2:creationId id="{E8BBF364-A9D8-4A41-BCF0-873ED018437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0328B020-0691-4111-B051-BBCC7EB3D670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615357057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FB10D09-2246-4200-AB85-5F14566E17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95DF9B92-4152-4F5E-BAEA-9B56CC4839F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22/40</a:t>
            </a:r>
          </a:p>
        </p:txBody>
      </p:sp>
      <p:sp>
        <p:nvSpPr>
          <p:cNvPr id="3" name="">
            <a:extLst>
              <a:ext uri="{FF2B5EF4-FFF2-40B4-BE49-F238E27FC236}">
                <ns2:creationId id="{CA8B9458-EB09-4557-B2F3-2BC3954064B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2D Pointer Arithmetic</a:t>
            </a:r>
          </a:p>
        </p:txBody>
      </p:sp>
      <p:sp>
        <p:nvSpPr>
          <p:cNvPr id="4" name="">
            <a:extLst>
              <a:ext uri="{FF2B5EF4-FFF2-40B4-BE49-F238E27FC236}">
                <ns2:creationId id="{D0889B2E-F7EE-4E44-BE69-FCA68E1F18E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Row-major matrix addresses combine a row offset, a column offset, and the tensor stride.</a:t>
            </a:r>
          </a:p>
        </p:txBody>
      </p:sp>
      <p:sp>
        <p:nvSpPr>
          <p:cNvPr id="5" name="">
            <a:extLst>
              <a:ext uri="{FF2B5EF4-FFF2-40B4-BE49-F238E27FC236}">
                <ns2:creationId id="{FB1988A7-D263-49D9-90D9-7703AFD8110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875D0586-6FFA-45BE-A95D-43F10AFFB9E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D04B3BEF-8684-434F-84F8-B3ABDD9489A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46E7736A-1521-442F-9508-921BD657D46B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Why strides matter</a:t>
            </a:r>
          </a:p>
        </p:txBody>
      </p:sp>
      <p:sp>
        <p:nvSpPr>
          <p:cNvPr id="9" name="">
            <a:extLst>
              <a:ext uri="{FF2B5EF4-FFF2-40B4-BE49-F238E27FC236}">
                <ns2:creationId id="{3E4566AA-5CEE-4678-BE61-A959D6E2642A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Torch tensors expose strides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Pointer math uses element strides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tile is a matrix of pointers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Contiguity is validated before launch</a:t>
            </a:r>
          </a:p>
        </p:txBody>
      </p:sp>
      <p:sp>
        <p:nvSpPr>
          <p:cNvPr id="10" name="">
            <a:extLst>
              <a:ext uri="{FF2B5EF4-FFF2-40B4-BE49-F238E27FC236}">
                <ns2:creationId id="{71587AC3-C0DF-47FC-976F-C1755873EC9F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788409DB-31EF-4C8E-AE82-434B2C482F53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A and B tile pointers</a:t>
            </a:r>
          </a:p>
        </p:txBody>
      </p:sp>
      <p:sp>
        <p:nvSpPr>
          <p:cNvPr id="12" name="">
            <a:extLst>
              <a:ext uri="{FF2B5EF4-FFF2-40B4-BE49-F238E27FC236}">
                <ns2:creationId id="{24C50ABC-4A09-49CD-9A99-A50D0C6C5D58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a_ptrs = a_ptr + 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offs_m[:, None] * stride_am +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offs_k[None, :] * stride_ak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b_ptrs = b_ptr + 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offs_k[:, None] * stride_bk +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offs_n[None, :] * stride_bn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13" name="">
            <a:extLst>
              <a:ext uri="{FF2B5EF4-FFF2-40B4-BE49-F238E27FC236}">
                <ns2:creationId id="{15F43912-FCFB-464D-B90F-938BB67C57B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14" name="">
            <a:extLst>
              <a:ext uri="{FF2B5EF4-FFF2-40B4-BE49-F238E27FC236}">
                <ns2:creationId id="{34DEE93D-DACB-4158-A6E4-1AA5D2911B79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840096460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FEDC106-8B98-460A-BEDC-EE79CBCCA8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E9BA4C28-9228-4BA8-9AB6-7E17D9EFA7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23/40</a:t>
            </a:r>
          </a:p>
        </p:txBody>
      </p:sp>
      <p:sp>
        <p:nvSpPr>
          <p:cNvPr id="3" name="">
            <a:extLst>
              <a:ext uri="{FF2B5EF4-FFF2-40B4-BE49-F238E27FC236}">
                <ns2:creationId id="{CD10203E-BBD3-4063-89B4-5CB2229E652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K-Loop Accumulation</a:t>
            </a:r>
          </a:p>
        </p:txBody>
      </p:sp>
      <p:sp>
        <p:nvSpPr>
          <p:cNvPr id="4" name="">
            <a:extLst>
              <a:ext uri="{FF2B5EF4-FFF2-40B4-BE49-F238E27FC236}">
                <ns2:creationId id="{8C261559-15E8-4C33-8FFD-F0865041ECD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MatMul is a loop over K tiles, accumulating into an FP32 output tile.</a:t>
            </a:r>
          </a:p>
        </p:txBody>
      </p:sp>
      <p:sp>
        <p:nvSpPr>
          <p:cNvPr id="5" name="">
            <a:extLst>
              <a:ext uri="{FF2B5EF4-FFF2-40B4-BE49-F238E27FC236}">
                <ns2:creationId id="{AA90D086-A25A-495C-9E57-CFD52280EA9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CC2C795E-531A-476B-B2E5-65F65114D4F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F5C8330E-4C58-4F55-AA0A-531C661C69B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5DCAF2DB-E8F6-40BC-8126-B1FD34659D0C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Kernel loop</a:t>
            </a:r>
          </a:p>
        </p:txBody>
      </p:sp>
      <p:sp>
        <p:nvSpPr>
          <p:cNvPr id="9" name="">
            <a:extLst>
              <a:ext uri="{FF2B5EF4-FFF2-40B4-BE49-F238E27FC236}">
                <ns2:creationId id="{B8DFAF1B-D4A1-4DE0-9B4E-15C9756C6058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Load a masked A tile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Load a masked B tile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Accumulate with `tl.dot`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Advance A and B pointers by `BLOCK_K`</a:t>
            </a:r>
          </a:p>
        </p:txBody>
      </p:sp>
      <p:sp>
        <p:nvSpPr>
          <p:cNvPr id="10" name="">
            <a:extLst>
              <a:ext uri="{FF2B5EF4-FFF2-40B4-BE49-F238E27FC236}">
                <ns2:creationId id="{07705260-9319-4909-9EB6-8D46B1348529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C8C81D29-34F0-4F52-8FE9-838088E169E4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blocked accumulation</a:t>
            </a:r>
          </a:p>
        </p:txBody>
      </p:sp>
      <p:sp>
        <p:nvSpPr>
          <p:cNvPr id="12" name="">
            <a:extLst>
              <a:ext uri="{FF2B5EF4-FFF2-40B4-BE49-F238E27FC236}">
                <ns2:creationId id="{02F7A008-9613-4DDB-84B5-CA20DA24E82C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acc = tl.zeros((BLOCK_M, BLOCK_N), dtype=tl.float32)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for k_start in range(0, tl.cdiv(k, BLOCK_K)):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k_offsets = k_start * BLOCK_K + offs_k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a = tl.load(a_ptrs, mask=a_mask,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b = tl.load(b_ptrs, mask=b_mask, other=0.0)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acc = tl.dot(a, b, acc, input_precision="tf32")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a_ptrs += BLOCK_K * stride_ak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b_ptrs += BLOCK_K * stride_bk</a:t>
            </a:r>
          </a:p>
        </p:txBody>
      </p:sp>
      <p:sp>
        <p:nvSpPr>
          <p:cNvPr id="13" name="">
            <a:extLst>
              <a:ext uri="{FF2B5EF4-FFF2-40B4-BE49-F238E27FC236}">
                <ns2:creationId id="{A7D962E0-E4E2-451A-B090-9B92D4B48B9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tp/solutions/stretch/ex13_triton_dsl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E3826DB3-BE8E-49A3-A2A6-FAC3E6B346B0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5445316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5F962F1-6A90-4CBA-9570-31320B7511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6CB0696A-EB79-495A-B8C9-F8ACCCAE95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25/40</a:t>
            </a:r>
          </a:p>
        </p:txBody>
      </p:sp>
      <p:sp>
        <p:nvSpPr>
          <p:cNvPr id="3" name="">
            <a:extLst>
              <a:ext uri="{FF2B5EF4-FFF2-40B4-BE49-F238E27FC236}">
                <ns2:creationId id="{6A2208B2-F8DD-454A-B44D-AA9993B2A87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Edge Masks for MatMul</a:t>
            </a:r>
          </a:p>
        </p:txBody>
      </p:sp>
      <p:sp>
        <p:nvSpPr>
          <p:cNvPr id="4" name="">
            <a:extLst>
              <a:ext uri="{FF2B5EF4-FFF2-40B4-BE49-F238E27FC236}">
                <ns2:creationId id="{1D1B2656-DACA-49B9-A2B6-3F54D38A09B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Rectangular and non-divisible shapes are the correctness traps worth testing.</a:t>
            </a:r>
          </a:p>
        </p:txBody>
      </p:sp>
      <p:sp>
        <p:nvSpPr>
          <p:cNvPr id="5" name="">
            <a:extLst>
              <a:ext uri="{FF2B5EF4-FFF2-40B4-BE49-F238E27FC236}">
                <ns2:creationId id="{63FD003A-9C46-40D3-A510-4D4811EBC9C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6B569DAA-BC48-4F26-8B0C-D92FFC17D4C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950393E1-4094-4440-9C4C-D8E1059C1EA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AA703085-43C2-49B7-B382-95AD9CDA5DE8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Three edge checks</a:t>
            </a:r>
          </a:p>
        </p:txBody>
      </p:sp>
      <p:sp>
        <p:nvSpPr>
          <p:cNvPr id="9" name="">
            <a:extLst>
              <a:ext uri="{FF2B5EF4-FFF2-40B4-BE49-F238E27FC236}">
                <ns2:creationId id="{CBF7E7C6-1D42-4DA1-BF6B-F04E7D728CE1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load mask checks M and K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 load mask checks K and 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 store mask checks M and 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The test uses a 37 x 29 by 29 x 41 case</a:t>
            </a:r>
          </a:p>
        </p:txBody>
      </p:sp>
      <p:sp>
        <p:nvSpPr>
          <p:cNvPr id="10" name="">
            <a:extLst>
              <a:ext uri="{FF2B5EF4-FFF2-40B4-BE49-F238E27FC236}">
                <ns2:creationId id="{50EB5C78-1857-4D32-9BA2-6771EC06C7FE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EDF2AC85-68A8-4A02-BFB7-28222B86555A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masked loads and store</a:t>
            </a:r>
          </a:p>
        </p:txBody>
      </p:sp>
      <p:sp>
        <p:nvSpPr>
          <p:cNvPr id="12" name="">
            <a:extLst>
              <a:ext uri="{FF2B5EF4-FFF2-40B4-BE49-F238E27FC236}">
                <ns2:creationId id="{E961FC22-FFE3-479F-92F7-0B3093219E1D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a_mask = (offs_m[:, None] &lt; m) &amp; (k_offsets[None, :] &lt; k)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b_mask = (k_offsets[:, None] &lt; k) &amp; (offs_n[None, :] &lt; n)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out_mask = (offs_m[:, None] &lt; m) &amp; (offs_n[None, :] &lt; n)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tl.store(out_ptrs, acc, mask=out_mask)</a:t>
            </a:r>
          </a:p>
        </p:txBody>
      </p:sp>
      <p:sp>
        <p:nvSpPr>
          <p:cNvPr id="13" name="">
            <a:extLst>
              <a:ext uri="{FF2B5EF4-FFF2-40B4-BE49-F238E27FC236}">
                <ns2:creationId id="{BEF89F30-A4CD-46B3-8019-7070F5A1A25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tp/solutions/stretch/ex13_triton_dsl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76AFF1CD-05A8-486E-A4C3-A23EAC13D49E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840169983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8C2CF9D-D500-4E49-8B61-C084470EF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1AFC3F60-1FDC-4D22-87E0-345DB037F2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27/40</a:t>
            </a:r>
          </a:p>
        </p:txBody>
      </p:sp>
      <p:sp>
        <p:nvSpPr>
          <p:cNvPr id="3" name="">
            <a:extLst>
              <a:ext uri="{FF2B5EF4-FFF2-40B4-BE49-F238E27FC236}">
                <ns2:creationId id="{3B8E41A1-055D-4BC4-87F4-C9995A99EA9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Accuracy and Dtype Notes</a:t>
            </a:r>
          </a:p>
        </p:txBody>
      </p:sp>
      <p:sp>
        <p:nvSpPr>
          <p:cNvPr id="4" name="">
            <a:extLst>
              <a:ext uri="{FF2B5EF4-FFF2-40B4-BE49-F238E27FC236}">
                <ns2:creationId id="{F7967FD2-A366-406E-B540-85AA7FEC27CE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This first lab keeps the MatMul contract simple: float32 output and tolerance-based comparison.</a:t>
            </a:r>
          </a:p>
        </p:txBody>
      </p:sp>
      <p:sp>
        <p:nvSpPr>
          <p:cNvPr id="5" name="">
            <a:extLst>
              <a:ext uri="{FF2B5EF4-FFF2-40B4-BE49-F238E27FC236}">
                <ns2:creationId id="{DA562BD2-C876-4E0A-880E-2005D20259F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EED32340-F74C-4354-9E95-E5D95AECB215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F118041E-10C4-4D76-AFDA-21207A34178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6D252D22-F953-4D11-890F-2E3D134F953D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In the lab</a:t>
            </a:r>
          </a:p>
        </p:txBody>
      </p:sp>
      <p:sp>
        <p:nvSpPr>
          <p:cNvPr id="9" name="">
            <a:extLst>
              <a:ext uri="{FF2B5EF4-FFF2-40B4-BE49-F238E27FC236}">
                <ns2:creationId id="{BD0903A8-C127-40D9-80F6-2B91FFBD006E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Input tensors are float32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Accumulator is float32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Output is float32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Tests use `atol=1e-2, rtol=1e-2`</a:t>
            </a:r>
          </a:p>
        </p:txBody>
      </p:sp>
      <p:sp>
        <p:nvSpPr>
          <p:cNvPr id="10" name="">
            <a:extLst>
              <a:ext uri="{FF2B5EF4-FFF2-40B4-BE49-F238E27FC236}">
                <ns2:creationId id="{E4F9591F-0412-4D13-AA05-90121B70FD7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346D711B-E07A-4994-9999-81180E6A7BCA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86A08D61-9925-454A-B56E-423F9F4E0C11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In production</a:t>
            </a:r>
          </a:p>
        </p:txBody>
      </p:sp>
      <p:sp>
        <p:nvSpPr>
          <p:cNvPr id="13" name="">
            <a:extLst>
              <a:ext uri="{FF2B5EF4-FFF2-40B4-BE49-F238E27FC236}">
                <ns2:creationId id="{48B549DF-2D1D-405F-A5C2-5401783B071A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FP16/BF16 inputs are common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Tensor cores and layouts matter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Autotuning chooses better block sizes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cuBLAS remains the baseline to beat</a:t>
            </a:r>
          </a:p>
        </p:txBody>
      </p:sp>
      <p:sp>
        <p:nvSpPr>
          <p:cNvPr id="14" name="">
            <a:extLst>
              <a:ext uri="{FF2B5EF4-FFF2-40B4-BE49-F238E27FC236}">
                <ns2:creationId id="{B485CBF1-2F8B-4E2E-A2E0-E12189EC1B5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15" name="">
            <a:extLst>
              <a:ext uri="{FF2B5EF4-FFF2-40B4-BE49-F238E27FC236}">
                <ns2:creationId id="{F5D6B64D-C8F2-4864-BE88-3E043E8B36D1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249562287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BD02517-CAE3-419E-98D2-331D43FB3C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2224FBBF-2C90-46A4-AB78-2440EF7D96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28/40</a:t>
            </a:r>
          </a:p>
        </p:txBody>
      </p:sp>
      <p:sp>
        <p:nvSpPr>
          <p:cNvPr id="3" name="">
            <a:extLst>
              <a:ext uri="{FF2B5EF4-FFF2-40B4-BE49-F238E27FC236}">
                <ns2:creationId id="{A2D42D17-5831-4082-B90D-DCB141FD74B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Benchmark MatMul</a:t>
            </a:r>
          </a:p>
        </p:txBody>
      </p:sp>
      <p:sp>
        <p:nvSpPr>
          <p:cNvPr id="4" name="">
            <a:extLst>
              <a:ext uri="{FF2B5EF4-FFF2-40B4-BE49-F238E27FC236}">
                <ns2:creationId id="{A88EC132-7A55-4477-8EB8-8F85E38938E3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For MatMul, report time and remember that bytes moved alone does not capture arithmetic intensity.</a:t>
            </a:r>
          </a:p>
        </p:txBody>
      </p:sp>
      <p:sp>
        <p:nvSpPr>
          <p:cNvPr id="5" name="">
            <a:extLst>
              <a:ext uri="{FF2B5EF4-FFF2-40B4-BE49-F238E27FC236}">
                <ns2:creationId id="{981DB409-4282-48B0-9A4C-5C431DC1C5C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000A7D23-04F1-4830-9E6B-5E4233F90B3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FE718AE5-2718-48E3-98FC-C16BB7CA358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B73B8A5D-7BEB-46F3-9BAD-6E29731C5BF8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Read with care</a:t>
            </a:r>
          </a:p>
        </p:txBody>
      </p:sp>
      <p:sp>
        <p:nvSpPr>
          <p:cNvPr id="9" name="">
            <a:extLst>
              <a:ext uri="{FF2B5EF4-FFF2-40B4-BE49-F238E27FC236}">
                <ns2:creationId id="{2B5D1A24-B8B4-4B50-8A91-C9B92ACC81B6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Torch MatMul calls optimized libraries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This lab MatMul is intentionally basic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JIT warmup still matters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MatMul as a tile-thinking checkpoint</a:t>
            </a:r>
          </a:p>
        </p:txBody>
      </p:sp>
      <p:sp>
        <p:nvSpPr>
          <p:cNvPr id="10" name="">
            <a:extLst>
              <a:ext uri="{FF2B5EF4-FFF2-40B4-BE49-F238E27FC236}">
                <ns2:creationId id="{37CDA2E6-DDBD-4AF9-840D-F533A202D35B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B2FAAAD0-7A10-44EF-A70F-9634258DAB6F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MatMul benchmark target</a:t>
            </a:r>
          </a:p>
        </p:txBody>
      </p:sp>
      <p:sp>
        <p:nvSpPr>
          <p:cNvPr id="12" name="">
            <a:extLst>
              <a:ext uri="{FF2B5EF4-FFF2-40B4-BE49-F238E27FC236}">
                <ns2:creationId id="{FAFDCE00-CEA6-4E41-A45D-CC011C1C8902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m, k, n_cols = 512, 384, 640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lhs = torch.randn((m, k), device=device)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rhs = torch.randn((k, n_cols), device=device)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_bench(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"matmul",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lambda: lhs @ rhs,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lambda: triton_matmul(lhs, rhs),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bytes_moved=matmul_bytes,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13" name="">
            <a:extLst>
              <a:ext uri="{FF2B5EF4-FFF2-40B4-BE49-F238E27FC236}">
                <ns2:creationId id="{A6B429E1-09D1-4518-A916-55C2DC5B96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tp/stretch/ex13_triton_dsl/python/benchmark.py</a:t>
            </a:r>
          </a:p>
        </p:txBody>
      </p:sp>
      <p:sp>
        <p:nvSpPr>
          <p:cNvPr id="14" name="">
            <a:extLst>
              <a:ext uri="{FF2B5EF4-FFF2-40B4-BE49-F238E27FC236}">
                <ns2:creationId id="{720428E9-CF44-4CB0-9943-C49390C9F3AB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11435301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B00169B-6C7D-4964-87AF-F2945B286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FAB6E4F4-8498-42F1-8079-1C2F79A612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29/40</a:t>
            </a:r>
          </a:p>
        </p:txBody>
      </p:sp>
      <p:sp>
        <p:nvSpPr>
          <p:cNvPr id="3" name="">
            <a:extLst>
              <a:ext uri="{FF2B5EF4-FFF2-40B4-BE49-F238E27FC236}">
                <ns2:creationId id="{5399A1F0-A2E0-41D2-B063-17EBC71E8DB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Triton Exposes and Automates</a:t>
            </a:r>
          </a:p>
        </p:txBody>
      </p:sp>
      <p:sp>
        <p:nvSpPr>
          <p:cNvPr id="4" name="">
            <a:extLst>
              <a:ext uri="{FF2B5EF4-FFF2-40B4-BE49-F238E27FC236}">
                <ns2:creationId id="{48B47840-8D30-4C68-BF68-27078DBE2C8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point is not that Triton hides the GPU. It moves the control boundary.</a:t>
            </a:r>
          </a:p>
        </p:txBody>
      </p:sp>
      <p:sp>
        <p:nvSpPr>
          <p:cNvPr id="5" name="">
            <a:extLst>
              <a:ext uri="{FF2B5EF4-FFF2-40B4-BE49-F238E27FC236}">
                <ns2:creationId id="{B80B2DAB-E22D-4D9D-8F35-4C875AFD366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86EEDD28-EB7D-4D49-B38D-11BF04E51A6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345EA973-40DA-4275-BAE0-5666B077DDD8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EEB04950-42C2-4EF1-8AB7-58445E4EA0DF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You still choose</a:t>
            </a:r>
          </a:p>
        </p:txBody>
      </p:sp>
      <p:sp>
        <p:nvSpPr>
          <p:cNvPr id="9" name="">
            <a:extLst>
              <a:ext uri="{FF2B5EF4-FFF2-40B4-BE49-F238E27FC236}">
                <ns2:creationId id="{CBF2EAA4-5B70-4A19-B318-E71EACE9AC71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Tile sizes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Pointer arithmetic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Masks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Computation inside the tile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Benchmark scope</a:t>
            </a:r>
          </a:p>
        </p:txBody>
      </p:sp>
      <p:sp>
        <p:nvSpPr>
          <p:cNvPr id="10" name="">
            <a:extLst>
              <a:ext uri="{FF2B5EF4-FFF2-40B4-BE49-F238E27FC236}">
                <ns2:creationId id="{033020E3-9213-47E0-B53C-03EC2D2923CA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C59B8779-DF35-49A1-B152-E704945A7D37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901F0FAC-A484-4274-A304-7B7E0A9B2B4E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Compiler helps with</a:t>
            </a:r>
          </a:p>
        </p:txBody>
      </p:sp>
      <p:sp>
        <p:nvSpPr>
          <p:cNvPr id="13" name="">
            <a:extLst>
              <a:ext uri="{FF2B5EF4-FFF2-40B4-BE49-F238E27FC236}">
                <ns2:creationId id="{F8C69BB0-0172-40C1-8E66-D8FFB5226DB4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Thread-level mapping inside programs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Vectorization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Memory coalescing opportunities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Instruction selection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Some scheduling details</a:t>
            </a:r>
          </a:p>
        </p:txBody>
      </p:sp>
      <p:sp>
        <p:nvSpPr>
          <p:cNvPr id="14" name="">
            <a:extLst>
              <a:ext uri="{FF2B5EF4-FFF2-40B4-BE49-F238E27FC236}">
                <ns2:creationId id="{D777A49C-D03E-46F2-A3DC-23E61C943AD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Programming Guide - Introduction</a:t>
            </a:r>
          </a:p>
        </p:txBody>
      </p:sp>
      <p:sp>
        <p:nvSpPr>
          <p:cNvPr id="15" name="">
            <a:extLst>
              <a:ext uri="{FF2B5EF4-FFF2-40B4-BE49-F238E27FC236}">
                <ns2:creationId id="{206397BF-4A53-4670-BF33-769ACF37E14F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81783597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2AFF0FF-052A-4DD1-99FE-B67D4486CA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B7A2244D-DAF2-4AEC-9F47-D906E33DB56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30/40</a:t>
            </a:r>
          </a:p>
        </p:txBody>
      </p:sp>
      <p:sp>
        <p:nvSpPr>
          <p:cNvPr id="3" name="">
            <a:extLst>
              <a:ext uri="{FF2B5EF4-FFF2-40B4-BE49-F238E27FC236}">
                <ns2:creationId id="{745FEC8D-B749-4049-8479-15840EC6C8A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Exercise Module Shape</a:t>
            </a:r>
          </a:p>
        </p:txBody>
      </p:sp>
      <p:sp>
        <p:nvSpPr>
          <p:cNvPr id="4" name="">
            <a:extLst>
              <a:ext uri="{FF2B5EF4-FFF2-40B4-BE49-F238E27FC236}">
                <ns2:creationId id="{C66F8818-F60D-4CC8-9376-19FB7FE46EF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new lab follows the existing independent Bazel module pattern.</a:t>
            </a:r>
          </a:p>
        </p:txBody>
      </p:sp>
      <p:sp>
        <p:nvSpPr>
          <p:cNvPr id="5" name="">
            <a:extLst>
              <a:ext uri="{FF2B5EF4-FFF2-40B4-BE49-F238E27FC236}">
                <ns2:creationId id="{26195630-382B-498D-A6A7-29EC67CBBBC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71A26571-CBD4-49BC-B925-502892480A31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6572250" cy="2933700"/>
          </a:xfrm>
          <a:prstGeom prst="roundRect">
            <a:avLst>
              <a:gd name="adj" fmla="val 194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BC965245-F7D4-4D96-8F46-CAA73EC50A6D}"/>
              </a:ext>
            </a:extLst>
          </p:cNvPr>
          <p:cNvSpPr>
            <a:spLocks noGrp="1"/>
          </p:cNvSpPr>
          <p:nvPr/>
        </p:nvSpPr>
        <p:spPr>
          <a:xfrm>
            <a:off x="1428750" y="2476500"/>
            <a:ext cx="62293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new exercise module</a:t>
            </a:r>
          </a:p>
        </p:txBody>
      </p:sp>
      <p:sp>
        <p:nvSpPr>
          <p:cNvPr id="8" name="">
            <a:extLst>
              <a:ext uri="{FF2B5EF4-FFF2-40B4-BE49-F238E27FC236}">
                <ns2:creationId id="{4D9535E3-5549-437F-A768-B2EF2E75245C}"/>
              </a:ext>
            </a:extLst>
          </p:cNvPr>
          <p:cNvSpPr>
            <a:spLocks noGrp="1"/>
          </p:cNvSpPr>
          <p:nvPr/>
        </p:nvSpPr>
        <p:spPr>
          <a:xfrm>
            <a:off x="1428750" y="2781300"/>
            <a:ext cx="6229350" cy="23812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tp/stretch/ex13_triton_dsl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MODULE.bazel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requirements_linux.txt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python/BUILD.bazel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python/triton_kernels.py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python/triton_kernels_test.py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python/benchmark.py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tp/solutions/stretch/ex13_triton_dsl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same targets, completed kernels</a:t>
            </a:r>
          </a:p>
        </p:txBody>
      </p:sp>
      <p:sp>
        <p:nvSpPr>
          <p:cNvPr id="9" name="">
            <a:extLst>
              <a:ext uri="{FF2B5EF4-FFF2-40B4-BE49-F238E27FC236}">
                <ns2:creationId id="{A0A96F81-FA83-4921-9914-94CECF48FB4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2781300" cy="2933700"/>
          </a:xfrm>
          <a:prstGeom prst="roundRect">
            <a:avLst>
              <a:gd name="adj" fmla="val 2055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0" name="">
            <a:extLst>
              <a:ext uri="{FF2B5EF4-FFF2-40B4-BE49-F238E27FC236}">
                <ns2:creationId id="{011FBE3C-B0E5-4F10-8516-907A73E58480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57150" cy="293370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1" name="">
            <a:extLst>
              <a:ext uri="{FF2B5EF4-FFF2-40B4-BE49-F238E27FC236}">
                <ns2:creationId id="{0A14A50B-F9A7-477D-817C-2511BCC42608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23622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Exercise contract</a:t>
            </a:r>
          </a:p>
        </p:txBody>
      </p:sp>
      <p:sp>
        <p:nvSpPr>
          <p:cNvPr id="12" name="">
            <a:extLst>
              <a:ext uri="{FF2B5EF4-FFF2-40B4-BE49-F238E27FC236}">
                <ns2:creationId id="{BD66DEEB-8356-4537-9E69-308CFE72784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2362200" cy="215265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starter builds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starter tests fail on TODOs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solution tests vector add, SAXPY, square MatMul, rectangular MatMul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benchmark compares Torch and Triton</a:t>
            </a:r>
          </a:p>
        </p:txBody>
      </p:sp>
      <p:sp>
        <p:nvSpPr>
          <p:cNvPr id="13" name="">
            <a:extLst>
              <a:ext uri="{FF2B5EF4-FFF2-40B4-BE49-F238E27FC236}">
                <ns2:creationId id="{B04064F7-19C9-4C8B-957F-FE7A758B0DD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2C5E1EDD-52AE-43ED-9F91-A00797FE6841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024166693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31B2CABB-022B-42AD-BC4D-B921C481CC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C53A051D-7641-4710-9F77-19F5BB91B3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31/40</a:t>
            </a:r>
          </a:p>
        </p:txBody>
      </p:sp>
      <p:sp>
        <p:nvSpPr>
          <p:cNvPr id="3" name="">
            <a:extLst>
              <a:ext uri="{FF2B5EF4-FFF2-40B4-BE49-F238E27FC236}">
                <ns2:creationId id="{0EB27C7C-8A5C-45EE-AB5E-F260E0FD3E4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Pinned Python Dependencies</a:t>
            </a:r>
          </a:p>
        </p:txBody>
      </p:sp>
      <p:sp>
        <p:nvSpPr>
          <p:cNvPr id="4" name="">
            <a:extLst>
              <a:ext uri="{FF2B5EF4-FFF2-40B4-BE49-F238E27FC236}">
                <ns2:creationId id="{5B0EC399-9662-4D58-A511-0589350FDBB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stretch lab introduces Torch and Triton explicitly through the exercise module.</a:t>
            </a:r>
          </a:p>
        </p:txBody>
      </p:sp>
      <p:sp>
        <p:nvSpPr>
          <p:cNvPr id="5" name="">
            <a:extLst>
              <a:ext uri="{FF2B5EF4-FFF2-40B4-BE49-F238E27FC236}">
                <ns2:creationId id="{1C2C1B75-3A63-47BA-B10A-ABA532F6CEA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64222B3E-A23B-4B58-AB80-D13E2474072D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F1099359-DA85-4251-B215-0496ED1234D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2A341D9F-253D-4F20-9017-F79E06265E4F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9" name="">
            <a:extLst>
              <a:ext uri="{FF2B5EF4-FFF2-40B4-BE49-F238E27FC236}">
                <ns2:creationId id="{D14EF4E3-3623-4CDE-A50A-2D1DFE8EFB8D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Linux-only GPU exercise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Hermetic Python 3.13 from rules_python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`torch==2.12.0`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`triton==3.7.0`</a:t>
            </a:r>
          </a:p>
        </p:txBody>
      </p:sp>
      <p:sp>
        <p:nvSpPr>
          <p:cNvPr id="10" name="">
            <a:extLst>
              <a:ext uri="{FF2B5EF4-FFF2-40B4-BE49-F238E27FC236}">
                <ns2:creationId id="{4CB9F6FB-FD98-483B-BB2C-BBE680FEAA2A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706F13D4-E2A9-4C6B-A1D6-B09A98FBEB6A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Bzlmod shape</a:t>
            </a:r>
          </a:p>
        </p:txBody>
      </p:sp>
      <p:sp>
        <p:nvSpPr>
          <p:cNvPr id="12" name="">
            <a:extLst>
              <a:ext uri="{FF2B5EF4-FFF2-40B4-BE49-F238E27FC236}">
                <ns2:creationId id="{CAC0A1A3-A611-4617-898B-65D975AA66A9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pip = use_extension(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"@rules_python//python/extensions:pip.bzl",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"pip",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pip.parse(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hub_name = "pypi",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python_version = "3.13",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    requirements_lock = "//:requirements_linux.txt",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use_repo(pip, "pypi")</a:t>
            </a:r>
          </a:p>
        </p:txBody>
      </p:sp>
      <p:sp>
        <p:nvSpPr>
          <p:cNvPr id="13" name="">
            <a:extLst>
              <a:ext uri="{FF2B5EF4-FFF2-40B4-BE49-F238E27FC236}">
                <ns2:creationId id="{43987710-62A1-427A-AD70-7ADE427C1FE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rules_python Bzlmod pip.parse docs</a:t>
            </a:r>
          </a:p>
        </p:txBody>
      </p:sp>
      <p:sp>
        <p:nvSpPr>
          <p:cNvPr id="14" name="">
            <a:extLst>
              <a:ext uri="{FF2B5EF4-FFF2-40B4-BE49-F238E27FC236}">
                <ns2:creationId id="{4D200FFD-97E2-4C15-8F97-DC2DAA64512E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284553091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4836AF1-8C5E-481B-99A4-3B595246F2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281E7E06-07A8-4D96-9A6C-6E65BF71712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32/40</a:t>
            </a:r>
          </a:p>
        </p:txBody>
      </p:sp>
      <p:sp>
        <p:nvSpPr>
          <p:cNvPr id="3" name="">
            <a:extLst>
              <a:ext uri="{FF2B5EF4-FFF2-40B4-BE49-F238E27FC236}">
                <ns2:creationId id="{30BC75BA-ED6A-487C-9A42-69F568539EE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Commands</a:t>
            </a:r>
          </a:p>
        </p:txBody>
      </p:sp>
      <p:sp>
        <p:nvSpPr>
          <p:cNvPr id="4" name="">
            <a:extLst>
              <a:ext uri="{FF2B5EF4-FFF2-40B4-BE49-F238E27FC236}">
                <ns2:creationId id="{E64B53D7-ED90-4184-8559-4361EF29774D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student-facing proof stays runnable and small.</a:t>
            </a:r>
          </a:p>
        </p:txBody>
      </p:sp>
      <p:sp>
        <p:nvSpPr>
          <p:cNvPr id="5" name="">
            <a:extLst>
              <a:ext uri="{FF2B5EF4-FFF2-40B4-BE49-F238E27FC236}">
                <ns2:creationId id="{3E33DC51-D5B4-4F2D-ACC9-F34F0AEBE32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99EEB7F5-6836-40A1-B8A2-B5F5545FBA0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8D060A3A-C470-47F7-8EFC-D5C1C15B878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BA3B9D9F-8754-4DF6-9A6E-511648B15554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Starter expectation</a:t>
            </a:r>
          </a:p>
        </p:txBody>
      </p:sp>
      <p:sp>
        <p:nvSpPr>
          <p:cNvPr id="9" name="">
            <a:extLst>
              <a:ext uri="{FF2B5EF4-FFF2-40B4-BE49-F238E27FC236}">
                <ns2:creationId id="{7D1EF332-F7F2-49DA-9F09-08133A171DE0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Build should pass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Test should fail until TODOs are implemented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Benchmark requires completed kernels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Solution mirror demonstrates the answer</a:t>
            </a:r>
          </a:p>
        </p:txBody>
      </p:sp>
      <p:sp>
        <p:nvSpPr>
          <p:cNvPr id="10" name="">
            <a:extLst>
              <a:ext uri="{FF2B5EF4-FFF2-40B4-BE49-F238E27FC236}">
                <ns2:creationId id="{2A190B46-3744-4C4C-B22E-EB9328E4B1C6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9057D6B8-B90C-4C74-9683-8B634B49784A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run from the exercise directory</a:t>
            </a:r>
          </a:p>
        </p:txBody>
      </p:sp>
      <p:sp>
        <p:nvSpPr>
          <p:cNvPr id="12" name="">
            <a:extLst>
              <a:ext uri="{FF2B5EF4-FFF2-40B4-BE49-F238E27FC236}">
                <ns2:creationId id="{F9C73B2C-37F3-4E2F-AB39-7867427CD7AC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cd /Users/kevin/formation/tp/stretch/ex13_triton_dsl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bazel build //...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bazel test //python:triton_kernels_test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bazel run //python:benchmark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cd /Users/kevin/formation/tp/solutions/stretch/ex13_triton_dsl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bazel test //python:triton_kernels_test</a:t>
            </a:r>
          </a:p>
        </p:txBody>
      </p:sp>
      <p:sp>
        <p:nvSpPr>
          <p:cNvPr id="13" name="">
            <a:extLst>
              <a:ext uri="{FF2B5EF4-FFF2-40B4-BE49-F238E27FC236}">
                <ns2:creationId id="{B999E83A-A224-45A5-A4C7-0BC270144C1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tp/stretch/ex13_triton_dsl/README.md</a:t>
            </a:r>
          </a:p>
        </p:txBody>
      </p:sp>
      <p:sp>
        <p:nvSpPr>
          <p:cNvPr id="14" name="">
            <a:extLst>
              <a:ext uri="{FF2B5EF4-FFF2-40B4-BE49-F238E27FC236}">
                <ns2:creationId id="{FEC9A7AB-C8D8-4694-9475-D78C951DEF95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34040357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CCB9EB9-B3F8-4F46-A64A-761750C39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23E62987-DC38-4461-A801-E6D8105DD9A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33/40</a:t>
            </a:r>
          </a:p>
        </p:txBody>
      </p:sp>
      <p:sp>
        <p:nvSpPr>
          <p:cNvPr id="3" name="">
            <a:extLst>
              <a:ext uri="{FF2B5EF4-FFF2-40B4-BE49-F238E27FC236}">
                <ns2:creationId id="{C769D146-8336-4944-93E4-38C8EBE8C94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Common Failure Modes</a:t>
            </a:r>
          </a:p>
        </p:txBody>
      </p:sp>
      <p:sp>
        <p:nvSpPr>
          <p:cNvPr id="4" name="">
            <a:extLst>
              <a:ext uri="{FF2B5EF4-FFF2-40B4-BE49-F238E27FC236}">
                <ns2:creationId id="{6D2B1A46-3926-4A26-A9A1-4A0C92D09B5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Most Triton beginner bugs are indexing bugs that only appear at edges.</a:t>
            </a:r>
          </a:p>
        </p:txBody>
      </p:sp>
      <p:sp>
        <p:nvSpPr>
          <p:cNvPr id="5" name="">
            <a:extLst>
              <a:ext uri="{FF2B5EF4-FFF2-40B4-BE49-F238E27FC236}">
                <ns2:creationId id="{ED8156DA-E7C2-43DA-A4CD-B3130784DC2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78D23BB1-CE8E-43F6-9C07-02F3859DE1D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34F2AEF6-1A36-47F4-870E-C0486DEF50F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DCCD1BF6-90A8-4686-9674-633A78FAB789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Correctness bugs</a:t>
            </a:r>
          </a:p>
        </p:txBody>
      </p:sp>
      <p:sp>
        <p:nvSpPr>
          <p:cNvPr id="9" name="">
            <a:extLst>
              <a:ext uri="{FF2B5EF4-FFF2-40B4-BE49-F238E27FC236}">
                <ns2:creationId id="{7B51766A-EB8A-46E6-8EE9-8A0E9A8422D2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Forgot `pid * BLOCK_SIZE`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Mask only on load, not store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Wrong stride in 2D pointer math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MatMul tests only square divisible sizes</a:t>
            </a:r>
          </a:p>
        </p:txBody>
      </p:sp>
      <p:sp>
        <p:nvSpPr>
          <p:cNvPr id="10" name="">
            <a:extLst>
              <a:ext uri="{FF2B5EF4-FFF2-40B4-BE49-F238E27FC236}">
                <ns2:creationId id="{B91DDC1E-26FE-4538-B28D-03915CADBAE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2D25E73A-CB91-4D4C-A445-BB3F9754F67C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24EC0AFB-2122-4DAA-99BE-70E21A32F739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Environment bugs</a:t>
            </a:r>
          </a:p>
        </p:txBody>
      </p:sp>
      <p:sp>
        <p:nvSpPr>
          <p:cNvPr id="13" name="">
            <a:extLst>
              <a:ext uri="{FF2B5EF4-FFF2-40B4-BE49-F238E27FC236}">
                <ns2:creationId id="{D717F627-5484-4BDF-8EEA-B1637A1587F0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Running on non-Linux host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No NVIDIA driver or GPU access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First benchmark includes JIT compilation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Torch/Triton wheel matrix mismatch</a:t>
            </a:r>
          </a:p>
        </p:txBody>
      </p:sp>
      <p:sp>
        <p:nvSpPr>
          <p:cNvPr id="14" name="">
            <a:extLst>
              <a:ext uri="{FF2B5EF4-FFF2-40B4-BE49-F238E27FC236}">
                <ns2:creationId id="{5E6F5CED-94DF-48C8-9905-038D25EBB12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installation and debugging docs</a:t>
            </a:r>
          </a:p>
        </p:txBody>
      </p:sp>
      <p:sp>
        <p:nvSpPr>
          <p:cNvPr id="15" name="">
            <a:extLst>
              <a:ext uri="{FF2B5EF4-FFF2-40B4-BE49-F238E27FC236}">
                <ns2:creationId id="{AE2F31A3-ED0A-4755-9D92-6FE72AE27C12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797697110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5A21292-1FD5-4EEF-AADA-8D70063CC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D32CBCDA-98A8-41EA-BD14-45EE6DB4E28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34/40</a:t>
            </a:r>
          </a:p>
        </p:txBody>
      </p:sp>
      <p:sp>
        <p:nvSpPr>
          <p:cNvPr id="3" name="">
            <a:extLst>
              <a:ext uri="{FF2B5EF4-FFF2-40B4-BE49-F238E27FC236}">
                <ns2:creationId id="{5B162469-915D-4826-9F02-8DD6B5304E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Reading Results</a:t>
            </a:r>
          </a:p>
        </p:txBody>
      </p:sp>
      <p:sp>
        <p:nvSpPr>
          <p:cNvPr id="4" name="">
            <a:extLst>
              <a:ext uri="{FF2B5EF4-FFF2-40B4-BE49-F238E27FC236}">
                <ns2:creationId id="{14F17C03-629C-4BCA-ABAA-15585F6A39A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benchmark is a teaching object, not a leaderboard.</a:t>
            </a:r>
          </a:p>
        </p:txBody>
      </p:sp>
      <p:sp>
        <p:nvSpPr>
          <p:cNvPr id="5" name="">
            <a:extLst>
              <a:ext uri="{FF2B5EF4-FFF2-40B4-BE49-F238E27FC236}">
                <ns2:creationId id="{FC7AA7A5-142B-46D7-A58A-5F02C7A89D9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E9FE6D99-9F6B-4AC7-8E0B-1B11BE5F606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72238656-8CB8-45EF-B9F7-5ECFC16D480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FD82FE63-74AE-4B92-9BDE-9B32FA45E7DE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Elementwise kernels</a:t>
            </a:r>
          </a:p>
        </p:txBody>
      </p:sp>
      <p:sp>
        <p:nvSpPr>
          <p:cNvPr id="9" name="">
            <a:extLst>
              <a:ext uri="{FF2B5EF4-FFF2-40B4-BE49-F238E27FC236}">
                <ns2:creationId id="{43B56FEB-AACE-48F0-8E3C-9363FB2ADEB6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Expect bandwidth-bound behavior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Compute GB/s from three arrays moved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Triton and Torch may be close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Tiny inputs mostly measure overhead</a:t>
            </a:r>
          </a:p>
        </p:txBody>
      </p:sp>
      <p:sp>
        <p:nvSpPr>
          <p:cNvPr id="10" name="">
            <a:extLst>
              <a:ext uri="{FF2B5EF4-FFF2-40B4-BE49-F238E27FC236}">
                <ns2:creationId id="{EE997A8E-7A55-4EC3-B5B4-04778123E17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2B2858FB-31B2-4E54-B8EB-3F55D6672ED3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C7C997C6-70C4-480A-B959-31105DE87359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MatMul</a:t>
            </a:r>
          </a:p>
        </p:txBody>
      </p:sp>
      <p:sp>
        <p:nvSpPr>
          <p:cNvPr id="13" name="">
            <a:extLst>
              <a:ext uri="{FF2B5EF4-FFF2-40B4-BE49-F238E27FC236}">
                <ns2:creationId id="{51732DB1-2882-4084-A926-E83459D26859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Expect Torch library path to be strong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Tile shape affects performance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Arithmetic intensity is higher than vector add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basic kernel is for understanding first</a:t>
            </a:r>
          </a:p>
        </p:txBody>
      </p:sp>
      <p:sp>
        <p:nvSpPr>
          <p:cNvPr id="14" name="">
            <a:extLst>
              <a:ext uri="{FF2B5EF4-FFF2-40B4-BE49-F238E27FC236}">
                <ns2:creationId id="{20695E44-1FFD-435A-BEC1-99F399D5D88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vector addition and matrix multiplication tutorials</a:t>
            </a:r>
          </a:p>
        </p:txBody>
      </p:sp>
      <p:sp>
        <p:nvSpPr>
          <p:cNvPr id="15" name="">
            <a:extLst>
              <a:ext uri="{FF2B5EF4-FFF2-40B4-BE49-F238E27FC236}">
                <ns2:creationId id="{26BD590B-703A-458A-BB84-36FCAF923CED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819521557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AA80318-7FBB-4973-B41A-5545216D8E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107B0949-B026-4178-890A-090B173F28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35/40</a:t>
            </a:r>
          </a:p>
        </p:txBody>
      </p:sp>
      <p:sp>
        <p:nvSpPr>
          <p:cNvPr id="3" name="">
            <a:extLst>
              <a:ext uri="{FF2B5EF4-FFF2-40B4-BE49-F238E27FC236}">
                <ns2:creationId id="{F72737C1-A00A-4BDE-8DB2-418F57B7FB4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Choosing the Right Level</a:t>
            </a:r>
          </a:p>
        </p:txBody>
      </p:sp>
      <p:sp>
        <p:nvSpPr>
          <p:cNvPr id="4" name="">
            <a:extLst>
              <a:ext uri="{FF2B5EF4-FFF2-40B4-BE49-F238E27FC236}">
                <ns2:creationId id="{FC8E8951-4B6F-4546-BF6B-66D9F8874A44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Triton is now part of the course's abstraction ladder.</a:t>
            </a:r>
          </a:p>
        </p:txBody>
      </p:sp>
      <p:sp>
        <p:nvSpPr>
          <p:cNvPr id="5" name="">
            <a:extLst>
              <a:ext uri="{FF2B5EF4-FFF2-40B4-BE49-F238E27FC236}">
                <ns2:creationId id="{C7E7F662-7651-4D17-8783-56403A2748B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EFF0D178-6F36-4528-B8DD-73C931393E43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2038350" cy="114300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9050">
            <a:solidFill>
              <a:srgbClr val="F472B6"/>
            </a:solidFill>
          </a:ln>
        </p:spPr>
      </p:sp>
      <p:sp>
        <p:nvSpPr>
          <p:cNvPr id="7" name="">
            <a:extLst>
              <a:ext uri="{FF2B5EF4-FFF2-40B4-BE49-F238E27FC236}">
                <ns2:creationId id="{39AB169E-C62C-4270-BEA0-312A490567D1}"/>
              </a:ext>
            </a:extLst>
          </p:cNvPr>
          <p:cNvSpPr>
            <a:spLocks noGrp="1"/>
          </p:cNvSpPr>
          <p:nvPr/>
        </p:nvSpPr>
        <p:spPr>
          <a:xfrm>
            <a:off x="1200150" y="3162300"/>
            <a:ext cx="1733550" cy="24765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F472B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472B6"/>
                </a:solidFill>
                <a:latin typeface="Aptos"/>
                <a:ea typeface="Aptos"/>
                <a:cs typeface="Aptos"/>
              </a:rPr>
              <a:t>CUDA C++</a:t>
            </a:r>
          </a:p>
        </p:txBody>
      </p:sp>
      <p:sp>
        <p:nvSpPr>
          <p:cNvPr id="8" name="">
            <a:extLst>
              <a:ext uri="{FF2B5EF4-FFF2-40B4-BE49-F238E27FC236}">
                <ns2:creationId id="{764E4833-33CF-46FE-A05F-653959BBD668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1695450" cy="438150"/>
          </a:xfrm>
          <a:prstGeom prst="rect">
            <a:avLst/>
          </a:prstGeom>
        </p:spPr>
        <p:txBody>
          <a:bodyPr anchor="t"/>
          <a:lstStyle/>
          <a:p>
            <a:pPr algn="ctr">
              <a:defRPr sz="10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maximum control</a:t>
            </a:r>
          </a:p>
        </p:txBody>
      </p:sp>
      <p:sp>
        <p:nvSpPr>
          <p:cNvPr id="9" name="">
            <a:extLst>
              <a:ext uri="{FF2B5EF4-FFF2-40B4-BE49-F238E27FC236}">
                <ns2:creationId id="{3A0DE8AA-8052-4929-AE28-6A019D119F98}"/>
              </a:ext>
            </a:extLst>
          </p:cNvPr>
          <p:cNvSpPr>
            <a:spLocks noGrp="1"/>
          </p:cNvSpPr>
          <p:nvPr/>
        </p:nvSpPr>
        <p:spPr>
          <a:xfrm>
            <a:off x="3571875" y="2819400"/>
            <a:ext cx="2038350" cy="1352550"/>
          </a:xfrm>
          <a:prstGeom prst="roundRect">
            <a:avLst>
              <a:gd name="adj" fmla="val 4225"/>
            </a:avLst>
          </a:prstGeom>
          <a:solidFill>
            <a:srgbClr val="172033"/>
          </a:solidFill>
          <a:ln w="19050">
            <a:solidFill>
              <a:srgbClr val="22D3EE"/>
            </a:solidFill>
          </a:ln>
        </p:spPr>
      </p:sp>
      <p:sp>
        <p:nvSpPr>
          <p:cNvPr id="10" name="">
            <a:extLst>
              <a:ext uri="{FF2B5EF4-FFF2-40B4-BE49-F238E27FC236}">
                <ns2:creationId id="{100437B8-C7A9-417E-A01D-17E4BEAD37DA}"/>
              </a:ext>
            </a:extLst>
          </p:cNvPr>
          <p:cNvSpPr>
            <a:spLocks noGrp="1"/>
          </p:cNvSpPr>
          <p:nvPr/>
        </p:nvSpPr>
        <p:spPr>
          <a:xfrm>
            <a:off x="3724275" y="3009900"/>
            <a:ext cx="1733550" cy="24765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Triton</a:t>
            </a:r>
          </a:p>
        </p:txBody>
      </p:sp>
      <p:sp>
        <p:nvSpPr>
          <p:cNvPr id="11" name="">
            <a:extLst>
              <a:ext uri="{FF2B5EF4-FFF2-40B4-BE49-F238E27FC236}">
                <ns2:creationId id="{E1806BE6-D92D-414F-9BE9-C85CDF34AA94}"/>
              </a:ext>
            </a:extLst>
          </p:cNvPr>
          <p:cNvSpPr>
            <a:spLocks noGrp="1"/>
          </p:cNvSpPr>
          <p:nvPr/>
        </p:nvSpPr>
        <p:spPr>
          <a:xfrm>
            <a:off x="3743325" y="3352800"/>
            <a:ext cx="1695450" cy="438150"/>
          </a:xfrm>
          <a:prstGeom prst="rect">
            <a:avLst/>
          </a:prstGeom>
        </p:spPr>
        <p:txBody>
          <a:bodyPr anchor="t"/>
          <a:lstStyle/>
          <a:p>
            <a:pPr algn="ctr">
              <a:defRPr sz="10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block-level DSL</a:t>
            </a:r>
          </a:p>
        </p:txBody>
      </p:sp>
      <p:sp>
        <p:nvSpPr>
          <p:cNvPr id="12" name="">
            <a:extLst>
              <a:ext uri="{FF2B5EF4-FFF2-40B4-BE49-F238E27FC236}">
                <ns2:creationId id="{0CA0B78D-04C0-4E92-AF42-9A3CE6A85B0C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2038350" cy="1562100"/>
          </a:xfrm>
          <a:prstGeom prst="roundRect">
            <a:avLst>
              <a:gd name="adj" fmla="val 3659"/>
            </a:avLst>
          </a:prstGeom>
          <a:solidFill>
            <a:srgbClr val="172033"/>
          </a:solidFill>
          <a:ln w="19050">
            <a:solidFill>
              <a:srgbClr val="34D399"/>
            </a:solidFill>
          </a:ln>
        </p:spPr>
      </p:sp>
      <p:sp>
        <p:nvSpPr>
          <p:cNvPr id="13" name="">
            <a:extLst>
              <a:ext uri="{FF2B5EF4-FFF2-40B4-BE49-F238E27FC236}">
                <ns2:creationId id="{BB3672A2-F51E-4B18-9B68-BBBD3CB4C0B1}"/>
              </a:ext>
            </a:extLst>
          </p:cNvPr>
          <p:cNvSpPr>
            <a:spLocks noGrp="1"/>
          </p:cNvSpPr>
          <p:nvPr/>
        </p:nvSpPr>
        <p:spPr>
          <a:xfrm>
            <a:off x="6248400" y="2857500"/>
            <a:ext cx="1733550" cy="24765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cuBLAS</a:t>
            </a:r>
          </a:p>
        </p:txBody>
      </p:sp>
      <p:sp>
        <p:nvSpPr>
          <p:cNvPr id="14" name="">
            <a:extLst>
              <a:ext uri="{FF2B5EF4-FFF2-40B4-BE49-F238E27FC236}">
                <ns2:creationId id="{63F77602-2251-4227-A5F8-E8E4AA7AB929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1695450" cy="438150"/>
          </a:xfrm>
          <a:prstGeom prst="rect">
            <a:avLst/>
          </a:prstGeom>
        </p:spPr>
        <p:txBody>
          <a:bodyPr anchor="t"/>
          <a:lstStyle/>
          <a:p>
            <a:pPr algn="ctr">
              <a:defRPr sz="10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library baseline</a:t>
            </a:r>
          </a:p>
        </p:txBody>
      </p:sp>
      <p:sp>
        <p:nvSpPr>
          <p:cNvPr id="15" name="">
            <a:extLst>
              <a:ext uri="{FF2B5EF4-FFF2-40B4-BE49-F238E27FC236}">
                <ns2:creationId id="{57173434-A735-47CC-AF30-1D26686415B7}"/>
              </a:ext>
            </a:extLst>
          </p:cNvPr>
          <p:cNvSpPr>
            <a:spLocks noGrp="1"/>
          </p:cNvSpPr>
          <p:nvPr/>
        </p:nvSpPr>
        <p:spPr>
          <a:xfrm>
            <a:off x="8620125" y="2514600"/>
            <a:ext cx="2038350" cy="1771650"/>
          </a:xfrm>
          <a:prstGeom prst="roundRect">
            <a:avLst>
              <a:gd name="adj" fmla="val 3226"/>
            </a:avLst>
          </a:prstGeom>
          <a:solidFill>
            <a:srgbClr val="172033"/>
          </a:solidFill>
          <a:ln w="19050">
            <a:solidFill>
              <a:srgbClr val="FBBF24"/>
            </a:solidFill>
          </a:ln>
        </p:spPr>
      </p:sp>
      <p:sp>
        <p:nvSpPr>
          <p:cNvPr id="16" name="">
            <a:extLst>
              <a:ext uri="{FF2B5EF4-FFF2-40B4-BE49-F238E27FC236}">
                <ns2:creationId id="{023EA056-27FD-4E7F-908E-8F598BB08962}"/>
              </a:ext>
            </a:extLst>
          </p:cNvPr>
          <p:cNvSpPr>
            <a:spLocks noGrp="1"/>
          </p:cNvSpPr>
          <p:nvPr/>
        </p:nvSpPr>
        <p:spPr>
          <a:xfrm>
            <a:off x="8772525" y="2705100"/>
            <a:ext cx="1733550" cy="247650"/>
          </a:xfrm>
          <a:prstGeom prst="rect">
            <a:avLst/>
          </a:prstGeom>
        </p:spPr>
        <p:txBody>
          <a:bodyPr anchor="t"/>
          <a:lstStyle/>
          <a:p>
            <a:pPr algn="ctr">
              <a:defRPr sz="150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BBF24"/>
                </a:solidFill>
                <a:latin typeface="Aptos"/>
                <a:ea typeface="Aptos"/>
                <a:cs typeface="Aptos"/>
              </a:rPr>
              <a:t>JAX/XLA</a:t>
            </a:r>
          </a:p>
        </p:txBody>
      </p:sp>
      <p:sp>
        <p:nvSpPr>
          <p:cNvPr id="17" name="">
            <a:extLst>
              <a:ext uri="{FF2B5EF4-FFF2-40B4-BE49-F238E27FC236}">
                <ns2:creationId id="{83D8CA78-627E-486B-99F7-73A0DE3973F2}"/>
              </a:ext>
            </a:extLst>
          </p:cNvPr>
          <p:cNvSpPr>
            <a:spLocks noGrp="1"/>
          </p:cNvSpPr>
          <p:nvPr/>
        </p:nvSpPr>
        <p:spPr>
          <a:xfrm>
            <a:off x="8791575" y="3048000"/>
            <a:ext cx="1695450" cy="438150"/>
          </a:xfrm>
          <a:prstGeom prst="rect">
            <a:avLst/>
          </a:prstGeom>
        </p:spPr>
        <p:txBody>
          <a:bodyPr anchor="t"/>
          <a:lstStyle/>
          <a:p>
            <a:pPr algn="ctr">
              <a:defRPr sz="10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compiler-managed arrays</a:t>
            </a:r>
          </a:p>
        </p:txBody>
      </p:sp>
      <p:sp>
        <p:nvSpPr>
          <p:cNvPr id="18" name="">
            <a:extLst>
              <a:ext uri="{FF2B5EF4-FFF2-40B4-BE49-F238E27FC236}">
                <ns2:creationId id="{2A2CD4DD-F1B4-4FA3-BF4D-8CA296240FCC}"/>
              </a:ext>
            </a:extLst>
          </p:cNvPr>
          <p:cNvSpPr>
            <a:spLocks noGrp="1"/>
          </p:cNvSpPr>
          <p:nvPr/>
        </p:nvSpPr>
        <p:spPr>
          <a:xfrm>
            <a:off x="1028700" y="5334000"/>
            <a:ext cx="247650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more explicit control</a:t>
            </a:r>
          </a:p>
        </p:txBody>
      </p:sp>
      <p:sp>
        <p:nvSpPr>
          <p:cNvPr id="19" name="">
            <a:extLst>
              <a:ext uri="{FF2B5EF4-FFF2-40B4-BE49-F238E27FC236}">
                <ns2:creationId id="{0599E3ED-AEE3-400B-85EF-4AA034F69E55}"/>
              </a:ext>
            </a:extLst>
          </p:cNvPr>
          <p:cNvSpPr>
            <a:spLocks noGrp="1"/>
          </p:cNvSpPr>
          <p:nvPr/>
        </p:nvSpPr>
        <p:spPr>
          <a:xfrm>
            <a:off x="7810500" y="5334000"/>
            <a:ext cx="2667000" cy="228600"/>
          </a:xfrm>
          <a:prstGeom prst="rect">
            <a:avLst/>
          </a:prstGeom>
        </p:spPr>
        <p:txBody>
          <a:bodyPr anchor="t"/>
          <a:lstStyle/>
          <a:p>
            <a:pPr algn="r">
              <a:defRPr sz="1125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more compiler/productivity help</a:t>
            </a:r>
          </a:p>
        </p:txBody>
      </p:sp>
      <p:sp>
        <p:nvSpPr>
          <p:cNvPr id="20" name="">
            <a:extLst>
              <a:ext uri="{FF2B5EF4-FFF2-40B4-BE49-F238E27FC236}">
                <ns2:creationId id="{30CC0DF9-31F9-445D-BD52-30AF6DB0C5B7}"/>
              </a:ext>
            </a:extLst>
          </p:cNvPr>
          <p:cNvSpPr>
            <a:spLocks noGrp="1"/>
          </p:cNvSpPr>
          <p:nvPr/>
        </p:nvSpPr>
        <p:spPr>
          <a:xfrm>
            <a:off x="2990850" y="5438775"/>
            <a:ext cx="4743450" cy="190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1" name="">
            <a:extLst>
              <a:ext uri="{FF2B5EF4-FFF2-40B4-BE49-F238E27FC236}">
                <ns2:creationId id="{13D89E00-7B11-4CC8-BF03-F8D87617EA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Day2 abstraction-level slide plus Triton docs</a:t>
            </a:r>
          </a:p>
        </p:txBody>
      </p:sp>
      <p:sp>
        <p:nvSpPr>
          <p:cNvPr id="22" name="">
            <a:extLst>
              <a:ext uri="{FF2B5EF4-FFF2-40B4-BE49-F238E27FC236}">
                <ns2:creationId id="{C94B4022-C69A-40E2-8F82-37CF4277DA56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12790725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370098C-A367-43A0-B74F-C41BDA4F4A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A72CD9BB-B285-478B-917F-F0D92505B4D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36/40</a:t>
            </a:r>
          </a:p>
        </p:txBody>
      </p:sp>
      <p:sp>
        <p:nvSpPr>
          <p:cNvPr id="3" name="">
            <a:extLst>
              <a:ext uri="{FF2B5EF4-FFF2-40B4-BE49-F238E27FC236}">
                <ns2:creationId id="{759DB5FC-6AA3-4014-9AB9-1AA9F3DC827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Stretch Beyond This Lab</a:t>
            </a:r>
          </a:p>
        </p:txBody>
      </p:sp>
      <p:sp>
        <p:nvSpPr>
          <p:cNvPr id="4" name="">
            <a:extLst>
              <a:ext uri="{FF2B5EF4-FFF2-40B4-BE49-F238E27FC236}">
                <ns2:creationId id="{4F08E420-D628-4B13-AD26-0B84A02AC1B2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Once the first kernels are correct, the next work is optimization, not new syntax.</a:t>
            </a:r>
          </a:p>
        </p:txBody>
      </p:sp>
      <p:sp>
        <p:nvSpPr>
          <p:cNvPr id="5" name="">
            <a:extLst>
              <a:ext uri="{FF2B5EF4-FFF2-40B4-BE49-F238E27FC236}">
                <ns2:creationId id="{B230E213-83CE-4097-82F7-6345A470EAE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38404251-F509-498E-BD85-C57F6906FB8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111B260E-7B5D-4749-BB40-2E041A51DB2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F3D352B9-6121-43DD-BA75-D8CA86327E60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Triton next steps</a:t>
            </a:r>
          </a:p>
        </p:txBody>
      </p:sp>
      <p:sp>
        <p:nvSpPr>
          <p:cNvPr id="9" name="">
            <a:extLst>
              <a:ext uri="{FF2B5EF4-FFF2-40B4-BE49-F238E27FC236}">
                <ns2:creationId id="{A3BDFB57-A411-4851-B4B2-0398658930FA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Autotune block sizes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Use grouped MatMul ordering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Explore FP16/BF16 and tensor cores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Fuse activation or bias in MatMul</a:t>
            </a:r>
          </a:p>
        </p:txBody>
      </p:sp>
      <p:sp>
        <p:nvSpPr>
          <p:cNvPr id="10" name="">
            <a:extLst>
              <a:ext uri="{FF2B5EF4-FFF2-40B4-BE49-F238E27FC236}">
                <ns2:creationId id="{E2B5C751-DA5E-4E82-819E-202FB7AEFC80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79AE8A2F-9DD7-4849-842C-3608A7D425E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DE5258C0-F4BC-41FC-AF9A-DF9B5E1ECC04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Course next steps</a:t>
            </a:r>
          </a:p>
        </p:txBody>
      </p:sp>
      <p:sp>
        <p:nvSpPr>
          <p:cNvPr id="13" name="">
            <a:extLst>
              <a:ext uri="{FF2B5EF4-FFF2-40B4-BE49-F238E27FC236}">
                <ns2:creationId id="{75415196-7B95-421E-9318-99362EEE84DE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Compare against cuBLAS stretch exercise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Profile with Nsight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Discuss memory hierarchy again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Keep Torch references in every test</a:t>
            </a:r>
          </a:p>
        </p:txBody>
      </p:sp>
      <p:sp>
        <p:nvSpPr>
          <p:cNvPr id="14" name="">
            <a:extLst>
              <a:ext uri="{FF2B5EF4-FFF2-40B4-BE49-F238E27FC236}">
                <ns2:creationId id="{B0A93498-919B-4CDF-A52E-1834D90BB37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Triton matrix multiplication tutorial</a:t>
            </a:r>
          </a:p>
        </p:txBody>
      </p:sp>
      <p:sp>
        <p:nvSpPr>
          <p:cNvPr id="15" name="">
            <a:extLst>
              <a:ext uri="{FF2B5EF4-FFF2-40B4-BE49-F238E27FC236}">
                <ns2:creationId id="{1B0A2191-1172-49DF-A845-415C6FB94DFC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41335523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AEDF48D-8FCE-431A-9487-A8DD29D9BF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4910A49F-8FFC-4CFF-B019-8547ECAC112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37/40</a:t>
            </a:r>
          </a:p>
        </p:txBody>
      </p:sp>
      <p:sp>
        <p:nvSpPr>
          <p:cNvPr id="3" name="">
            <a:extLst>
              <a:ext uri="{FF2B5EF4-FFF2-40B4-BE49-F238E27FC236}">
                <ns2:creationId id="{F51B5BFF-3968-41A2-86FD-925E73543ED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Implementation Checklist</a:t>
            </a:r>
          </a:p>
        </p:txBody>
      </p:sp>
      <p:sp>
        <p:nvSpPr>
          <p:cNvPr id="4" name="">
            <a:extLst>
              <a:ext uri="{FF2B5EF4-FFF2-40B4-BE49-F238E27FC236}">
                <ns2:creationId id="{7ACAF872-D63F-42F4-A6E3-E593525B2D06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lab's TODOs are deliberately ordered from 1D indexing to 2D tiling.</a:t>
            </a:r>
          </a:p>
        </p:txBody>
      </p:sp>
      <p:sp>
        <p:nvSpPr>
          <p:cNvPr id="5" name="">
            <a:extLst>
              <a:ext uri="{FF2B5EF4-FFF2-40B4-BE49-F238E27FC236}">
                <ns2:creationId id="{DFC15B82-BADE-450E-9861-53AB7B0FA86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1D72786E-0F3E-42E5-A242-76521E52620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10B64B1F-0C8B-4291-A120-2C6E784B2D0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B8CC2EB6-7A36-446B-A094-2B04A2FB4B3A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Starter tasks</a:t>
            </a:r>
          </a:p>
        </p:txBody>
      </p:sp>
      <p:sp>
        <p:nvSpPr>
          <p:cNvPr id="9" name="">
            <a:extLst>
              <a:ext uri="{FF2B5EF4-FFF2-40B4-BE49-F238E27FC236}">
                <ns2:creationId id="{71664D49-DA54-4083-AEDA-85924E6A8BA2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Fix vector add offsets and mask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Fix SAXPY offsets, mask, and arithmetic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Implement MatMul K-loop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Add correct A/B/C masks</a:t>
            </a:r>
          </a:p>
        </p:txBody>
      </p:sp>
      <p:sp>
        <p:nvSpPr>
          <p:cNvPr id="10" name="">
            <a:extLst>
              <a:ext uri="{FF2B5EF4-FFF2-40B4-BE49-F238E27FC236}">
                <ns2:creationId id="{09A903B0-7D8F-45B4-868C-3FCF5A535E3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CEFD92B1-5EB6-40B2-B1CD-EB08C449ADA4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129C4DED-63B5-49C4-8FFB-FDBF20C34AA7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13" name="">
            <a:extLst>
              <a:ext uri="{FF2B5EF4-FFF2-40B4-BE49-F238E27FC236}">
                <ns2:creationId id="{F2849550-DB07-4558-9019-056AFB8424FA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Vector add edge-size test passes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SAXPY edge-size test passes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Square MatMul test passes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Rectangular masked-edge MatMul test passes</a:t>
            </a:r>
          </a:p>
        </p:txBody>
      </p:sp>
      <p:sp>
        <p:nvSpPr>
          <p:cNvPr id="14" name="">
            <a:extLst>
              <a:ext uri="{FF2B5EF4-FFF2-40B4-BE49-F238E27FC236}">
                <ns2:creationId id="{7A67A622-B06B-4B92-8910-7DD317F5DBB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tp/stretch/ex13_triton_dsl/python/triton_kernels_test.py</a:t>
            </a:r>
          </a:p>
        </p:txBody>
      </p:sp>
      <p:sp>
        <p:nvSpPr>
          <p:cNvPr id="15" name="">
            <a:extLst>
              <a:ext uri="{FF2B5EF4-FFF2-40B4-BE49-F238E27FC236}">
                <ns2:creationId id="{5BB0BBBA-8145-4CFD-AA96-42D02201BA25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274250516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287AE33-2AE4-4402-8623-8DC45AEF70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50FC24FA-D426-4975-B3E6-1973DD62C46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38/40</a:t>
            </a:r>
          </a:p>
        </p:txBody>
      </p:sp>
      <p:sp>
        <p:nvSpPr>
          <p:cNvPr id="3" name="">
            <a:extLst>
              <a:ext uri="{FF2B5EF4-FFF2-40B4-BE49-F238E27FC236}">
                <ns2:creationId id="{62FFD6D5-D523-4DB8-9BAD-DC742B0573B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Documentation Anchors</a:t>
            </a:r>
          </a:p>
        </p:txBody>
      </p:sp>
      <p:sp>
        <p:nvSpPr>
          <p:cNvPr id="4" name="">
            <a:extLst>
              <a:ext uri="{FF2B5EF4-FFF2-40B4-BE49-F238E27FC236}">
                <ns2:creationId id="{96B0F411-CEF9-499F-BAF6-D0C86D90FF7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primary docs for API details and the supplied article for beginner-friendly framing.</a:t>
            </a:r>
          </a:p>
        </p:txBody>
      </p:sp>
      <p:sp>
        <p:nvSpPr>
          <p:cNvPr id="5" name="">
            <a:extLst>
              <a:ext uri="{FF2B5EF4-FFF2-40B4-BE49-F238E27FC236}">
                <ns2:creationId id="{494EE8BF-E53D-43AE-A6B5-2FB352DF1AB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1140F5C-9BF4-4998-A30E-D95653CF223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A9FDC507-A95F-4FA3-A5CA-E2D423F5345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65C34693-E0D9-4792-89AD-A3B6CBDCAD0B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Primary technical sources</a:t>
            </a:r>
          </a:p>
        </p:txBody>
      </p:sp>
      <p:sp>
        <p:nvSpPr>
          <p:cNvPr id="9" name="">
            <a:extLst>
              <a:ext uri="{FF2B5EF4-FFF2-40B4-BE49-F238E27FC236}">
                <ns2:creationId id="{A69C9E42-4403-42CB-82A8-E3D04FA280BA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Triton installation docs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Triton vector addition tutorial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Triton matrix multiplication tutorial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Triton programming guide and debugging guide</a:t>
            </a:r>
          </a:p>
        </p:txBody>
      </p:sp>
      <p:sp>
        <p:nvSpPr>
          <p:cNvPr id="10" name="">
            <a:extLst>
              <a:ext uri="{FF2B5EF4-FFF2-40B4-BE49-F238E27FC236}">
                <ns2:creationId id="{B1E7DA0E-7F6D-44F8-B74A-6C78C7C0B9D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EFAB3D36-5926-4B75-9AD8-B83086BB72C1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9600531F-088D-47EA-8FC0-9C2CFC80C6B9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Course reading source</a:t>
            </a:r>
          </a:p>
        </p:txBody>
      </p:sp>
      <p:sp>
        <p:nvSpPr>
          <p:cNvPr id="13" name="">
            <a:extLst>
              <a:ext uri="{FF2B5EF4-FFF2-40B4-BE49-F238E27FC236}">
                <ns2:creationId id="{C3A037BA-FEAE-468F-98C6-F363016AA196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Supplied Medium intro article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OpenAI Triton introduction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Existing CUDA/JAX Day 1 and Day 2 decks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New exercise README</a:t>
            </a:r>
          </a:p>
        </p:txBody>
      </p:sp>
      <p:sp>
        <p:nvSpPr>
          <p:cNvPr id="14" name="">
            <a:extLst>
              <a:ext uri="{FF2B5EF4-FFF2-40B4-BE49-F238E27FC236}">
                <ns2:creationId id="{C553AB2E-B155-44FB-9094-403C20DB53B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 map for tritondsl.pptx</a:t>
            </a:r>
          </a:p>
        </p:txBody>
      </p:sp>
      <p:sp>
        <p:nvSpPr>
          <p:cNvPr id="15" name="">
            <a:extLst>
              <a:ext uri="{FF2B5EF4-FFF2-40B4-BE49-F238E27FC236}">
                <ns2:creationId id="{8795BD06-BA27-46D9-BE1F-2BA2303F03CB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831818824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79A0278-5EEB-4EFD-A4E7-AC82498053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75D61ED6-B892-4B34-8114-1C288D427A7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39/40</a:t>
            </a:r>
          </a:p>
        </p:txBody>
      </p:sp>
      <p:sp>
        <p:nvSpPr>
          <p:cNvPr id="3" name="">
            <a:extLst>
              <a:ext uri="{FF2B5EF4-FFF2-40B4-BE49-F238E27FC236}">
                <ns2:creationId id="{15F642F2-FF9C-4FAD-89C8-029A1BA939E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Presenter Code Tabs</a:t>
            </a:r>
          </a:p>
        </p:txBody>
      </p:sp>
      <p:sp>
        <p:nvSpPr>
          <p:cNvPr id="4" name="">
            <a:extLst>
              <a:ext uri="{FF2B5EF4-FFF2-40B4-BE49-F238E27FC236}">
                <ns2:creationId id="{4944F575-89F7-4042-B4AF-84BE4213D1B8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Open the smallest useful set before teaching the module.</a:t>
            </a:r>
          </a:p>
        </p:txBody>
      </p:sp>
      <p:sp>
        <p:nvSpPr>
          <p:cNvPr id="5" name="">
            <a:extLst>
              <a:ext uri="{FF2B5EF4-FFF2-40B4-BE49-F238E27FC236}">
                <ns2:creationId id="{BFE06FA3-52A4-4244-883C-991C6E690D1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A0A516DC-3F14-4BF3-857A-007499DAA6A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733800" cy="4057650"/>
          </a:xfrm>
          <a:prstGeom prst="roundRect">
            <a:avLst>
              <a:gd name="adj" fmla="val 1531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E74EBB66-EDC9-4059-9233-3C63CC8C8A2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F2F552D9-5210-477E-8592-106393E5648F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3147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Open order</a:t>
            </a:r>
          </a:p>
        </p:txBody>
      </p:sp>
      <p:sp>
        <p:nvSpPr>
          <p:cNvPr id="9" name="">
            <a:extLst>
              <a:ext uri="{FF2B5EF4-FFF2-40B4-BE49-F238E27FC236}">
                <ns2:creationId id="{661C3C15-177B-4800-B044-404EA7E50FC5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33147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README first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Starter kernel TODOs second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Test file third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Solution kernel file fourth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Benchmark last</a:t>
            </a:r>
          </a:p>
        </p:txBody>
      </p:sp>
      <p:sp>
        <p:nvSpPr>
          <p:cNvPr id="10" name="">
            <a:extLst>
              <a:ext uri="{FF2B5EF4-FFF2-40B4-BE49-F238E27FC236}">
                <ns2:creationId id="{4F032F8C-3068-4D74-868D-E2C4B1B0716E}"/>
              </a:ext>
            </a:extLst>
          </p:cNvPr>
          <p:cNvSpPr>
            <a:spLocks noGrp="1"/>
          </p:cNvSpPr>
          <p:nvPr/>
        </p:nvSpPr>
        <p:spPr>
          <a:xfrm>
            <a:off x="4876800" y="1809750"/>
            <a:ext cx="6076950" cy="4057650"/>
          </a:xfrm>
          <a:prstGeom prst="roundRect">
            <a:avLst>
              <a:gd name="adj" fmla="val 1408"/>
            </a:avLst>
          </a:prstGeom>
          <a:solidFill>
            <a:srgbClr val="0B1020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0D4FC595-D9B3-42AD-8EF2-1D4AC263F602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5734050" cy="20955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recommended files</a:t>
            </a:r>
          </a:p>
        </p:txBody>
      </p:sp>
      <p:sp>
        <p:nvSpPr>
          <p:cNvPr id="12" name="">
            <a:extLst>
              <a:ext uri="{FF2B5EF4-FFF2-40B4-BE49-F238E27FC236}">
                <ns2:creationId id="{51FD7D58-52B2-4627-BF66-52571A4645E8}"/>
              </a:ext>
            </a:extLst>
          </p:cNvPr>
          <p:cNvSpPr>
            <a:spLocks noGrp="1"/>
          </p:cNvSpPr>
          <p:nvPr/>
        </p:nvSpPr>
        <p:spPr>
          <a:xfrm>
            <a:off x="5048250" y="2247900"/>
            <a:ext cx="5734050" cy="3505200"/>
          </a:xfrm>
          <a:prstGeom prst="rect">
            <a:avLst/>
          </a:prstGeom>
        </p:spPr>
        <p:txBody>
          <a:bodyPr anchor="t"/>
          <a:lstStyle/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tp/stretch/ex13_triton_dsl/README.md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tp/stretch/ex13_triton_dsl/python/triton_kernels.py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tp/stretch/ex13_triton_dsl/python/triton_kernels_test.py</a:t>
            </a:r>
          </a:p>
          <a:p>
            <a:r>
              <a:t/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tp/solutions/stretch/ex13_triton_dsl/python/triton_kernels.py</a:t>
            </a:r>
          </a:p>
          <a:p>
            <a:pPr algn="l">
              <a:def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 i="0">
                <a:solidFill>
                  <a:srgbClr val="F8FAFC"/>
                </a:solidFill>
                <a:latin typeface="Aptos Mono"/>
                <a:ea typeface="Aptos Mono"/>
                <a:cs typeface="Aptos Mono"/>
              </a:rPr>
              <a:t>tp/solutions/stretch/ex13_triton_dsl/python/benchmark.py</a:t>
            </a:r>
          </a:p>
        </p:txBody>
      </p:sp>
      <p:sp>
        <p:nvSpPr>
          <p:cNvPr id="13" name="">
            <a:extLst>
              <a:ext uri="{FF2B5EF4-FFF2-40B4-BE49-F238E27FC236}">
                <ns2:creationId id="{92FC1CE5-89C2-4B9D-B0B0-5A5E514D696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tp/stretch/ex13_triton_dsl</a:t>
            </a:r>
          </a:p>
        </p:txBody>
      </p:sp>
      <p:sp>
        <p:nvSpPr>
          <p:cNvPr id="14" name="">
            <a:extLst>
              <a:ext uri="{FF2B5EF4-FFF2-40B4-BE49-F238E27FC236}">
                <ns2:creationId id="{94EE1039-A8E2-4965-A593-DB495AC3FEB3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896937254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A4DA6B1-FCA0-4E1E-B416-EA5890A01D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>
            <a:extLst>
              <a:ext uri="{FF2B5EF4-FFF2-40B4-BE49-F238E27FC236}">
                <ns2:creationId id="{7F319897-D093-4D7D-8B8C-811D88E9031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9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40/40</a:t>
            </a:r>
          </a:p>
        </p:txBody>
      </p:sp>
      <p:sp>
        <p:nvSpPr>
          <p:cNvPr id="3" name="">
            <a:extLst>
              <a:ext uri="{FF2B5EF4-FFF2-40B4-BE49-F238E27FC236}">
                <ns2:creationId id="{8BBE9EEC-0A26-4109-AAF8-A63219AA9A9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239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22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4" name="">
            <a:extLst>
              <a:ext uri="{FF2B5EF4-FFF2-40B4-BE49-F238E27FC236}">
                <ns2:creationId id="{C77E743B-10F4-43C5-A39F-623D279A3B4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Triton keeps the course's central contract: code is only interesting after it is correct, testable, and measurable.</a:t>
            </a:r>
          </a:p>
        </p:txBody>
      </p:sp>
      <p:sp>
        <p:nvSpPr>
          <p:cNvPr id="5" name="">
            <a:extLst>
              <a:ext uri="{FF2B5EF4-FFF2-40B4-BE49-F238E27FC236}">
                <ns2:creationId id="{1B47190C-5E4A-4E9F-8053-90BB9ECCA4E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>
            <a:extLst>
              <a:ext uri="{FF2B5EF4-FFF2-40B4-BE49-F238E27FC236}">
                <ns2:creationId id="{58F7638B-AA2A-4164-B6A5-A1D153DB5A2D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7" name="">
            <a:extLst>
              <a:ext uri="{FF2B5EF4-FFF2-40B4-BE49-F238E27FC236}">
                <ns2:creationId id="{9CB09FC1-2CFC-4C8F-84AE-B87560B6C3B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7150" cy="4057650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">
            <a:extLst>
              <a:ext uri="{FF2B5EF4-FFF2-40B4-BE49-F238E27FC236}">
                <ns2:creationId id="{95AD3CCE-60B6-4AE4-94A2-FC8E67800DCC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5339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Students should leave with</a:t>
            </a:r>
          </a:p>
        </p:txBody>
      </p:sp>
      <p:sp>
        <p:nvSpPr>
          <p:cNvPr id="9" name="">
            <a:extLst>
              <a:ext uri="{FF2B5EF4-FFF2-40B4-BE49-F238E27FC236}">
                <ns2:creationId id="{909D04D5-4B9D-4754-A810-6B6872E0327A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45339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block-program mental model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Three working kernel patterns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reason to test edge shapes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benchmark they can explain</a:t>
            </a:r>
          </a:p>
        </p:txBody>
      </p:sp>
      <p:sp>
        <p:nvSpPr>
          <p:cNvPr id="10" name="">
            <a:extLst>
              <a:ext uri="{FF2B5EF4-FFF2-40B4-BE49-F238E27FC236}">
                <ns2:creationId id="{AEC3CBFA-3A66-48C2-A714-1BC754EA4DB7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762500" cy="4057650"/>
          </a:xfrm>
          <a:prstGeom prst="roundRect">
            <a:avLst>
              <a:gd name="adj" fmla="val 14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</p:spPr>
      </p:sp>
      <p:sp>
        <p:nvSpPr>
          <p:cNvPr id="11" name="">
            <a:extLst>
              <a:ext uri="{FF2B5EF4-FFF2-40B4-BE49-F238E27FC236}">
                <ns2:creationId id="{1CA6FD41-E0BA-47F3-BA5E-D31574ACFA8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7150" cy="405765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">
            <a:extLst>
              <a:ext uri="{FF2B5EF4-FFF2-40B4-BE49-F238E27FC236}">
                <ns2:creationId id="{7FB16F1D-DEA7-4270-8B03-57353EAA4663}"/>
              </a:ext>
            </a:extLst>
          </p:cNvPr>
          <p:cNvSpPr>
            <a:spLocks noGrp="1"/>
          </p:cNvSpPr>
          <p:nvPr/>
        </p:nvSpPr>
        <p:spPr>
          <a:xfrm>
            <a:off x="6400800" y="1981200"/>
            <a:ext cx="4343400" cy="266700"/>
          </a:xfrm>
          <a:prstGeom prst="rect">
            <a:avLst/>
          </a:prstGeom>
        </p:spPr>
        <p:txBody>
          <a:bodyPr anchor="t"/>
          <a:lstStyle/>
          <a:p>
            <a:pPr algn="l">
              <a:defRPr sz="1275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4D399"/>
                </a:solidFill>
                <a:latin typeface="Aptos"/>
                <a:ea typeface="Aptos"/>
                <a:cs typeface="Aptos"/>
              </a:rPr>
              <a:t>The repository now has</a:t>
            </a:r>
          </a:p>
        </p:txBody>
      </p:sp>
      <p:sp>
        <p:nvSpPr>
          <p:cNvPr id="13" name="">
            <a:extLst>
              <a:ext uri="{FF2B5EF4-FFF2-40B4-BE49-F238E27FC236}">
                <ns2:creationId id="{100928B4-0A3A-4E61-BE59-84943A1E421D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343400" cy="3276600"/>
          </a:xfrm>
          <a:prstGeom prst="rect">
            <a:avLst/>
          </a:prstGeom>
        </p:spPr>
        <p:txBody>
          <a:bodyPr anchor="t"/>
          <a:lstStyle/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Triton DSL deck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starter stretch exercise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A mirrored solution</a:t>
            </a:r>
          </a:p>
          <a:p>
            <a:pPr algn="l">
              <a:defRPr sz="1125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- Pinned Torch/Triton dependency path</a:t>
            </a:r>
          </a:p>
        </p:txBody>
      </p:sp>
      <p:sp>
        <p:nvSpPr>
          <p:cNvPr id="14" name="">
            <a:extLst>
              <a:ext uri="{FF2B5EF4-FFF2-40B4-BE49-F238E27FC236}">
                <ns2:creationId id="{782C7C16-0E53-4A08-BAEB-9243C9BDD21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78105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New module: tritondsl.pptx and ex13_triton_dsl</a:t>
            </a:r>
          </a:p>
        </p:txBody>
      </p:sp>
      <p:sp>
        <p:nvSpPr>
          <p:cNvPr id="15" name="">
            <a:extLst>
              <a:ext uri="{FF2B5EF4-FFF2-40B4-BE49-F238E27FC236}">
                <ns2:creationId id="{C72FEED9-16BA-4BDE-BE4B-49BD9200EE4E}"/>
              </a:ext>
            </a:extLst>
          </p:cNvPr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75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  <p:extLst>
      <p:ext uri="{BB962C8B-B14F-4D97-AF65-F5344CB8AC3E}">
        <ns3:creationId val="1672053111"/>
      </p:ext>
    </p:extLst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12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10/40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09600" y="514350"/>
            <a:ext cx="8001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30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Program Grid Animation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5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program instance owns a block of the output; the launch grid covers multiple independent blocks.</a:t>
            </a: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/>
          <p:cNvSpPr>
            <a:spLocks noGrp="1"/>
          </p:cNvSpPr>
          <p:nvPr/>
        </p:nvSpPr>
        <p:spPr>
          <a:xfrm>
            <a:off x="1524000" y="1638300"/>
            <a:ext cx="9144000" cy="5143500"/>
          </a:xfrm>
          <a:prstGeom prst="rect">
            <a:avLst/>
          </a:prstGeom>
          <a:solidFill>
            <a:srgbClr val="0B1020"/>
          </a:solidFill>
          <a:ln w="14287">
            <a:solidFill>
              <a:srgbClr val="334155"/>
            </a:solidFill>
          </a:ln>
        </p:spPr>
      </p:sp>
      <p:pic>
        <p:nvPicPr>
          <p:cNvPr id="7" name="4.gif" descr="4.gif"/>
          <p:cNvPicPr>
            <a:picLocks noChangeAspect="1"/>
          </p:cNvPicPr>
          <p:nvPr/>
        </p:nvPicPr>
        <p:blipFill>
          <a:blip r:embed="rIdGif"/>
          <a:stretch>
            <a:fillRect/>
          </a:stretch>
        </p:blipFill>
        <p:spPr>
          <a:xfrm>
            <a:off x="1638300" y="1752600"/>
            <a:ext cx="8915400" cy="5014912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609600" y="6496050"/>
            <a:ext cx="49530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tp/4.gif</a:t>
            </a: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12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20/40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09600" y="514350"/>
            <a:ext cx="8001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30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MatMul Tile Sweep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5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row slice of X and a column slice of Y accumulate into one output tile Z.</a:t>
            </a: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/>
          <p:cNvSpPr>
            <a:spLocks noGrp="1"/>
          </p:cNvSpPr>
          <p:nvPr/>
        </p:nvSpPr>
        <p:spPr>
          <a:xfrm>
            <a:off x="1524000" y="1638300"/>
            <a:ext cx="9144000" cy="5143500"/>
          </a:xfrm>
          <a:prstGeom prst="rect">
            <a:avLst/>
          </a:prstGeom>
          <a:solidFill>
            <a:srgbClr val="0B1020"/>
          </a:solidFill>
          <a:ln w="14287">
            <a:solidFill>
              <a:srgbClr val="334155"/>
            </a:solidFill>
          </a:ln>
        </p:spPr>
      </p:sp>
      <p:pic>
        <p:nvPicPr>
          <p:cNvPr id="7" name="1.gif" descr="1.gif"/>
          <p:cNvPicPr>
            <a:picLocks noChangeAspect="1"/>
          </p:cNvPicPr>
          <p:nvPr/>
        </p:nvPicPr>
        <p:blipFill>
          <a:blip r:embed="rIdGif"/>
          <a:stretch>
            <a:fillRect/>
          </a:stretch>
        </p:blipFill>
        <p:spPr>
          <a:xfrm>
            <a:off x="1638300" y="1752600"/>
            <a:ext cx="8915400" cy="5014912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609600" y="6496050"/>
            <a:ext cx="49530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tp/1.gif</a:t>
            </a: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12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24/40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09600" y="514350"/>
            <a:ext cx="8001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30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Accumulating Across K Tiles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5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output tile grows as the program advances through K blocks and reuses new A/B slices.</a:t>
            </a: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/>
          <p:cNvSpPr>
            <a:spLocks noGrp="1"/>
          </p:cNvSpPr>
          <p:nvPr/>
        </p:nvSpPr>
        <p:spPr>
          <a:xfrm>
            <a:off x="1524000" y="1638300"/>
            <a:ext cx="9144000" cy="5143500"/>
          </a:xfrm>
          <a:prstGeom prst="rect">
            <a:avLst/>
          </a:prstGeom>
          <a:solidFill>
            <a:srgbClr val="0B1020"/>
          </a:solidFill>
          <a:ln w="14287">
            <a:solidFill>
              <a:srgbClr val="334155"/>
            </a:solidFill>
          </a:ln>
        </p:spPr>
      </p:sp>
      <p:pic>
        <p:nvPicPr>
          <p:cNvPr id="7" name="2.gif" descr="2.gif"/>
          <p:cNvPicPr>
            <a:picLocks noChangeAspect="1"/>
          </p:cNvPicPr>
          <p:nvPr/>
        </p:nvPicPr>
        <p:blipFill>
          <a:blip r:embed="rIdGif"/>
          <a:stretch>
            <a:fillRect/>
          </a:stretch>
        </p:blipFill>
        <p:spPr>
          <a:xfrm>
            <a:off x="1638300" y="1752600"/>
            <a:ext cx="8915400" cy="5014912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609600" y="6496050"/>
            <a:ext cx="49530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tp/2.gif</a:t>
            </a: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266700"/>
            <a:ext cx="857250" cy="228600"/>
          </a:xfrm>
          <a:prstGeom prst="rect">
            <a:avLst/>
          </a:prstGeom>
        </p:spPr>
        <p:txBody>
          <a:bodyPr anchor="t"/>
          <a:lstStyle/>
          <a:p>
            <a:pPr algn="l">
              <a:defRPr sz="12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26/40</a:t>
            </a: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09600" y="514350"/>
            <a:ext cx="8001000" cy="457200"/>
          </a:xfrm>
          <a:prstGeom prst="rect">
            <a:avLst/>
          </a:prstGeom>
        </p:spPr>
        <p:txBody>
          <a:bodyPr anchor="t"/>
          <a:lstStyle/>
          <a:p>
            <a:pPr algn="l">
              <a:defRPr sz="30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Shared-Tile Reuse Mental Model</a:t>
            </a: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971550"/>
            <a:ext cx="8858250" cy="419100"/>
          </a:xfrm>
          <a:prstGeom prst="rect">
            <a:avLst/>
          </a:prstGeom>
        </p:spPr>
        <p:txBody>
          <a:bodyPr anchor="t"/>
          <a:lstStyle/>
          <a:p>
            <a:pPr algn="l">
              <a:defRPr sz="150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and B tiles feed a temporary accumulator before the result tile is written back.</a:t>
            </a: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09600" y="1466850"/>
            <a:ext cx="10363200" cy="1905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"/>
          <p:cNvSpPr>
            <a:spLocks noGrp="1"/>
          </p:cNvSpPr>
          <p:nvPr/>
        </p:nvSpPr>
        <p:spPr>
          <a:xfrm>
            <a:off x="1524000" y="1638300"/>
            <a:ext cx="9144000" cy="5143500"/>
          </a:xfrm>
          <a:prstGeom prst="rect">
            <a:avLst/>
          </a:prstGeom>
          <a:solidFill>
            <a:srgbClr val="0B1020"/>
          </a:solidFill>
          <a:ln w="14287">
            <a:solidFill>
              <a:srgbClr val="334155"/>
            </a:solidFill>
          </a:ln>
        </p:spPr>
      </p:sp>
      <p:pic>
        <p:nvPicPr>
          <p:cNvPr id="7" name="3.gif" descr="3.gif"/>
          <p:cNvPicPr>
            <a:picLocks noChangeAspect="1"/>
          </p:cNvPicPr>
          <p:nvPr/>
        </p:nvPicPr>
        <p:blipFill>
          <a:blip r:embed="rIdGif"/>
          <a:stretch>
            <a:fillRect/>
          </a:stretch>
        </p:blipFill>
        <p:spPr>
          <a:xfrm>
            <a:off x="1638300" y="1752600"/>
            <a:ext cx="8915400" cy="5014912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609600" y="6496050"/>
            <a:ext cx="4953000" cy="190500"/>
          </a:xfrm>
          <a:prstGeom prst="rect">
            <a:avLst/>
          </a:prstGeom>
        </p:spPr>
        <p:txBody>
          <a:bodyPr anchor="t"/>
          <a:lstStyle/>
          <a:p>
            <a:pPr algn="l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tp/3.gif</a:t>
            </a: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896350" y="6496050"/>
            <a:ext cx="2057400" cy="190500"/>
          </a:xfrm>
          <a:prstGeom prst="rect">
            <a:avLst/>
          </a:prstGeom>
        </p:spPr>
        <p:txBody>
          <a:bodyPr anchor="t"/>
          <a:lstStyle/>
          <a:p>
            <a:pPr algn="r">
              <a:defRPr sz="10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40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2026-06-08T15:55:59.0750000Z</dcterms:created>
  <dcterms:modified xsi:type="dcterms:W3CDTF">2026-06-08T15:55:59.0750000Z</dcterms:modified>
</coreProperties>
</file>