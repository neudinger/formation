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302" r:id="rId54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303" r:id="rId55"/>
    <p:sldId id="279" r:id="rId31"/>
    <p:sldId id="280" r:id="rId32"/>
    <p:sldId id="304" r:id="rId56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1.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Repository-driven CUDA course</a:t>
            </a:r>
          </a:p>
          <a:p>
            <a:r>
              <a:t>C++ CPU</a:t>
            </a:r>
          </a:p>
          <a:p>
            <a:r>
              <a:t>Bazel</a:t>
            </a:r>
          </a:p>
          <a:p>
            <a:r>
              <a:t>Clang</a:t>
            </a:r>
          </a:p>
          <a:p>
            <a:r>
              <a:t>CUDA</a:t>
            </a:r>
          </a:p>
          <a:p>
            <a:r>
              <a:t>test</a:t>
            </a:r>
          </a:p>
          <a:p>
            <a:r>
              <a:t>benchmark</a:t>
            </a:r>
          </a:p>
          <a:p>
            <a:r>
              <a:t>container</a:t>
            </a:r>
          </a:p>
          <a:p/>
          <a:p>
            <a:r>
              <a:t>ORIGINAL NVIDIA FIGURES</a:t>
            </a:r>
          </a:p>
          <a:p>
            <a:r>
              <a:t>CUDA cover artwork: user-supplied cuda-programming-guide.pdf, Release 13.4.2, PDF page 1. Extracted original image, PDF image xref 9; original labels, colors and proportions preserved.</a:t>
            </a:r>
          </a:p>
          <a:p>
            <a:r>
              <a:t>NVIDIA artwork is used as source illustration; the deck is independently prepared training, not an official NVIDIA course.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2.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3.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Two-day practical roadmap</a:t>
            </a:r>
          </a:p>
          <a:p>
            <a:r>
              <a:t>Day 1</a:t>
            </a:r>
          </a:p>
          <a:p>
            <a:r>
              <a:t>repo + kernel</a:t>
            </a:r>
          </a:p>
          <a:p>
            <a:r>
              <a:t>Day 1</a:t>
            </a:r>
          </a:p>
          <a:p>
            <a:r>
              <a:t>tests + launch API</a:t>
            </a:r>
          </a:p>
          <a:p>
            <a:r>
              <a:t>Day 2</a:t>
            </a:r>
          </a:p>
          <a:p>
            <a:r>
              <a:t>measure + streams</a:t>
            </a:r>
          </a:p>
          <a:p>
            <a:r>
              <a:t>Day 2</a:t>
            </a:r>
          </a:p>
          <a:p>
            <a:r>
              <a:t>OCI + remote</a:t>
            </a:r>
          </a:p>
          <a:p>
            <a:r>
              <a:t>Day 2</a:t>
            </a:r>
          </a:p>
          <a:p>
            <a:r>
              <a:t>JAX + MatMul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4.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projects/detailed repository map</a:t>
            </a:r>
          </a:p>
          <a:p>
            <a:r>
              <a:t>cpp/ | CPU oracle + threaded baseline</a:t>
            </a:r>
          </a:p>
          <a:p>
            <a:r>
              <a:t>gpu/ | CUDA API + host wrapper + device kernel</a:t>
            </a:r>
          </a:p>
          <a:p>
            <a:r>
              <a:t>runtime/ | CUDA helpers: device info, errors, events</a:t>
            </a:r>
          </a:p>
          <a:p>
            <a:r>
              <a:t>python/ | Benchmark orchestrator + JAX/XLA hook</a:t>
            </a:r>
          </a:p>
          <a:p>
            <a:r>
              <a:t>deploy/ | Bazel runtime file aggregation</a:t>
            </a:r>
          </a:p>
          <a:p>
            <a:r>
              <a:t>linear_algebra/ | MatMul module: CPU/basic/tiled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5.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Correctness before speed, speed before deployment</a:t>
            </a:r>
          </a:p>
          <a:p>
            <a:r>
              <a:t>CPU oracle</a:t>
            </a:r>
          </a:p>
          <a:p>
            <a:r>
              <a:t>test</a:t>
            </a:r>
          </a:p>
          <a:p>
            <a:r>
              <a:t>benchmark</a:t>
            </a:r>
          </a:p>
          <a:p>
            <a:r>
              <a:t>package</a:t>
            </a:r>
          </a:p>
          <a:p>
            <a:r>
              <a:t>compare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6.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Host/device execution model</a:t>
            </a:r>
          </a:p>
          <a:p>
            <a:r>
              <a:t>CPU Host</a:t>
            </a:r>
          </a:p>
          <a:p>
            <a:r>
              <a:t>C++ orchestration</a:t>
            </a:r>
          </a:p>
          <a:p>
            <a:r>
              <a:t>std::vector</a:t>
            </a:r>
          </a:p>
          <a:p>
            <a:r>
              <a:t>Bazel-built binary</a:t>
            </a:r>
          </a:p>
          <a:p>
            <a:r>
              <a:t>kernel launch</a:t>
            </a:r>
          </a:p>
          <a:p>
            <a:r>
              <a:t>GPU Device</a:t>
            </a:r>
          </a:p>
          <a:p>
            <a:r>
              <a:t>CUDA kernel</a:t>
            </a:r>
          </a:p>
          <a:p>
            <a:r>
              <a:t>global memory</a:t>
            </a:r>
          </a:p>
          <a:p>
            <a:r>
              <a:t>thread grid</a:t>
            </a:r>
          </a:p>
          <a:p>
            <a:r>
              <a:t>cudaMemcpy / result</a:t>
            </a:r>
          </a:p>
          <a:p>
            <a:r>
              <a:t>PCIe / NVLink boundary</a:t>
            </a:r>
          </a:p>
          <a:p/>
          <a:p>
            <a:r>
              <a:t>ORIGINAL NVIDIA FIGURES</a:t>
            </a:r>
          </a:p>
          <a:p>
            <a:r>
              <a:t>Figure 2: user-supplied cuda-programming-guide.pdf, Release 13.4.2, PDF page 24, printed guide page 6. Extracted original image, PDF image xref 851; original labels, colors and proportions preserved.</a:t>
            </a:r>
          </a:p>
          <a:p>
            <a:r>
              <a:t>NVIDIA artwork is used as source illustration; the deck is independently prepared training, not an official NVIDIA course.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7.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/>
          <a:p>
            <a:r>
              <a:t>ORIGINAL NVIDIA FIGURES</a:t>
            </a:r>
          </a:p>
          <a:p>
            <a:r>
              <a:t>Figure 1: user-supplied cuda-programming-guide.pdf, Release 13.4.2, PDF page 22, printed guide page 4. Extracted original image, PDF image xref 840; original labels, colors and proportions preserved.</a:t>
            </a:r>
          </a:p>
          <a:p>
            <a:r>
              <a:t>NVIDIA artwork is used as source illustration; the deck is independently prepared training, not an official NVIDIA course.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8.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SAXPY-like vector add</a:t>
            </a:r>
          </a:p>
          <a:p>
            <a:r>
              <a:t>a[N]</a:t>
            </a:r>
          </a:p>
          <a:p>
            <a:r>
              <a:t>alpha</a:t>
            </a:r>
          </a:p>
          <a:p>
            <a:r>
              <a:t>b[N]</a:t>
            </a:r>
          </a:p>
          <a:p>
            <a:r>
              <a:t>out[i] = alpha*a[i] + b[i]</a:t>
            </a:r>
          </a:p>
          <a:p>
            <a:r>
              <a:t>CPU/GPU compare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9.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The code image is the original embedded source excerpt; no code text was edited. Where it is shown in two panes, the same original image is cropped at a blank line without omitting pixels.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SLIDE: Original Day 1 slide 10 — What cudaDeviceProp Teaches.</a:t>
            </a:r>
          </a:p>
          <a:p>
            <a:r>
              <a:t>Original title, subtitle, explanations and original code screenshot retained.</a:t>
            </a:r>
          </a:p>
          <a:p>
            <a:r>
              <a:t>The warp-partitioning visual formerly placed here is moved to the following dedicated visual-explanation slide to keep this source excerpt readable.</a:t>
            </a:r>
          </a:p>
          <a:p>
            <a:r>
              <a:t>No course code or factual source wording changed.</a:t>
            </a:r>
          </a:p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10.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The code image is the original embedded source excerpt; no code text was edited. Where it is shown in two panes, the same original image is cropped at a blank line without omitting pixels.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11.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Hermetic builds</a:t>
            </a:r>
          </a:p>
          <a:p>
            <a:r>
              <a:t>source repo</a:t>
            </a:r>
          </a:p>
          <a:p>
            <a:r>
              <a:t>MODULE.bazel</a:t>
            </a:r>
          </a:p>
          <a:p>
            <a:r>
              <a:t>toolchains</a:t>
            </a:r>
          </a:p>
          <a:p>
            <a:r>
              <a:t>Bazel actions</a:t>
            </a:r>
          </a:p>
          <a:p>
            <a:r>
              <a:t>cached artifacts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12.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Operational Bazel vocabulary</a:t>
            </a:r>
          </a:p>
          <a:p>
            <a:r>
              <a:t>MODULE.bazel</a:t>
            </a:r>
          </a:p>
          <a:p>
            <a:r>
              <a:t>BUILD.bazel</a:t>
            </a:r>
          </a:p>
          <a:p>
            <a:r>
              <a:t>package</a:t>
            </a:r>
          </a:p>
          <a:p>
            <a:r>
              <a:t>target</a:t>
            </a:r>
          </a:p>
          <a:p>
            <a:r>
              <a:t>label //gpu:test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13.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The code image is the original embedded source excerpt; no code text was edited. Where it is shown in two panes, the same original image is cropped at a blank line without omitting pixels.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14.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The code image is the original embedded source excerpt; no code text was edited. Where it is shown in two panes, the same original image is cropped at a blank line without omitting pixels.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15.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Clang CUDA compilation path</a:t>
            </a:r>
          </a:p>
          <a:p>
            <a:r>
              <a:t>.cu source</a:t>
            </a:r>
          </a:p>
          <a:p>
            <a:r>
              <a:t>host + device code</a:t>
            </a:r>
          </a:p>
          <a:p>
            <a:r>
              <a:t>Clang</a:t>
            </a:r>
          </a:p>
          <a:p>
            <a:r>
              <a:t>parse + split</a:t>
            </a:r>
          </a:p>
          <a:p>
            <a:r>
              <a:t>PTX</a:t>
            </a:r>
          </a:p>
          <a:p>
            <a:r>
              <a:t>virtual ISA</a:t>
            </a:r>
          </a:p>
          <a:p>
            <a:r>
              <a:t>ptxas</a:t>
            </a:r>
          </a:p>
          <a:p>
            <a:r>
              <a:t>PTX -&gt; SASS</a:t>
            </a:r>
          </a:p>
          <a:p>
            <a:r>
              <a:t>link</a:t>
            </a:r>
          </a:p>
          <a:p>
            <a:r>
              <a:t>host + fatbin</a:t>
            </a:r>
          </a:p>
          <a:p>
            <a:r>
              <a:t>binary</a:t>
            </a:r>
          </a:p>
          <a:p>
            <a:r>
              <a:t>run on GPU host</a:t>
            </a:r>
          </a:p>
          <a:p>
            <a:r>
              <a:t>Bazel selects the toolchain and arch flags; ptxas produces architecture-specific device code.</a:t>
            </a:r>
          </a:p>
          <a:p/>
          <a:p>
            <a:r>
              <a:t>ORIGINAL NVIDIA FIGURES</a:t>
            </a:r>
          </a:p>
          <a:p>
            <a:r>
              <a:t>Figure 10: user-supplied cuda-programming-guide.pdf, Release 13.4.2, PDF page 35, printed guide page 17. Extracted original image, PDF image xref 947; original labels, colors and proportions preserved.</a:t>
            </a:r>
          </a:p>
          <a:p>
            <a:r>
              <a:t>NVIDIA artwork is used as source illustration; the deck is independently prepared training, not an official NVIDIA course.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16.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Bazel target graph mirrors project architecture</a:t>
            </a:r>
          </a:p>
          <a:p>
            <a:r>
              <a:t>benchmark</a:t>
            </a:r>
          </a:p>
          <a:p>
            <a:r>
              <a:t>vector_cpu</a:t>
            </a:r>
          </a:p>
          <a:p>
            <a:r>
              <a:t>vector_add</a:t>
            </a:r>
          </a:p>
          <a:p>
            <a:r>
              <a:t>device_lib</a:t>
            </a:r>
          </a:p>
          <a:p>
            <a:r>
              <a:t>runtime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17.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The code image is the original embedded source excerpt; no code text was edited. Where it is shown in two panes, the same original image is cropped at a blank line without omitting pixels.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18.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The code image is the original embedded source excerpt; no code text was edited. Where it is shown in two panes, the same original image is cropped at a blank line without omitting pixels.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19.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The code image is the original embedded source excerpt; no code text was edited. Where it is shown in two panes, the same original image is cropped at a blank line without omitting pixels.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20.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The code image is the original embedded source excerpt; no code text was edited. Where it is shown in two panes, the same original image is cropped at a blank line without omitting pixels.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21.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Clean CUDA source separation</a:t>
            </a:r>
          </a:p>
          <a:p>
            <a:r>
              <a:t>vector_add.h</a:t>
            </a:r>
          </a:p>
          <a:p>
            <a:r>
              <a:t>public API</a:t>
            </a:r>
          </a:p>
          <a:p>
            <a:r>
              <a:t>vector_add_cuda.cc</a:t>
            </a:r>
          </a:p>
          <a:p>
            <a:r>
              <a:t>host wrapper</a:t>
            </a:r>
          </a:p>
          <a:p>
            <a:r>
              <a:t>vector_add_device.h</a:t>
            </a:r>
          </a:p>
          <a:p>
            <a:r>
              <a:t>launcher decl</a:t>
            </a:r>
          </a:p>
          <a:p>
            <a:r>
              <a:t>vector_add_device.cu</a:t>
            </a:r>
          </a:p>
          <a:p>
            <a:r>
              <a:t>kernel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22.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The code image is the original embedded source excerpt; no code text was edited. Where it is shown in two panes, the same original image is cropped at a blank line without omitting pixels.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23.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The code image is the original embedded source excerpt; no code text was edited. Where it is shown in two panes, the same original image is cropped at a blank line without omitting pixels.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24.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CUDA thread hierarchy</a:t>
            </a:r>
          </a:p>
          <a:p>
            <a:r>
              <a:t>Grid</a:t>
            </a:r>
          </a:p>
          <a:p>
            <a:r>
              <a:t>block 0,0</a:t>
            </a:r>
          </a:p>
          <a:p>
            <a:r>
              <a:t>block 0,1</a:t>
            </a:r>
          </a:p>
          <a:p>
            <a:r>
              <a:t>block 0,2</a:t>
            </a:r>
          </a:p>
          <a:p>
            <a:r>
              <a:t>block 1,0</a:t>
            </a:r>
          </a:p>
          <a:p>
            <a:r>
              <a:t>block 1,1</a:t>
            </a:r>
          </a:p>
          <a:p>
            <a:r>
              <a:t>block 1,2</a:t>
            </a:r>
          </a:p>
          <a:p>
            <a:r>
              <a:t>blockIdx.x * blockDim.x + threadIdx.x</a:t>
            </a:r>
          </a:p>
          <a:p>
            <a:r>
              <a:t>Threads in a block can cooperate with shared memory + __syncthreads()</a:t>
            </a:r>
          </a:p>
          <a:p/>
          <a:p>
            <a:r>
              <a:t>ORIGINAL NVIDIA FIGURES</a:t>
            </a:r>
          </a:p>
          <a:p>
            <a:r>
              <a:t>Figure 3: user-supplied cuda-programming-guide.pdf, Release 13.4.2, PDF page 24, printed guide page 6. Extracted original image, PDF image xref 853; original labels, colors and proportions preserved.</a:t>
            </a:r>
          </a:p>
          <a:p>
            <a:r>
              <a:t>NVIDIA artwork is used as source illustration; the deck is independently prepared training, not an official NVIDIA course.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SLIDE: Original Day 1 slide 25 — Choosing Block and Grid Size.</a:t>
            </a:r>
          </a:p>
          <a:p>
            <a:r>
              <a:t>Original explanation text, formula and bounds-check reminder retained.</a:t>
            </a:r>
          </a:p>
          <a:p>
            <a:r>
              <a:t>NVIDIA Figure 4 has moved to the following full-size scheduling explanation. This separates launch geometry from hardware scheduling.</a:t>
            </a:r>
          </a:p>
          <a:p>
            <a:r>
              <a:t>Formula line wrapping changed; code tokens unchanged.</a:t>
            </a:r>
          </a:p>
          <a:p>
            <a:r>
              <a:t>No new benchmark or runtime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26.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The code image is the original embedded source excerpt; no code text was edited. Where it is shown in two panes, the same original image is cropped at a blank line without omitting pixels.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27.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CUDA Runtime API control flow</a:t>
            </a:r>
          </a:p>
          <a:p>
            <a:r>
              <a:t>cudaMalloc</a:t>
            </a:r>
          </a:p>
          <a:p>
            <a:r>
              <a:t>cudaMemcpy H2D</a:t>
            </a:r>
          </a:p>
          <a:p>
            <a:r>
              <a:t>cudaLaunchKernel</a:t>
            </a:r>
          </a:p>
          <a:p>
            <a:r>
              <a:t>cudaDeviceSynchronize</a:t>
            </a:r>
          </a:p>
          <a:p>
            <a:r>
              <a:t>cudaMemcpy D2H</a:t>
            </a:r>
          </a:p>
          <a:p>
            <a:r>
              <a:t>cudaFree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28.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The code image is the original embedded source excerpt; no code text was edited. Where it is shown in two panes, the same original image is cropped at a blank line without omitting pixels.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29.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The code image is the original embedded source excerpt; no code text was edited. Where it is shown in two panes, the same original image is cropped at a blank line without omitting pixels.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30.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Two kernel launch styles, one device function</a:t>
            </a:r>
          </a:p>
          <a:p>
            <a:r>
              <a:t>kernel&lt;&lt;&lt;grid, block, 0, stream&gt;&gt;&gt;(args);</a:t>
            </a:r>
          </a:p>
          <a:p>
            <a:r>
              <a:t>cudaLaunchKernel(func, grid, block, args, 0, stream);</a:t>
            </a:r>
          </a:p>
          <a:p>
            <a:r>
              <a:t>__global__ vector_add_kernel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31.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The code image is the original embedded source excerpt; no code text was edited. Where it is shown in two panes, the same original image is cropped at a blank line without omitting pixels.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32.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Two kernel launch styles, one device function</a:t>
            </a:r>
          </a:p>
          <a:p>
            <a:r>
              <a:t>kernel&lt;&lt;&lt;grid, block, 0, stream&gt;&gt;&gt;(args);</a:t>
            </a:r>
          </a:p>
          <a:p>
            <a:r>
              <a:t>cudaLaunchKernel(func, grid, block, args, 0, stream);</a:t>
            </a:r>
          </a:p>
          <a:p>
            <a:r>
              <a:t>__global__ vector_add_kernel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33.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Clang CUDA compilation path</a:t>
            </a:r>
          </a:p>
          <a:p>
            <a:r>
              <a:t>.cu source</a:t>
            </a:r>
          </a:p>
          <a:p>
            <a:r>
              <a:t>host + device code</a:t>
            </a:r>
          </a:p>
          <a:p>
            <a:r>
              <a:t>Clang</a:t>
            </a:r>
          </a:p>
          <a:p>
            <a:r>
              <a:t>parse + split</a:t>
            </a:r>
          </a:p>
          <a:p>
            <a:r>
              <a:t>PTX</a:t>
            </a:r>
          </a:p>
          <a:p>
            <a:r>
              <a:t>virtual ISA</a:t>
            </a:r>
          </a:p>
          <a:p>
            <a:r>
              <a:t>ptxas</a:t>
            </a:r>
          </a:p>
          <a:p>
            <a:r>
              <a:t>PTX -&gt; SASS</a:t>
            </a:r>
          </a:p>
          <a:p>
            <a:r>
              <a:t>link</a:t>
            </a:r>
          </a:p>
          <a:p>
            <a:r>
              <a:t>host + fatbin</a:t>
            </a:r>
          </a:p>
          <a:p>
            <a:r>
              <a:t>binary</a:t>
            </a:r>
          </a:p>
          <a:p>
            <a:r>
              <a:t>run on GPU host</a:t>
            </a:r>
          </a:p>
          <a:p>
            <a:r>
              <a:t>Bazel selects the toolchain and arch flags; ptxas produces architecture-specific device code.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34.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35.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Architecture selection from Bazel</a:t>
            </a:r>
          </a:p>
          <a:p>
            <a:r>
              <a:t>@rules_cuda//cuda:archs</a:t>
            </a:r>
          </a:p>
          <a:p>
            <a:r>
              <a:t>compute_86</a:t>
            </a:r>
          </a:p>
          <a:p>
            <a:r>
              <a:t>PTX path</a:t>
            </a:r>
          </a:p>
          <a:p>
            <a:r>
              <a:t>sm_86</a:t>
            </a:r>
          </a:p>
          <a:p>
            <a:r>
              <a:t>SASS path</a:t>
            </a:r>
          </a:p>
          <a:p>
            <a:r>
              <a:t>ptxas</a:t>
            </a:r>
          </a:p>
          <a:p>
            <a:r>
              <a:t>device code</a:t>
            </a:r>
          </a:p>
          <a:p/>
          <a:p>
            <a:r>
              <a:t>ORIGINAL NVIDIA FIGURES</a:t>
            </a:r>
          </a:p>
          <a:p>
            <a:r>
              <a:t>Figure 10: user-supplied cuda-programming-guide.pdf, Release 13.4.2, PDF page 35, printed guide page 17. Extracted original image, PDF image xref 947; original labels, colors and proportions preserved.</a:t>
            </a:r>
          </a:p>
          <a:p>
            <a:r>
              <a:t>NVIDIA artwork is used as source illustration; the deck is independently prepared training, not an official NVIDIA course.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36.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Systematic CUDA diagnostics</a:t>
            </a:r>
          </a:p>
          <a:p>
            <a:r>
              <a:t>device_info</a:t>
            </a:r>
          </a:p>
          <a:p>
            <a:r>
              <a:t>small test</a:t>
            </a:r>
          </a:p>
          <a:p>
            <a:r>
              <a:t>CUDA_CHECK</a:t>
            </a:r>
          </a:p>
          <a:p>
            <a:r>
              <a:t>check archs</a:t>
            </a:r>
          </a:p>
          <a:p>
            <a:r>
              <a:t>reduce input</a:t>
            </a:r>
          </a:p>
          <a:p>
            <a:r>
              <a:t>profiler/sanitizer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37.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CUDA thread hierarchy</a:t>
            </a:r>
          </a:p>
          <a:p>
            <a:r>
              <a:t>Grid</a:t>
            </a:r>
          </a:p>
          <a:p>
            <a:r>
              <a:t>block 0,0</a:t>
            </a:r>
          </a:p>
          <a:p>
            <a:r>
              <a:t>block 0,1</a:t>
            </a:r>
          </a:p>
          <a:p>
            <a:r>
              <a:t>block 0,2</a:t>
            </a:r>
          </a:p>
          <a:p>
            <a:r>
              <a:t>block 1,0</a:t>
            </a:r>
          </a:p>
          <a:p>
            <a:r>
              <a:t>block 1,1</a:t>
            </a:r>
          </a:p>
          <a:p>
            <a:r>
              <a:t>block 1,2</a:t>
            </a:r>
          </a:p>
          <a:p>
            <a:r>
              <a:t>blockIdx.x * blockDim.x + threadIdx.x</a:t>
            </a:r>
          </a:p>
          <a:p>
            <a:r>
              <a:t>Threads in a block can cooperate with shared memory + __syncthreads()</a:t>
            </a:r>
          </a:p>
          <a:p/>
          <a:p>
            <a:r>
              <a:t>ORIGINAL NVIDIA FIGURES</a:t>
            </a:r>
          </a:p>
          <a:p>
            <a:r>
              <a:t>Figure 3: user-supplied cuda-programming-guide.pdf, Release 13.4.2, PDF page 24, printed guide page 6. Extracted original image, PDF image xref 853; original labels, colors and proportions preserved.</a:t>
            </a:r>
          </a:p>
          <a:p>
            <a:r>
              <a:t>NVIDIA artwork is used as source illustration; the deck is independently prepared training, not an official NVIDIA course.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38.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SAXPY-like vector add</a:t>
            </a:r>
          </a:p>
          <a:p>
            <a:r>
              <a:t>a[N]</a:t>
            </a:r>
          </a:p>
          <a:p>
            <a:r>
              <a:t>alpha</a:t>
            </a:r>
          </a:p>
          <a:p>
            <a:r>
              <a:t>b[N]</a:t>
            </a:r>
          </a:p>
          <a:p>
            <a:r>
              <a:t>out[i] = alpha*a[i] + b[i]</a:t>
            </a:r>
          </a:p>
          <a:p>
            <a:r>
              <a:t>CPU/GPU compare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39.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The code image is the original embedded source excerpt; no code text was edited. Where it is shown in two panes, the same original image is cropped at a blank line without omitting pixels.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40.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41.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42.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43.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End-to-end course payoff</a:t>
            </a:r>
          </a:p>
          <a:p>
            <a:r>
              <a:t>build</a:t>
            </a:r>
          </a:p>
          <a:p>
            <a:r>
              <a:t>test</a:t>
            </a:r>
          </a:p>
          <a:p>
            <a:r>
              <a:t>benchmark</a:t>
            </a:r>
          </a:p>
          <a:p>
            <a:r>
              <a:t>package</a:t>
            </a:r>
          </a:p>
          <a:p>
            <a:r>
              <a:t>run container</a:t>
            </a:r>
          </a:p>
          <a:p>
            <a:r>
              <a:t>compare JAX/MatMul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44.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Two-day practical roadmap</a:t>
            </a:r>
          </a:p>
          <a:p>
            <a:r>
              <a:t>Day 1</a:t>
            </a:r>
          </a:p>
          <a:p>
            <a:r>
              <a:t>repo + kernel</a:t>
            </a:r>
          </a:p>
          <a:p>
            <a:r>
              <a:t>Day 1</a:t>
            </a:r>
          </a:p>
          <a:p>
            <a:r>
              <a:t>tests + launch API</a:t>
            </a:r>
          </a:p>
          <a:p>
            <a:r>
              <a:t>Day 2</a:t>
            </a:r>
          </a:p>
          <a:p>
            <a:r>
              <a:t>measure + streams</a:t>
            </a:r>
          </a:p>
          <a:p>
            <a:r>
              <a:t>Day 2</a:t>
            </a:r>
          </a:p>
          <a:p>
            <a:r>
              <a:t>OCI + remote</a:t>
            </a:r>
          </a:p>
          <a:p>
            <a:r>
              <a:t>Day 2</a:t>
            </a:r>
          </a:p>
          <a:p>
            <a:r>
              <a:t>JAX + MatMul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45.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Systematic CUDA diagnostics</a:t>
            </a:r>
          </a:p>
          <a:p>
            <a:r>
              <a:t>device_info</a:t>
            </a:r>
          </a:p>
          <a:p>
            <a:r>
              <a:t>small test</a:t>
            </a:r>
          </a:p>
          <a:p>
            <a:r>
              <a:t>CUDA_CHECK</a:t>
            </a:r>
          </a:p>
          <a:p>
            <a:r>
              <a:t>check archs</a:t>
            </a:r>
          </a:p>
          <a:p>
            <a:r>
              <a:t>reduce input</a:t>
            </a:r>
          </a:p>
          <a:p>
            <a:r>
              <a:t>profiler/sanitizer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REDESIGN / SOURCE PROVENANCE</a:t>
            </a:r>
          </a:p>
          <a:p>
            <a:r>
              <a:t>Content source: user-supplied Day1_Repository_Foundation_First_CUDA_Feature.pptx, original slide 46.</a:t>
            </a:r>
          </a:p>
          <a:p>
            <a:r>
              <a:t>Original slide order, wording, tables, commands and embedded code excerpts are retained. This is a visual-only redesign, not a technical review or software update.</a:t>
            </a:r>
          </a:p>
          <a:p>
            <a:r>
              <a:t>Original visual labels (retained as editable text where appropriate, or replaced by the cited NVIDIA figure for illustration):</a:t>
            </a:r>
          </a:p>
          <a:p>
            <a:r>
              <a:t>End-to-end course payoff</a:t>
            </a:r>
          </a:p>
          <a:p>
            <a:r>
              <a:t>build</a:t>
            </a:r>
          </a:p>
          <a:p>
            <a:r>
              <a:t>test</a:t>
            </a:r>
          </a:p>
          <a:p>
            <a:r>
              <a:t>benchmark</a:t>
            </a:r>
          </a:p>
          <a:p>
            <a:r>
              <a:t>package</a:t>
            </a:r>
          </a:p>
          <a:p>
            <a:r>
              <a:t>run container</a:t>
            </a:r>
          </a:p>
          <a:p>
            <a:r>
              <a:t>compare JAX/MatMul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ADDED VISUAL EXPLANATION</a:t>
            </a:r>
          </a:p>
          <a:p>
            <a:r>
              <a:t>Inserted after original Day 1 slide 10. The original course slides remain in their original relative sequence. No original code, commands, exercises, or benchmark values are changed.</a:t>
            </a:r>
          </a:p>
          <a:p/>
          <a:p>
            <a:r>
              <a:t>SOURCE</a:t>
            </a:r>
          </a:p>
          <a:p>
            <a:r>
              <a:t>User-supplied cuda-programming-guide.pdf, CUDA Programming Guide, Release 13.4.2, September 10, 2026.</a:t>
            </a:r>
          </a:p>
          <a:p>
            <a:r>
              <a:t>Figure 22, physical PDF page 169, printed page 151; original image xref 1757. Also §1.2.2.2, printed pages 7–9.</a:t>
            </a:r>
          </a:p>
          <a:p>
            <a:r>
              <a:t>https://docs.nvidia.com/cuda/cuda-programming-guide/</a:t>
            </a:r>
          </a:p>
          <a:p>
            <a:r>
              <a:t>Original PDF figure image(s), proportionally resized; native labels and colors retained. No redrawing or generated illustration.</a:t>
            </a:r>
          </a:p>
          <a:p/>
          <a:p>
            <a:r>
              <a:t>PRESENTER NOTES</a:t>
            </a:r>
          </a:p>
          <a:p>
            <a:r>
              <a:t>First point to the block, then the groups of 32 threads, then the SM. The figure is a conceptual partitioning, not a cycle-by-cycle schedule. The 256/32=8 statement is a derived course example using the existing block-size choice from original Day 1 slide 25. Do not identify a software thread with a permanently dedicated physical core. Reconnect to warpSize in the device-property output.</a:t>
            </a:r>
          </a:p>
          <a:p/>
          <a:p>
            <a:r>
              <a:t>PACING</a:t>
            </a:r>
          </a:p>
          <a:p>
            <a:r>
              <a:t>Allow approximately two minutes; focus on reading the figure rather than introducing a new lab.</a:t>
            </a:r>
          </a:p>
          <a:p/>
          <a:p>
            <a:r>
              <a:t>SCOPE</a:t>
            </a:r>
          </a:p>
          <a:p>
            <a:r>
              <a:t>New explanatory text paraphrases the cited guide. Course-connection examples are identified in the notes as instructional applications, not new measurements or claims of validated repository behavior.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ADDED VISUAL EXPLANATION</a:t>
            </a:r>
          </a:p>
          <a:p>
            <a:r>
              <a:t>Inserted after original Day 1 slide 23. The original course slides remain in their original relative sequence. No original code, commands, exercises, or benchmark values are changed.</a:t>
            </a:r>
          </a:p>
          <a:p/>
          <a:p>
            <a:r>
              <a:t>SOURCE</a:t>
            </a:r>
          </a:p>
          <a:p>
            <a:r>
              <a:t>User-supplied cuda-programming-guide.pdf, CUDA Programming Guide, Release 13.4.2, September 10, 2026.</a:t>
            </a:r>
          </a:p>
          <a:p>
            <a:r>
              <a:t>Figure 7, physical PDF page 29, printed page 11; original image xref 894. §1.2.2.2, printed page 9.</a:t>
            </a:r>
          </a:p>
          <a:p>
            <a:r>
              <a:t>https://docs.nvidia.com/cuda/cuda-programming-guide/</a:t>
            </a:r>
          </a:p>
          <a:p>
            <a:r>
              <a:t>Original PDF figure image(s), proportionally resized; native labels and colors retained. No redrawing or generated illustration.</a:t>
            </a:r>
          </a:p>
          <a:p/>
          <a:p>
            <a:r>
              <a:t>PRESENTER NOTES</a:t>
            </a:r>
          </a:p>
          <a:p>
            <a:r>
              <a:t>This is NVIDIA’s original illustration, including its code labels. Explain the even/odd example as drawn. The connection to if (i &lt; n) is an instructional analogy to the existing course bounds check, not a relabelling of NVIDIA’s image. The source describes divergence as threads following different paths. Keep the discussion on the programming model; do not imply a specific hardware instruction sequence or that branches automatically constitute synchronization.</a:t>
            </a:r>
          </a:p>
          <a:p/>
          <a:p>
            <a:r>
              <a:t>PACING</a:t>
            </a:r>
          </a:p>
          <a:p>
            <a:r>
              <a:t>Optional two-minute explanation; omit in a shorter session.</a:t>
            </a:r>
          </a:p>
          <a:p/>
          <a:p>
            <a:r>
              <a:t>SCOPE</a:t>
            </a:r>
          </a:p>
          <a:p>
            <a:r>
              <a:t>New explanatory text paraphrases the cited guide. Course-connection examples are identified in the notes as instructional applications, not new measurements or claims of validated repository behavior.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ADDED VISUAL EXPLANATION</a:t>
            </a:r>
          </a:p>
          <a:p>
            <a:r>
              <a:t>Inserted after original Day 1 slide 25. The original course slides remain in their original relative sequence. No original code, commands, exercises, or benchmark values are changed.</a:t>
            </a:r>
          </a:p>
          <a:p/>
          <a:p>
            <a:r>
              <a:t>SOURCE</a:t>
            </a:r>
          </a:p>
          <a:p>
            <a:r>
              <a:t>User-supplied cuda-programming-guide.pdf, CUDA Programming Guide, Release 13.4.2, September 10, 2026.</a:t>
            </a:r>
          </a:p>
          <a:p>
            <a:r>
              <a:t>Figure 4, physical PDF page 26, printed page 8; original image xref 870. §1.2.2.1, printed page 7, and §2.3.7, printed pages 72–73.</a:t>
            </a:r>
          </a:p>
          <a:p>
            <a:r>
              <a:t>https://docs.nvidia.com/cuda/cuda-programming-guide/</a:t>
            </a:r>
          </a:p>
          <a:p>
            <a:r>
              <a:t>Original PDF figure image(s), proportionally resized; native labels and colors retained. No redrawing or generated illustration.</a:t>
            </a:r>
          </a:p>
          <a:p/>
          <a:p>
            <a:r>
              <a:t>PRESENTER NOTES</a:t>
            </a:r>
          </a:p>
          <a:p>
            <a:r>
              <a:t>Use this slide immediately after launch geometry to separate software configuration from scheduling. The caption says the example places three active blocks on each SM, without an assignment-order guarantee. Ask: does launching eight blocks guarantee use of eight SMs? No such mapping is promised by the illustrated model. The figure does not show a measured trace, scheduling policy, or device-specific capacity.</a:t>
            </a:r>
          </a:p>
          <a:p/>
          <a:p>
            <a:r>
              <a:t>PACING</a:t>
            </a:r>
          </a:p>
          <a:p>
            <a:r>
              <a:t>Allow approximately two minutes; focus on reading the figure rather than introducing a new lab.</a:t>
            </a:r>
          </a:p>
          <a:p/>
          <a:p>
            <a:r>
              <a:t>SCOPE</a:t>
            </a:r>
          </a:p>
          <a:p>
            <a:r>
              <a:t>New explanatory text paraphrases the cited guide. Course-connection examples are identified in the notes as instructional applications, not new measurements or claims of validated repository behavior.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5.xml"/><Relationship Id="rId4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65760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9D2C1"/>
                </a:solidFill>
                <a:latin typeface="Arial"/>
              </a:defRPr>
            </a:pPr>
            <a:r>
              <a:t>FORMATION / REPOSITORY-DRIVEN CUDA ENGINEERING</a:t>
            </a:r>
          </a:p>
        </p:txBody>
      </p:sp>
      <p:pic>
        <p:nvPicPr>
          <p:cNvPr id="3" name="Picture 2" descr="nvidia_cover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862931"/>
            <a:ext cx="5120640" cy="17122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75904" y="1179576"/>
            <a:ext cx="3236976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76B900"/>
                </a:solidFill>
                <a:latin typeface="Arial"/>
              </a:defRPr>
            </a:pPr>
            <a:r>
              <a:t>DAY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770632"/>
            <a:ext cx="11009376" cy="9966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Parallel Programming in Modern C++ with CUDA, Bazel, and Clang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3950208"/>
            <a:ext cx="10991088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C9D2C1"/>
                </a:solidFill>
                <a:latin typeface="Arial"/>
              </a:defRPr>
            </a:pPr>
            <a:r>
              <a:t>Day 1 - Repository foundation and first CUDA 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4617720"/>
            <a:ext cx="11009376" cy="5669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Arial"/>
              </a:defRPr>
            </a:pPr>
            <a:r>
              <a:t>Core operation: out[i] = alpha * a[i] + b[i]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Arial"/>
              </a:defRPr>
            </a:pPr>
            <a:r>
              <a:t>Project path: projects/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5513832"/>
            <a:ext cx="1447364" cy="530352"/>
          </a:xfrm>
          <a:prstGeom prst="rect">
            <a:avLst/>
          </a:prstGeom>
          <a:solidFill>
            <a:srgbClr val="18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" y="5513832"/>
            <a:ext cx="1447364" cy="3200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5614416"/>
            <a:ext cx="1264484" cy="3749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C++ CPU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0868" y="5623560"/>
            <a:ext cx="146304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6B90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7172" y="5513832"/>
            <a:ext cx="1447364" cy="530352"/>
          </a:xfrm>
          <a:prstGeom prst="rect">
            <a:avLst/>
          </a:prstGeom>
          <a:solidFill>
            <a:srgbClr val="18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97172" y="5513832"/>
            <a:ext cx="1447364" cy="3200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8612" y="5614416"/>
            <a:ext cx="1264484" cy="3749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Bazel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4537" y="5623560"/>
            <a:ext cx="146304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6B90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90841" y="5513832"/>
            <a:ext cx="1447364" cy="530352"/>
          </a:xfrm>
          <a:prstGeom prst="rect">
            <a:avLst/>
          </a:prstGeom>
          <a:solidFill>
            <a:srgbClr val="18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90841" y="5513832"/>
            <a:ext cx="1447364" cy="3200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2281" y="5614416"/>
            <a:ext cx="1264484" cy="3749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Clang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8205" y="5623560"/>
            <a:ext cx="146304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6B90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84509" y="5513832"/>
            <a:ext cx="1447364" cy="530352"/>
          </a:xfrm>
          <a:prstGeom prst="rect">
            <a:avLst/>
          </a:prstGeom>
          <a:solidFill>
            <a:srgbClr val="18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84509" y="5513832"/>
            <a:ext cx="1447364" cy="3200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75949" y="5614416"/>
            <a:ext cx="1264484" cy="3749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CUDA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1874" y="5623560"/>
            <a:ext cx="146304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6B90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78178" y="5513832"/>
            <a:ext cx="1447364" cy="530352"/>
          </a:xfrm>
          <a:prstGeom prst="rect">
            <a:avLst/>
          </a:prstGeom>
          <a:solidFill>
            <a:srgbClr val="18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78178" y="5513832"/>
            <a:ext cx="1447364" cy="3200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69618" y="5614416"/>
            <a:ext cx="1264484" cy="3749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5542" y="5623560"/>
            <a:ext cx="146304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6B90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71846" y="5513832"/>
            <a:ext cx="1447364" cy="530352"/>
          </a:xfrm>
          <a:prstGeom prst="rect">
            <a:avLst/>
          </a:prstGeom>
          <a:solidFill>
            <a:srgbClr val="18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71846" y="5513832"/>
            <a:ext cx="1447364" cy="3200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3286" y="5614416"/>
            <a:ext cx="1264484" cy="3749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benchmark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9211" y="5623560"/>
            <a:ext cx="146304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6B90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65515" y="5513832"/>
            <a:ext cx="1447364" cy="530352"/>
          </a:xfrm>
          <a:prstGeom prst="rect">
            <a:avLst/>
          </a:prstGeom>
          <a:solidFill>
            <a:srgbClr val="18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165515" y="5513832"/>
            <a:ext cx="1447364" cy="3200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56955" y="5614416"/>
            <a:ext cx="1264484" cy="3749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container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" y="6272784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2C1"/>
                </a:solidFill>
                <a:latin typeface="Arial"/>
              </a:defRPr>
            </a:pPr>
            <a:r>
              <a:t>Repository-driven CUDA/Bazel course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3504" y="6601968"/>
            <a:ext cx="11009376" cy="0"/>
          </a:xfrm>
          <a:prstGeom prst="line">
            <a:avLst/>
          </a:prstGeom>
          <a:ln w="8890">
            <a:solidFill>
              <a:srgbClr val="293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03504" y="6675120"/>
            <a:ext cx="10058400" cy="1280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C9D2C1"/>
                </a:solidFill>
                <a:latin typeface="Arial"/>
              </a:defRPr>
            </a:pPr>
            <a:r>
              <a:t>Independent training · Original CUDA artwork: supplied NVIDIA guide, PDF p.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665976"/>
            <a:ext cx="685800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01/49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COURSE &amp; REPOSITORY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Why This Course Was Reworked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From machine-specific IDE setup to reproducible GPU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source.md -&gt; reworked.md   |   Source: Bazel Hermeticity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454214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02/49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176272"/>
            <a:ext cx="3410712" cy="3584448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3044952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5C6658"/>
                </a:solidFill>
                <a:latin typeface="Arial"/>
              </a:defRPr>
            </a:pPr>
            <a:r>
              <a:t>Old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44952"/>
            <a:ext cx="3044952" cy="23682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51A14"/>
                </a:solidFill>
                <a:latin typeface="Arial"/>
              </a:defRPr>
            </a:pPr>
            <a:r>
              <a:t>Visual Studio project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51A14"/>
                </a:solidFill>
                <a:latin typeface="Arial"/>
              </a:defRPr>
            </a:pPr>
            <a:r>
              <a:t>manual CUDA SDK install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51A14"/>
                </a:solidFill>
                <a:latin typeface="Arial"/>
              </a:defRPr>
            </a:pPr>
            <a:r>
              <a:t>local machine settings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51A14"/>
                </a:solidFill>
                <a:latin typeface="Arial"/>
              </a:defRPr>
            </a:pPr>
            <a:r>
              <a:t>debugger-first 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5696" y="2176272"/>
            <a:ext cx="3410712" cy="3584448"/>
          </a:xfrm>
          <a:prstGeom prst="rect">
            <a:avLst/>
          </a:prstGeom>
          <a:solidFill>
            <a:srgbClr val="ED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2432304"/>
            <a:ext cx="3044952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B7800"/>
                </a:solidFill>
                <a:latin typeface="Arial"/>
              </a:defRPr>
            </a:pPr>
            <a:r>
              <a:t>New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3044952"/>
            <a:ext cx="3044952" cy="23682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51A14"/>
                </a:solidFill>
                <a:latin typeface="Arial"/>
              </a:defRPr>
            </a:pPr>
            <a:r>
              <a:t>Bazel target graph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51A14"/>
                </a:solidFill>
                <a:latin typeface="Arial"/>
              </a:defRPr>
            </a:pPr>
            <a:r>
              <a:t>hermetic Clang/CUDA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51A14"/>
                </a:solidFill>
                <a:latin typeface="Arial"/>
              </a:defRPr>
            </a:pPr>
            <a:r>
              <a:t>tests + benchmarks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51A14"/>
                </a:solidFill>
                <a:latin typeface="Arial"/>
              </a:defRPr>
            </a:pPr>
            <a:r>
              <a:t>artifact packaging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57031" y="230428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6488" y="2212848"/>
            <a:ext cx="3127248" cy="10840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51A14"/>
                </a:solidFill>
                <a:latin typeface="Arial"/>
              </a:defRPr>
            </a:pPr>
            <a:r>
              <a:t>Old course: Visual Studio project files, local CUDA SDK assumptions, debugger-first flow.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57031" y="347522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6488" y="3383788"/>
            <a:ext cx="3127248" cy="13425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51A14"/>
                </a:solidFill>
                <a:latin typeface="Arial"/>
              </a:defRPr>
            </a:pPr>
            <a:r>
              <a:t>New course: Bazel target graph, hermetic Clang/CUDA, tests, benchmarks, deployable artifacts.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57031" y="4904613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76488" y="4813173"/>
            <a:ext cx="3127248" cy="82562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51A14"/>
                </a:solidFill>
                <a:latin typeface="Arial"/>
              </a:defRPr>
            </a:pPr>
            <a:r>
              <a:t>Editor choice remains flexible; the repository defines the build.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COURSE &amp; REPOSITORY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Two-Day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Day 1 builds; Day 2 measures, packages, compares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targets: //runtime:device_info, //cpp:vector_cpu_test, //gpu:vector_add_test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681321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03/49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48840"/>
            <a:ext cx="6547104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B7800"/>
                </a:solidFill>
                <a:latin typeface="Arial"/>
              </a:defRPr>
            </a:pPr>
            <a:r>
              <a:t>Two-day practical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70632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43000" y="2788920"/>
            <a:ext cx="0" cy="413308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25880" y="2724912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Day 1 · repo + kernel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430828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43000" y="3449116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25880" y="3385108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Day 1 · tests + launch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091025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43000" y="4109313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25880" y="4045305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Day 2 · measure + streams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751222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43000" y="4769510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25880" y="4705502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Day 2 · OCI + remote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411419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43000" y="5429707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5880" y="5365699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Day 2 · JAX + MatMul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08392" y="228600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7848" y="2194560"/>
            <a:ext cx="3666744" cy="12237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Day 1: GPU model, Bazel, Clang/CUDA, CPU oracle, first kernel, launch APIs, tests.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08392" y="3624046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27848" y="3532606"/>
            <a:ext cx="3666744" cy="12237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Day 2: runtime measurement, streams, OCI packaging, remote build model, JAX/XLA, MatMul.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08392" y="4962093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27848" y="4870653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Each block reconnects to a runnable Bazel target.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COURSE &amp; REPOSITORY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Final Repository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The repository is organized by learning responsibility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projects/detailed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908428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04/49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6565392" cy="3017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B7800"/>
                </a:solidFill>
                <a:latin typeface="Arial"/>
              </a:defRPr>
            </a:pPr>
            <a:r>
              <a:t>projects/detailed repository map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2642616"/>
            <a:ext cx="6556248" cy="484632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61488"/>
            <a:ext cx="1810512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4B7800"/>
                </a:solidFill>
                <a:latin typeface="Consolas"/>
              </a:defRPr>
            </a:pPr>
            <a:r>
              <a:t>cpp/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352" y="2752344"/>
            <a:ext cx="4297680" cy="2651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51A14"/>
                </a:solidFill>
                <a:latin typeface="Arial"/>
              </a:defRPr>
            </a:pPr>
            <a:r>
              <a:t>CPU oracle + threaded baseline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3191256"/>
            <a:ext cx="6556248" cy="484632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10128"/>
            <a:ext cx="1810512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4B7800"/>
                </a:solidFill>
                <a:latin typeface="Consolas"/>
              </a:defRPr>
            </a:pPr>
            <a:r>
              <a:t>gpu/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2" y="3300984"/>
            <a:ext cx="4297680" cy="2651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51A14"/>
                </a:solidFill>
                <a:latin typeface="Arial"/>
              </a:defRPr>
            </a:pPr>
            <a:r>
              <a:t>CUDA API + host wrapper + device kernel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3739896"/>
            <a:ext cx="6556248" cy="484632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58768"/>
            <a:ext cx="1810512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4B7800"/>
                </a:solidFill>
                <a:latin typeface="Consolas"/>
              </a:defRPr>
            </a:pPr>
            <a:r>
              <a:t>runtime/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16352" y="3849624"/>
            <a:ext cx="4297680" cy="2651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51A14"/>
                </a:solidFill>
                <a:latin typeface="Arial"/>
              </a:defRPr>
            </a:pPr>
            <a:r>
              <a:t>CUDA helpers: device info, errors, events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4288536"/>
            <a:ext cx="6556248" cy="484632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07407"/>
            <a:ext cx="1810512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4B7800"/>
                </a:solidFill>
                <a:latin typeface="Consolas"/>
              </a:defRPr>
            </a:pPr>
            <a:r>
              <a:t>python/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16352" y="4398264"/>
            <a:ext cx="4297680" cy="2651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51A14"/>
                </a:solidFill>
                <a:latin typeface="Arial"/>
              </a:defRPr>
            </a:pPr>
            <a:r>
              <a:t>Benchmark orchestrator + JAX/XLA hook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837175"/>
            <a:ext cx="6556248" cy="484632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956047"/>
            <a:ext cx="1810512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4B7800"/>
                </a:solidFill>
                <a:latin typeface="Consolas"/>
              </a:defRPr>
            </a:pPr>
            <a:r>
              <a:t>deploy/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16352" y="4946903"/>
            <a:ext cx="4297680" cy="2651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51A14"/>
                </a:solidFill>
                <a:latin typeface="Arial"/>
              </a:defRPr>
            </a:pPr>
            <a:r>
              <a:t>Bazel runtime file aggregation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" y="5385815"/>
            <a:ext cx="6556248" cy="484632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504687"/>
            <a:ext cx="1810512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4B7800"/>
                </a:solidFill>
                <a:latin typeface="Consolas"/>
              </a:defRPr>
            </a:pPr>
            <a:r>
              <a:t>linear_algebra/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16352" y="5495543"/>
            <a:ext cx="4297680" cy="2651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51A14"/>
                </a:solidFill>
                <a:latin typeface="Arial"/>
              </a:defRPr>
            </a:pPr>
            <a:r>
              <a:t>MatMul module: CPU/basic/tiled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08392" y="228600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7848" y="219456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projects/simple: tiny GPU info + OCI image path.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08392" y="314706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27848" y="3055620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projects/detailed: full CPU/CUDA/runtime/python/deploy/linear algebra project.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08392" y="430149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7848" y="421005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The deck follows the actual files and targets.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COURSE &amp; REPOSITORY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Learning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Correctness first, performance second, packaging third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bazel test //...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1135535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05/49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48840"/>
            <a:ext cx="6547104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B7800"/>
                </a:solidFill>
                <a:latin typeface="Arial"/>
              </a:defRPr>
            </a:pPr>
            <a:r>
              <a:t>Correctness before speed, speed before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70632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43000" y="2788920"/>
            <a:ext cx="0" cy="413308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25880" y="2724912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CPU oracle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430828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43000" y="3449116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25880" y="3385108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091025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43000" y="4109313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25880" y="4045305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benchmark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751222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43000" y="4769510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25880" y="4705502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package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411419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43000" y="5429707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5880" y="5365699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compare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08392" y="228600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7848" y="2194560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CPU oracle before CUDA.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08392" y="285369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27848" y="2762249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Test before benchmark.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08392" y="342138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27848" y="332994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Build graph before deployment.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08392" y="4282439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27848" y="4190999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Avoid fast wrong code by making verification a target.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GPU MODEL &amp; FIRST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GPU as a Separate Compute Resource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Host code orchestrates device work across a memory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runtime/device_info.cc   |   Source: CUDA C++ Programming Guide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1362642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06/49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" y="2048256"/>
            <a:ext cx="6355080" cy="36758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nvidia_system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819" y="2048256"/>
            <a:ext cx="3625344" cy="367588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8952" y="5797296"/>
            <a:ext cx="6355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5C6658"/>
                </a:solidFill>
                <a:latin typeface="Arial"/>
              </a:defRPr>
            </a:pPr>
            <a:r>
              <a:t>NVIDIA Fig. 2  |  Guide p. 6 / PDF p. 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8392" y="228600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219456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CPU code prepares data and launches kernels.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8392" y="314706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305562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GPU device code runs many threads over device memory.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4008119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391668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Data movement is part of the program, not a detail.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GPU MODEL &amp; FIRST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CPU vs GPU Work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GPUs like lots of similar work; CPUs handle mixed latency-sensitive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cpp/vector_threaded.cc -&gt; gpu/vector_add_device.cu   |   Source: CUDA C++ Programming Guide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1589749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07/49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2048256"/>
            <a:ext cx="6574536" cy="22585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nvidia_cpu_gpu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134" y="2048256"/>
            <a:ext cx="4573883" cy="2258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9808" y="4379976"/>
            <a:ext cx="6574536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5C6658"/>
                </a:solidFill>
                <a:latin typeface="Arial"/>
              </a:defRPr>
            </a:pPr>
            <a:r>
              <a:t>NVIDIA Fig. 1  |  Guide p. 4 / PDF p. 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754880"/>
            <a:ext cx="6537960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B7800"/>
                </a:solidFill>
                <a:latin typeface="Arial"/>
              </a:defRPr>
            </a:pPr>
            <a:r>
              <a:t>Serial CPU vs CPU threads vs GPU grid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5221224"/>
            <a:ext cx="2078735" cy="841248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" y="5221224"/>
            <a:ext cx="2078735" cy="3200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5321808"/>
            <a:ext cx="189585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51A14"/>
                </a:solidFill>
                <a:latin typeface="Arial"/>
              </a:defRPr>
            </a:pPr>
            <a:r>
              <a:t>Serial CPU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51A14"/>
                </a:solidFill>
                <a:latin typeface="Arial"/>
              </a:defRPr>
            </a:pPr>
            <a:r>
              <a:t>for (i)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51A14"/>
                </a:solidFill>
                <a:latin typeface="Arial"/>
              </a:defRPr>
            </a:pPr>
            <a:r>
              <a:t>work(i)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7687" y="5330952"/>
            <a:ext cx="146304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6B90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83992" y="5221224"/>
            <a:ext cx="2078735" cy="841248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83992" y="5221224"/>
            <a:ext cx="2078735" cy="3200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75432" y="5321808"/>
            <a:ext cx="189585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51A14"/>
                </a:solidFill>
                <a:latin typeface="Arial"/>
              </a:defRPr>
            </a:pPr>
            <a:r>
              <a:t>CPU threads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51A14"/>
                </a:solidFill>
                <a:latin typeface="Arial"/>
              </a:defRPr>
            </a:pPr>
            <a:r>
              <a:t>chunks of N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51A14"/>
                </a:solidFill>
                <a:latin typeface="Arial"/>
              </a:defRPr>
            </a:pPr>
            <a:r>
              <a:t>std::thread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2728" y="5330952"/>
            <a:ext cx="146304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6B90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09032" y="5221224"/>
            <a:ext cx="2078735" cy="841248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09032" y="5221224"/>
            <a:ext cx="2078735" cy="3200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0471" y="5321808"/>
            <a:ext cx="189585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51A14"/>
                </a:solidFill>
                <a:latin typeface="Arial"/>
              </a:defRPr>
            </a:pPr>
            <a:r>
              <a:t>CUDA grid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51A14"/>
                </a:solidFill>
                <a:latin typeface="Arial"/>
              </a:defRPr>
            </a:pPr>
            <a:r>
              <a:t>blocks x threads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51A14"/>
                </a:solidFill>
                <a:latin typeface="Arial"/>
              </a:defRPr>
            </a:pPr>
            <a:r>
              <a:t>many elements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17536" y="235000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36992" y="2258568"/>
            <a:ext cx="3648456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Serial CPU: one loop does all work.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17536" y="3203994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36992" y="3112554"/>
            <a:ext cx="3648456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CPU threads: a few workers process chunks.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17536" y="405798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6992" y="3966540"/>
            <a:ext cx="3648456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CUDA grid: many threads map naturally to many elements.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GPU MODEL &amp; FIRST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The Course Operation: SAXPY-Like Vector 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One small operation teaches the complete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cpp/vector_cpu.cc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1816856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08/49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85416"/>
            <a:ext cx="6519672" cy="2651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B7800"/>
                </a:solidFill>
                <a:latin typeface="Arial"/>
              </a:defRPr>
            </a:pPr>
            <a:r>
              <a:t>SAXPY-like vector add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926080"/>
            <a:ext cx="6537960" cy="12070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defRPr sz="3100" b="0">
                <a:solidFill>
                  <a:srgbClr val="151A14"/>
                </a:solidFill>
                <a:latin typeface="Consolas"/>
              </a:defRPr>
            </a:pPr>
            <a:r>
              <a:t>out[i] =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defRPr sz="3100" b="0">
                <a:solidFill>
                  <a:srgbClr val="151A14"/>
                </a:solidFill>
                <a:latin typeface="Consolas"/>
              </a:defRPr>
            </a:pPr>
            <a:r>
              <a:t>alpha * a[i] + b[i]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5047488"/>
            <a:ext cx="1515618" cy="749808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" y="5047488"/>
            <a:ext cx="1515618" cy="3200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148072"/>
            <a:ext cx="1332738" cy="5943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51A14"/>
                </a:solidFill>
                <a:latin typeface="Arial"/>
              </a:defRPr>
            </a:pPr>
            <a:r>
              <a:t>a[N]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3714" y="5157216"/>
            <a:ext cx="146304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6B90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30018" y="5047488"/>
            <a:ext cx="1515618" cy="749808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0018" y="5047488"/>
            <a:ext cx="1515618" cy="3200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21458" y="5148072"/>
            <a:ext cx="1332738" cy="5943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51A14"/>
                </a:solidFill>
                <a:latin typeface="Arial"/>
              </a:defRPr>
            </a:pPr>
            <a:r>
              <a:t>alpha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45636" y="5157216"/>
            <a:ext cx="146304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6B90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91940" y="5047488"/>
            <a:ext cx="1515618" cy="749808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91940" y="5047488"/>
            <a:ext cx="1515618" cy="3200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83380" y="5148072"/>
            <a:ext cx="1332738" cy="5943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51A14"/>
                </a:solidFill>
                <a:latin typeface="Arial"/>
              </a:defRPr>
            </a:pPr>
            <a:r>
              <a:t>b[N]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07558" y="5157216"/>
            <a:ext cx="146304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6B90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53862" y="5047488"/>
            <a:ext cx="1515618" cy="749808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53862" y="5047488"/>
            <a:ext cx="1515618" cy="3200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45302" y="5148072"/>
            <a:ext cx="1332738" cy="5943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51A14"/>
                </a:solidFill>
                <a:latin typeface="Arial"/>
              </a:defRPr>
            </a:pPr>
            <a:r>
              <a:t>CPU/GPU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51A14"/>
                </a:solidFill>
                <a:latin typeface="Arial"/>
              </a:defRPr>
            </a:pPr>
            <a:r>
              <a:t>compare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08392" y="230428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7848" y="2212848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Inputs: a[N], b[N], scalar alpha.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08392" y="316534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7848" y="3073907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Output: out[i] = alpha * a[i] + b[i].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08392" y="4026407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27848" y="3934967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Same semantics are implemented on CPU, CPU threads, CUDA, and JAX.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GPU MODEL &amp; FIRST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First Live Demo: Ask the GPU Who It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Before kernels, inspect the CUDA runtime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projects/simple/src/main.cc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2043963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09/49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148840"/>
            <a:ext cx="6656832" cy="3831336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rig_d1_s09_im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244277"/>
            <a:ext cx="6473952" cy="36404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1984248"/>
            <a:ext cx="6656832" cy="1280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5C6658"/>
                </a:solidFill>
                <a:latin typeface="Arial"/>
              </a:defRPr>
            </a:pPr>
            <a:r>
              <a:t>ORIGINAL SOURCE EXCERPT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8392" y="224028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214884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Run the smallest CUDA-aware target first.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8392" y="310134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3009900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This confirms runtime access, driver visibility, and device enumeration.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5093208"/>
            <a:ext cx="3922776" cy="932688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5230368"/>
            <a:ext cx="3557016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6B900"/>
                </a:solidFill>
                <a:latin typeface="Arial"/>
              </a:defRPr>
            </a:pPr>
            <a:r>
              <a:t>RUN / INSPECT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1271" y="5550408"/>
            <a:ext cx="3557016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  <a:r>
              <a:t>cd projects/simple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  <a:r>
              <a:t>bazel run //src:gpu_info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GPU MODEL &amp; FIRST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What cudaDeviceProp Teaches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Device properties connect hardware constraints to code choices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projects/simple/src/main.cc   |   Source: CUDA C++ Programming Guide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2271071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10/49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148840"/>
            <a:ext cx="6656832" cy="3831336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rig_d1_s10_im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263" y="2240280"/>
            <a:ext cx="4328531" cy="3648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1984248"/>
            <a:ext cx="6656832" cy="1280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5C6658"/>
                </a:solidFill>
                <a:latin typeface="Arial"/>
              </a:defRPr>
            </a:pPr>
            <a:r>
              <a:t>ORIGINAL SOURCE EXCERPT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8392" y="224028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214884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major/minor: compute capability.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8392" y="2985754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2894314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multiProcessorCount: parallel capacity.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373122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3639788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warpSize: scheduling granularity.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08392" y="4476702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7848" y="4385262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maxThreadsPerBlock and shared memory guide later launch choices.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BAZEL &amp; HERMETIC TOOLCHAINS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Why Hermetic Builds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Works-on-my-machine is not a course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MODULE.bazel + .bazelrc   |   Source: Bazel Hermeticity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2725285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12/49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48840"/>
            <a:ext cx="6547104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B7800"/>
                </a:solidFill>
                <a:latin typeface="Arial"/>
              </a:defRPr>
            </a:pPr>
            <a:r>
              <a:t>Hermetic builds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70632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43000" y="2788920"/>
            <a:ext cx="0" cy="413308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25880" y="2724912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source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430828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43000" y="3449116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25880" y="3385108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MODULE.bazel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091025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43000" y="4109313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25880" y="4045305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toolchains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751222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43000" y="4769510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25880" y="4705502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Bazel 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411419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43000" y="5429707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5880" y="5365699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cached artifacts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08392" y="228600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7848" y="219456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Bazel isolates build inputs from host machine drift.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08392" y="3144875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27848" y="3053435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Tool versions and dependencies are declared in the repository.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08392" y="4297121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27848" y="4205681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The same source/config should produce the same artifact.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BAZEL &amp; HERMETIC TOOLCHAINS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Bazel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Four words make the repository readable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//cpp:vector_cpu_test, //gpu:vector_add_benchmark   |   Source: Bazel concepts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2952392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13/49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48840"/>
            <a:ext cx="6547104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B7800"/>
                </a:solidFill>
                <a:latin typeface="Arial"/>
              </a:defRPr>
            </a:pPr>
            <a:r>
              <a:t>Operational Bazel vocabulary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70632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43000" y="2788920"/>
            <a:ext cx="0" cy="413308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25880" y="2724912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MODULE.bazel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430828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43000" y="3449116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25880" y="3385108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BUILD.bazel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091025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43000" y="4109313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25880" y="4045305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package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751222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43000" y="4769510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25880" y="4705502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411419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43000" y="5429707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5880" y="5365699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label //gpu:test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08392" y="228600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7848" y="2194560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MODULE.bazel: external dependencies and toolchain extensions.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08392" y="3370211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27848" y="3278771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BUILD.bazel: package targets.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08392" y="4161053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27848" y="4069613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target: buildable unit.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08392" y="4658525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27848" y="4567085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label: canonical address such as //gpu:vector_add_test.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BAZEL &amp; HERMETIC TOOLCHAINS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Module File: Dependencies and Toolchains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MODULE.bazel declares the external universe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projects/detailed/MODULE.bazel   |   Source: rules_cuda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3179499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14/49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148840"/>
            <a:ext cx="6656832" cy="3831336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rig_d1_s13_im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759" y="2240280"/>
            <a:ext cx="5081778" cy="3648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1984248"/>
            <a:ext cx="6656832" cy="1280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5C6658"/>
                </a:solidFill>
                <a:latin typeface="Arial"/>
              </a:defRPr>
            </a:pPr>
            <a:r>
              <a:t>ORIGINAL SOURCE EXCERPT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8392" y="224028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2148840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rules_cc for C++ targets.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8392" y="277306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268162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rules_cuda for CUDA targets and hermetic toolkit support.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3599211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3507771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rules_python for Python hooks.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08392" y="4425362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7848" y="4333922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toolchains_llvm for Clang C++26.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BAZEL &amp; HERMETIC TOOLCHAINS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.bazelrc: Build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The repo chooses compiler and CUDA mode consistently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projects/detailed/.bazelrc   |   Source: rules_cuda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3406606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15/49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148840"/>
            <a:ext cx="6656832" cy="3831336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rig_d1_s14_im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828228"/>
            <a:ext cx="6473952" cy="247255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1984248"/>
            <a:ext cx="6656832" cy="1280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5C6658"/>
                </a:solidFill>
                <a:latin typeface="Arial"/>
              </a:defRPr>
            </a:pPr>
            <a:r>
              <a:t>ORIGINAL SOURCE EXCERPT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8392" y="224028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214884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extra_toolchains selects the LLVM toolchain.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8392" y="3026092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2934652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rules_cuda compiler is set to clang.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3811905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3720465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archs selects device code generation target.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08392" y="4597717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7848" y="4506277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Build policy stays outside source files.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BAZEL &amp; HERMETIC TOOLCHAINS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Clang CUDA Compilation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Clang compiles host and device sides; ptxas generates device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--@rules_cuda//cuda:compiler=clang   |   Source: LLVM: Compiling CUDA with Clang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3633713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16/49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2148840"/>
            <a:ext cx="2788920" cy="36027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nvidia_fatbin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346763"/>
            <a:ext cx="2788920" cy="3206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9808" y="5824728"/>
            <a:ext cx="278892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5C6658"/>
                </a:solidFill>
                <a:latin typeface="Arial"/>
              </a:defRPr>
            </a:pPr>
            <a:r>
              <a:t>NVIDIA Fig. 10  |  Guide p. 17 / PDF p. 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167128"/>
            <a:ext cx="361188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B7800"/>
                </a:solidFill>
                <a:latin typeface="Arial"/>
              </a:defRPr>
            </a:pPr>
            <a:r>
              <a:t>Clang CUDA compilation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752344"/>
            <a:ext cx="3611880" cy="2889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.cu source · host + device code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Clang · parse + split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PTX · virtual ISA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ptxas · PTX -&gt; SASS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link · host + fatbin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binary · run on GPU host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8392" y="2267712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2176272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Clang parses CUDA and separates host/device compilation.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340487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331343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PTX is the device intermediate form.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08392" y="4248657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7848" y="4157217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ptxas assembles PTX to architecture-specific device code.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76B900"/>
                </a:solidFill>
                <a:latin typeface="Arial"/>
              </a:defRPr>
            </a:pPr>
            <a:r>
              <a:t>FORMATION  /  DAY 1  /  BAZEL &amp; HERMETIC TOOLCHAINS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FFFFF"/>
                </a:solidFill>
                <a:latin typeface="Arial"/>
              </a:defRPr>
            </a:pPr>
            <a:r>
              <a:t>Lab 1 Checkpoint: Build the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C9D2C1"/>
                </a:solidFill>
                <a:latin typeface="Arial"/>
              </a:defRPr>
            </a:pPr>
            <a:r>
              <a:t>The repository gives a reproducible baseline before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D2C1"/>
                </a:solidFill>
                <a:latin typeface="Arial"/>
              </a:defRPr>
            </a:pPr>
            <a:r>
              <a:t>projects/detailed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293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3860820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C9D2C1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17/49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048256"/>
            <a:ext cx="475488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76B900"/>
                </a:solidFill>
                <a:latin typeface="Arial"/>
              </a:defRPr>
            </a:pPr>
            <a:r>
              <a:t>Checkpoint / exercise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2432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532888"/>
            <a:ext cx="4517136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Move into the detailed project.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9201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100578"/>
            <a:ext cx="4517136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Run the full test set.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59707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668268"/>
            <a:ext cx="4517136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Confirm which targets need runtime GPU access.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620767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4529328"/>
            <a:ext cx="4517136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Record any environment blockers.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88152" y="2157984"/>
            <a:ext cx="5852160" cy="1719072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2" y="229514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6B900"/>
                </a:solidFill>
                <a:latin typeface="Arial"/>
              </a:defRPr>
            </a:pPr>
            <a:r>
              <a:t>RUN / INSPECT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2" y="2615184"/>
            <a:ext cx="5486400" cy="11064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cd projects/detailed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bazel test //...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97296" y="4242816"/>
            <a:ext cx="5843016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76B900"/>
                </a:solidFill>
                <a:latin typeface="Arial"/>
              </a:defRPr>
            </a:pPr>
            <a:r>
              <a:t>Bazel target graph mirrors project architecture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97296" y="5099612"/>
            <a:ext cx="1309091" cy="46028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61304" y="5192595"/>
            <a:ext cx="1181075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0B100A"/>
                </a:solidFill>
                <a:latin typeface="Consolas"/>
              </a:defRPr>
            </a:pPr>
            <a:r>
              <a:t>benchmark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9712" y="4685986"/>
            <a:ext cx="1333037" cy="460286"/>
          </a:xfrm>
          <a:prstGeom prst="rect">
            <a:avLst/>
          </a:prstGeom>
          <a:solidFill>
            <a:srgbClr val="192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73720" y="4778969"/>
            <a:ext cx="1205021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FFFFFF"/>
                </a:solidFill>
                <a:latin typeface="Consolas"/>
              </a:defRPr>
            </a:pPr>
            <a:r>
              <a:t>vector_cpu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9712" y="5465966"/>
            <a:ext cx="1333037" cy="460286"/>
          </a:xfrm>
          <a:prstGeom prst="rect">
            <a:avLst/>
          </a:prstGeom>
          <a:solidFill>
            <a:srgbClr val="192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73720" y="5558949"/>
            <a:ext cx="1205021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FFFFFF"/>
                </a:solidFill>
                <a:latin typeface="Consolas"/>
              </a:defRPr>
            </a:pPr>
            <a:r>
              <a:t>vector_add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38094" y="5465966"/>
            <a:ext cx="1277161" cy="460286"/>
          </a:xfrm>
          <a:prstGeom prst="rect">
            <a:avLst/>
          </a:prstGeom>
          <a:solidFill>
            <a:srgbClr val="192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2102" y="5558949"/>
            <a:ext cx="1149145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onsolas"/>
              </a:defRPr>
            </a:pPr>
            <a:r>
              <a:t>device_lib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02617" y="5465966"/>
            <a:ext cx="1013747" cy="460286"/>
          </a:xfrm>
          <a:prstGeom prst="rect">
            <a:avLst/>
          </a:prstGeom>
          <a:solidFill>
            <a:srgbClr val="192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66625" y="5558949"/>
            <a:ext cx="885731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FFFFFF"/>
                </a:solidFill>
                <a:latin typeface="Consolas"/>
              </a:defRPr>
            </a:pPr>
            <a:r>
              <a:t>runtime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7106387" y="4916129"/>
            <a:ext cx="303325" cy="413626"/>
          </a:xfrm>
          <a:prstGeom prst="line">
            <a:avLst/>
          </a:prstGeom>
          <a:ln w="19050">
            <a:solidFill>
              <a:srgbClr val="76B9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06387" y="5329755"/>
            <a:ext cx="303325" cy="366354"/>
          </a:xfrm>
          <a:prstGeom prst="line">
            <a:avLst/>
          </a:prstGeom>
          <a:ln w="19050">
            <a:solidFill>
              <a:srgbClr val="76B9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742750" y="5696109"/>
            <a:ext cx="295344" cy="0"/>
          </a:xfrm>
          <a:prstGeom prst="line">
            <a:avLst/>
          </a:prstGeom>
          <a:ln w="19050">
            <a:solidFill>
              <a:srgbClr val="76B9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315256" y="5696109"/>
            <a:ext cx="287361" cy="0"/>
          </a:xfrm>
          <a:prstGeom prst="line">
            <a:avLst/>
          </a:prstGeom>
          <a:ln w="19050">
            <a:solidFill>
              <a:srgbClr val="76B9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CPU CORRECTNESS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CPU Oracle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CUDA correctness starts with a boring CPU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projects/detailed/cpp/vector_cpu.cc   |   Source: CUDA C++ Best Practices Guide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4087927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18/49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148840"/>
            <a:ext cx="6656832" cy="3831336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rig_d1_s17_im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521934"/>
            <a:ext cx="6473952" cy="308514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1984248"/>
            <a:ext cx="6656832" cy="1280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5C6658"/>
                </a:solidFill>
                <a:latin typeface="Arial"/>
              </a:defRPr>
            </a:pPr>
            <a:r>
              <a:t>ORIGINAL SOURCE EXCERPT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8392" y="224028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214884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Validate input sizes before work.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8392" y="310134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300990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Use a simple loop to express the contract.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3962399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387096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This result becomes the comparison baseline.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CPU CORRECTNESS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CPU Test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Tests capture the contract before acceleration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bazel test //cpp:vector_cpu_test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4315034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19/49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148840"/>
            <a:ext cx="6656832" cy="3831336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rig_d1_s18_im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467" y="2240280"/>
            <a:ext cx="4158360" cy="3648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1984248"/>
            <a:ext cx="6656832" cy="1280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5C6658"/>
                </a:solidFill>
                <a:latin typeface="Arial"/>
              </a:defRPr>
            </a:pPr>
            <a:r>
              <a:t>ORIGINAL SOURCE EXCERPT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8392" y="224028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2148840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cc_test makes the CPU oracle executable in the build graph.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8392" y="339471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330327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The test target depends on CPU libraries, not on CUDA.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425577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416433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This separates semantics from acceleration.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CPU CORRECTNESS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CPU Threaded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GPU comparison should include CPU parallelism, not only serial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projects/detailed/cpp/vector_threaded.cc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4542142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20/49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148840"/>
            <a:ext cx="6656832" cy="3831336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rig_d1_s19_im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908" y="2240280"/>
            <a:ext cx="3979479" cy="3648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1984248"/>
            <a:ext cx="6656832" cy="1280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5C6658"/>
                </a:solidFill>
                <a:latin typeface="Arial"/>
              </a:defRPr>
            </a:pPr>
            <a:r>
              <a:t>ORIGINAL SOURCE EXCERPT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8392" y="224028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2148840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Split N elements into chunks.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8392" y="280797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271653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Use host threads to show CPU parallel work.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3669029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3577589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This bridges C++ concurrency and GPU parallelism.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CPU CORRECTNESS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Benchmark Output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A benchmark teaches only if we know what was measured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projects/detailed/cpp/vector_cpu_benchmark.cc   |   Source: CUDA C++ Best Practices Guide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4769249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21/49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148840"/>
            <a:ext cx="6656832" cy="3831336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rig_d1_s20_im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062" y="2240280"/>
            <a:ext cx="4323170" cy="3648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1984248"/>
            <a:ext cx="6656832" cy="1280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5C6658"/>
                </a:solidFill>
                <a:latin typeface="Arial"/>
              </a:defRPr>
            </a:pPr>
            <a:r>
              <a:t>ORIGINAL SOURCE EXCERPT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8392" y="224028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2148840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Record input size.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8392" y="2745854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2654414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Separate serial and threaded paths.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354479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3453358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Treat first-run and machine variance carefully.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08392" y="5093208"/>
            <a:ext cx="3922776" cy="932688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1271" y="5230368"/>
            <a:ext cx="3557016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6B900"/>
                </a:solidFill>
                <a:latin typeface="Arial"/>
              </a:defRPr>
            </a:pPr>
            <a:r>
              <a:t>RUN / INSPECT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1" y="5550408"/>
            <a:ext cx="3557016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FFFFFF"/>
                </a:solidFill>
                <a:latin typeface="Consolas"/>
              </a:defRPr>
            </a:pPr>
            <a:r>
              <a:t>bazel run //cpp:vector_cpu_benchmark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FIRST CUDA FEATURE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CUDA Source Separation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Keep host orchestration and device kernel code cleanly separated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projects/detailed/gpu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4996356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22/49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48840"/>
            <a:ext cx="6547104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B7800"/>
                </a:solidFill>
                <a:latin typeface="Arial"/>
              </a:defRPr>
            </a:pPr>
            <a:r>
              <a:t>Clean CUDA source separation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70632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43000" y="2788920"/>
            <a:ext cx="0" cy="420624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25880" y="2724912"/>
            <a:ext cx="594360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vector_add.h · public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438144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43000" y="3456432"/>
            <a:ext cx="0" cy="420624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25880" y="3392424"/>
            <a:ext cx="594360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vector_add_cuda.cc · host wrapper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105655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43000" y="4123944"/>
            <a:ext cx="0" cy="420624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25880" y="4059935"/>
            <a:ext cx="594360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vector_add_device.h · launcher decl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773168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43000" y="4791456"/>
            <a:ext cx="0" cy="420624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25880" y="4727448"/>
            <a:ext cx="594360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vector_add_device.cu · kernel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08392" y="228600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7848" y="2194560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Public API: gpu/vector_add.h.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08392" y="282381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27848" y="273237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Host wrapper: gpu/vector_add_cuda.cc.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08392" y="365499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7848" y="356355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Device launcher + kernel: gpu/vector_add_device.{h,cu}.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08392" y="448617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7848" y="439473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This prevents one tangled .cu file.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FIRST CUDA FEATURE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CUDA Target in Bazel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CUDA source becomes a Bazel target like everything else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projects/detailed/gpu/BUILD.bazel   |   Source: rules_cuda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5223463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23/49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048256"/>
            <a:ext cx="36576" cy="6583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29968"/>
            <a:ext cx="3352800" cy="832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cuda_library compiles device code.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22648" y="2048256"/>
            <a:ext cx="36576" cy="6583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9808" y="2029968"/>
            <a:ext cx="3352800" cy="832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cc_library wraps host-side logic.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2063" y="2048256"/>
            <a:ext cx="36576" cy="6583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9224" y="2029968"/>
            <a:ext cx="3352800" cy="832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Tests and benchmarks depend on the API target, not raw files.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026664"/>
            <a:ext cx="5330952" cy="2971800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orig_d1_s22_img5.png"/>
          <p:cNvPicPr>
            <a:picLocks noChangeAspect="1"/>
          </p:cNvPicPr>
          <p:nvPr/>
        </p:nvPicPr>
        <p:blipFill>
          <a:blip r:embed="rId2"/>
          <a:srcRect b="49729"/>
          <a:stretch>
            <a:fillRect/>
          </a:stretch>
        </p:blipFill>
        <p:spPr>
          <a:xfrm>
            <a:off x="967224" y="3095244"/>
            <a:ext cx="4822966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13232" y="2871216"/>
            <a:ext cx="5330952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80" b="1">
                <a:solidFill>
                  <a:srgbClr val="5C6658"/>
                </a:solidFill>
                <a:latin typeface="Arial"/>
              </a:defRPr>
            </a:pPr>
            <a:r>
              <a:t>SOURCE EXCERPT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91072" y="3026664"/>
            <a:ext cx="5330952" cy="2971800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orig_d1_s22_img5.png"/>
          <p:cNvPicPr>
            <a:picLocks noChangeAspect="1"/>
          </p:cNvPicPr>
          <p:nvPr/>
        </p:nvPicPr>
        <p:blipFill>
          <a:blip r:embed="rId2"/>
          <a:srcRect t="50271"/>
          <a:stretch>
            <a:fillRect/>
          </a:stretch>
        </p:blipFill>
        <p:spPr>
          <a:xfrm>
            <a:off x="6518757" y="3095244"/>
            <a:ext cx="4875580" cy="2834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91072" y="2871216"/>
            <a:ext cx="5330952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80" b="1">
                <a:solidFill>
                  <a:srgbClr val="5C6658"/>
                </a:solidFill>
                <a:latin typeface="Arial"/>
              </a:defRPr>
            </a:pPr>
            <a:r>
              <a:t>CONTINUED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FIRST CUDA FEATURE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Kernel Code: One Thread, One Element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Global thread index maps CUDA threads to vector elements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projects/detailed/gpu/vector_add_device.cu   |   Source: CUDA C++ Programming Guide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5450570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24/49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148840"/>
            <a:ext cx="6656832" cy="3831336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rig_d1_s23_im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217961"/>
            <a:ext cx="6473952" cy="16930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1984248"/>
            <a:ext cx="6656832" cy="1280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5C6658"/>
                </a:solidFill>
                <a:latin typeface="Arial"/>
              </a:defRPr>
            </a:pPr>
            <a:r>
              <a:t>ORIGINAL SOURCE EXCERPT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8392" y="224028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2148840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blockIdx.x identifies the block.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8392" y="280797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2716530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blockDim.x is the block size.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337566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328422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threadIdx.x identifies the thread inside the block.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08392" y="423672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7848" y="414528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The bounds check protects the final partial block.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FIRST CUDA FEATURE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Thread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CUDA exposes grid -&gt; block -&gt; thread hierarchy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blockIdx, blockDim, threadIdx   |   Source: CUDA C++ Programming Guide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5904784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26/49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2084831"/>
            <a:ext cx="6547104" cy="24597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nvidia_grid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164" y="2084831"/>
            <a:ext cx="5178391" cy="24597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9808" y="4617720"/>
            <a:ext cx="6547104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5C6658"/>
                </a:solidFill>
                <a:latin typeface="Arial"/>
              </a:defRPr>
            </a:pPr>
            <a:r>
              <a:t>NVIDIA Fig. 3  |  Guide p. 6 / PDF p.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5157216"/>
            <a:ext cx="6519672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14"/>
                </a:solidFill>
                <a:latin typeface="Consolas"/>
              </a:defRPr>
            </a:pPr>
            <a:r>
              <a:t>blockIdx.x * blockDim.x + threadIdx.x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5650992"/>
            <a:ext cx="6519672" cy="3749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4B7800"/>
                </a:solidFill>
                <a:latin typeface="Arial"/>
              </a:defRPr>
            </a:pPr>
            <a:r>
              <a:t>Threads in a block can cooperate with shared memory + __syncthreads()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8392" y="228600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219456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A kernel launch creates a grid.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3095805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3004365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A grid contains blocks.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08392" y="3612241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7848" y="3520801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Blocks contain threads.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08392" y="4128677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7848" y="4037237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Threads in a block can cooperate with shared memory.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Formula panel"/>
          <p:cNvSpPr/>
          <p:nvPr/>
        </p:nvSpPr>
        <p:spPr>
          <a:xfrm>
            <a:off x="758952" y="4352544"/>
            <a:ext cx="10844784" cy="932688"/>
          </a:xfrm>
          <a:prstGeom prst="rect">
            <a:avLst/>
          </a:prstGeom>
          <a:solidFill>
            <a:srgbClr val="F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FIRST CUDA FEATURE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Choosing Block and Grid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Launch configuration controls how many threads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constexpr int block_size = 256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6131891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27/49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4626864"/>
            <a:ext cx="10158984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defRPr sz="2300" b="0">
                <a:solidFill>
                  <a:srgbClr val="151A14"/>
                </a:solidFill>
                <a:latin typeface="DejaVu Sans Mono"/>
              </a:defRPr>
            </a:pPr>
            <a:r>
              <a:rPr sz="2300" b="0">
                <a:solidFill>
                  <a:srgbClr val="151A14"/>
                </a:solidFill>
                <a:latin typeface="DejaVu Sans Mono"/>
              </a:rPr>
              <a:t>blocks = (n + block_size - 1) / block_size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550468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7600"/>
                </a:solidFill>
                <a:latin typeface="DejaVu Sans Mono"/>
              </a:defRPr>
            </a:pPr>
            <a:r>
              <a:rPr sz="2000" b="0">
                <a:solidFill>
                  <a:srgbClr val="477600"/>
                </a:solidFill>
                <a:latin typeface="DejaVu Sans Mono"/>
              </a:rPr>
              <a:t>last block may be partial -&gt; if (i &lt; 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" y="2331720"/>
            <a:ext cx="54864" cy="2011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" y="2240280"/>
            <a:ext cx="10351008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51A14"/>
                </a:solidFill>
                <a:latin typeface="Arial"/>
              </a:defRPr>
            </a:pPr>
            <a:r>
              <a:rPr sz="2300" b="0">
                <a:solidFill>
                  <a:srgbClr val="151A14"/>
                </a:solidFill>
                <a:latin typeface="Arial"/>
              </a:rPr>
              <a:t>Use a fixed block size for the first kernel.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" y="3044952"/>
            <a:ext cx="54864" cy="2011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" y="2953512"/>
            <a:ext cx="10351008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51A14"/>
                </a:solidFill>
                <a:latin typeface="Arial"/>
              </a:defRPr>
            </a:pPr>
            <a:r>
              <a:rPr sz="2300" b="0">
                <a:solidFill>
                  <a:srgbClr val="151A14"/>
                </a:solidFill>
                <a:latin typeface="Arial"/>
              </a:rPr>
              <a:t>Round grid size up to cover all N elements.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" y="3758183"/>
            <a:ext cx="54864" cy="2011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" y="3666744"/>
            <a:ext cx="10351008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51A14"/>
                </a:solidFill>
                <a:latin typeface="Arial"/>
              </a:defRPr>
            </a:pPr>
            <a:r>
              <a:rPr sz="2300" b="0">
                <a:solidFill>
                  <a:srgbClr val="151A14"/>
                </a:solidFill>
                <a:latin typeface="Arial"/>
              </a:rPr>
              <a:t>Keep if (i &lt; n) inside the kernel.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FIRST CUDA FEATURE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Host Wrapper: Memory and Launch 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Host C++ owns allocation, copies, launch, sync, and result transfer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projects/detailed/gpu/vector_add_cuda.cc   |   Source: CUDA Runtime API - Execution Control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6586105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29/49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048256"/>
            <a:ext cx="36576" cy="6583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29968"/>
            <a:ext cx="2425446" cy="832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Validate inputs and compute byte counts.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5294" y="2048256"/>
            <a:ext cx="36576" cy="6583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2453" y="2029968"/>
            <a:ext cx="2425446" cy="832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Allocate device buffers.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7355" y="2048256"/>
            <a:ext cx="36576" cy="6583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2029968"/>
            <a:ext cx="2425446" cy="832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Copy host-to-device, launch, synchronize, copy back.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9417" y="2048256"/>
            <a:ext cx="36576" cy="6583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6577" y="2029968"/>
            <a:ext cx="2425446" cy="832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Free device buffers.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3026664"/>
            <a:ext cx="5330952" cy="2971800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orig_d1_s26_img5.png"/>
          <p:cNvPicPr>
            <a:picLocks noChangeAspect="1"/>
          </p:cNvPicPr>
          <p:nvPr/>
        </p:nvPicPr>
        <p:blipFill>
          <a:blip r:embed="rId2"/>
          <a:srcRect b="50551"/>
          <a:stretch>
            <a:fillRect/>
          </a:stretch>
        </p:blipFill>
        <p:spPr>
          <a:xfrm>
            <a:off x="1400404" y="3095244"/>
            <a:ext cx="3956607" cy="283463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3232" y="2871216"/>
            <a:ext cx="5330952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80" b="1">
                <a:solidFill>
                  <a:srgbClr val="5C6658"/>
                </a:solidFill>
                <a:latin typeface="Arial"/>
              </a:defRPr>
            </a:pPr>
            <a:r>
              <a:t>SOURCE EXCERPT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91072" y="3026664"/>
            <a:ext cx="5330952" cy="2971800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orig_d1_s26_img5.png"/>
          <p:cNvPicPr>
            <a:picLocks noChangeAspect="1"/>
          </p:cNvPicPr>
          <p:nvPr/>
        </p:nvPicPr>
        <p:blipFill>
          <a:blip r:embed="rId2"/>
          <a:srcRect t="49449"/>
          <a:stretch>
            <a:fillRect/>
          </a:stretch>
        </p:blipFill>
        <p:spPr>
          <a:xfrm>
            <a:off x="7021361" y="3095244"/>
            <a:ext cx="3870373" cy="28346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91072" y="2871216"/>
            <a:ext cx="5330952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80" b="1">
                <a:solidFill>
                  <a:srgbClr val="5C6658"/>
                </a:solidFill>
                <a:latin typeface="Arial"/>
              </a:defRPr>
            </a:pPr>
            <a:r>
              <a:t>CONTINUED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FIRST CUDA FEATURE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CUDA Runtime API Calls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CUDA Runtime API is the control surface for device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gpu/vector_add_cuda.cc + gpu/vector_add_device.cu   |   Source: CUDA Runtime API - Execution Control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6813213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30/49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39696"/>
            <a:ext cx="6528816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B7800"/>
                </a:solidFill>
                <a:latin typeface="Arial"/>
              </a:defRPr>
            </a:pPr>
            <a:r>
              <a:t>CUDA Runtime API control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71576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2715768"/>
            <a:ext cx="5824728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14"/>
                </a:solidFill>
                <a:latin typeface="Consolas"/>
              </a:defRPr>
            </a:pPr>
            <a:r>
              <a:t>cudaMalloc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21868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3218688"/>
            <a:ext cx="5824728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14"/>
                </a:solidFill>
                <a:latin typeface="Consolas"/>
              </a:defRPr>
            </a:pPr>
            <a:r>
              <a:t>cudaMemcpy H2D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72160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3721608"/>
            <a:ext cx="5824728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14"/>
                </a:solidFill>
                <a:latin typeface="Consolas"/>
              </a:defRPr>
            </a:pPr>
            <a:r>
              <a:t>cudaLaunchKernel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22452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4224528"/>
            <a:ext cx="5824728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14"/>
                </a:solidFill>
                <a:latin typeface="Consolas"/>
              </a:defRPr>
            </a:pPr>
            <a:r>
              <a:t>cudaDeviceSynchronize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72744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4727448"/>
            <a:ext cx="5824728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14"/>
                </a:solidFill>
                <a:latin typeface="Consolas"/>
              </a:defRPr>
            </a:pPr>
            <a:r>
              <a:t>cudaMemcpy D2H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523036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5024" y="5230368"/>
            <a:ext cx="5824728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14"/>
                </a:solidFill>
                <a:latin typeface="Consolas"/>
              </a:defRPr>
            </a:pPr>
            <a:r>
              <a:t>cudaFree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08392" y="228600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7848" y="2194560"/>
            <a:ext cx="3666744" cy="6230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50" b="0">
                <a:solidFill>
                  <a:srgbClr val="151A14"/>
                </a:solidFill>
                <a:latin typeface="Arial"/>
              </a:defRPr>
            </a:pPr>
            <a:r>
              <a:t>cudaMalloc creates device buffers.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08392" y="2997701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27848" y="2906261"/>
            <a:ext cx="3666744" cy="3366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50" b="0">
                <a:solidFill>
                  <a:srgbClr val="151A14"/>
                </a:solidFill>
                <a:latin typeface="Arial"/>
              </a:defRPr>
            </a:pPr>
            <a:r>
              <a:t>cudaMemcpy moves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08392" y="342301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7848" y="3331578"/>
            <a:ext cx="3666744" cy="6230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50" b="0">
                <a:solidFill>
                  <a:srgbClr val="151A14"/>
                </a:solidFill>
                <a:latin typeface="Arial"/>
              </a:defRPr>
            </a:pPr>
            <a:r>
              <a:t>cudaLaunchKernel launches work explicitly.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08392" y="4134719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7848" y="4043279"/>
            <a:ext cx="3666744" cy="6230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50" b="0">
                <a:solidFill>
                  <a:srgbClr val="151A14"/>
                </a:solidFill>
                <a:latin typeface="Arial"/>
              </a:defRPr>
            </a:pPr>
            <a:r>
              <a:t>cudaDeviceSynchronize waits for completion.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08392" y="4846421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27848" y="4754981"/>
            <a:ext cx="3666744" cy="6230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50" b="0">
                <a:solidFill>
                  <a:srgbClr val="151A14"/>
                </a:solidFill>
                <a:latin typeface="Arial"/>
              </a:defRPr>
            </a:pPr>
            <a:r>
              <a:t>cudaFree releases device memory.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FIRST CUDA FEATURE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Error Handling Helper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Every CUDA call should be checked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projects/detailed/runtime/cuda_errors.h   |   Source: CUDA C++ Best Practices Guide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7040320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31/49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148840"/>
            <a:ext cx="6656832" cy="3831336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rig_d1_s28_im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234" y="2240280"/>
            <a:ext cx="4610827" cy="3648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1984248"/>
            <a:ext cx="6656832" cy="1280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5C6658"/>
                </a:solidFill>
                <a:latin typeface="Arial"/>
              </a:defRPr>
            </a:pPr>
            <a:r>
              <a:t>ORIGINAL SOURCE EXCERPT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8392" y="224028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214884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Unchecked CUDA errors make debugging unreliable.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8392" y="310134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300990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The helper captures file and line context.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3962399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3870960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Use it around allocation, copies, synchronization, and runtime launches.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FIRST CUDA FEATURE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Stream and Event Helpers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Small RAII helpers make CUDA runtime objects safer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projects/detailed/runtime/cuda_launch.h   |   Source: CUDA C++ Programming Guide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7267427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32/49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048256"/>
            <a:ext cx="36576" cy="6583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29968"/>
            <a:ext cx="3352800" cy="832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51A14"/>
                </a:solidFill>
                <a:latin typeface="Arial"/>
              </a:defRPr>
            </a:pPr>
            <a:r>
              <a:t>Stream wrapper owns cudaStreamCreate/cudaStreamDestroy.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22648" y="2048256"/>
            <a:ext cx="36576" cy="6583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9808" y="2029968"/>
            <a:ext cx="3352800" cy="832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Event wrapper owns cudaEventCreate/cudaEventDestroy.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2063" y="2048256"/>
            <a:ext cx="36576" cy="6583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9224" y="2029968"/>
            <a:ext cx="3352800" cy="832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elapsed_ms centralizes CUDA event timing.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026664"/>
            <a:ext cx="5330952" cy="2971800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orig_d1_s29_img5.png"/>
          <p:cNvPicPr>
            <a:picLocks noChangeAspect="1"/>
          </p:cNvPicPr>
          <p:nvPr/>
        </p:nvPicPr>
        <p:blipFill>
          <a:blip r:embed="rId2"/>
          <a:srcRect b="50046"/>
          <a:stretch>
            <a:fillRect/>
          </a:stretch>
        </p:blipFill>
        <p:spPr>
          <a:xfrm>
            <a:off x="1033973" y="3095244"/>
            <a:ext cx="4689469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13232" y="2871216"/>
            <a:ext cx="5330952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80" b="1">
                <a:solidFill>
                  <a:srgbClr val="5C6658"/>
                </a:solidFill>
                <a:latin typeface="Arial"/>
              </a:defRPr>
            </a:pPr>
            <a:r>
              <a:t>SOURCE EXCERPT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91072" y="3026664"/>
            <a:ext cx="5330952" cy="2971800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orig_d1_s29_img5.png"/>
          <p:cNvPicPr>
            <a:picLocks noChangeAspect="1"/>
          </p:cNvPicPr>
          <p:nvPr/>
        </p:nvPicPr>
        <p:blipFill>
          <a:blip r:embed="rId2"/>
          <a:srcRect t="49954"/>
          <a:stretch>
            <a:fillRect/>
          </a:stretch>
        </p:blipFill>
        <p:spPr>
          <a:xfrm>
            <a:off x="6616139" y="3095244"/>
            <a:ext cx="4680816" cy="2834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91072" y="2871216"/>
            <a:ext cx="5330952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80" b="1">
                <a:solidFill>
                  <a:srgbClr val="5C6658"/>
                </a:solidFill>
                <a:latin typeface="Arial"/>
              </a:defRPr>
            </a:pPr>
            <a:r>
              <a:t>CONTINUED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FIRST CUDA FEATURE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Two Launch Styles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Triple-chevron syntax and cudaLaunchKernel launch the same device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LaunchApi enum + vector_add_device.cu   |   Source: CUDA Runtime API - Execution Control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7494534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33/49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39696"/>
            <a:ext cx="6574536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B7800"/>
                </a:solidFill>
                <a:latin typeface="Arial"/>
              </a:defRPr>
            </a:pPr>
            <a:r>
              <a:t>Two kernel launch styles, one device function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2798064"/>
            <a:ext cx="6556248" cy="1024128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6190488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6B900"/>
                </a:solidFill>
                <a:latin typeface="Arial"/>
              </a:defRPr>
            </a:pPr>
            <a:r>
              <a:t>CUDA C++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255264"/>
            <a:ext cx="6190488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kernel&lt;&lt;&lt;grid, block, 0, stream&gt;&gt;&gt;(args);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3995928"/>
            <a:ext cx="6556248" cy="1124712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133088"/>
            <a:ext cx="6190488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6B900"/>
                </a:solidFill>
                <a:latin typeface="Arial"/>
              </a:defRPr>
            </a:pPr>
            <a:r>
              <a:t>CUDA RUNTIME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453128"/>
            <a:ext cx="6190488" cy="51206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25" b="0">
                <a:solidFill>
                  <a:srgbClr val="FFFFFF"/>
                </a:solidFill>
                <a:latin typeface="Consolas"/>
              </a:defRPr>
            </a:pPr>
            <a:r>
              <a:t>cudaLaunchKernel(func, grid, block, args, 0, stream);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77256"/>
            <a:ext cx="6492240" cy="3749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14"/>
                </a:solidFill>
                <a:latin typeface="Consolas"/>
              </a:defRPr>
            </a:pPr>
            <a:r>
              <a:t>__global__ vector_add_kernel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08392" y="230428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7848" y="2212848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Triple-chevron is the normal readable CUDA C++ syntax.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08392" y="316534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7848" y="3073907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cudaLaunchKernel exposes the Runtime API mechanism explicitly.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08392" y="431977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7848" y="4228338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The project lets both paths be benchmarked and tested.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VERIFICATION &amp; BUILD INSPECTION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Correctness Test: CPU vs CUDA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The GPU result must match the CPU oracle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projects/detailed/gpu/vector_add_test.cc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7721641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34/49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148840"/>
            <a:ext cx="6656832" cy="3831336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rig_d1_s31_im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817" y="2240280"/>
            <a:ext cx="3637661" cy="3648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1984248"/>
            <a:ext cx="6656832" cy="1280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10" b="1">
                <a:solidFill>
                  <a:srgbClr val="5C6658"/>
                </a:solidFill>
                <a:latin typeface="Arial"/>
              </a:defRPr>
            </a:pPr>
            <a:r>
              <a:t>ORIGINAL SOURCE EXCERPT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8392" y="224028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214884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CPU and CUDA paths share the same inputs.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8392" y="2985439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2893999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Outputs are compared element by element.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3730599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3639159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No performance discussion until this target passes.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08392" y="5093208"/>
            <a:ext cx="3922776" cy="932688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1271" y="5230368"/>
            <a:ext cx="3557016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6B900"/>
                </a:solidFill>
                <a:latin typeface="Arial"/>
              </a:defRPr>
            </a:pPr>
            <a:r>
              <a:t>RUN / INSPECT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1" y="5550408"/>
            <a:ext cx="3557016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FFFFFF"/>
                </a:solidFill>
                <a:latin typeface="Consolas"/>
              </a:defRPr>
            </a:pPr>
            <a:r>
              <a:t>bazel test //gpu:vector_add_test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76B900"/>
                </a:solidFill>
                <a:latin typeface="Arial"/>
              </a:defRPr>
            </a:pPr>
            <a:r>
              <a:t>FORMATION  /  DAY 1  /  VERIFICATION &amp; BUILD INSPECTION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FFFFF"/>
                </a:solidFill>
                <a:latin typeface="Arial"/>
              </a:defRPr>
            </a:pPr>
            <a:r>
              <a:t>Live Demo: Run the CUDA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C9D2C1"/>
                </a:solidFill>
                <a:latin typeface="Arial"/>
              </a:defRPr>
            </a:pPr>
            <a:r>
              <a:t>The first CUDA feature is now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D2C1"/>
                </a:solidFill>
                <a:latin typeface="Arial"/>
              </a:defRPr>
            </a:pPr>
            <a:r>
              <a:t>//gpu:vector_add_test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293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7948748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C9D2C1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35/49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048256"/>
            <a:ext cx="475488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76B900"/>
                </a:solidFill>
                <a:latin typeface="Arial"/>
              </a:defRPr>
            </a:pPr>
            <a:r>
              <a:t>Checkpoint / exercise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2432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532888"/>
            <a:ext cx="4517136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Run the test target.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9201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100578"/>
            <a:ext cx="4517136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If cached, use --nocache_test_results for a live run.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53077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961637"/>
            <a:ext cx="4517136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Confirm both launch styles are covered by tests.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88152" y="2157984"/>
            <a:ext cx="5852160" cy="1719072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1032" y="229514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6B900"/>
                </a:solidFill>
                <a:latin typeface="Arial"/>
              </a:defRPr>
            </a:pPr>
            <a:r>
              <a:t>RUN / INSPECT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1032" y="2615184"/>
            <a:ext cx="5486400" cy="11064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cd projects/detailed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bazel test //gpu:vector_add_test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# optional: --nocache_test_results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4251960"/>
            <a:ext cx="5824728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6B900"/>
                </a:solidFill>
                <a:latin typeface="Arial"/>
              </a:defRPr>
            </a:pPr>
            <a:r>
              <a:t>Two kernel launch styles, one device function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4681728"/>
            <a:ext cx="5824728" cy="11978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9D2C1"/>
                </a:solidFill>
                <a:latin typeface="Consolas"/>
              </a:defRPr>
            </a:pPr>
            <a:r>
              <a:t>kernel&lt;&lt;&lt;grid, block, 0, stream&gt;&gt;&gt;(args);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9D2C1"/>
                </a:solidFill>
                <a:latin typeface="Consolas"/>
              </a:defRPr>
            </a:pPr>
            <a:r>
              <a:t>cudaLaunchKernel(func, grid, block, args, 0, stream);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9D2C1"/>
                </a:solidFill>
                <a:latin typeface="Consolas"/>
              </a:defRPr>
            </a:pPr>
            <a:r>
              <a:t>__global__ vector_add_kernel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76B900"/>
                </a:solidFill>
                <a:latin typeface="Arial"/>
              </a:defRPr>
            </a:pPr>
            <a:r>
              <a:t>FORMATION  /  DAY 1  /  VERIFICATION &amp; BUILD INSPECTION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FFFFF"/>
                </a:solidFill>
                <a:latin typeface="Arial"/>
              </a:defRPr>
            </a:pPr>
            <a:r>
              <a:t>Aquery: Proving Hermetic Clang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C9D2C1"/>
                </a:solidFill>
                <a:latin typeface="Arial"/>
              </a:defRPr>
            </a:pPr>
            <a:r>
              <a:t>Trust, then inspect the action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D2C1"/>
                </a:solidFill>
                <a:latin typeface="Arial"/>
              </a:defRPr>
            </a:pPr>
            <a:r>
              <a:t>Bazel action graph   |   Source: Bazel Hermeticity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293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8175855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C9D2C1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36/49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048256"/>
            <a:ext cx="475488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76B900"/>
                </a:solidFill>
                <a:latin typeface="Arial"/>
              </a:defRPr>
            </a:pPr>
            <a:r>
              <a:t>Checkpoint / exercise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2432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532888"/>
            <a:ext cx="4517136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aquery reveals the compile actions Bazel will run.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8538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393948"/>
            <a:ext cx="4517136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Look for external LLVM toolchain paths.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34644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4255008"/>
            <a:ext cx="4517136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The goal is to prove the compiler is not an ambient /usr/bin guess.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88152" y="2157984"/>
            <a:ext cx="5852160" cy="1719072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1032" y="229514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6B900"/>
                </a:solidFill>
                <a:latin typeface="Arial"/>
              </a:defRPr>
            </a:pPr>
            <a:r>
              <a:t>RUN / INSPECT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1032" y="2615184"/>
            <a:ext cx="5486400" cy="11064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175" b="0">
                <a:solidFill>
                  <a:srgbClr val="FFFFFF"/>
                </a:solidFill>
                <a:latin typeface="Consolas"/>
              </a:defRPr>
            </a:pPr>
            <a:r>
              <a:t>bazel aquery 'mnemonic("CppCompile", //gpu:vector_add_test)'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4270248"/>
            <a:ext cx="5824728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76B900"/>
                </a:solidFill>
                <a:latin typeface="Arial"/>
              </a:defRPr>
            </a:pPr>
            <a:r>
              <a:t>Clang CUDA compilation path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4608576"/>
            <a:ext cx="5824728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9D2C1"/>
                </a:solidFill>
                <a:latin typeface="Arial"/>
              </a:defRPr>
            </a:pPr>
            <a:r>
              <a:t>.cu source host + device code  ›  Clang parse + split  ›  PTX virtual ISA  ›  ptxas PTX -&gt; SASS  ›  link host + fatbin  ›  binary run on GPU host  ›  Bazel selects the toolchain and arch flags; ptxas produces architecture-specific device code.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VERIFICATION &amp; BUILD INSPECTION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Build Graph as a Teaching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Build dependencies mirror architecture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projects/detailed/gpu/BUILD.bazel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8402962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37/49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67128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B7800"/>
                </a:solidFill>
                <a:latin typeface="Arial"/>
              </a:defRPr>
            </a:pPr>
            <a:r>
              <a:t>Bazel target graph mirrors project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471272"/>
            <a:ext cx="1475032" cy="62179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45008"/>
            <a:ext cx="1347016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0B100A"/>
                </a:solidFill>
                <a:latin typeface="Consolas"/>
              </a:defRPr>
            </a:pPr>
            <a:r>
              <a:t>benchmark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30039" y="2841685"/>
            <a:ext cx="1502014" cy="621792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94047" y="3015421"/>
            <a:ext cx="1373998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151A14"/>
                </a:solidFill>
                <a:latin typeface="Consolas"/>
              </a:defRPr>
            </a:pPr>
            <a:r>
              <a:t>vector_cpu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30039" y="4028906"/>
            <a:ext cx="1502014" cy="621792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94047" y="4202642"/>
            <a:ext cx="1373998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151A14"/>
                </a:solidFill>
                <a:latin typeface="Consolas"/>
              </a:defRPr>
            </a:pPr>
            <a:r>
              <a:t>vector_add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4835" y="4028906"/>
            <a:ext cx="1439055" cy="621792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8843" y="4202642"/>
            <a:ext cx="131103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151A14"/>
                </a:solidFill>
                <a:latin typeface="Consolas"/>
              </a:defRPr>
            </a:pPr>
            <a:r>
              <a:t>device_lib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7679" y="4028906"/>
            <a:ext cx="1142250" cy="621792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1687" y="4202642"/>
            <a:ext cx="1014234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151A14"/>
                </a:solidFill>
                <a:latin typeface="Consolas"/>
              </a:defRPr>
            </a:pPr>
            <a:r>
              <a:t>runtime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2188264" y="3152581"/>
            <a:ext cx="341775" cy="629587"/>
          </a:xfrm>
          <a:prstGeom prst="line">
            <a:avLst/>
          </a:prstGeom>
          <a:ln w="19050">
            <a:solidFill>
              <a:srgbClr val="76B9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188264" y="3782168"/>
            <a:ext cx="341775" cy="557634"/>
          </a:xfrm>
          <a:prstGeom prst="line">
            <a:avLst/>
          </a:prstGeom>
          <a:ln w="19050">
            <a:solidFill>
              <a:srgbClr val="76B9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032054" y="4339802"/>
            <a:ext cx="332781" cy="0"/>
          </a:xfrm>
          <a:prstGeom prst="line">
            <a:avLst/>
          </a:prstGeom>
          <a:ln w="19050">
            <a:solidFill>
              <a:srgbClr val="76B9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803891" y="4339802"/>
            <a:ext cx="323788" cy="0"/>
          </a:xfrm>
          <a:prstGeom prst="line">
            <a:avLst/>
          </a:prstGeom>
          <a:ln w="19050">
            <a:solidFill>
              <a:srgbClr val="76B9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708392" y="2267712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27848" y="2176272"/>
            <a:ext cx="3685031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Benchmark target depends on CPU and CUDA implementations.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08392" y="3312842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7848" y="3221402"/>
            <a:ext cx="3685031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CUDA wrapper depends on device library.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08392" y="4064603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7848" y="3973163"/>
            <a:ext cx="3685031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Device library uses runtime helpers.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08392" y="4816363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27848" y="4724923"/>
            <a:ext cx="3685031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The target graph is a design diagram.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VERIFICATION &amp; BUILD INSPECTION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CUDA Architecture Flag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Device code is compiled for GPU architecture choices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projects/detailed/.bazelrc   |   Source: rules_cuda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8630069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38/49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2057400"/>
            <a:ext cx="3739896" cy="37307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nvidia_fatbin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366" y="2057400"/>
            <a:ext cx="3244506" cy="37307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4672" y="5861304"/>
            <a:ext cx="3739896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5C6658"/>
                </a:solidFill>
                <a:latin typeface="Arial"/>
              </a:defRPr>
            </a:pPr>
            <a:r>
              <a:t>NVIDIA Fig. 10  |  Guide p. 17 / PDF p. 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203704"/>
            <a:ext cx="2569464" cy="3749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4B7800"/>
                </a:solidFill>
                <a:latin typeface="Arial"/>
              </a:defRPr>
            </a:pPr>
            <a:r>
              <a:t>Architecture selection from Bazel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834640"/>
            <a:ext cx="2569464" cy="2962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51A14"/>
                </a:solidFill>
                <a:latin typeface="Consolas"/>
              </a:defRPr>
            </a:pPr>
            <a:r>
              <a:t>@rules_cuda//cuda:archs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51A14"/>
                </a:solidFill>
                <a:latin typeface="Consolas"/>
              </a:defRPr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51A14"/>
                </a:solidFill>
                <a:latin typeface="Consolas"/>
              </a:defRPr>
            </a:pPr>
            <a:r>
              <a:t>compute_86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51A14"/>
                </a:solidFill>
                <a:latin typeface="Consolas"/>
              </a:defRPr>
            </a:pPr>
            <a:r>
              <a:t>PTX path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51A14"/>
                </a:solidFill>
                <a:latin typeface="Consolas"/>
              </a:defRPr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51A14"/>
                </a:solidFill>
                <a:latin typeface="Consolas"/>
              </a:defRPr>
            </a:pPr>
            <a:r>
              <a:t>sm_86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51A14"/>
                </a:solidFill>
                <a:latin typeface="Consolas"/>
              </a:defRPr>
            </a:pPr>
            <a:r>
              <a:t>SASS path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51A14"/>
                </a:solidFill>
                <a:latin typeface="Consolas"/>
              </a:defRPr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51A14"/>
                </a:solidFill>
                <a:latin typeface="Consolas"/>
              </a:defRPr>
            </a:pPr>
            <a:r>
              <a:t>ptxas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51A14"/>
                </a:solidFill>
                <a:latin typeface="Consolas"/>
              </a:defRPr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51A14"/>
                </a:solidFill>
                <a:latin typeface="Consolas"/>
              </a:defRPr>
            </a:pPr>
            <a:r>
              <a:t>device 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8392" y="230428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2212848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Bazel config selects compute/PTX and sm/SASS targets.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341127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3319830"/>
            <a:ext cx="3666744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PTX path gives compatibility; SASS path is architecture-specific.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08392" y="4518253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7848" y="4426813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Labs may change this for a different GPU fleet.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VERIFICATION &amp; BUILD INSPECTION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What Can Go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CUDA failures are usually environment, architecture, memory, or launch bugs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runtime/device_info + runtime/cuda_errors.h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8857176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39/49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48840"/>
            <a:ext cx="6547104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B7800"/>
                </a:solidFill>
                <a:latin typeface="Arial"/>
              </a:defRPr>
            </a:pPr>
            <a:r>
              <a:t>Systematic CUDA diagnostics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70632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43000" y="2788920"/>
            <a:ext cx="0" cy="303275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25880" y="2724912"/>
            <a:ext cx="5943600" cy="3947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device_info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320795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43000" y="3339083"/>
            <a:ext cx="0" cy="303276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25880" y="3275076"/>
            <a:ext cx="5943600" cy="3947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small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870960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43000" y="3889248"/>
            <a:ext cx="0" cy="303276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25880" y="3825240"/>
            <a:ext cx="5943600" cy="3947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CUDA_CHECK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421124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43000" y="4439412"/>
            <a:ext cx="0" cy="303276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25880" y="4375404"/>
            <a:ext cx="5943600" cy="3947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check archs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971288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43000" y="4989576"/>
            <a:ext cx="0" cy="303276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5880" y="4925568"/>
            <a:ext cx="5943600" cy="3947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reduce input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521452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06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43000" y="5539740"/>
            <a:ext cx="0" cy="303276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325880" y="5475732"/>
            <a:ext cx="5943600" cy="3947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profiler/sanitizer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08392" y="228600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7848" y="2194560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No driver or no GPU access.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08392" y="2807192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27848" y="2715752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Architecture flag mismatch.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08392" y="3328385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7848" y="3236945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Wrong copy size or direction.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08392" y="384957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27848" y="3758138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Unchecked launch failure.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08392" y="4370771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27848" y="4279331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Use device_info and CUDA_CHECK to localize.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76B900"/>
                </a:solidFill>
                <a:latin typeface="Arial"/>
              </a:defRPr>
            </a:pPr>
            <a:r>
              <a:t>FORMATION  /  DAY 1  /  LABS &amp; DAY 1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FFFFF"/>
                </a:solidFill>
                <a:latin typeface="Arial"/>
              </a:defRPr>
            </a:pPr>
            <a:r>
              <a:t>Lab 2: Read and Explain the Kernel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C9D2C1"/>
                </a:solidFill>
                <a:latin typeface="Arial"/>
              </a:defRPr>
            </a:pPr>
            <a:r>
              <a:t>Be able to narrate the CUDA kernel line by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D2C1"/>
                </a:solidFill>
                <a:latin typeface="Arial"/>
              </a:defRPr>
            </a:pPr>
            <a:r>
              <a:t>gpu/vector_add_device.cu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293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9084284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C9D2C1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40/49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048256"/>
            <a:ext cx="475488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76B900"/>
                </a:solidFill>
                <a:latin typeface="Arial"/>
              </a:defRPr>
            </a:pPr>
            <a:r>
              <a:t>Checkpoint / exercise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2432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532888"/>
            <a:ext cx="4517136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Open gpu/vector_add_device.cu.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9201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100578"/>
            <a:ext cx="4517136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Identify the index calculation.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59707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668268"/>
            <a:ext cx="4517136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Identify the bounds check.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32739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4235958"/>
            <a:ext cx="4517136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Identify where grid and block sizes are chosen.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88152" y="2157984"/>
            <a:ext cx="5852160" cy="1719072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2" y="229514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6B900"/>
                </a:solidFill>
                <a:latin typeface="Arial"/>
              </a:defRPr>
            </a:pPr>
            <a:r>
              <a:t>RUN / INSPECT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2" y="2615184"/>
            <a:ext cx="5486400" cy="11064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25" b="0">
                <a:solidFill>
                  <a:srgbClr val="FFFFFF"/>
                </a:solidFill>
                <a:latin typeface="Consolas"/>
              </a:defRPr>
            </a:pPr>
            <a:r>
              <a:t>code projects/detailed/gpu/vector_add_device.cu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97296" y="4215384"/>
            <a:ext cx="5843016" cy="1435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nvidia_grid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637" y="4215384"/>
            <a:ext cx="3022332" cy="143560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797296" y="5724144"/>
            <a:ext cx="5843016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5C6658"/>
                </a:solidFill>
                <a:latin typeface="Arial"/>
              </a:defRPr>
            </a:pPr>
            <a:r>
              <a:t>NVIDIA Fig. 3  |  Guide p. 6 / PDF p. 24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76B900"/>
                </a:solidFill>
                <a:latin typeface="Arial"/>
              </a:defRPr>
            </a:pPr>
            <a:r>
              <a:t>FORMATION  /  DAY 1  /  LABS &amp; DAY 1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FFFFF"/>
                </a:solidFill>
                <a:latin typeface="Arial"/>
              </a:defRPr>
            </a:pPr>
            <a:r>
              <a:t>Lab 3: Change Vector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C9D2C1"/>
                </a:solidFill>
                <a:latin typeface="Arial"/>
              </a:defRPr>
            </a:pPr>
            <a:r>
              <a:t>Configuration changes should preserve correctness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D2C1"/>
                </a:solidFill>
                <a:latin typeface="Arial"/>
              </a:defRPr>
            </a:pPr>
            <a:r>
              <a:t>gpu/vector_add_benchmark.cc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293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9311391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C9D2C1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41/49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048256"/>
            <a:ext cx="475488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76B900"/>
                </a:solidFill>
                <a:latin typeface="Arial"/>
              </a:defRPr>
            </a:pPr>
            <a:r>
              <a:t>Checkpoint / exercise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2432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532888"/>
            <a:ext cx="4517136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Change the benchmark vector size.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84874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093434"/>
            <a:ext cx="4517136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Re-run the CUDA test.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4542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653980"/>
            <a:ext cx="4517136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Run the benchmark.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305966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4214526"/>
            <a:ext cx="4517136" cy="930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Record serial CPU, threaded CPU, runtime API CUDA, and triple-chevron CUDA times.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88152" y="2157984"/>
            <a:ext cx="5852160" cy="1719072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2" y="229514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6B900"/>
                </a:solidFill>
                <a:latin typeface="Arial"/>
              </a:defRPr>
            </a:pPr>
            <a:r>
              <a:t>RUN / INSPECT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2" y="2615184"/>
            <a:ext cx="5486400" cy="11064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bazel test //gpu:vector_add_test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bazel run //gpu:vector_add_benchmark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4270248"/>
            <a:ext cx="5824728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76B900"/>
                </a:solidFill>
                <a:latin typeface="Arial"/>
              </a:defRPr>
            </a:pPr>
            <a:r>
              <a:t>SAXPY-like vector add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4608576"/>
            <a:ext cx="5824728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9D2C1"/>
                </a:solidFill>
                <a:latin typeface="Arial"/>
              </a:defRPr>
            </a:pPr>
            <a:r>
              <a:t>a[N]  ›  alpha  ›  b[N]  ›  out[i] = alpha*a[i] + b[i]  ›  CPU/GPU compare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LABS &amp; DAY 1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Benchmark Target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Day 1 ends with the benchmark target ready for deeper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projects/detailed/gpu/vector_add_benchmark.cc   |   Source: CUDA C++ Best Practices Guide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9538498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42/49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048256"/>
            <a:ext cx="36576" cy="6583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29968"/>
            <a:ext cx="5207507" cy="832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The benchmark invokes CPU serial, CPU threaded, and CUDA variants.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7356" y="2048256"/>
            <a:ext cx="36576" cy="65836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4516" y="2029968"/>
            <a:ext cx="5207507" cy="832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A14"/>
                </a:solidFill>
                <a:latin typeface="Arial"/>
              </a:defRPr>
            </a:pPr>
            <a:r>
              <a:t>Day 2 will explain timing, memory cost, and interpretation.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3026664"/>
            <a:ext cx="5330952" cy="2459736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orig_d1_s39_img5.png"/>
          <p:cNvPicPr>
            <a:picLocks noChangeAspect="1"/>
          </p:cNvPicPr>
          <p:nvPr/>
        </p:nvPicPr>
        <p:blipFill>
          <a:blip r:embed="rId2"/>
          <a:srcRect b="49917"/>
          <a:stretch>
            <a:fillRect/>
          </a:stretch>
        </p:blipFill>
        <p:spPr>
          <a:xfrm>
            <a:off x="1369679" y="3095244"/>
            <a:ext cx="4018056" cy="23225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3232" y="2871216"/>
            <a:ext cx="5330952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80" b="1">
                <a:solidFill>
                  <a:srgbClr val="5C6658"/>
                </a:solidFill>
                <a:latin typeface="Arial"/>
              </a:defRPr>
            </a:pPr>
            <a:r>
              <a:t>SOURCE EXCERPT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3026664"/>
            <a:ext cx="5330952" cy="2459736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orig_d1_s39_img5.png"/>
          <p:cNvPicPr>
            <a:picLocks noChangeAspect="1"/>
          </p:cNvPicPr>
          <p:nvPr/>
        </p:nvPicPr>
        <p:blipFill>
          <a:blip r:embed="rId2"/>
          <a:srcRect t="50083"/>
          <a:stretch>
            <a:fillRect/>
          </a:stretch>
        </p:blipFill>
        <p:spPr>
          <a:xfrm>
            <a:off x="6940800" y="3095244"/>
            <a:ext cx="4031494" cy="23225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91072" y="2871216"/>
            <a:ext cx="5330952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80" b="1">
                <a:solidFill>
                  <a:srgbClr val="5C6658"/>
                </a:solidFill>
                <a:latin typeface="Arial"/>
              </a:defRPr>
            </a:pPr>
            <a:r>
              <a:t>CONTINUED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669280"/>
            <a:ext cx="1069848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B7800"/>
                </a:solidFill>
                <a:latin typeface="Consolas"/>
              </a:defRPr>
            </a:pPr>
            <a:r>
              <a:t>bazel run //gpu:vector_add_benchmark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LABS &amp; DAY 1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From Visual Studio Debugger to Repository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The old debugger-first flow becomes build/test/run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source.md -&gt; reworked repository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9765605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43/49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13232" y="2139696"/>
          <a:ext cx="10927080" cy="3538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086600"/>
              </a:tblGrid>
              <a:tr h="48463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600" b="1">
                          <a:solidFill>
                            <a:srgbClr val="76B900"/>
                          </a:solidFill>
                          <a:latin typeface="Arial"/>
                        </a:defRPr>
                      </a:pPr>
                      <a:r>
                        <a:t>Old course step</a:t>
                      </a:r>
                    </a:p>
                  </a:txBody>
                  <a:tcPr marL="164592" marR="137160" marT="91440" marB="64008" anchor="ctr">
                    <a:solidFill>
                      <a:srgbClr val="0B100A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600" b="1">
                          <a:solidFill>
                            <a:srgbClr val="76B900"/>
                          </a:solidFill>
                          <a:latin typeface="Arial"/>
                        </a:defRPr>
                      </a:pPr>
                      <a:r>
                        <a:t>Repository-driven replacement</a:t>
                      </a:r>
                    </a:p>
                  </a:txBody>
                  <a:tcPr marL="164592" marR="137160" marT="91440" marB="64008" anchor="ctr">
                    <a:solidFill>
                      <a:srgbClr val="0B100A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</a:tr>
              <a:tr h="61081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850" b="1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Install CUDA SDK manually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85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cuda.redist_json + rules_cuda toolchain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</a:tr>
              <a:tr h="61081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850" b="1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Create Visual Studio project</a:t>
                      </a:r>
                    </a:p>
                  </a:txBody>
                  <a:tcPr marL="164592" marR="137160" marT="91440" marB="64008" anchor="ctr">
                    <a:solidFill>
                      <a:srgbClr val="FFFFFF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85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BUILD.bazel targets</a:t>
                      </a:r>
                    </a:p>
                  </a:txBody>
                  <a:tcPr marL="164592" marR="137160" marT="91440" marB="64008" anchor="ctr">
                    <a:solidFill>
                      <a:srgbClr val="FFFFFF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</a:tr>
              <a:tr h="61081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850" b="1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Run a sample app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85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bazel run //runtime:device_info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</a:tr>
              <a:tr h="61081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850" b="1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Compare CPU/GPU manually</a:t>
                      </a:r>
                    </a:p>
                  </a:txBody>
                  <a:tcPr marL="164592" marR="137160" marT="91440" marB="64008" anchor="ctr">
                    <a:solidFill>
                      <a:srgbClr val="FFFFFF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85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bazel test //gpu:vector_add_test</a:t>
                      </a:r>
                    </a:p>
                  </a:txBody>
                  <a:tcPr marL="164592" marR="137160" marT="91440" marB="64008" anchor="ctr">
                    <a:solidFill>
                      <a:srgbClr val="FFFFFF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</a:tr>
              <a:tr h="61081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850" b="1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Package by copying files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85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rules_oci image target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31520" y="582472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B7800"/>
                </a:solidFill>
                <a:latin typeface="Arial"/>
              </a:defRPr>
            </a:pPr>
            <a:r>
              <a:t>Editor choice stays independent from build definition.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LABS &amp; DAY 1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Day 1 Architecture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The foundation for a real CUDA project is now in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projects/detailed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9992712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44/49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67128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B7800"/>
                </a:solidFill>
                <a:latin typeface="Arial"/>
              </a:defRPr>
            </a:pPr>
            <a:r>
              <a:t>Bazel target graph mirrors project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471272"/>
            <a:ext cx="1475032" cy="62179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45008"/>
            <a:ext cx="1347016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0B100A"/>
                </a:solidFill>
                <a:latin typeface="Consolas"/>
              </a:defRPr>
            </a:pPr>
            <a:r>
              <a:t>benchmark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30039" y="2841685"/>
            <a:ext cx="1502014" cy="621792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94047" y="3015421"/>
            <a:ext cx="1373998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151A14"/>
                </a:solidFill>
                <a:latin typeface="Consolas"/>
              </a:defRPr>
            </a:pPr>
            <a:r>
              <a:t>vector_cpu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30039" y="4028906"/>
            <a:ext cx="1502014" cy="621792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94047" y="4202642"/>
            <a:ext cx="1373998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151A14"/>
                </a:solidFill>
                <a:latin typeface="Consolas"/>
              </a:defRPr>
            </a:pPr>
            <a:r>
              <a:t>vector_add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4835" y="4028906"/>
            <a:ext cx="1439055" cy="621792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8843" y="4202642"/>
            <a:ext cx="131103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151A14"/>
                </a:solidFill>
                <a:latin typeface="Consolas"/>
              </a:defRPr>
            </a:pPr>
            <a:r>
              <a:t>device_lib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7679" y="4028906"/>
            <a:ext cx="1142250" cy="621792"/>
          </a:xfrm>
          <a:prstGeom prst="rect">
            <a:avLst/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1687" y="4202642"/>
            <a:ext cx="1014234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151A14"/>
                </a:solidFill>
                <a:latin typeface="Consolas"/>
              </a:defRPr>
            </a:pPr>
            <a:r>
              <a:t>runtime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2188264" y="3152581"/>
            <a:ext cx="341775" cy="629587"/>
          </a:xfrm>
          <a:prstGeom prst="line">
            <a:avLst/>
          </a:prstGeom>
          <a:ln w="19050">
            <a:solidFill>
              <a:srgbClr val="76B9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188264" y="3782168"/>
            <a:ext cx="341775" cy="557634"/>
          </a:xfrm>
          <a:prstGeom prst="line">
            <a:avLst/>
          </a:prstGeom>
          <a:ln w="19050">
            <a:solidFill>
              <a:srgbClr val="76B9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032054" y="4339802"/>
            <a:ext cx="332781" cy="0"/>
          </a:xfrm>
          <a:prstGeom prst="line">
            <a:avLst/>
          </a:prstGeom>
          <a:ln w="19050">
            <a:solidFill>
              <a:srgbClr val="76B9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803891" y="4339802"/>
            <a:ext cx="323788" cy="0"/>
          </a:xfrm>
          <a:prstGeom prst="line">
            <a:avLst/>
          </a:prstGeom>
          <a:ln w="19050">
            <a:solidFill>
              <a:srgbClr val="76B9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708392" y="2267712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27848" y="2176272"/>
            <a:ext cx="3685031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Hermetic C++ compiler.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08392" y="2698242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7848" y="2606802"/>
            <a:ext cx="3685031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Hermetic CUDA toolkit.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08392" y="3128772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7848" y="3037331"/>
            <a:ext cx="3685031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CPU oracle and threaded baseline.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08392" y="3852671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27848" y="3761232"/>
            <a:ext cx="3685031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CUDA device kernel and host wrapper.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08392" y="4576572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7848" y="4485132"/>
            <a:ext cx="3685031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Error helper and runtime launch path.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08392" y="5300472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27848" y="5209032"/>
            <a:ext cx="3685031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Tests and benchmark target.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LABS &amp; DAY 1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Documentation Anchors for 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Use official docs to support the repository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docs-to-code mapping   |   Source: CUDA / LLVM / Bazel official docs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10219819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45/49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13232" y="2139696"/>
          <a:ext cx="10927080" cy="3538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1488"/>
                <a:gridCol w="4297680"/>
                <a:gridCol w="3867912"/>
              </a:tblGrid>
              <a:tr h="48463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600" b="1">
                          <a:solidFill>
                            <a:srgbClr val="76B900"/>
                          </a:solidFill>
                          <a:latin typeface="Arial"/>
                        </a:defRPr>
                      </a:pPr>
                      <a:r>
                        <a:t>Topic</a:t>
                      </a:r>
                    </a:p>
                  </a:txBody>
                  <a:tcPr marL="164592" marR="137160" marT="91440" marB="64008" anchor="ctr">
                    <a:solidFill>
                      <a:srgbClr val="0B100A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600" b="1">
                          <a:solidFill>
                            <a:srgbClr val="76B900"/>
                          </a:solidFill>
                          <a:latin typeface="Arial"/>
                        </a:defRPr>
                      </a:pPr>
                      <a:r>
                        <a:t>Primary source</a:t>
                      </a:r>
                    </a:p>
                  </a:txBody>
                  <a:tcPr marL="164592" marR="137160" marT="91440" marB="64008" anchor="ctr">
                    <a:solidFill>
                      <a:srgbClr val="0B100A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600" b="1">
                          <a:solidFill>
                            <a:srgbClr val="76B900"/>
                          </a:solidFill>
                          <a:latin typeface="Arial"/>
                        </a:defRPr>
                      </a:pPr>
                      <a:r>
                        <a:t>Repository anchor</a:t>
                      </a:r>
                    </a:p>
                  </a:txBody>
                  <a:tcPr marL="164592" marR="137160" marT="91440" marB="64008" anchor="ctr">
                    <a:solidFill>
                      <a:srgbClr val="0B100A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</a:tr>
              <a:tr h="61081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700" b="1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CUDA programming model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70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CUDA C++ Programming Guide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70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gpu/vector_add_device.cu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</a:tr>
              <a:tr h="61081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700" b="1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Runtime launch API</a:t>
                      </a:r>
                    </a:p>
                  </a:txBody>
                  <a:tcPr marL="164592" marR="137160" marT="91440" marB="64008" anchor="ctr">
                    <a:solidFill>
                      <a:srgbClr val="FFFFFF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70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CUDA Runtime API execution control</a:t>
                      </a:r>
                    </a:p>
                  </a:txBody>
                  <a:tcPr marL="164592" marR="137160" marT="91440" marB="64008" anchor="ctr">
                    <a:solidFill>
                      <a:srgbClr val="FFFFFF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70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cudaLaunchKernel path</a:t>
                      </a:r>
                    </a:p>
                  </a:txBody>
                  <a:tcPr marL="164592" marR="137160" marT="91440" marB="64008" anchor="ctr">
                    <a:solidFill>
                      <a:srgbClr val="FFFFFF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</a:tr>
              <a:tr h="61081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700" b="1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Clang CUDA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70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LLVM Clang CUDA docs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70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.bazelrc + rules_cuda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</a:tr>
              <a:tr h="61081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700" b="1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Hermetic build</a:t>
                      </a:r>
                    </a:p>
                  </a:txBody>
                  <a:tcPr marL="164592" marR="137160" marT="91440" marB="64008" anchor="ctr">
                    <a:solidFill>
                      <a:srgbClr val="FFFFFF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70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Bazel hermeticity</a:t>
                      </a:r>
                    </a:p>
                  </a:txBody>
                  <a:tcPr marL="164592" marR="137160" marT="91440" marB="64008" anchor="ctr">
                    <a:solidFill>
                      <a:srgbClr val="FFFFFF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70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MODULE.bazel + toolchains</a:t>
                      </a:r>
                    </a:p>
                  </a:txBody>
                  <a:tcPr marL="164592" marR="137160" marT="91440" marB="64008" anchor="ctr">
                    <a:solidFill>
                      <a:srgbClr val="FFFFFF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</a:tr>
              <a:tr h="61081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700" b="1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CUDA Bazel rules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70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rules_cuda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defRPr sz="1700" b="0">
                          <a:solidFill>
                            <a:srgbClr val="151A14"/>
                          </a:solidFill>
                          <a:latin typeface="Arial"/>
                        </a:defRPr>
                      </a:pPr>
                      <a:r>
                        <a:t>gpu/BUILD.bazel</a:t>
                      </a:r>
                    </a:p>
                  </a:txBody>
                  <a:tcPr marL="164592" marR="137160" marT="91440" marB="64008" anchor="ctr">
                    <a:solidFill>
                      <a:srgbClr val="F4F6F0"/>
                    </a:solidFill>
                    <a:lnL w="5000">
                      <a:solidFill>
                        <a:srgbClr val="D7DFD1"/>
                      </a:solidFill>
                    </a:lnL>
                    <a:lnR w="5000">
                      <a:solidFill>
                        <a:srgbClr val="D7DFD1"/>
                      </a:solidFill>
                    </a:lnR>
                    <a:lnT w="5000">
                      <a:solidFill>
                        <a:srgbClr val="D7DFD1"/>
                      </a:solidFill>
                    </a:lnT>
                    <a:lnB w="5000">
                      <a:solidFill>
                        <a:srgbClr val="D7DFD1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76B900"/>
                </a:solidFill>
                <a:latin typeface="Arial"/>
              </a:defRPr>
            </a:pPr>
            <a:r>
              <a:t>FORMATION  /  DAY 1  /  LABS &amp; DAY 1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FFFFF"/>
                </a:solidFill>
                <a:latin typeface="Arial"/>
              </a:defRPr>
            </a:pPr>
            <a:r>
              <a:t>Day 1 Integration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C9D2C1"/>
                </a:solidFill>
                <a:latin typeface="Arial"/>
              </a:defRPr>
            </a:pPr>
            <a:r>
              <a:t>Run the end-to-end Day 1 path in four commands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D2C1"/>
                </a:solidFill>
                <a:latin typeface="Arial"/>
              </a:defRPr>
            </a:pPr>
            <a:r>
              <a:t>projects/detailed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293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10446926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C9D2C1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46/49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048256"/>
            <a:ext cx="475488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76B900"/>
                </a:solidFill>
                <a:latin typeface="Arial"/>
              </a:defRPr>
            </a:pPr>
            <a:r>
              <a:t>Checkpoint / exercise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2432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532888"/>
            <a:ext cx="4517136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Inspect the device.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9201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100578"/>
            <a:ext cx="4517136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Run the CPU test.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59707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668268"/>
            <a:ext cx="4517136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Run the CUDA test.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32739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4235958"/>
            <a:ext cx="4517136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Run the vector-add benchmark preview.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88152" y="2157984"/>
            <a:ext cx="5852160" cy="2221992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2" y="229514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6B900"/>
                </a:solidFill>
                <a:latin typeface="Arial"/>
              </a:defRPr>
            </a:pPr>
            <a:r>
              <a:t>RUN / INSPECT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2" y="2615184"/>
            <a:ext cx="5486400" cy="16093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cd projects/detailed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bazel run //runtime:device_info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bazel test //cpp:vector_cpu_test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bazel test //gpu:vector_add_test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bazel run //gpu:vector_add_benchmark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4773168"/>
            <a:ext cx="5824728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76B900"/>
                </a:solidFill>
                <a:latin typeface="Arial"/>
              </a:defRPr>
            </a:pPr>
            <a:r>
              <a:t>End-to-end course payoff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5111496"/>
            <a:ext cx="5824728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9D2C1"/>
                </a:solidFill>
                <a:latin typeface="Arial"/>
              </a:defRPr>
            </a:pPr>
            <a:r>
              <a:t>build  ›  test  ›  benchmark  ›  package  ›  run container  ›  compare JAX/MatMul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LABS &amp; DAY 1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Prepare for Day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C6658"/>
                </a:solidFill>
                <a:latin typeface="Arial"/>
              </a:defRPr>
            </a:pPr>
            <a:r>
              <a:t>Day 2 asks what the GPU work costs and how we deploy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658"/>
                </a:solidFill>
                <a:latin typeface="Arial"/>
              </a:defRPr>
            </a:pPr>
            <a:r>
              <a:t>Day 2 targets: benchmark, deploy, JAX, MatMul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10674033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51A14"/>
                </a:solidFill>
                <a:latin typeface="Arial"/>
              </a:defRPr>
            </a:pPr>
            <a:r>
              <a:t>47/49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48840"/>
            <a:ext cx="6547104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B7800"/>
                </a:solidFill>
                <a:latin typeface="Arial"/>
              </a:defRPr>
            </a:pPr>
            <a:r>
              <a:t>Two-day practical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70632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43000" y="2788920"/>
            <a:ext cx="0" cy="413308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25880" y="2724912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Day 1 · repo + kernel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430828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43000" y="3449116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25880" y="3385108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Day 1 · tests + launch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091025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43000" y="4109313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25880" y="4045305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Day 2 · measure + streams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751222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43000" y="4769510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25880" y="4705502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Day 2 · OCI + remote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411419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43000" y="5429707"/>
            <a:ext cx="0" cy="413309"/>
          </a:xfrm>
          <a:prstGeom prst="line">
            <a:avLst/>
          </a:prstGeom>
          <a:ln w="12700">
            <a:solidFill>
              <a:srgbClr val="D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5880" y="5365699"/>
            <a:ext cx="5943600" cy="504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51A14"/>
                </a:solidFill>
                <a:latin typeface="Arial"/>
              </a:defRPr>
            </a:pPr>
            <a:r>
              <a:t>Day 2 · JAX + MatMul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08392" y="228600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7848" y="219456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How much time is launch vs transfer vs compute?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08392" y="300990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27848" y="291846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How do streams overlap work?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08392" y="3733799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27848" y="3642360"/>
            <a:ext cx="3666744" cy="34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What belongs in a container?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08392" y="4164329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27848" y="407289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How does JAX/XLA compare?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08392" y="488823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27848" y="4796790"/>
            <a:ext cx="3666744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Why is MatMul different from vector add?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76B900"/>
                </a:solidFill>
                <a:latin typeface="Arial"/>
              </a:defRPr>
            </a:pPr>
            <a:r>
              <a:t>FORMATION  /  DAY 1  /  LABS &amp; DAY 1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FFFFF"/>
                </a:solidFill>
                <a:latin typeface="Arial"/>
              </a:defRPr>
            </a:pPr>
            <a:r>
              <a:t>Day 1 Exercise Pack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C9D2C1"/>
                </a:solidFill>
                <a:latin typeface="Arial"/>
              </a:defRPr>
            </a:pPr>
            <a:r>
              <a:t>Concrete practice tasks that extend the repository without changing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D2C1"/>
                </a:solidFill>
                <a:latin typeface="Arial"/>
              </a:defRPr>
            </a:pPr>
            <a:r>
              <a:t>projects/detailed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293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10901140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C9D2C1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48/49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048256"/>
            <a:ext cx="475488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76B900"/>
                </a:solidFill>
                <a:latin typeface="Arial"/>
              </a:defRPr>
            </a:pPr>
            <a:r>
              <a:t>Checkpoint / exercise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2432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532888"/>
            <a:ext cx="4517136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Re-run //runtime:device_info and identify three hardware fields.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97567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306127"/>
            <a:ext cx="4517136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Add one new assertion to vector_add_test.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170806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4079366"/>
            <a:ext cx="4517136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Change benchmark size and record timings.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944046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4852606"/>
            <a:ext cx="4517136" cy="637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Inspect the compiler path with aquery.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88152" y="2157984"/>
            <a:ext cx="5852160" cy="2057400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2" y="229514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6B900"/>
                </a:solidFill>
                <a:latin typeface="Arial"/>
              </a:defRPr>
            </a:pPr>
            <a:r>
              <a:t>RUN / INSPECT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2" y="2615184"/>
            <a:ext cx="5486400" cy="144475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175" b="0">
                <a:solidFill>
                  <a:srgbClr val="FFFFFF"/>
                </a:solidFill>
                <a:latin typeface="Consolas"/>
              </a:defRPr>
            </a:pPr>
            <a:r>
              <a:t>bazel run //runtime:device_info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175" b="0">
                <a:solidFill>
                  <a:srgbClr val="FFFFFF"/>
                </a:solidFill>
                <a:latin typeface="Consolas"/>
              </a:defRPr>
            </a:pPr>
            <a:r>
              <a:t>bazel test //gpu:vector_add_test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175" b="0">
                <a:solidFill>
                  <a:srgbClr val="FFFFFF"/>
                </a:solidFill>
                <a:latin typeface="Consolas"/>
              </a:defRPr>
            </a:pPr>
            <a:r>
              <a:t>bazel aquery 'mnemonic("CppCompile", //gpu:vector_add_test)'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4608575"/>
            <a:ext cx="5824728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76B900"/>
                </a:solidFill>
                <a:latin typeface="Arial"/>
              </a:defRPr>
            </a:pPr>
            <a:r>
              <a:t>Systematic CUDA diagnostics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4946903"/>
            <a:ext cx="5824728" cy="10332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9D2C1"/>
                </a:solidFill>
                <a:latin typeface="Arial"/>
              </a:defRPr>
            </a:pPr>
            <a:r>
              <a:t>device_info  ›  small test  ›  CUDA_CHECK  ›  check archs  ›  reduce input  ›  profiler/sanitizer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76B900"/>
                </a:solidFill>
                <a:latin typeface="Arial"/>
              </a:defRPr>
            </a:pPr>
            <a:r>
              <a:t>FORMATION  /  DAY 1  /  LABS &amp; DAY 1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FFFFF"/>
                </a:solidFill>
                <a:latin typeface="Arial"/>
              </a:defRPr>
            </a:pPr>
            <a:r>
              <a:t>Day 1 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C9D2C1"/>
                </a:solidFill>
                <a:latin typeface="Arial"/>
              </a:defRPr>
            </a:pPr>
            <a:r>
              <a:t>Foundation complete: code, build, test, and first GPU 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D2C1"/>
                </a:solidFill>
                <a:latin typeface="Arial"/>
              </a:defRPr>
            </a:pPr>
            <a:r>
              <a:t>bazel test //...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255">
            <a:solidFill>
              <a:srgbClr val="293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1207" y="6629400"/>
            <a:ext cx="11128248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C9D2C1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49/49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" y="2322576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7" y="2231136"/>
            <a:ext cx="5724144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FFFFF"/>
                </a:solidFill>
                <a:latin typeface="Arial"/>
              </a:defRPr>
            </a:pPr>
            <a:r>
              <a:t>The repository declares the build.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2830134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2738694"/>
            <a:ext cx="5724144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FFFFF"/>
                </a:solidFill>
                <a:latin typeface="Arial"/>
              </a:defRPr>
            </a:pPr>
            <a:r>
              <a:t>The CPU verifies CUDA.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3337692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7" y="3246252"/>
            <a:ext cx="5724144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FFFFF"/>
                </a:solidFill>
                <a:latin typeface="Arial"/>
              </a:defRPr>
            </a:pPr>
            <a:r>
              <a:t>Clang compiles host and CUDA code.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" y="3845250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7" y="3753810"/>
            <a:ext cx="5724144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FFFFF"/>
                </a:solidFill>
                <a:latin typeface="Arial"/>
              </a:defRPr>
            </a:pPr>
            <a:r>
              <a:t>ptxas is part of device code generation.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" y="4352808"/>
            <a:ext cx="54864" cy="19202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261368"/>
            <a:ext cx="5724144" cy="692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FFFFF"/>
                </a:solidFill>
                <a:latin typeface="Arial"/>
              </a:defRPr>
            </a:pPr>
            <a:r>
              <a:t>Day 2 measures, overlaps, packages, and compares.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2631" y="2249424"/>
            <a:ext cx="4270248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76B900"/>
                </a:solidFill>
                <a:latin typeface="Arial"/>
              </a:defRPr>
            </a:pPr>
            <a:r>
              <a:t>End-to-end course payoff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2631" y="2871215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35823" y="2889503"/>
            <a:ext cx="0" cy="297181"/>
          </a:xfrm>
          <a:prstGeom prst="line">
            <a:avLst/>
          </a:prstGeom>
          <a:ln w="12700">
            <a:solidFill>
              <a:srgbClr val="3B4E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918704" y="2825496"/>
            <a:ext cx="3666744" cy="3886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2631" y="3415284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35823" y="3433572"/>
            <a:ext cx="0" cy="297180"/>
          </a:xfrm>
          <a:prstGeom prst="line">
            <a:avLst/>
          </a:prstGeom>
          <a:ln w="12700">
            <a:solidFill>
              <a:srgbClr val="3B4E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918704" y="3369564"/>
            <a:ext cx="3666744" cy="3886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FFFFFF"/>
                </a:solidFill>
                <a:latin typeface="Arial"/>
              </a:defRPr>
            </a:pPr>
            <a:r>
              <a:t>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2631" y="3959352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35823" y="3977640"/>
            <a:ext cx="0" cy="297180"/>
          </a:xfrm>
          <a:prstGeom prst="line">
            <a:avLst/>
          </a:prstGeom>
          <a:ln w="12700">
            <a:solidFill>
              <a:srgbClr val="3B4E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918704" y="3913632"/>
            <a:ext cx="3666744" cy="3886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FFFFFF"/>
                </a:solidFill>
                <a:latin typeface="Arial"/>
              </a:defRPr>
            </a:pPr>
            <a:r>
              <a:t>benchmark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42631" y="4503420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04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35823" y="4521708"/>
            <a:ext cx="0" cy="297180"/>
          </a:xfrm>
          <a:prstGeom prst="line">
            <a:avLst/>
          </a:prstGeom>
          <a:ln w="12700">
            <a:solidFill>
              <a:srgbClr val="3B4E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918704" y="4457700"/>
            <a:ext cx="3666744" cy="3886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FFFFFF"/>
                </a:solidFill>
                <a:latin typeface="Arial"/>
              </a:defRPr>
            </a:pPr>
            <a:r>
              <a:t>package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2631" y="5047488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735823" y="5065776"/>
            <a:ext cx="0" cy="297180"/>
          </a:xfrm>
          <a:prstGeom prst="line">
            <a:avLst/>
          </a:prstGeom>
          <a:ln w="12700">
            <a:solidFill>
              <a:srgbClr val="3B4E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918704" y="5001768"/>
            <a:ext cx="3666744" cy="3886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FFFFFF"/>
                </a:solidFill>
                <a:latin typeface="Arial"/>
              </a:defRPr>
            </a:pPr>
            <a:r>
              <a:t>run container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42631" y="5591555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6B900"/>
                </a:solidFill>
                <a:latin typeface="Arial"/>
              </a:defRPr>
            </a:pPr>
            <a:r>
              <a:t>06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35823" y="5609844"/>
            <a:ext cx="0" cy="297180"/>
          </a:xfrm>
          <a:prstGeom prst="line">
            <a:avLst/>
          </a:prstGeom>
          <a:ln w="12700">
            <a:solidFill>
              <a:srgbClr val="3B4E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918704" y="5545836"/>
            <a:ext cx="3666744" cy="3886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FFFFFF"/>
                </a:solidFill>
                <a:latin typeface="Arial"/>
              </a:defRPr>
            </a:pPr>
            <a:r>
              <a:t>compare JAX/MatMul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GPU MODEL &amp; FIRST DEMO  /  VISUAL EXPLANATION</a:t>
            </a:r>
          </a:p>
        </p:txBody>
      </p:sp>
      <p:sp>
        <p:nvSpPr>
          <p:cNvPr id="3" name="Title accent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A Thread Block Is Partitioned into Warps</a:t>
            </a:r>
          </a:p>
        </p:txBody>
      </p:sp>
      <p:sp>
        <p:nvSpPr>
          <p:cNvPr id="5" name="Slide subtitle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5C6658"/>
                </a:solidFill>
                <a:latin typeface="Arial"/>
              </a:defRPr>
            </a:pPr>
            <a:r>
              <a:t>warpSize describes the grouping of threads—not your chosen block size.</a:t>
            </a:r>
          </a:p>
        </p:txBody>
      </p:sp>
      <p:sp>
        <p:nvSpPr>
          <p:cNvPr id="6" name="Visual source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C6658"/>
                </a:solidFill>
                <a:latin typeface="Arial"/>
              </a:defRPr>
            </a:pPr>
            <a:r>
              <a:t>NVIDIA Fig. 22  |  Guide p. 151 / PDF p. 169  |  CUDA Programming Guide 13.4.2</a:t>
            </a:r>
          </a:p>
        </p:txBody>
      </p:sp>
      <p:cxnSp>
        <p:nvCxnSpPr>
          <p:cNvPr id="7" name="Footer rule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890">
            <a:solidFill>
              <a:srgbClr val="DDE4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rogress bar"/>
          <p:cNvSpPr/>
          <p:nvPr/>
        </p:nvSpPr>
        <p:spPr>
          <a:xfrm>
            <a:off x="521207" y="6629400"/>
            <a:ext cx="2498178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ooter label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71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Slide counter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151A14"/>
                </a:solidFill>
                <a:latin typeface="Arial"/>
              </a:defRPr>
            </a:pPr>
            <a:r>
              <a:t>11/49</a:t>
            </a:r>
          </a:p>
        </p:txBody>
      </p:sp>
      <p:pic>
        <p:nvPicPr>
          <p:cNvPr id="11" name="Official NVIDIA figure22_warps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154482"/>
            <a:ext cx="6812280" cy="261304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46720" y="2139696"/>
            <a:ext cx="3511296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77600"/>
                </a:solidFill>
                <a:latin typeface="Arial"/>
              </a:defRPr>
            </a:pPr>
            <a:r>
              <a:t>READ THE FIGURE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560320"/>
            <a:ext cx="3447288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A thread block is divided into groups of 32 threads.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675887"/>
            <a:ext cx="3447288" cy="1115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Warps from resident blocks use the execution resources of an SM.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5157216"/>
            <a:ext cx="10835640" cy="813816"/>
          </a:xfrm>
          <a:prstGeom prst="rect">
            <a:avLst/>
          </a:prstGeom>
          <a:solidFill>
            <a:srgbClr val="F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529437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477600"/>
                </a:solidFill>
                <a:latin typeface="Arial"/>
              </a:defRPr>
            </a:pPr>
            <a:r>
              <a:t>COURSE 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5394960"/>
            <a:ext cx="83667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14"/>
                </a:solidFill>
                <a:latin typeface="Arial"/>
              </a:defRPr>
            </a:pPr>
            <a:r>
              <a:t>256 threads per block / 32 threads per warp = 8 warps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FIRST CUDA FEATURE  /  VISUAL EXPLANATION</a:t>
            </a:r>
          </a:p>
        </p:txBody>
      </p:sp>
      <p:sp>
        <p:nvSpPr>
          <p:cNvPr id="3" name="Title accent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One Kernel, Different Active Lanes</a:t>
            </a:r>
          </a:p>
        </p:txBody>
      </p:sp>
      <p:sp>
        <p:nvSpPr>
          <p:cNvPr id="5" name="Slide subtitle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5C6658"/>
                </a:solidFill>
                <a:latin typeface="Arial"/>
              </a:defRPr>
            </a:pPr>
            <a:r>
              <a:t>A condition can select which lanes execute a branch.</a:t>
            </a:r>
          </a:p>
        </p:txBody>
      </p:sp>
      <p:sp>
        <p:nvSpPr>
          <p:cNvPr id="6" name="Visual source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C6658"/>
                </a:solidFill>
                <a:latin typeface="Arial"/>
              </a:defRPr>
            </a:pPr>
            <a:r>
              <a:t>NVIDIA Fig. 7  |  Guide p. 11 / PDF p. 29  |  CUDA Programming Guide 13.4.2</a:t>
            </a:r>
          </a:p>
        </p:txBody>
      </p:sp>
      <p:cxnSp>
        <p:nvCxnSpPr>
          <p:cNvPr id="7" name="Footer rule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890">
            <a:solidFill>
              <a:srgbClr val="DDE4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rogress bar"/>
          <p:cNvSpPr/>
          <p:nvPr/>
        </p:nvSpPr>
        <p:spPr>
          <a:xfrm>
            <a:off x="521207" y="6629400"/>
            <a:ext cx="5677677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ooter label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71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Slide counter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151A14"/>
                </a:solidFill>
                <a:latin typeface="Arial"/>
              </a:defRPr>
            </a:pPr>
            <a:r>
              <a:t>25/49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88552" y="6025896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77600"/>
                </a:solidFill>
                <a:latin typeface="Arial"/>
              </a:defRPr>
            </a:pPr>
            <a:r>
              <a:t>OPTIONAL EXPLANATION</a:t>
            </a:r>
          </a:p>
        </p:txBody>
      </p:sp>
      <p:pic>
        <p:nvPicPr>
          <p:cNvPr id="12" name="Official NVIDIA figure07_masking.png" descr="figure07_mas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141299"/>
            <a:ext cx="7178040" cy="335264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02752" y="21762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77600"/>
                </a:solidFill>
                <a:latin typeface="Arial"/>
              </a:defRPr>
            </a:pPr>
            <a:r>
              <a:t>NVIDIA’S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542032"/>
            <a:ext cx="3227832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151A14"/>
                </a:solidFill>
                <a:latin typeface="Arial"/>
              </a:defRPr>
            </a:pPr>
            <a:r>
              <a:t>Even-index lanes execute the if branch. Other lanes are masked during that branch.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41056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77600"/>
                </a:solidFill>
                <a:latin typeface="Arial"/>
              </a:defRPr>
            </a:pPr>
            <a:r>
              <a:t>COURSE CONNECTION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4471416"/>
            <a:ext cx="3227832" cy="1115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151A14"/>
                </a:solidFill>
                <a:latin typeface="Arial"/>
              </a:defRPr>
            </a:pPr>
            <a:r>
              <a:t>The vector kernel uses if (i &lt; n) to protect its final partial block.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" y="5715000"/>
            <a:ext cx="10725912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C6658"/>
                </a:solidFill>
                <a:latin typeface="Arial"/>
              </a:defRPr>
            </a:pPr>
            <a:r>
              <a:t>The figure shows an even/odd predicate—not the vector kernel’s exact bounds check.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521207" y="219456"/>
            <a:ext cx="10789920" cy="1737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5C6658"/>
                </a:solidFill>
                <a:latin typeface="Arial"/>
              </a:defRPr>
            </a:pPr>
            <a:r>
              <a:t>FORMATION  /  DAY 1  /  FIRST CUDA FEATURE  /  VISUAL EXPLANATION</a:t>
            </a:r>
          </a:p>
        </p:txBody>
      </p:sp>
      <p:sp>
        <p:nvSpPr>
          <p:cNvPr id="3" name="Title accent"/>
          <p:cNvSpPr/>
          <p:nvPr/>
        </p:nvSpPr>
        <p:spPr>
          <a:xfrm>
            <a:off x="521207" y="539496"/>
            <a:ext cx="64008" cy="71323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713232" y="530352"/>
            <a:ext cx="10927080" cy="7955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51A14"/>
                </a:solidFill>
                <a:latin typeface="Arial"/>
              </a:defRPr>
            </a:pPr>
            <a:r>
              <a:t>A Grid Is Scheduled onto the Available SMs</a:t>
            </a:r>
          </a:p>
        </p:txBody>
      </p:sp>
      <p:sp>
        <p:nvSpPr>
          <p:cNvPr id="5" name="Slide subtitle"/>
          <p:cNvSpPr txBox="1"/>
          <p:nvPr/>
        </p:nvSpPr>
        <p:spPr>
          <a:xfrm>
            <a:off x="713232" y="1371600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5C6658"/>
                </a:solidFill>
                <a:latin typeface="Arial"/>
              </a:defRPr>
            </a:pPr>
            <a:r>
              <a:t>The grid size is a work description—not a prescribed hardware assignment.</a:t>
            </a:r>
          </a:p>
        </p:txBody>
      </p:sp>
      <p:sp>
        <p:nvSpPr>
          <p:cNvPr id="6" name="Visual source"/>
          <p:cNvSpPr txBox="1"/>
          <p:nvPr/>
        </p:nvSpPr>
        <p:spPr>
          <a:xfrm>
            <a:off x="521207" y="6309360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C6658"/>
                </a:solidFill>
                <a:latin typeface="Arial"/>
              </a:defRPr>
            </a:pPr>
            <a:r>
              <a:t>NVIDIA Fig. 4  |  Guide p. 8 / PDF p. 26  |  CUDA Programming Guide 13.4.2</a:t>
            </a:r>
          </a:p>
        </p:txBody>
      </p:sp>
      <p:cxnSp>
        <p:nvCxnSpPr>
          <p:cNvPr id="7" name="Footer rule"/>
          <p:cNvCxnSpPr/>
          <p:nvPr/>
        </p:nvCxnSpPr>
        <p:spPr>
          <a:xfrm>
            <a:off x="521207" y="6638544"/>
            <a:ext cx="11128249" cy="0"/>
          </a:xfrm>
          <a:prstGeom prst="line">
            <a:avLst/>
          </a:prstGeom>
          <a:ln w="8890">
            <a:solidFill>
              <a:srgbClr val="DDE4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rogress bar"/>
          <p:cNvSpPr/>
          <p:nvPr/>
        </p:nvSpPr>
        <p:spPr>
          <a:xfrm>
            <a:off x="521207" y="6629400"/>
            <a:ext cx="6358998" cy="2194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ooter label"/>
          <p:cNvSpPr txBox="1"/>
          <p:nvPr/>
        </p:nvSpPr>
        <p:spPr>
          <a:xfrm>
            <a:off x="521207" y="6693408"/>
            <a:ext cx="8686800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710" b="0">
                <a:solidFill>
                  <a:srgbClr val="5C6658"/>
                </a:solidFill>
                <a:latin typeface="Arial"/>
              </a:defRPr>
            </a:pPr>
            <a:r>
              <a:t>FORMATION / INDEPENDENT CUDA TRAINING</a:t>
            </a:r>
          </a:p>
        </p:txBody>
      </p:sp>
      <p:sp>
        <p:nvSpPr>
          <p:cNvPr id="10" name="Slide counter"/>
          <p:cNvSpPr txBox="1"/>
          <p:nvPr/>
        </p:nvSpPr>
        <p:spPr>
          <a:xfrm>
            <a:off x="10954512" y="6684264"/>
            <a:ext cx="694944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151A14"/>
                </a:solidFill>
                <a:latin typeface="Arial"/>
              </a:defRPr>
            </a:pPr>
            <a:r>
              <a:t>28/49</a:t>
            </a:r>
          </a:p>
        </p:txBody>
      </p:sp>
      <p:pic>
        <p:nvPicPr>
          <p:cNvPr id="11" name="Official NVIDIA figure04_scheduling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140" y="2029968"/>
            <a:ext cx="2824607" cy="41056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73168" y="2148840"/>
            <a:ext cx="669340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77600"/>
                </a:solidFill>
                <a:latin typeface="Arial"/>
              </a:defRPr>
            </a:pPr>
            <a:r>
              <a:t>MULTIPLE ACTIVE BLOCKS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459736"/>
            <a:ext cx="6647688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An SM may have more than one active block when resources permit.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3328416"/>
            <a:ext cx="669340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77600"/>
                </a:solidFill>
                <a:latin typeface="Arial"/>
              </a:defRPr>
            </a:pPr>
            <a:r>
              <a:t>ILLUSTRATION, NOT A LIMIT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3639312"/>
            <a:ext cx="6647688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NVIDIA shows three blocks per SM here. This is an example, not a fixed capacity.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4645152"/>
            <a:ext cx="669340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77600"/>
                </a:solidFill>
                <a:latin typeface="Arial"/>
              </a:defRPr>
            </a:pPr>
            <a:r>
              <a:t>NO ASSIGNMENT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4956048"/>
            <a:ext cx="6647688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14"/>
                </a:solidFill>
                <a:latin typeface="Arial"/>
              </a:defRPr>
            </a:pPr>
            <a:r>
              <a:t>Do not rely on a particular order in which blocks are assigned to SMs.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CUDA Day 1 — Original Course with Expanded NVIDIA Visuals</dc:title>
  <dc:subject>Original repository course; official NVIDIA PDF figures; focused explanatory inserts.</dc:subject>
  <dc:creator>neudinger / formation</dc:creator>
  <cp:keywords>CUDA, NVIDIA, Bazel, Clang, original course, visual redesign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