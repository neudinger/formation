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304" r:id="rId5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305" r:id="rId57"/>
    <p:sldId id="306" r:id="rId58"/>
    <p:sldId id="307" r:id="rId59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End-to-end course payoff</a:t>
            </a:r>
          </a:p>
          <a:p>
            <a:r>
              <a:t>build</a:t>
            </a:r>
          </a:p>
          <a:p>
            <a:r>
              <a:t>test</a:t>
            </a:r>
          </a:p>
          <a:p>
            <a:r>
              <a:t>benchmark</a:t>
            </a:r>
          </a:p>
          <a:p>
            <a:r>
              <a:t>package</a:t>
            </a:r>
          </a:p>
          <a:p>
            <a:r>
              <a:t>run container</a:t>
            </a:r>
          </a:p>
          <a:p>
            <a:r>
              <a:t>compare JAX/MatMul</a:t>
            </a:r>
          </a:p>
          <a:p/>
          <a:p>
            <a:r>
              <a:t>ORIGINAL NVIDIA FIGURES</a:t>
            </a:r>
          </a:p>
          <a:p>
            <a:r>
              <a:t>CUDA cover artwork: user-supplied cuda-programming-guide.pdf, Release 13.4.2, PDF page 1. Extracted original image, PDF image xref 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Timing gotcha: host enqueue vs GPU execution</a:t>
            </a:r>
          </a:p>
          <a:p>
            <a:r>
              <a:t>Host timer</a:t>
            </a:r>
          </a:p>
          <a:p>
            <a:r>
              <a:t>enqueue copies + kernel</a:t>
            </a:r>
          </a:p>
          <a:p>
            <a:r>
              <a:t>host timer can stop too early without sync</a:t>
            </a:r>
          </a:p>
          <a:p>
            <a:r>
              <a:t>GPU stream</a:t>
            </a:r>
          </a:p>
          <a:p>
            <a:r>
              <a:t>H2D</a:t>
            </a:r>
          </a:p>
          <a:p>
            <a:r>
              <a:t>kernel</a:t>
            </a:r>
          </a:p>
          <a:p>
            <a:r>
              <a:t>D2H</a:t>
            </a:r>
          </a:p>
          <a:p/>
          <a:p>
            <a:r>
              <a:t>ORIGINAL NVIDIA FIGURES</a:t>
            </a:r>
          </a:p>
          <a:p>
            <a:r>
              <a:t>Figure 20: user-supplied cuda-programming-guide.pdf, Release 13.4.2, PDF page 122, printed guide page 104. Extracted original image, PDF image xref 1439;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Timing gotcha: host enqueue vs GPU execution</a:t>
            </a:r>
          </a:p>
          <a:p>
            <a:r>
              <a:t>Host timer</a:t>
            </a:r>
          </a:p>
          <a:p>
            <a:r>
              <a:t>enqueue copies + kernel</a:t>
            </a:r>
          </a:p>
          <a:p>
            <a:r>
              <a:t>host timer can stop too early without sync</a:t>
            </a:r>
          </a:p>
          <a:p>
            <a:r>
              <a:t>GPU stream</a:t>
            </a:r>
          </a:p>
          <a:p>
            <a:r>
              <a:t>H2D</a:t>
            </a:r>
          </a:p>
          <a:p>
            <a:r>
              <a:t>kernel</a:t>
            </a:r>
          </a:p>
          <a:p>
            <a:r>
              <a:t>D2H</a:t>
            </a:r>
          </a:p>
          <a:p/>
          <a:p>
            <a:r>
              <a:t>ORIGINAL NVIDIA FIGURES</a:t>
            </a:r>
          </a:p>
          <a:p>
            <a:r>
              <a:t>Figure 20: user-supplied cuda-programming-guide.pdf, Release 13.4.2, PDF page 122, printed guide page 104. Extracted original image, PDF image xref 1439;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Original Day 2 slide 9 — Reading the Benchmark Output.</a:t>
            </a:r>
          </a:p>
          <a:p>
            <a:r>
              <a:t>Original title, subtitle, editable benchmark table and source reference retained.</a:t>
            </a:r>
          </a:p>
          <a:p>
            <a:r>
              <a:t>NVIDIA Figures 12 and 13 have moved to the next dedicated visual-explanation slide, allowing this table to return to its larger readable size.</a:t>
            </a:r>
          </a:p>
          <a:p>
            <a:r>
              <a:t>No original benchmark labels, statements or timings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10.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Host/device memory movement for vector add</a:t>
            </a:r>
          </a:p>
          <a:p>
            <a:r>
              <a:t>Host arrays</a:t>
            </a:r>
          </a:p>
          <a:p>
            <a:r>
              <a:t>a[N], b[N], out[N]</a:t>
            </a:r>
          </a:p>
          <a:p>
            <a:r>
              <a:t>2 x H2D copies</a:t>
            </a:r>
          </a:p>
          <a:p>
            <a:r>
              <a:t>Device arrays</a:t>
            </a:r>
          </a:p>
          <a:p>
            <a:r>
              <a:t>d_a, d_b, d_out</a:t>
            </a:r>
          </a:p>
          <a:p>
            <a:r>
              <a:t>1 x D2H copy</a:t>
            </a:r>
          </a:p>
          <a:p>
            <a:r>
              <a:t>Total bytes ~= 3 * N * sizeof(float)</a:t>
            </a:r>
          </a:p>
          <a:p/>
          <a:p>
            <a:r>
              <a:t>ORIGINAL NVIDIA FIGURES</a:t>
            </a:r>
          </a:p>
          <a:p>
            <a:r>
              <a:t>Figure 2: user-supplied cuda-programming-guide.pdf, Release 13.4.2, PDF page 24, printed guide page 6. Extracted original image, PDF image xref 851;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Host/device memory movement for vector add</a:t>
            </a:r>
          </a:p>
          <a:p>
            <a:r>
              <a:t>Host arrays</a:t>
            </a:r>
          </a:p>
          <a:p>
            <a:r>
              <a:t>a[N], b[N], out[N]</a:t>
            </a:r>
          </a:p>
          <a:p>
            <a:r>
              <a:t>2 x H2D copies</a:t>
            </a:r>
          </a:p>
          <a:p>
            <a:r>
              <a:t>Device arrays</a:t>
            </a:r>
          </a:p>
          <a:p>
            <a:r>
              <a:t>d_a, d_b, d_out</a:t>
            </a:r>
          </a:p>
          <a:p>
            <a:r>
              <a:t>1 x D2H copy</a:t>
            </a:r>
          </a:p>
          <a:p>
            <a:r>
              <a:t>Total bytes ~= 3 * N * sizeof(float)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Timing gotcha: host enqueue vs GPU execution</a:t>
            </a:r>
          </a:p>
          <a:p>
            <a:r>
              <a:t>Host timer</a:t>
            </a:r>
          </a:p>
          <a:p>
            <a:r>
              <a:t>enqueue copies + kernel</a:t>
            </a:r>
          </a:p>
          <a:p>
            <a:r>
              <a:t>host timer can stop too early without sync</a:t>
            </a:r>
          </a:p>
          <a:p>
            <a:r>
              <a:t>GPU stream</a:t>
            </a:r>
          </a:p>
          <a:p>
            <a:r>
              <a:t>H2D</a:t>
            </a:r>
          </a:p>
          <a:p>
            <a:r>
              <a:t>kernel</a:t>
            </a:r>
          </a:p>
          <a:p>
            <a:r>
              <a:t>D2H</a:t>
            </a:r>
          </a:p>
          <a:p/>
          <a:p>
            <a:r>
              <a:t>ORIGINAL NVIDIA FIGURES</a:t>
            </a:r>
          </a:p>
          <a:p>
            <a:r>
              <a:t>Figure 20: user-supplied cuda-programming-guide.pdf, Release 13.4.2, PDF page 122, printed guide page 104. Extracted original image, PDF image xref 1439;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Host/device memory movement for vector add</a:t>
            </a:r>
          </a:p>
          <a:p>
            <a:r>
              <a:t>Host arrays</a:t>
            </a:r>
          </a:p>
          <a:p>
            <a:r>
              <a:t>a[N], b[N], out[N]</a:t>
            </a:r>
          </a:p>
          <a:p>
            <a:r>
              <a:t>2 x H2D copies</a:t>
            </a:r>
          </a:p>
          <a:p>
            <a:r>
              <a:t>Device arrays</a:t>
            </a:r>
          </a:p>
          <a:p>
            <a:r>
              <a:t>d_a, d_b, d_out</a:t>
            </a:r>
          </a:p>
          <a:p>
            <a:r>
              <a:t>1 x D2H copy</a:t>
            </a:r>
          </a:p>
          <a:p>
            <a:r>
              <a:t>Total bytes ~= 3 * N * sizeof(float)</a:t>
            </a:r>
          </a:p>
          <a:p/>
          <a:p>
            <a:r>
              <a:t>ORIGINAL NVIDIA FIGURES</a:t>
            </a:r>
          </a:p>
          <a:p>
            <a:r>
              <a:t>Figure 20: user-supplied cuda-programming-guide.pdf, Release 13.4.2, PDF page 122, printed guide page 104. Extracted original image, PDF image xref 1439;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Streams: independent queues can overlap work</a:t>
            </a:r>
          </a:p>
          <a:p>
            <a:r>
              <a:t>Stream 0: H2D -&gt; kernel -&gt; D2H</a:t>
            </a:r>
          </a:p>
          <a:p>
            <a:r>
              <a:t>Stream 1: H2D -&gt; kernel -&gt; D2H</a:t>
            </a:r>
          </a:p>
          <a:p>
            <a:r>
              <a:t>Stream 2: H2D -&gt; kernel -&gt; D2H</a:t>
            </a:r>
          </a:p>
          <a:p/>
          <a:p>
            <a:r>
              <a:t>ORIGINAL NVIDIA FIGURES</a:t>
            </a:r>
          </a:p>
          <a:p>
            <a:r>
              <a:t>Figure 20: user-supplied cuda-programming-guide.pdf, Release 13.4.2, PDF page 122, printed guide page 104. Extracted original image, PDF image xref 1439;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Streams: independent queues can overlap work</a:t>
            </a:r>
          </a:p>
          <a:p>
            <a:r>
              <a:t>Stream 0: H2D -&gt; kernel -&gt; D2H</a:t>
            </a:r>
          </a:p>
          <a:p>
            <a:r>
              <a:t>Stream 1: H2D -&gt; kernel -&gt; D2H</a:t>
            </a:r>
          </a:p>
          <a:p>
            <a:r>
              <a:t>Stream 2: H2D -&gt; kernel -&gt; D2H</a:t>
            </a:r>
          </a:p>
          <a:p/>
          <a:p>
            <a:r>
              <a:t>ORIGINAL NVIDIA FIGURES</a:t>
            </a:r>
          </a:p>
          <a:p>
            <a:r>
              <a:t>Figure 20: user-supplied cuda-programming-guide.pdf, Release 13.4.2, PDF page 122, printed guide page 104. Extracted original image, PDF image xref 1439;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19.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Systematic CUDA diagnostics</a:t>
            </a:r>
          </a:p>
          <a:p>
            <a:r>
              <a:t>device_info</a:t>
            </a:r>
          </a:p>
          <a:p>
            <a:r>
              <a:t>small test</a:t>
            </a:r>
          </a:p>
          <a:p>
            <a:r>
              <a:t>CUDA_CHECK</a:t>
            </a:r>
          </a:p>
          <a:p>
            <a:r>
              <a:t>check archs</a:t>
            </a:r>
          </a:p>
          <a:p>
            <a:r>
              <a:t>reduce input</a:t>
            </a:r>
          </a:p>
          <a:p>
            <a:r>
              <a:t>profiler/sanitizer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20.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Systematic CUDA diagnostics</a:t>
            </a:r>
          </a:p>
          <a:p>
            <a:r>
              <a:t>device_info</a:t>
            </a:r>
          </a:p>
          <a:p>
            <a:r>
              <a:t>small test</a:t>
            </a:r>
          </a:p>
          <a:p>
            <a:r>
              <a:t>CUDA_CHECK</a:t>
            </a:r>
          </a:p>
          <a:p>
            <a:r>
              <a:t>check archs</a:t>
            </a:r>
          </a:p>
          <a:p>
            <a:r>
              <a:t>reduce input</a:t>
            </a:r>
          </a:p>
          <a:p>
            <a:r>
              <a:t>profiler/sanitizer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Bazel-built OCI image flow</a:t>
            </a:r>
          </a:p>
          <a:p>
            <a:r>
              <a:t>cc_binary</a:t>
            </a:r>
          </a:p>
          <a:p>
            <a:r>
              <a:t>pkg_tar</a:t>
            </a:r>
          </a:p>
          <a:p>
            <a:r>
              <a:t>runfiles</a:t>
            </a:r>
          </a:p>
          <a:p>
            <a:r>
              <a:t>oci_image</a:t>
            </a:r>
          </a:p>
          <a:p>
            <a:r>
              <a:t>base digest</a:t>
            </a:r>
          </a:p>
          <a:p>
            <a:r>
              <a:t>oci_load</a:t>
            </a:r>
          </a:p>
          <a:p>
            <a:r>
              <a:t>docker run</a:t>
            </a:r>
          </a:p>
          <a:p>
            <a:r>
              <a:t>--gpus all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Bazel-built OCI image flow</a:t>
            </a:r>
          </a:p>
          <a:p>
            <a:r>
              <a:t>cc_binary</a:t>
            </a:r>
          </a:p>
          <a:p>
            <a:r>
              <a:t>pkg_tar</a:t>
            </a:r>
          </a:p>
          <a:p>
            <a:r>
              <a:t>runfiles</a:t>
            </a:r>
          </a:p>
          <a:p>
            <a:r>
              <a:t>oci_image</a:t>
            </a:r>
          </a:p>
          <a:p>
            <a:r>
              <a:t>base digest</a:t>
            </a:r>
          </a:p>
          <a:p>
            <a:r>
              <a:t>oci_load</a:t>
            </a:r>
          </a:p>
          <a:p>
            <a:r>
              <a:t>docker run</a:t>
            </a:r>
          </a:p>
          <a:p>
            <a:r>
              <a:t>--gpus all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Bazel-built OCI image flow</a:t>
            </a:r>
          </a:p>
          <a:p>
            <a:r>
              <a:t>cc_binary</a:t>
            </a:r>
          </a:p>
          <a:p>
            <a:r>
              <a:t>pkg_tar</a:t>
            </a:r>
          </a:p>
          <a:p>
            <a:r>
              <a:t>runfiles</a:t>
            </a:r>
          </a:p>
          <a:p>
            <a:r>
              <a:t>oci_image</a:t>
            </a:r>
          </a:p>
          <a:p>
            <a:r>
              <a:t>base digest</a:t>
            </a:r>
          </a:p>
          <a:p>
            <a:r>
              <a:t>oci_load</a:t>
            </a:r>
          </a:p>
          <a:p>
            <a:r>
              <a:t>docker run</a:t>
            </a:r>
          </a:p>
          <a:p>
            <a:r>
              <a:t>--gpus all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29.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Remote build model: build and runtime are separate</a:t>
            </a:r>
          </a:p>
          <a:p>
            <a:r>
              <a:t>Developer laptop</a:t>
            </a:r>
          </a:p>
          <a:p>
            <a:r>
              <a:t>Remote executor</a:t>
            </a:r>
          </a:p>
          <a:p>
            <a:r>
              <a:t>Remote cache</a:t>
            </a:r>
          </a:p>
          <a:p>
            <a:r>
              <a:t>Artifact</a:t>
            </a:r>
          </a:p>
          <a:p>
            <a:r>
              <a:t>GPU runtime host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30.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Remote build model: build and runtime are separate</a:t>
            </a:r>
          </a:p>
          <a:p>
            <a:r>
              <a:t>Developer laptop</a:t>
            </a:r>
          </a:p>
          <a:p>
            <a:r>
              <a:t>Remote executor</a:t>
            </a:r>
          </a:p>
          <a:p>
            <a:r>
              <a:t>Remote cache</a:t>
            </a:r>
          </a:p>
          <a:p>
            <a:r>
              <a:t>Artifact</a:t>
            </a:r>
          </a:p>
          <a:p>
            <a:r>
              <a:t>GPU runtime host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JAX/XLA high-level compiler path</a:t>
            </a:r>
          </a:p>
          <a:p>
            <a:r>
              <a:t>Python function</a:t>
            </a:r>
          </a:p>
          <a:p>
            <a:r>
              <a:t>jax.jit</a:t>
            </a:r>
          </a:p>
          <a:p>
            <a:r>
              <a:t>lower()</a:t>
            </a:r>
          </a:p>
          <a:p>
            <a:r>
              <a:t>StableHLO</a:t>
            </a:r>
          </a:p>
          <a:p>
            <a:r>
              <a:t>compile()</a:t>
            </a:r>
          </a:p>
          <a:p>
            <a:r>
              <a:t>executable</a:t>
            </a:r>
          </a:p>
          <a:p>
            <a:r>
              <a:t>run on CPU/GPU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Matrix multiply: one output cell is a dot product</a:t>
            </a:r>
          </a:p>
          <a:p>
            <a:r>
              <a:t>A[M,K]</a:t>
            </a:r>
          </a:p>
          <a:p>
            <a:r>
              <a:t>B[K,N]</a:t>
            </a:r>
          </a:p>
          <a:p>
            <a:r>
              <a:t>C[M,N]</a:t>
            </a:r>
          </a:p>
          <a:p>
            <a:r>
              <a:t>C[row,col] = sum_k A[row,k] * B[k,col]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Basic MatMul: correct, parallel, but poor reuse</a:t>
            </a:r>
          </a:p>
          <a:p>
            <a:r>
              <a:t>Thread C[0,0]</a:t>
            </a:r>
          </a:p>
          <a:p>
            <a:r>
              <a:t>reads A row 0</a:t>
            </a:r>
          </a:p>
          <a:p>
            <a:r>
              <a:t>reads B col 0</a:t>
            </a:r>
          </a:p>
          <a:p>
            <a:r>
              <a:t>Thread C[0,1]</a:t>
            </a:r>
          </a:p>
          <a:p>
            <a:r>
              <a:t>reads A row 0</a:t>
            </a:r>
          </a:p>
          <a:p>
            <a:r>
              <a:t>again</a:t>
            </a:r>
          </a:p>
          <a:p>
            <a:r>
              <a:t>reads B col 1</a:t>
            </a:r>
          </a:p>
          <a:p>
            <a:r>
              <a:t>Neighbor threads repeat global reads for overlapping data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39.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Original Day 2 slide 40 — Shared Memory Mental Model.</a:t>
            </a:r>
          </a:p>
          <a:p>
            <a:r>
              <a:t>The original four explanations and original course diagram labels are retained as editable text.</a:t>
            </a:r>
          </a:p>
          <a:p>
            <a:r>
              <a:t>NVIDIA Table 1 has moved to the next dedicated memory-spaces reference slide. The source course labels Global A tile, Global B tile, Shared memory, A_s tile + B_s tile, __syncthreads(), Registers, and accumulate C tile remain here.</a:t>
            </a:r>
          </a:p>
          <a:p>
            <a:r>
              <a:t>The following two optional explanation slides use NVIDIA Figures 15 and 16; they do not assert a specific bank-access pattern or measured performance for this course’s MatMul implementation.</a:t>
            </a:r>
          </a:p>
          <a:p>
            <a:r>
              <a:t>No original code or source claims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Production GEMM ladder</a:t>
            </a:r>
          </a:p>
          <a:p>
            <a:r>
              <a:t>CPU oracle</a:t>
            </a:r>
          </a:p>
          <a:p>
            <a:r>
              <a:t>basic CUDA</a:t>
            </a:r>
          </a:p>
          <a:p>
            <a:r>
              <a:t>tiled CUDA</a:t>
            </a:r>
          </a:p>
          <a:p>
            <a:r>
              <a:t>cuBLAS/cuBLASLt</a:t>
            </a:r>
          </a:p>
          <a:p>
            <a:r>
              <a:t>CUTLASS/CuTe</a:t>
            </a:r>
          </a:p>
          <a:p>
            <a:r>
              <a:t>JAX/Triton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Production GEMM ladder</a:t>
            </a:r>
          </a:p>
          <a:p>
            <a:r>
              <a:t>CPU oracle</a:t>
            </a:r>
          </a:p>
          <a:p>
            <a:r>
              <a:t>basic CUDA</a:t>
            </a:r>
          </a:p>
          <a:p>
            <a:r>
              <a:t>tiled CUDA</a:t>
            </a:r>
          </a:p>
          <a:p>
            <a:r>
              <a:t>cuBLAS/cuBLASLt</a:t>
            </a:r>
          </a:p>
          <a:p>
            <a:r>
              <a:t>CUTLASS/CuTe</a:t>
            </a:r>
          </a:p>
          <a:p>
            <a:r>
              <a:t>JAX/Triton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End-to-end course payoff</a:t>
            </a:r>
          </a:p>
          <a:p>
            <a:r>
              <a:t>build</a:t>
            </a:r>
          </a:p>
          <a:p>
            <a:r>
              <a:t>test</a:t>
            </a:r>
          </a:p>
          <a:p>
            <a:r>
              <a:t>benchmark</a:t>
            </a:r>
          </a:p>
          <a:p>
            <a:r>
              <a:t>package</a:t>
            </a:r>
          </a:p>
          <a:p>
            <a:r>
              <a:t>run container</a:t>
            </a:r>
          </a:p>
          <a:p>
            <a:r>
              <a:t>compare JAX/MatMul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projects/detailed repository map</a:t>
            </a:r>
          </a:p>
          <a:p>
            <a:r>
              <a:t>cpp/ | CPU oracle + threaded baseline</a:t>
            </a:r>
          </a:p>
          <a:p>
            <a:r>
              <a:t>gpu/ | CUDA API + host wrapper + device kernel</a:t>
            </a:r>
          </a:p>
          <a:p>
            <a:r>
              <a:t>runtime/ | CUDA helpers: device info, errors, events</a:t>
            </a:r>
          </a:p>
          <a:p>
            <a:r>
              <a:t>python/ | Benchmark orchestrator + JAX/XLA hook</a:t>
            </a:r>
          </a:p>
          <a:p>
            <a:r>
              <a:t>deploy/ | Bazel runtime file aggregation</a:t>
            </a:r>
          </a:p>
          <a:p>
            <a:r>
              <a:t>linear_algebra/ | MatMul module: CPU/basic/tiled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Day2_Runtime_Performance_Deployment_JAX_MatMul.pptx, original slide 48.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End-to-end course payoff</a:t>
            </a:r>
          </a:p>
          <a:p>
            <a:r>
              <a:t>build</a:t>
            </a:r>
          </a:p>
          <a:p>
            <a:r>
              <a:t>test</a:t>
            </a:r>
          </a:p>
          <a:p>
            <a:r>
              <a:t>benchmark</a:t>
            </a:r>
          </a:p>
          <a:p>
            <a:r>
              <a:t>package</a:t>
            </a:r>
          </a:p>
          <a:p>
            <a:r>
              <a:t>run container</a:t>
            </a:r>
          </a:p>
          <a:p>
            <a:r>
              <a:t>compare JAX/MatMul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VISUAL EXPLANATION</a:t>
            </a:r>
          </a:p>
          <a:p>
            <a:r>
              <a:t>Inserted after original Day 2 slide 9. The original course slides remain in their original relative sequence. No original code, commands, exercises, or benchmark values are changed.</a:t>
            </a:r>
          </a:p>
          <a:p/>
          <a:p>
            <a:r>
              <a:t>SOURCE</a:t>
            </a:r>
          </a:p>
          <a:p>
            <a:r>
              <a:t>User-supplied cuda-programming-guide.pdf, CUDA Programming Guide, Release 13.4.2, September 10, 2026.</a:t>
            </a:r>
          </a:p>
          <a:p>
            <a:r>
              <a:t>Figures 12 and 13, physical PDF page 77, printed page 59; image xrefs 1199 and 1202. §2.3.4.1, printed pages 58–60.</a:t>
            </a:r>
          </a:p>
          <a:p>
            <a:r>
              <a:t>https://docs.nvidia.com/cuda/cuda-programming-guide/</a:t>
            </a:r>
          </a:p>
          <a:p>
            <a:r>
              <a:t>Original PDF figure image(s), proportionally resized; native labels and colors retained. No redrawing or generated illustration.</a:t>
            </a:r>
          </a:p>
          <a:p/>
          <a:p>
            <a:r>
              <a:t>PRESENTER NOTES</a:t>
            </a:r>
          </a:p>
          <a:p>
            <a:r>
              <a:t>Read the two original figures as the guide’s examples of 32-bit requests by 32 lanes. The numbers are the source’s memory-transaction model: 128 useful bytes with 128 transferred in the aligned, coalesced case, versus 1024 transferred in the illustrated worst case. These numbers are not GPU benchmark results, nor a universal speedup factor. Explain that these are GPU global-memory transactions, not the H2D and D2H byte totals in the next course topic. The source also notes that coalescing can occur for suitable permutations; consecutive lane-to-address order is common, not necessary.</a:t>
            </a:r>
          </a:p>
          <a:p/>
          <a:p>
            <a:r>
              <a:t>PACING</a:t>
            </a:r>
          </a:p>
          <a:p>
            <a:r>
              <a:t>Allow approximately two minutes; focus on reading the figure rather than introducing a new lab.</a:t>
            </a:r>
          </a:p>
          <a:p/>
          <a:p>
            <a:r>
              <a:t>SCOPE</a:t>
            </a:r>
          </a:p>
          <a:p>
            <a:r>
              <a:t>New explanatory text paraphrases the cited guide. Course-connection examples are identified in the notes as instructional applications, not new measurements or claims of validated repository behavior.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VISUAL EXPLANATION</a:t>
            </a:r>
          </a:p>
          <a:p>
            <a:r>
              <a:t>Inserted after original Day 2 slide 40. The original course slides remain in their original relative sequence. No original code, commands, exercises, or benchmark values are changed.</a:t>
            </a:r>
          </a:p>
          <a:p/>
          <a:p>
            <a:r>
              <a:t>SOURCE</a:t>
            </a:r>
          </a:p>
          <a:p>
            <a:r>
              <a:t>User-supplied cuda-programming-guide.pdf, CUDA Programming Guide, Release 13.4.2, September 10, 2026.</a:t>
            </a:r>
          </a:p>
          <a:p>
            <a:r>
              <a:t>Table 1, physical PDF page 67, printed page 49; original caption and table cropped at PDF coordinates [188,353,424,493], rendered at 432 dpi. Explanatory text draws on §2.3.3.1–2.3.3.4, printed pages 49–53.</a:t>
            </a:r>
          </a:p>
          <a:p>
            <a:r>
              <a:t>https://docs.nvidia.com/cuda/cuda-programming-guide/</a:t>
            </a:r>
          </a:p>
          <a:p>
            <a:r>
              <a:t>Original PDF figure image(s), proportionally resized; native labels and colors retained. No redrawing or generated illustration.</a:t>
            </a:r>
          </a:p>
          <a:p/>
          <a:p>
            <a:r>
              <a:t>PRESENTER NOTES</a:t>
            </a:r>
          </a:p>
          <a:p>
            <a:r>
              <a:t>Read the columns separately: memory type, scope, lifetime, and location. Preserve NVIDIA’s summary wording rather than silently rewriting the table. Explain shared memory in terms of a block execution, as the existing preceding course slide does. The memory table is a reference summary, not a MatMul data-flow figure. The phrase “Local ≠ on-chip” paraphrases the guide’s local-memory section: local refers to logical thread scope rather than physical placement. Return to the A/B tiles and register accumulator in the existing course.</a:t>
            </a:r>
          </a:p>
          <a:p/>
          <a:p>
            <a:r>
              <a:t>PACING</a:t>
            </a:r>
          </a:p>
          <a:p>
            <a:r>
              <a:t>Allow approximately two minutes; focus on reading the figure rather than introducing a new lab.</a:t>
            </a:r>
          </a:p>
          <a:p/>
          <a:p>
            <a:r>
              <a:t>SCOPE</a:t>
            </a:r>
          </a:p>
          <a:p>
            <a:r>
              <a:t>New explanatory text paraphrases the cited guide. Course-connection examples are identified in the notes as instructional applications, not new measurements or claims of validated repository behavior.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VISUAL EXPLANATION</a:t>
            </a:r>
          </a:p>
          <a:p>
            <a:r>
              <a:t>Inserted after original Day 2 slide 40. The original course slides remain in their original relative sequence. No original code, commands, exercises, or benchmark values are changed.</a:t>
            </a:r>
          </a:p>
          <a:p/>
          <a:p>
            <a:r>
              <a:t>SOURCE</a:t>
            </a:r>
          </a:p>
          <a:p>
            <a:r>
              <a:t>User-supplied cuda-programming-guide.pdf, CUDA Programming Guide, Release 13.4.2, September 10, 2026.</a:t>
            </a:r>
          </a:p>
          <a:p>
            <a:r>
              <a:t>Figure 15, physical PDF page 81, printed page 63; original image xref 1224. §2.3.4.2, printed page 62.</a:t>
            </a:r>
          </a:p>
          <a:p>
            <a:r>
              <a:t>https://docs.nvidia.com/cuda/cuda-programming-guide/</a:t>
            </a:r>
          </a:p>
          <a:p>
            <a:r>
              <a:t>Original PDF figure image(s), proportionally resized; native labels and colors retained. No redrawing or generated illustration.</a:t>
            </a:r>
          </a:p>
          <a:p/>
          <a:p>
            <a:r>
              <a:t>PRESENTER NOTES</a:t>
            </a:r>
          </a:p>
          <a:p>
            <a:r>
              <a:t>This is optional supporting material for the existing shared-memory discussion, not a new lab. Present the guide’s 32-bit bank-mode example panel by panel. The key distinction is different words mapped to the same bank. Do not claim every strided access conflicts: the original figure explicitly labels stride three as conflict-free. Do not infer that the course’s tiled MatMul has the same conflict pattern; that requires analysis of its actual accesses. Transition to the following slide’s same-word read exception.</a:t>
            </a:r>
          </a:p>
          <a:p/>
          <a:p>
            <a:r>
              <a:t>PACING</a:t>
            </a:r>
          </a:p>
          <a:p>
            <a:r>
              <a:t>Optional two-minute explanation; omit in a shorter session.</a:t>
            </a:r>
          </a:p>
          <a:p/>
          <a:p>
            <a:r>
              <a:t>SCOPE</a:t>
            </a:r>
          </a:p>
          <a:p>
            <a:r>
              <a:t>New explanatory text paraphrases the cited guide. Course-connection examples are identified in the notes as instructional applications, not new measurements or claims of validated repository behavior.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VISUAL EXPLANATION</a:t>
            </a:r>
          </a:p>
          <a:p>
            <a:r>
              <a:t>Inserted after original Day 2 slide 40. The original course slides remain in their original relative sequence. No original code, commands, exercises, or benchmark values are changed.</a:t>
            </a:r>
          </a:p>
          <a:p/>
          <a:p>
            <a:r>
              <a:t>SOURCE</a:t>
            </a:r>
          </a:p>
          <a:p>
            <a:r>
              <a:t>User-supplied cuda-programming-guide.pdf, CUDA Programming Guide, Release 13.4.2, September 10, 2026.</a:t>
            </a:r>
          </a:p>
          <a:p>
            <a:r>
              <a:t>Figure 16, physical PDF page 82, printed page 64; original image xref 1229. §2.3.4.2, printed page 62.</a:t>
            </a:r>
          </a:p>
          <a:p>
            <a:r>
              <a:t>https://docs.nvidia.com/cuda/cuda-programming-guide/</a:t>
            </a:r>
          </a:p>
          <a:p>
            <a:r>
              <a:t>Original PDF figure image(s), proportionally resized; native labels and colors retained. No redrawing or generated illustration.</a:t>
            </a:r>
          </a:p>
          <a:p/>
          <a:p>
            <a:r>
              <a:t>PRESENTER NOTES</a:t>
            </a:r>
          </a:p>
          <a:p>
            <a:r>
              <a:t>Contrast this figure with the preceding bank-conflict example. NVIDIA identifies all three panels as conflict-free reads. In the middle panel, threads 3, 4, 6, 7 and 9 request the same word in bank 5; the right panel is broadcast. This is a read-access behavior, not permission for unsynchronized concurrent writes. Reconnect to cooperative reuse in MatMul without asserting a measured speedup or an exact correspondence with the pictured access pattern.</a:t>
            </a:r>
          </a:p>
          <a:p/>
          <a:p>
            <a:r>
              <a:t>PACING</a:t>
            </a:r>
          </a:p>
          <a:p>
            <a:r>
              <a:t>Optional two-minute explanation; omit in a shorter session.</a:t>
            </a:r>
          </a:p>
          <a:p/>
          <a:p>
            <a:r>
              <a:t>SCOPE</a:t>
            </a:r>
          </a:p>
          <a:p>
            <a:r>
              <a:t>New explanatory text paraphrases the cited guide. Course-connection examples are identified in the notes as instructional applications, not new measurements or claims of validated repository behavior.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2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2C1"/>
                </a:solidFill>
                <a:latin typeface="Arial"/>
              </a:defRPr>
            </a:pPr>
            <a:r>
              <a:t>FORMATION / REPOSITORY-DRIVEN CUDA ENGINEERING</a:t>
            </a:r>
          </a:p>
        </p:txBody>
      </p:sp>
      <p:pic>
        <p:nvPicPr>
          <p:cNvPr id="3" name="Picture 2" descr="nvidia_cover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862931"/>
            <a:ext cx="5120640" cy="17122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75904" y="1179576"/>
            <a:ext cx="323697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76B900"/>
                </a:solidFill>
                <a:latin typeface="Arial"/>
              </a:defRPr>
            </a:pPr>
            <a:r>
              <a:t>DAY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70632"/>
            <a:ext cx="11009376" cy="996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Day 2 - Measure, Package, Compare, and Scale the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950208"/>
            <a:ext cx="1099108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C9D2C1"/>
                </a:solidFill>
                <a:latin typeface="Arial"/>
              </a:defRPr>
            </a:pPr>
            <a:r>
              <a:t>Runtime, performance, deployment, JAX/XLA, and MatMul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617720"/>
            <a:ext cx="11009376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Today: measure -&gt; overlap -&gt; package -&gt; compare -&gt; extend to MatMul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5513832"/>
            <a:ext cx="1712975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5513832"/>
            <a:ext cx="171297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614416"/>
            <a:ext cx="1530095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6480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2784" y="5513832"/>
            <a:ext cx="1712975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2784" y="5513832"/>
            <a:ext cx="171297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4224" y="5614416"/>
            <a:ext cx="1530095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5760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2064" y="5513832"/>
            <a:ext cx="1712975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2064" y="5513832"/>
            <a:ext cx="171297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3504" y="5614416"/>
            <a:ext cx="1530095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5513832"/>
            <a:ext cx="1712975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5513832"/>
            <a:ext cx="171297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5614416"/>
            <a:ext cx="1530095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320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0624" y="5513832"/>
            <a:ext cx="1712975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0624" y="5513832"/>
            <a:ext cx="171297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2063" y="5614416"/>
            <a:ext cx="1530095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run container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600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99904" y="5513832"/>
            <a:ext cx="1712975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99904" y="5513832"/>
            <a:ext cx="171297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1344" y="5614416"/>
            <a:ext cx="1530095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compare JAX/MatMul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6272784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2C1"/>
                </a:solidFill>
                <a:latin typeface="Arial"/>
              </a:defRPr>
            </a:pPr>
            <a:r>
              <a:t>Repository-driven CUDA/Bazel course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" y="6601968"/>
            <a:ext cx="11009376" cy="0"/>
          </a:xfrm>
          <a:prstGeom prst="line">
            <a:avLst/>
          </a:prstGeom>
          <a:ln w="8890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3504" y="6675120"/>
            <a:ext cx="10058400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Independent training · Original CUDA artwork: supplied NVIDIA guide, PDF p.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6665976"/>
            <a:ext cx="68580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01/52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DEVICE &amp; COURSE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Day 1 Recap in One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repo now has CPU, threaded CPU, and CUDA implementations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//gpu:vector_add_benchmark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2800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02/52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6712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B7800"/>
                </a:solidFill>
                <a:latin typeface="Arial"/>
              </a:defRPr>
            </a:pPr>
            <a:r>
              <a:t>Bazel target graph mirrors project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71272"/>
            <a:ext cx="1475032" cy="6217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45008"/>
            <a:ext cx="134701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0B100A"/>
                </a:solidFill>
                <a:latin typeface="Consolas"/>
              </a:defRPr>
            </a:pPr>
            <a:r>
              <a:t>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0039" y="2841685"/>
            <a:ext cx="1502014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4047" y="3015421"/>
            <a:ext cx="137399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vector_cpu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0039" y="4028906"/>
            <a:ext cx="1502014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4047" y="4202642"/>
            <a:ext cx="137399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vector_add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4835" y="4028906"/>
            <a:ext cx="1439055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843" y="4202642"/>
            <a:ext cx="131103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device_lib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7679" y="4028906"/>
            <a:ext cx="1142250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687" y="4202642"/>
            <a:ext cx="101423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runtime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188264" y="3152581"/>
            <a:ext cx="341775" cy="629587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88264" y="3782168"/>
            <a:ext cx="341775" cy="557634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032054" y="4339802"/>
            <a:ext cx="332781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03891" y="4339802"/>
            <a:ext cx="323788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708392" y="226771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2176272"/>
            <a:ext cx="3685031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vector_add_benchmark depends on CPU and CUDA implementations.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8392" y="342163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3330194"/>
            <a:ext cx="3685031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CUDA path is split into host wrapper, device library, and runtime helpers.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457555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4484116"/>
            <a:ext cx="3685031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is the graph we now measure and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DEVICE &amp; COURSE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Day 2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Reason about runtime cost and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 + projects/simple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4201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03/52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216712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51A14"/>
                </a:solidFill>
                <a:latin typeface="Arial"/>
              </a:defRPr>
            </a:pPr>
            <a:r>
              <a:t>Read benchmark output responsibly.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16712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216712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51A14"/>
                </a:solidFill>
                <a:latin typeface="Arial"/>
              </a:defRPr>
            </a:pPr>
            <a:r>
              <a:t>Explain host/device memory movement.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40156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340156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51A14"/>
                </a:solidFill>
                <a:latin typeface="Arial"/>
              </a:defRPr>
            </a:pPr>
            <a:r>
              <a:t>Use timing and synchronization correctly.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40156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340156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51A14"/>
                </a:solidFill>
                <a:latin typeface="Arial"/>
              </a:defRPr>
            </a:pPr>
            <a:r>
              <a:t>Build/load a tiny GPU container.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63600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456" y="463600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51A14"/>
                </a:solidFill>
                <a:latin typeface="Arial"/>
              </a:defRPr>
            </a:pPr>
            <a:r>
              <a:t>Explain JAX/XLA compiler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63600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463600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51A14"/>
                </a:solidFill>
                <a:latin typeface="Arial"/>
              </a:defRPr>
            </a:pPr>
            <a:r>
              <a:t>Use MatMul as a separate performance ladder.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DEVICE &amp; COURSE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Start with Device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Runtime facts decide what experiments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projects/detailed/runtime/device_info.cc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5601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04/52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5207507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Run device_info before drawing conclusions.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7356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2029968"/>
            <a:ext cx="5207507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Capture CUDA runtime, driver, device count, SM count, and warp size.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026664"/>
            <a:ext cx="5330952" cy="24597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orig_d2_s04_img5.png"/>
          <p:cNvPicPr>
            <a:picLocks noChangeAspect="1"/>
          </p:cNvPicPr>
          <p:nvPr/>
        </p:nvPicPr>
        <p:blipFill>
          <a:blip r:embed="rId2"/>
          <a:srcRect b="49913"/>
          <a:stretch>
            <a:fillRect/>
          </a:stretch>
        </p:blipFill>
        <p:spPr>
          <a:xfrm>
            <a:off x="1209091" y="3095244"/>
            <a:ext cx="4339232" cy="23225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3026664"/>
            <a:ext cx="5330952" cy="24597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rig_d2_s04_img5.png"/>
          <p:cNvPicPr>
            <a:picLocks noChangeAspect="1"/>
          </p:cNvPicPr>
          <p:nvPr/>
        </p:nvPicPr>
        <p:blipFill>
          <a:blip r:embed="rId2"/>
          <a:srcRect t="50087"/>
          <a:stretch>
            <a:fillRect/>
          </a:stretch>
        </p:blipFill>
        <p:spPr>
          <a:xfrm>
            <a:off x="6779385" y="3095244"/>
            <a:ext cx="4354325" cy="23225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69280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B7800"/>
                </a:solidFill>
                <a:latin typeface="Consolas"/>
              </a:defRPr>
            </a:pPr>
            <a:r>
              <a:t>cd projects/detailed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B7800"/>
                </a:solidFill>
                <a:latin typeface="Consolas"/>
              </a:defRPr>
            </a:pPr>
            <a:r>
              <a:t>bazel run //runtime:device_info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DEVICE &amp; COURSE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Hardware Fields That Matter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Not every device property matters equally for beginner kernels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cudaDeviceProp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7002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05/52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39696"/>
          <a:ext cx="10927080" cy="353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7223760"/>
              </a:tblGrid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Why it matters today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multiProcessorCount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Parallel capacity for kernels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warpSize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Scheduling granularity and MatMul discussion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sharedMemPerBlock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Tiled MatMul and shared-memory limits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asyncEngineCount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Potential copy/compute overlap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maxThreadsPerBlock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Launch constraints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Measurement Before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You need a timing model before changing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gpu/vector_add_benchmark.cc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28402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06/52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" y="2295144"/>
            <a:ext cx="6574536" cy="2258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streams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30041"/>
            <a:ext cx="6574536" cy="21887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" y="4626864"/>
            <a:ext cx="65745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20  |  Guide p. 104 / PDF p. 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111496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14"/>
                </a:solidFill>
                <a:latin typeface="Arial"/>
              </a:defRPr>
            </a:pPr>
            <a:r>
              <a:t>Host timer: enqueue copies +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59552"/>
            <a:ext cx="6547104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B7800"/>
                </a:solidFill>
                <a:latin typeface="Arial"/>
              </a:defRPr>
            </a:pPr>
            <a:r>
              <a:t>host timer can stop too early without sync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24942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157984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Warm up before measuring.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267995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588514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Know the sync point.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311048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019043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Know whether copies/allocation are included.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08392" y="412775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4036314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Avoid comparing first-run cache effects.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8392" y="485165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4760214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Keep sample correctness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CUDA Timing Gotcha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GPU work is asynchronous from the host point of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runtime/cuda_launch.h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49803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" y="2295144"/>
            <a:ext cx="6574536" cy="2258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streams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30041"/>
            <a:ext cx="6574536" cy="21887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" y="4626864"/>
            <a:ext cx="65745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20  |  Guide p. 104 / PDF p. 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111496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14"/>
                </a:solidFill>
                <a:latin typeface="Arial"/>
              </a:defRPr>
            </a:pPr>
            <a:r>
              <a:t>Host timer: enqueue copies +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59552"/>
            <a:ext cx="6547104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B7800"/>
                </a:solidFill>
                <a:latin typeface="Arial"/>
              </a:defRPr>
            </a:pPr>
            <a:r>
              <a:t>host timer can stop too early without sync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24942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157984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 host timer can stop before GPU work is complete.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11048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019044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Synchronize intentionally or use events.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397154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880104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Measure the same scope for every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Vector Add Benchmark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benchmark compares four paths in one executable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projects/detailed/gpu/vector_add_benchmark.cc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71203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08/52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CPU serial.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5294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2453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CPU threaded.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5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CUDA Runtime API launch.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9417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6577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CUDA triple-chevron launch.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026664"/>
            <a:ext cx="5330952" cy="24597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rig_d1_s39_img5.png"/>
          <p:cNvPicPr>
            <a:picLocks noChangeAspect="1"/>
          </p:cNvPicPr>
          <p:nvPr/>
        </p:nvPicPr>
        <p:blipFill>
          <a:blip r:embed="rId2"/>
          <a:srcRect b="49917"/>
          <a:stretch>
            <a:fillRect/>
          </a:stretch>
        </p:blipFill>
        <p:spPr>
          <a:xfrm>
            <a:off x="1369679" y="3095244"/>
            <a:ext cx="4018056" cy="23225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026664"/>
            <a:ext cx="5330952" cy="24597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orig_d1_s39_img5.png"/>
          <p:cNvPicPr>
            <a:picLocks noChangeAspect="1"/>
          </p:cNvPicPr>
          <p:nvPr/>
        </p:nvPicPr>
        <p:blipFill>
          <a:blip r:embed="rId2"/>
          <a:srcRect t="50083"/>
          <a:stretch>
            <a:fillRect/>
          </a:stretch>
        </p:blipFill>
        <p:spPr>
          <a:xfrm>
            <a:off x="6940800" y="3095244"/>
            <a:ext cx="4031494" cy="23225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669280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7800"/>
                </a:solidFill>
                <a:latin typeface="Consolas"/>
              </a:defRPr>
            </a:pPr>
            <a:r>
              <a:t>bazel run //gpu:vector_add_benchmark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Reading the Benchmark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Interpret vector add as memory-bound and transfer-sensitive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benchmark_results.md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92604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09/52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39696"/>
          <a:ext cx="10927080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074920"/>
                <a:gridCol w="3474720"/>
              </a:tblGrid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Path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What the time includes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CPU serial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single-loop host work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baseline semantics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CPU threaded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thread startup + chunk work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CPU parallelism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 runtime API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allocation + copies + launch + sync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full GPU call cost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 chevron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same work, different launch syntax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API comparison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Host/Device Memory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CUDA performance often begins with data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gpu/vector_add_cuda.cc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35405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11/52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048256"/>
            <a:ext cx="6373368" cy="30998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system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39" y="2048256"/>
            <a:ext cx="3057193" cy="30998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" y="5221224"/>
            <a:ext cx="63733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  |  Guide p. 6 / PDF p.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641848"/>
            <a:ext cx="6519672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B7800"/>
                </a:solidFill>
                <a:latin typeface="Arial"/>
              </a:defRPr>
            </a:pPr>
            <a:r>
              <a:t>2 x H2D copies  ·  1 x D2H copy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2212848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 and b move host-to-device.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287197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780538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kernel writes d_out.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8392" y="343966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3348228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out moves device-to-host.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8392" y="400735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391591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For vector add, bytes moved can dominate arithmetic.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Lab 1: Estimate Bytes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Performance reasoning starts on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docs/benchmark_results.md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568057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12/52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For size = 1 &lt;&lt; 24 and sizeof(float) = 4: estimate H2D for a and 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853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39394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Estimate D2H for 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5307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96163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Compute total bytes moved.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2076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52932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Compare that with benchmark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N = 1 &lt;&lt; 24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bytes = 3 * N * sizeof(float)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27024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Host/device memory movement for vector add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608576"/>
            <a:ext cx="5824728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Host arrays a[N], b[N], out[N]  ›  2 x H2D copies  ›  Device arrays d_a, d_b, d_out  ›  1 x D2H copy  ›  Total bytes ~= 3 * N * sizeof(float)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cudaMalloc and Allocation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Allocation is not free and should not be hidden in a kernel-only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gpu/vector_add_cuda.cc   |   Source: CUDA Runtime API - Execution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78206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13/52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12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01" y="2240280"/>
            <a:ext cx="3920893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Full-function timing includes allocation and free.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0134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0990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Real applications often reuse buffers.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9623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87096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Separate allocation cost when investigating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cudaMemcpy Direction and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Direction flags make host/device ownership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cudaMemcpy in vector_add_cuda.cc   |   Source: CUDA Runtime API - Execution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99606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14/52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13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21" y="2240280"/>
            <a:ext cx="4681452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HostToDevice for input arrays.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0134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0990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DeviceToHost for output arrays.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9623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8709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Wrong direction can fail or silently invalidate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Kernel Launch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Launch overhead means tiny work can lose to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gpu/vector_add_benchmark.cc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21007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15/52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" y="2295144"/>
            <a:ext cx="6574536" cy="2258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streams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30041"/>
            <a:ext cx="6574536" cy="21887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" y="4626864"/>
            <a:ext cx="65745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20  |  Guide p. 104 / PDF p. 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111496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14"/>
                </a:solidFill>
                <a:latin typeface="Arial"/>
              </a:defRPr>
            </a:pPr>
            <a:r>
              <a:t>Host timer: enqueue copies +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59552"/>
            <a:ext cx="6547104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B7800"/>
                </a:solidFill>
                <a:latin typeface="Arial"/>
              </a:defRPr>
            </a:pPr>
            <a:r>
              <a:t>host timer can stop too early without sync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24942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157984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Host enqueues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281625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724816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GPU dispatches the kernel.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338308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29164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Synchronization brings errors and completion back to host.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08392" y="424329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4151852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Batching and larger work sizes amortize launch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STREAMS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Default Stream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baseline code is intentionally serialized for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gpu/vector_add_cuda.cc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42407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16/52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240280"/>
            <a:ext cx="6537960" cy="2432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streams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68134"/>
            <a:ext cx="6537960" cy="21765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" y="4745736"/>
            <a:ext cx="65379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20  |  Guide p. 104 / PDF p. 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148072"/>
            <a:ext cx="6501384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51A14"/>
                </a:solidFill>
                <a:latin typeface="Consolas"/>
              </a:defRPr>
            </a:pPr>
            <a:r>
              <a:t>a[N], b[N], out[N]   |   d_a, d_b, d_out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605272"/>
            <a:ext cx="6501384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B7800"/>
                </a:solidFill>
                <a:latin typeface="Arial"/>
              </a:defRPr>
            </a:pPr>
            <a:r>
              <a:t>2 x H2D copies  ·  1 x D2H copy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212848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Synchronous copies and simple launch form a clear baseline.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4587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36727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default stream makes first correctness easier.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431977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22833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Overlap is a second step, not the first step.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STREAMS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Streams: Why We Need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Streams allow independent queues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runtime/cuda_launch.h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63808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" y="2185416"/>
            <a:ext cx="6583680" cy="2432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streams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05659"/>
            <a:ext cx="6583680" cy="2191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" y="4690872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20  |  Guide p. 104 / PDF p. 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038344"/>
            <a:ext cx="6501384" cy="969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51A14"/>
                </a:solidFill>
                <a:latin typeface="Consolas"/>
              </a:defRPr>
            </a:pPr>
            <a:r>
              <a:t>Stream 0: H2D -&gt; kernel -&gt; D2H</a:t>
            </a:r>
          </a:p>
          <a:p>
            <a:pPr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51A14"/>
                </a:solidFill>
                <a:latin typeface="Consolas"/>
              </a:defRPr>
            </a:pPr>
            <a:r>
              <a:t>Stream 1: H2D -&gt; kernel -&gt; D2H</a:t>
            </a:r>
          </a:p>
          <a:p>
            <a:pPr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51A14"/>
                </a:solidFill>
                <a:latin typeface="Consolas"/>
              </a:defRPr>
            </a:pPr>
            <a:r>
              <a:t>Stream 2: H2D -&gt; kernel -&gt; D2H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2212848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Split data into chunks.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287197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78053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Enqueue H2D, kernel, and D2H per stream.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8392" y="373303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364159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Overlap requires hardware and memory prerequisites.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STREAMS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Async Copy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cudaMemcpyAsync is not magic by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device_info asyncEngineCount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85208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18/52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39696"/>
          <a:ext cx="10927080" cy="353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086600"/>
              </a:tblGrid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Requirement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Reason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Pinned host memory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enables efficient async transfer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Non-default streams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allows independent queues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Independent chunks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prevents data dependency serialization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copy engines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hardware support for overlap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explicit synchronization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makes results reliable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STREAMS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Lab 2 Design: Chunked Vector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Design stream overlap before implementing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future extension of gpu/vector_add_cuda.cc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06609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19/52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Split the vector into chunks.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4453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053095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Allocate or reuse device buffers per stream.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5811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66673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Enqueue H2D -&gt; kernel -&gt; D2H per chunk.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7169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680251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Synchronize streams and compare with CPU oracle.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203911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4264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for stream in streams: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cudaMemcpyAsync(..., stream)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kernel&lt;&lt;&lt;grid, block, 0, stream&gt;&gt;&gt;(...)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cudaMemcpyAsync(..., stream)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97296" y="4480560"/>
            <a:ext cx="5843016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vidia_streams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559" y="4480560"/>
            <a:ext cx="3680488" cy="12252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97296" y="5779008"/>
            <a:ext cx="584301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20  |  Guide p. 104 / PDF p. 122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STREAMS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Error Handling Under Asynchrony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Launch-time and execution-time errors surface at different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runtime/cuda_errors.h   |   Source: CUDA Runtime API - Execution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28009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20/52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Systematic CUDA 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303275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device_info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2079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339083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275076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small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709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889248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3825240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CUDA_CHECK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2112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439412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375404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check archs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97128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4989576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4925568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reduce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52145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5539740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25880" y="547573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profiler/sanitizer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cudaGetLastError catches launch configuration issues.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314706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305562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Synchronization catches many execution errors.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400811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91668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 later CUDA call may report an earlier asynchronous failure.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STREAMS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Debugging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Use a repeatable diagnosis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runtime + gpu tests   |   Source: Nsight / CUDA runtime docs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49410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21/52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Systematic CUDA 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303275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device_info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2079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339083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275076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small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709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889248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3825240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CUDA_CHECK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2112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439412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375404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check archs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97128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4989576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4925568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reduce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52145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5539740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25880" y="547573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profiler/sanitizer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19456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Run //runtime:device_info.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271653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262509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Run the smallest correctness test.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344042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34898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Check CUDA_CHECK failure location.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8392" y="416432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407289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Reduce input size.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08392" y="459485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450342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Inspect architecture flags.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08392" y="502538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7848" y="493395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Use compute-sanitizer or Nsight when available.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Packaging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Deployment should preserve the build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projects/simple/src/BUILD.bazel   |   Source: rules_oci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70810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22/52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Bazel-built OCI image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cc_binary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pkg_tar · runfiles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oci_image · base digest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oci_load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docker run · --gpus 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 working local binary is not a deployment artifact.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14706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305562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runtime image should contain only what is needed to run.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430149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421005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Bazel can build the binary and assemble the image.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Simple Project as Deployment Specimen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projects/simple is the minimal hermetic CUDA image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projects/simple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92210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23/52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22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71" y="2240280"/>
            <a:ext cx="4443952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Small GPU info binary.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8079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71653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CUDA runtime dependency.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37566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28422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OCI target is easy to inspect.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cd projects/simple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bazel run //src:gpu_info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Container Target in Bazel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image is a Bazel target, not a hand-written Dockerfile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projects/simple/src/BUILD.bazel   |   Source: rules_oci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13611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24/52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cc_binary builds the app.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5294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2453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pkg_tar packages binary/runfiles.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5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oci_image creates the image.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9417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6577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oci_load loads it into Docker.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rig_d2_s23_img5.png"/>
          <p:cNvPicPr>
            <a:picLocks noChangeAspect="1"/>
          </p:cNvPicPr>
          <p:nvPr/>
        </p:nvPicPr>
        <p:blipFill>
          <a:blip r:embed="rId2"/>
          <a:srcRect b="50044"/>
          <a:stretch>
            <a:fillRect/>
          </a:stretch>
        </p:blipFill>
        <p:spPr>
          <a:xfrm>
            <a:off x="1368325" y="3095244"/>
            <a:ext cx="4020765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orig_d2_s23_img5.png"/>
          <p:cNvPicPr>
            <a:picLocks noChangeAspect="1"/>
          </p:cNvPicPr>
          <p:nvPr/>
        </p:nvPicPr>
        <p:blipFill>
          <a:blip r:embed="rId2"/>
          <a:srcRect t="49956"/>
          <a:stretch>
            <a:fillRect/>
          </a:stretch>
        </p:blipFill>
        <p:spPr>
          <a:xfrm>
            <a:off x="6949723" y="3095244"/>
            <a:ext cx="4013649" cy="2834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Packaging Runtime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Bazel runfiles make runtime shared libraries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pkg_tar + oci_image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35011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25/52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24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604" y="2240280"/>
            <a:ext cx="5196086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include_runfiles brings runtime dependencies into the 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38582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29438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executable lands under /app.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423799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414655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container entrypoint points to the packaged binary.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Digest-Pinned Base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Container reproducibility includes the base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projects/simple/MODULE.bazel   |   Source: rules_oci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56412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26/52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25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32146"/>
            <a:ext cx="6473952" cy="28647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Pin the base image by digest, not only by tag.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0134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0990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keeps the image input stable over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9623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87096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rules_oci pulls the OCI base as a declared repository input.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Live Demo: Load and Run the Tiny GPU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The GPU info tool runs inside a small 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//src:load_gpu_info_image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77812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27/52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Build and load the OCI image.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92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0057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image with GPU access.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5970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6826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Confirm the host runtime provides the NVIDIA driver/GPU.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cd projects/simple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bazel run //src:load_gpu_info_image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docker run --rm --gpus all simple-gpu-info:latest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27024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Bazel-built OCI image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608576"/>
            <a:ext cx="5824728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cc_binary  ›  pkg_tar runfiles  ›  oci_image base digest  ›  oci_load  ›  docker run --gpus all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Image Size and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The deployable image is a build artifact and a loaded Docker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bazel-bin/src/load_gpu_info_image/tarball.tar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99213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28/52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Build the tarball output group.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92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0057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Inspect the Docker image list.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5970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6826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Distinguish Bazel artifact from Docker daemon image.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build //src:gpu_info_image_tar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docker image ls simple-gpu-info:latest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27024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Bazel-built OCI image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608576"/>
            <a:ext cx="5824728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cc_binary  ›  pkg_tar runfiles  ›  oci_image base digest  ›  oci_load  ›  docker run --gpus all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Detailed Deploy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Deployment starts by deciding which runtime files belong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projects/detailed/deploy/BUILD.bazel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20613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29/52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28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62466"/>
            <a:ext cx="6473952" cy="22040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detailed project collects benchmark and device-info runtime files.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39471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30327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can evolve into a full detailed project image target.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42557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416433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Keep deployment explicit.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Remote Build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Hermetic targets are the prerequisite for remote build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remote execution concept   |   Source: Bazel Remote Execution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42014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30/52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Remote build model: build and runtime are separate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Developer 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Remote executor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Remote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GPU runtime host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Local developer invokes Bazel.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07684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2985401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Remote executor runs declared actions.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386768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3776243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Remote cache stores reusable outputs.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08392" y="465852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4567085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GPU runtime host remains a separate concern.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PACKAGING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What Remote Build Does Not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A remote build machine is not automatically a GPU runtime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build machine vs runtime machine   |   Source: Bazel Remote Execution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634147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31/52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Remote build model: build and runtime are separate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Developer 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Remote executor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Remote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GPU runtime host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Build-time CUDA headers/toolchains can be hermetic.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43824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3346805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Runtime GPU driver and device access are environment-specific.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459049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4499051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Validate GPU execution on compatible runtime hosts.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PYTHON &amp; JAX / XLA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Python Hook: Benchmark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Python can orchestrate without owning the heavy compute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projects/detailed/python/benchmark.py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84815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32/52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31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80407"/>
            <a:ext cx="6473952" cy="29682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Python runs Bazel-built binaries.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98543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89399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compute path stays in C++/CUDA.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7305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63915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keeps measurement automation lightweight.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Consolas"/>
              </a:defRPr>
            </a:pPr>
            <a:r>
              <a:t>bazel run //python:benchmark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PYTHON &amp; JAX / XLA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JAX/XLA Comparison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JAX expresses computation and lets the compiler lower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projects/detailed/python/jax_xla_demo.py   |   Source: JAX AOT lowering and compilation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062157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33/52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32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881" y="2240280"/>
            <a:ext cx="5063532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jax.jit traces a Python function.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9641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8727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lower() exposes the lowered form.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6880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59664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compile() produces an executable for a target backend.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bazel run //python:jax_xla_demo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PYTHON &amp; JAX / XLA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Manual CUDA vs JAX/XLA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Manual CUDA exposes control; JAX exposes compiler-managed array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gpu/vector_add_device.cu vs python/jax_xla_demo.py   |   Source: JAX AOT lowering and compilation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27616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34/52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JAX/XLA high-level compiler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Python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jax.jit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lower() · StableHLO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compile() · executable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run on CPU/GPU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Manual CUDA: explicit memory, launch geometry, and runtime calls.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43824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3346805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JAX/XLA: array semantics, tracing, lowering, and compilation.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459049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4499051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is a layer comparison, not a winner-take-all decision.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Transition to MatMul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Vector add teaches mechanics; MatMul teaches reuse and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projects/detailed/linear_algebra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49016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35/52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0"/>
            <a:ext cx="6565392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B7800"/>
                </a:solidFill>
                <a:latin typeface="Arial"/>
              </a:defRPr>
            </a:pPr>
            <a:r>
              <a:t>Matrix multiply: one output cell is a dot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99816"/>
            <a:ext cx="6528816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14"/>
                </a:solidFill>
                <a:latin typeface="Consolas"/>
              </a:defRPr>
            </a:pPr>
            <a:r>
              <a:t>A[M,K]   B[K,N]   C[M,N]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858768"/>
            <a:ext cx="6565392" cy="1444752"/>
          </a:xfrm>
          <a:prstGeom prst="rect">
            <a:avLst/>
          </a:prstGeom>
          <a:solidFill>
            <a:srgbClr val="ED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34256"/>
            <a:ext cx="6144768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Consolas"/>
              </a:defRPr>
            </a:pPr>
            <a:r>
              <a:t>C[row,col] = sum_k A[row,k] * B[k,col]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221284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Vector add is memory-bound and simple.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316534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3073907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MatMul reuses rows and columns.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8392" y="402640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3934967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linear algebra module is separate by design.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Linear Algebra Module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MatMul has a CPU oracle and two CUDA implementations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projects/detailed/linear_algebra/BUILD.bazel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70417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36/52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CPU MatMul oracle.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5294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2453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Basic CUDA one-thread-per-output kernel.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5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Tiled CUDA shared-memory kernel.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9417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6577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Test and benchmark targets.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rig_d2_s35_img5.png"/>
          <p:cNvPicPr>
            <a:picLocks noChangeAspect="1"/>
          </p:cNvPicPr>
          <p:nvPr/>
        </p:nvPicPr>
        <p:blipFill>
          <a:blip r:embed="rId2"/>
          <a:srcRect b="50162"/>
          <a:stretch>
            <a:fillRect/>
          </a:stretch>
        </p:blipFill>
        <p:spPr>
          <a:xfrm>
            <a:off x="1635164" y="3095244"/>
            <a:ext cx="3487086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orig_d2_s35_img5.png"/>
          <p:cNvPicPr>
            <a:picLocks noChangeAspect="1"/>
          </p:cNvPicPr>
          <p:nvPr/>
        </p:nvPicPr>
        <p:blipFill>
          <a:blip r:embed="rId2"/>
          <a:srcRect t="49838"/>
          <a:stretch>
            <a:fillRect/>
          </a:stretch>
        </p:blipFill>
        <p:spPr>
          <a:xfrm>
            <a:off x="7224268" y="3095244"/>
            <a:ext cx="3464560" cy="2834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CPU MatMul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Even MatMul starts with CPU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linear_algebra/matmul_cpu.cc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91817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36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579" y="2240280"/>
            <a:ext cx="4800137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Nested loops over M, N, and 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98543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89399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Defines exact semantics for small test sizes.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7305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63915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Used by matmul_test before benchmark interpretation.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75" b="0">
                <a:solidFill>
                  <a:srgbClr val="FFFFFF"/>
                </a:solidFill>
                <a:latin typeface="Consolas"/>
              </a:defRPr>
            </a:pPr>
            <a:r>
              <a:t>bazel test //linear_algebra:matmul_test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Basic CUDA MatMul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One thread computes one output 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linear_algebra/matmul_basic_device.cu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13218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38/52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37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001" y="2240280"/>
            <a:ext cx="4309293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Map 2D thread coordinates to row and column.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0134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0990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Each thread loops over 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66903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57759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Correct and parallel, but global-memory reuse is poor.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Why Basic MatMul Leaves Performance Behind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Re-reading global memory wastes bandwidth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matmul_basic_device.cu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34618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39/52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6528816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B7800"/>
                </a:solidFill>
                <a:latin typeface="Arial"/>
              </a:defRPr>
            </a:pPr>
            <a:r>
              <a:t>Basic MatMul: correct, parallel, but poor reuse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880360"/>
            <a:ext cx="3145536" cy="2020824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2816352" cy="1572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Thread C[0,0]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reads A row 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reads B col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2880360"/>
            <a:ext cx="3145536" cy="2020824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090672"/>
            <a:ext cx="2816352" cy="1572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Thread C[0,1]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reads A row 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again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reads B col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321808"/>
            <a:ext cx="6492240" cy="6126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4B7800"/>
                </a:solidFill>
                <a:latin typeface="Arial"/>
              </a:defRPr>
            </a:pPr>
            <a:r>
              <a:t>Neighbor threads repeat global reads for overlapping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212848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Neighboring threads repeatedly read overlapping A/B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8392" y="34587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336727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Memory bandwidth becomes the limit.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8392" y="431977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422833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motivates shared-memory tiling.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Tiled MatMul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Shared memory lets a block reuse tiles of A and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linear_algebra/matmul_tiled_device.cu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56019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40/52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Threads cooperatively load A and B tiles.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2648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9808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__syncthreads() creates a block barrier.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2063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9224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Each tile is reused across multiple multiply-adds.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rig_d2_s39_img5.png"/>
          <p:cNvPicPr>
            <a:picLocks noChangeAspect="1"/>
          </p:cNvPicPr>
          <p:nvPr/>
        </p:nvPicPr>
        <p:blipFill>
          <a:blip r:embed="rId2"/>
          <a:srcRect b="49775"/>
          <a:stretch>
            <a:fillRect/>
          </a:stretch>
        </p:blipFill>
        <p:spPr>
          <a:xfrm>
            <a:off x="1078467" y="3095244"/>
            <a:ext cx="4600481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rig_d2_s39_img5.png"/>
          <p:cNvPicPr>
            <a:picLocks noChangeAspect="1"/>
          </p:cNvPicPr>
          <p:nvPr/>
        </p:nvPicPr>
        <p:blipFill>
          <a:blip r:embed="rId2"/>
          <a:srcRect t="50225"/>
          <a:stretch>
            <a:fillRect/>
          </a:stretch>
        </p:blipFill>
        <p:spPr>
          <a:xfrm>
            <a:off x="6635553" y="3095244"/>
            <a:ext cx="4641989" cy="2834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Original course label panel 3"/>
          <p:cNvSpPr/>
          <p:nvPr/>
        </p:nvSpPr>
        <p:spPr>
          <a:xfrm>
            <a:off x="6227064" y="5010912"/>
            <a:ext cx="5376672" cy="978408"/>
          </a:xfrm>
          <a:prstGeom prst="rect">
            <a:avLst/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riginal course label panel 2"/>
          <p:cNvSpPr/>
          <p:nvPr/>
        </p:nvSpPr>
        <p:spPr>
          <a:xfrm>
            <a:off x="6227064" y="3401568"/>
            <a:ext cx="5376672" cy="1371600"/>
          </a:xfrm>
          <a:prstGeom prst="rect">
            <a:avLst/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riginal course label panel 1"/>
          <p:cNvSpPr/>
          <p:nvPr/>
        </p:nvSpPr>
        <p:spPr>
          <a:xfrm>
            <a:off x="6227064" y="2176272"/>
            <a:ext cx="5376672" cy="969264"/>
          </a:xfrm>
          <a:prstGeom prst="rect">
            <a:avLst/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Shared Memory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Shared memory is per-block scratchpad with explicit cooperation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__shared__ + __syncthreads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77419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41/52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50008"/>
            <a:ext cx="4754880" cy="6492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77600"/>
                </a:solidFill>
                <a:latin typeface="Arial"/>
              </a:defRPr>
            </a:pPr>
            <a:r>
              <a:rPr sz="2100" b="0">
                <a:solidFill>
                  <a:srgbClr val="477600"/>
                </a:solidFill>
                <a:latin typeface="Arial"/>
              </a:rPr>
              <a:t>Global A tile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77600"/>
                </a:solidFill>
                <a:latin typeface="Arial"/>
              </a:defRPr>
            </a:pPr>
            <a:r>
              <a:rPr sz="2100" b="0">
                <a:solidFill>
                  <a:srgbClr val="477600"/>
                </a:solidFill>
                <a:latin typeface="Arial"/>
              </a:rPr>
              <a:t>Global B 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611880"/>
            <a:ext cx="4754880" cy="10698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DejaVu Sans Mono"/>
              </a:defRPr>
            </a:pPr>
            <a:r>
              <a:rPr sz="2000" b="0">
                <a:solidFill>
                  <a:srgbClr val="151A14"/>
                </a:solidFill>
                <a:latin typeface="DejaVu Sans Mono"/>
              </a:rPr>
              <a:t>Shared memory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DejaVu Sans Mono"/>
              </a:defRPr>
            </a:pPr>
            <a:r>
              <a:rPr sz="2000" b="0">
                <a:solidFill>
                  <a:srgbClr val="151A14"/>
                </a:solidFill>
                <a:latin typeface="DejaVu Sans Mono"/>
              </a:rPr>
              <a:t>A_s tile + B_s tile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DejaVu Sans Mono"/>
              </a:defRPr>
            </a:pPr>
            <a:r>
              <a:rPr sz="2000" b="0">
                <a:solidFill>
                  <a:srgbClr val="151A14"/>
                </a:solidFill>
                <a:latin typeface="DejaVu Sans Mono"/>
              </a:rPr>
              <a:t>__syncthreads()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5193792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rPr sz="2100" b="0">
                <a:solidFill>
                  <a:srgbClr val="151A14"/>
                </a:solidFill>
                <a:latin typeface="Arial"/>
              </a:rPr>
              <a:t>Registers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rPr sz="2100" b="0">
                <a:solidFill>
                  <a:srgbClr val="151A14"/>
                </a:solidFill>
                <a:latin typeface="Arial"/>
              </a:rPr>
              <a:t>accumulate C tile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31720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40280"/>
            <a:ext cx="4590288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rPr sz="2100" b="0">
                <a:solidFill>
                  <a:srgbClr val="151A14"/>
                </a:solidFill>
                <a:latin typeface="Arial"/>
              </a:rPr>
              <a:t>Scope: one thread block.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18103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026664"/>
            <a:ext cx="4590288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rPr sz="2100" b="0">
                <a:solidFill>
                  <a:srgbClr val="151A14"/>
                </a:solidFill>
                <a:latin typeface="Arial"/>
              </a:rPr>
              <a:t>Lifetime: one kernel block execution.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04487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13048"/>
            <a:ext cx="4590288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rPr sz="2100" b="0">
                <a:solidFill>
                  <a:srgbClr val="151A14"/>
                </a:solidFill>
                <a:latin typeface="Arial"/>
              </a:rPr>
              <a:t>Use: cooperative data reuse.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90872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99432"/>
            <a:ext cx="4590288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rPr sz="2100" b="0">
                <a:solidFill>
                  <a:srgbClr val="151A14"/>
                </a:solidFill>
                <a:latin typeface="Arial"/>
              </a:rPr>
              <a:t>Cost: limited capacity and synchronization constraints.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MatMul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benchmark shows the ladder: CPU, basic CUDA, tiled CUDA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linear_algebra/matmul_benchmark.cc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63021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45/52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2_s41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179" y="2240280"/>
            <a:ext cx="3644937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Use small enough sizes for lab turnaround.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9641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8727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Record correctness and timing.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6880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59664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Interpret tiled performance through reuse, not just thread 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75" b="0">
                <a:solidFill>
                  <a:srgbClr val="FFFFFF"/>
                </a:solidFill>
                <a:latin typeface="Consolas"/>
              </a:defRPr>
            </a:pPr>
            <a:r>
              <a:t>bazel run //linear_algebra:matmul_benchmark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Lab 3: Fill the Benchmark Results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Runs become a small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projects/detailed/docs/benchmark_results.md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84421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46/52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Open docs/benchmark_results.md.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8487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093434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vector-add benchmark.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542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53980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MatMul benchmark.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0596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214526"/>
            <a:ext cx="4517136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Record CPU serial, CPU threaded, CUDA vector add, MatMul CPU, MatMul basic, MatMul tiled.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Consolas"/>
              </a:defRPr>
            </a:pPr>
            <a:r>
              <a:t>bazel run //gpu:vector_add_benchmark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Consolas"/>
              </a:defRPr>
            </a:pPr>
            <a:r>
              <a:t>bazel run //linear_algebra:matmul_benchmark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27024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Production GEMM ladder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608576"/>
            <a:ext cx="5824728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CPU oracle  ›  basic CUDA  ›  tiled CUDA  ›  cuBLAS/cuBLASLt  ›  CUTLASS/CuTe  ›  JAX/Triton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Production GEMM: Why Libraries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Real GEMM performance is a library engineering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linear_algebra/matmul_cublas.cc hook   |   Source: cuBLAS/cuBLASLt + CUTLASS docs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05822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47/52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Production GEMM ladder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303275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CPU 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2079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339083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275076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basic CUDA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709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889248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3825240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tiled CUDA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2112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439412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375404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cuBLAS/cuBLASLt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97128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4989576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4925568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CUTLASS/CuTe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52145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5539740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25880" y="547573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JAX/Triton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Basic kernels teach the machine.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303650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2945063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Tiled kernels teach data reuse.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378700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695566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cuBLAS/cuBLASLt define production baselines.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8392" y="453750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4446069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CUTLASS/CuTe show production-style customizable GEMM.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INTEGRATION &amp; CAPSTONE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Choosing the Right Level of CUDA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Use the lowest level only when the control is worth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alternatives and complements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27222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48/52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240280"/>
            <a:ext cx="3172968" cy="3611880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468880"/>
            <a:ext cx="2825496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B7800"/>
                </a:solidFill>
                <a:latin typeface="Arial"/>
              </a:defRPr>
            </a:pPr>
            <a:r>
              <a:t>More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383280"/>
            <a:ext cx="2825496" cy="2130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custom CUDA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explicit memory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kernel launch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debug lower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7096" y="2240280"/>
            <a:ext cx="3172968" cy="3611880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2468880"/>
            <a:ext cx="2825496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B7800"/>
                </a:solidFill>
                <a:latin typeface="Arial"/>
              </a:defRPr>
            </a:pPr>
            <a:r>
              <a:t>More productivity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383280"/>
            <a:ext cx="2825496" cy="2130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Thrust/CUB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cuBLAS/cuDNN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JAX/XLA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PyTorch / TF / MLIR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231343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221992"/>
            <a:ext cx="3675887" cy="6174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30" b="0">
                <a:solidFill>
                  <a:srgbClr val="151A14"/>
                </a:solidFill>
                <a:latin typeface="Arial"/>
              </a:defRPr>
            </a:pPr>
            <a:r>
              <a:t>Custom CUDA C++ kernel: maximum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8392" y="304264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2951208"/>
            <a:ext cx="3675887" cy="6174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30" b="0">
                <a:solidFill>
                  <a:srgbClr val="151A14"/>
                </a:solidFill>
                <a:latin typeface="Arial"/>
              </a:defRPr>
            </a:pPr>
            <a:r>
              <a:t>Thrust/CUB: reusable parallel primitives.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8392" y="377186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3680425"/>
            <a:ext cx="3675887" cy="6174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30" b="0">
                <a:solidFill>
                  <a:srgbClr val="151A14"/>
                </a:solidFill>
                <a:latin typeface="Arial"/>
              </a:defRPr>
            </a:pPr>
            <a:r>
              <a:t>cuBLAS/cuDNN: production libraries.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08392" y="450108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4409641"/>
            <a:ext cx="3675887" cy="9010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30" b="0">
                <a:solidFill>
                  <a:srgbClr val="151A14"/>
                </a:solidFill>
                <a:latin typeface="Arial"/>
              </a:defRPr>
            </a:pPr>
            <a:r>
              <a:t>JAX/XLA and frameworks: high-level compiler-managed math.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INTEGRATION &amp; CAPSTONE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Final End-to-End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The complete project can build, test, benchmark, and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projects/detailed + projects/simple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48623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49/52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all tests.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92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0057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vector-add and MatMul benchmarks.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5307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961637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Load the simple GPU info image.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2076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52932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image with GPU access.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318211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25694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cd projects/detailed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bazel test //...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bazel run //gpu:vector_add_benchmark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bazel run //linear_algebra:matmul_benchmark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cd ../simple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bazel run //src:load_gpu_info_image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docker run --rm --gpus all simple-gpu-info:latest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573328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End-to-end course payoff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6071616"/>
            <a:ext cx="5824728" cy="4114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build  ›  test  ›  benchmark  ›  package  ›  run container  ›  compare JAX/MatMul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INTEGRATION &amp; CAPSTONE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What to Reuse in Your Own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reusable assets are patterns, not only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copy patterns, not only source files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70023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50/52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656539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projects/detailed repository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64261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cpp/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75234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CPU oracle + threaded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19125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gpu/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30098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CUDA API + host wrapper + device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73989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8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runtime/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84962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CUDA helpers: device info, errors,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28853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07407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python/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439826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Benchmark orchestrator + JAX/XLA hook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837175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7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deploy/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4946903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Bazel runtime file aggregation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5385815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7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linear_algebra/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5495543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MatMul module: CPU/basic/tiled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Hermetic toolchain declaration.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30099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291846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CPU oracle + test.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344042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348989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CUDA host/device split.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8392" y="387095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3779519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Error checking helpers.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08392" y="430148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4210049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Benchmark target.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08392" y="473201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7848" y="4640579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Container target.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08392" y="516254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848" y="5071109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Results worksheet.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INTEGRATION &amp; CAPSTONE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Capstone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Extend the repository without changing its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capstone extension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91424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51/52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Option 1: add a scalar multiply CUDA operation.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482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25678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Option 2: add stream design notes to vector add.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21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98068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Option 3: add an OCI image target for detailed benchmark 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960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70458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Option 4: add a benchmark row and explain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test //...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run //gpu:vector_add_benchmark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4224528"/>
            <a:ext cx="583387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6B900"/>
                </a:solidFill>
                <a:latin typeface="Arial"/>
              </a:defRPr>
            </a:pPr>
            <a:r>
              <a:t>Bazel target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97296" y="5110043"/>
            <a:ext cx="1307042" cy="476461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304" y="5211114"/>
            <a:ext cx="117902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0B100A"/>
                </a:solidFill>
                <a:latin typeface="Consolas"/>
              </a:defRPr>
            </a:pPr>
            <a:r>
              <a:t>benchmark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7189" y="4682553"/>
            <a:ext cx="1330951" cy="476461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1197" y="4783623"/>
            <a:ext cx="120293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FFFF"/>
                </a:solidFill>
                <a:latin typeface="Consolas"/>
              </a:defRPr>
            </a:pPr>
            <a:r>
              <a:t>vector_cpu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7189" y="5488677"/>
            <a:ext cx="1330951" cy="476461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1197" y="5589748"/>
            <a:ext cx="120293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FFFF"/>
                </a:solidFill>
                <a:latin typeface="Consolas"/>
              </a:defRPr>
            </a:pPr>
            <a:r>
              <a:t>vector_add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33022" y="5488677"/>
            <a:ext cx="1275163" cy="476461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7030" y="5589748"/>
            <a:ext cx="1147147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device_lib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95097" y="5488677"/>
            <a:ext cx="1012160" cy="476461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59105" y="5589748"/>
            <a:ext cx="88414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FFFF"/>
                </a:solidFill>
                <a:latin typeface="Consolas"/>
              </a:defRPr>
            </a:pPr>
            <a:r>
              <a:t>runtime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104338" y="4920783"/>
            <a:ext cx="302851" cy="427491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04338" y="5348274"/>
            <a:ext cx="302851" cy="378634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38141" y="5726908"/>
            <a:ext cx="294881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308186" y="5726908"/>
            <a:ext cx="286911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2  /  INTEGRATION &amp; CAPSTONE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Closing: From Installed SDK to Reproducible GPU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The course goal is a reproducible GPU engineering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//runtime:device_info, //gpu:vector_add_test, //gpu:vector_add_benchmark, //linear_algebra:matmul_benchmark, //src:load_gpu_info_image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112824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52/52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32257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2231136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Repository declares the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83013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2738694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CPU verifies CUDA.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33769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7" y="3246252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Benchmarks explain tradeoffs.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84525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3753810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Containers package runtime.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435280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261368"/>
            <a:ext cx="5724144" cy="692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JAX/XLA and libraries provide higher-level options.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2249424"/>
            <a:ext cx="427024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6B900"/>
                </a:solidFill>
                <a:latin typeface="Arial"/>
              </a:defRPr>
            </a:pPr>
            <a:r>
              <a:t>End-to-end course payoff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87121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35823" y="2889503"/>
            <a:ext cx="0" cy="297181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18704" y="2825496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341528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35823" y="3433572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18704" y="3369564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1" y="395935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35823" y="3977640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18704" y="3913632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450342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35823" y="4521708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18704" y="4457700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504748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35823" y="5065776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18704" y="5001768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run container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1" y="559155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35823" y="5609844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18704" y="5545836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compare JAX/MatMul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RUNTIME MEASUREMENT  /  VISUAL EXPLANATION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Coalesced vs Uncoalesced Global-Memory Access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C6658"/>
                </a:solidFill>
                <a:latin typeface="Arial"/>
              </a:defRPr>
            </a:pPr>
            <a:r>
              <a:t>The same useful data can require a different number of memory transactions.</a:t>
            </a:r>
          </a:p>
        </p:txBody>
      </p:sp>
      <p:sp>
        <p:nvSpPr>
          <p:cNvPr id="6" name="Visual source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C6658"/>
                </a:solidFill>
                <a:latin typeface="Arial"/>
              </a:defRPr>
            </a:pPr>
            <a:r>
              <a:t>NVIDIA Figs. 12–13  |  Guide p. 59 / PDF p. 77  |  CUDA Programming Guide 13.4.2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890">
            <a:solidFill>
              <a:srgbClr val="DDE4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 bar"/>
          <p:cNvSpPr/>
          <p:nvPr/>
        </p:nvSpPr>
        <p:spPr>
          <a:xfrm>
            <a:off x="521207" y="6629400"/>
            <a:ext cx="2140047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abel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Slide counter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151A14"/>
                </a:solidFill>
                <a:latin typeface="Arial"/>
              </a:defRPr>
            </a:pPr>
            <a:r>
              <a:t>10/52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9397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NVIDIA FIG. 12  /  COALESCED</a:t>
            </a:r>
          </a:p>
        </p:txBody>
      </p:sp>
      <p:pic>
        <p:nvPicPr>
          <p:cNvPr id="12" name="Official NVIDIA figure12_coalesced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08" y="2359152"/>
            <a:ext cx="7121983" cy="1453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0183" y="2313432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51A14"/>
                </a:solidFill>
                <a:latin typeface="Arial"/>
              </a:defRPr>
            </a:pPr>
            <a:r>
              <a:t>4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807208"/>
            <a:ext cx="3218688" cy="1179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  <a:r>
              <a:t>32 lanes × 4 bytes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  <a:r>
              <a:t>= 128 useful bytes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  <a:r>
              <a:t>4 × 32-byte transactions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  <a:r>
              <a:t>= 128 bytes transferred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23944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NVIDIA FIG. 13  /  UNCOALESCED</a:t>
            </a:r>
          </a:p>
        </p:txBody>
      </p:sp>
      <p:pic>
        <p:nvPicPr>
          <p:cNvPr id="16" name="Official NVIDIA figure13_uncoalesced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07408"/>
            <a:ext cx="713232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30183" y="436168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51A14"/>
                </a:solidFill>
                <a:latin typeface="Arial"/>
              </a:defRPr>
            </a:pPr>
            <a:r>
              <a:t>32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4846320"/>
            <a:ext cx="321868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  <a:r>
              <a:t>The same 128 useful bytes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  <a:r>
              <a:t>32 × 32-byte transactions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51A14"/>
                </a:solidFill>
                <a:latin typeface="Arial"/>
              </a:defRPr>
            </a:pPr>
            <a:r>
              <a:t>= 1024 bytes transferred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998464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658"/>
                </a:solidFill>
                <a:latin typeface="Arial"/>
              </a:defRPr>
            </a:pPr>
            <a:r>
              <a:t>GPU global-memory access patterns — separate from host–device transfers.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  /  VISUAL EXPLANATION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Memory Types, Scopes and Lifetimes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C6658"/>
                </a:solidFill>
                <a:latin typeface="Arial"/>
              </a:defRPr>
            </a:pPr>
            <a:r>
              <a:t>Memory scope and physical location are different properties.</a:t>
            </a:r>
          </a:p>
        </p:txBody>
      </p:sp>
      <p:sp>
        <p:nvSpPr>
          <p:cNvPr id="6" name="Visual source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C6658"/>
                </a:solidFill>
                <a:latin typeface="Arial"/>
              </a:defRPr>
            </a:pPr>
            <a:r>
              <a:t>NVIDIA Table 1  |  Guide p. 49 / PDF p. 67  |  CUDA Programming Guide 13.4.2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890">
            <a:solidFill>
              <a:srgbClr val="DDE4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 bar"/>
          <p:cNvSpPr/>
          <p:nvPr/>
        </p:nvSpPr>
        <p:spPr>
          <a:xfrm>
            <a:off x="521207" y="6629400"/>
            <a:ext cx="898820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abel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Slide counter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151A14"/>
                </a:solidFill>
                <a:latin typeface="Arial"/>
              </a:defRPr>
            </a:pPr>
            <a:r>
              <a:t>42/52</a:t>
            </a:r>
          </a:p>
        </p:txBody>
      </p:sp>
      <p:pic>
        <p:nvPicPr>
          <p:cNvPr id="11" name="Official NVIDIA table01_memory_spaces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085374"/>
            <a:ext cx="6364224" cy="37753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2672" y="2240280"/>
            <a:ext cx="384048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GLOBAL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2551176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51A14"/>
                </a:solidFill>
                <a:latin typeface="Arial"/>
              </a:defRPr>
            </a:pPr>
            <a:r>
              <a:t>Storage persists until freed or the application terminates.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392424"/>
            <a:ext cx="384048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SHARED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370332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51A14"/>
                </a:solidFill>
                <a:latin typeface="Arial"/>
              </a:defRPr>
            </a:pPr>
            <a:r>
              <a:t>Block-scoped scratchpad for cooperative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526280"/>
            <a:ext cx="384048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LOCAL ≠ ON-CHIP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4837176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51A14"/>
                </a:solidFill>
                <a:latin typeface="Arial"/>
              </a:defRPr>
            </a:pPr>
            <a:r>
              <a:t>“Local” means thread scope. The table places local memory on the device, not the SM.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  /  VISUAL EXPLANATION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Shared-Memory Accesses Can Conflict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C6658"/>
                </a:solidFill>
                <a:latin typeface="Arial"/>
              </a:defRPr>
            </a:pPr>
            <a:r>
              <a:t>Different words in the same bank can serialize a warp’s access.</a:t>
            </a:r>
          </a:p>
        </p:txBody>
      </p:sp>
      <p:sp>
        <p:nvSpPr>
          <p:cNvPr id="6" name="Visual source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C6658"/>
                </a:solidFill>
                <a:latin typeface="Arial"/>
              </a:defRPr>
            </a:pPr>
            <a:r>
              <a:t>NVIDIA Fig. 15  |  Guide p. 63 / PDF p. 81  |  CUDA Programming Guide 13.4.2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890">
            <a:solidFill>
              <a:srgbClr val="DDE4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 bar"/>
          <p:cNvSpPr/>
          <p:nvPr/>
        </p:nvSpPr>
        <p:spPr>
          <a:xfrm>
            <a:off x="521207" y="6629400"/>
            <a:ext cx="920220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abel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Slide counter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151A14"/>
                </a:solidFill>
                <a:latin typeface="Arial"/>
              </a:defRPr>
            </a:pPr>
            <a:r>
              <a:t>43/52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6025896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77600"/>
                </a:solidFill>
                <a:latin typeface="Arial"/>
              </a:defRPr>
            </a:pPr>
            <a:r>
              <a:t>OPTIONAL EXPLANATION</a:t>
            </a:r>
          </a:p>
        </p:txBody>
      </p:sp>
      <p:pic>
        <p:nvPicPr>
          <p:cNvPr id="12" name="Official NVIDIA figure15_bank_conflicts.png" descr="figure15_bank_confl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33" y="2057400"/>
            <a:ext cx="2687868" cy="3995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5112" y="2121408"/>
            <a:ext cx="70683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LEFT  /  STRIDE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459736"/>
            <a:ext cx="7059168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Successive 32-bit words: no bank conflict.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3236976"/>
            <a:ext cx="70683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MIDDLE  /  STRIDE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575304"/>
            <a:ext cx="7059168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Different words reuse banks: two-way conflicts.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4352544"/>
            <a:ext cx="70683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RIGHT  /  STRIDE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690872"/>
            <a:ext cx="7059168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illustrated pattern is conflict-free despite its stride.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5614416"/>
            <a:ext cx="7031736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658"/>
                </a:solidFill>
                <a:latin typeface="Arial"/>
              </a:defRPr>
            </a:pPr>
            <a:r>
              <a:t>Read the exact addresses—not just the word “strided”.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2  /  MATMUL &amp; DATA REUSE  /  VISUAL EXPLANATION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Same-Word Reads Can Use Broadcast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C6658"/>
                </a:solidFill>
                <a:latin typeface="Arial"/>
              </a:defRPr>
            </a:pPr>
            <a:r>
              <a:t>Several readers of one shared-memory word are not the same as a bank conflict.</a:t>
            </a:r>
          </a:p>
        </p:txBody>
      </p:sp>
      <p:sp>
        <p:nvSpPr>
          <p:cNvPr id="6" name="Visual source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C6658"/>
                </a:solidFill>
                <a:latin typeface="Arial"/>
              </a:defRPr>
            </a:pPr>
            <a:r>
              <a:t>NVIDIA Fig. 16  |  Guide p. 64 / PDF p. 82  |  CUDA Programming Guide 13.4.2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890">
            <a:solidFill>
              <a:srgbClr val="DDE4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 bar"/>
          <p:cNvSpPr/>
          <p:nvPr/>
        </p:nvSpPr>
        <p:spPr>
          <a:xfrm>
            <a:off x="521207" y="6629400"/>
            <a:ext cx="941620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abel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Slide counter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151A14"/>
                </a:solidFill>
                <a:latin typeface="Arial"/>
              </a:defRPr>
            </a:pPr>
            <a:r>
              <a:t>44/52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6025896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77600"/>
                </a:solidFill>
                <a:latin typeface="Arial"/>
              </a:defRPr>
            </a:pPr>
            <a:r>
              <a:t>OPTIONAL EXPLANATION</a:t>
            </a:r>
          </a:p>
        </p:txBody>
      </p:sp>
      <p:pic>
        <p:nvPicPr>
          <p:cNvPr id="12" name="Official NVIDIA figure16_broadcast.png" descr="figure16_broad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75" y="2057400"/>
            <a:ext cx="2640264" cy="3995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5112" y="2121408"/>
            <a:ext cx="707745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LEFT  /  PERMUTATION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441448"/>
            <a:ext cx="706831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Irregular addressing can still be conflict-free.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3218688"/>
            <a:ext cx="707745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MIDDLE  /  SHARED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538728"/>
            <a:ext cx="706831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Several requesting threads read the same word in bank 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4398264"/>
            <a:ext cx="707745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RIGHT  /  BROADCAST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718303"/>
            <a:ext cx="706831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All requesting threads read one word. The read can be broadcast.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5632704"/>
            <a:ext cx="7068312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658"/>
                </a:solidFill>
                <a:latin typeface="Arial"/>
              </a:defRPr>
            </a:pPr>
            <a:r>
              <a:t>This figure explains reads, not safe concurrent writes.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 Day 2 — Original Course with Expanded NVIDIA Visuals</dc:title>
  <dc:subject>Original repository course; official NVIDIA PDF figures; focused explanatory inserts.</dc:subject>
  <dc:creator>neudinger / formation</dc:creator>
  <cp:keywords>CUDA, NVIDIA, Bazel, Clang, original course, visual redesign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